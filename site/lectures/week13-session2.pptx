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chooses between two lighting retrofits by a weighted sum (lines shortened for display).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three statements about one trade</a:t>
            </a:r>
            <a:endParaRPr lang="en-US" sz="3000" dirty="0"/>
          </a:p>
        </p:txBody>
      </p:sp>
      <p:pic>
        <p:nvPicPr>
          <p:cNvPr id="4" name="Image 0" descr="A code card with these lines: analysis lightingChoice : TradeStudy { / subject : Retrofit = (ledPanels, ledTubes); / attribute energyWeight : Real default 0.6; / attribute costWeight : Real default 0.6; / objective : MaximizeObjective; / calc :&gt;&gt; evaluationFunction { / in part r :&gt;&gt; alternative : Retrofit; / return :&gt;&gt; result : Real = energyWeight * r.energySavingValue + costWeight * r.costValue; / } / return part :&gt;&gt; selectedAlternative : Retrofit; / }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weights sum to one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checker would reject this trade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 sensitivity check may redefine energyWeight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 Write T or F for each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 sl.74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false, false, true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weights sum to 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+ 0.6 = 1.2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checker would reject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Recorded: PASS, no message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sensitivity check may redefine energyWeight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Declared with default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 study in SysML v2: the alternatives are the subject, an evaluation function values each, the objective picks the best, the result is the selected alternative.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p.172; R75 sl.95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trade-off analysis is a TradeStudy usage</a:t>
            </a:r>
            <a:endParaRPr lang="en-US" sz="3000" dirty="0"/>
          </a:p>
        </p:txBody>
      </p:sp>
      <p:pic>
        <p:nvPicPr>
          <p:cNvPr id="4" name="Image 0" descr="Four boxes left to right with arrows: subject, the alternatives; evaluation function, a value for each; objective, maximize or minimize; result, the selected alternativ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usage of the TradeStudy analysis case definition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the collection of alternatives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function values each alternative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maximize or minimize; result: the selection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declarations of the TradeStudies library and how a TradeStudy uses them.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R121 p.571–574; R78 sl.152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TradeStudies library</a:t>
            </a:r>
            <a:endParaRPr lang="en-US" sz="3000" dirty="0"/>
          </a:p>
        </p:txBody>
      </p:sp>
      <p:pic>
        <p:nvPicPr>
          <p:cNvPr id="4" name="Image 0" descr="A box TradeStudy, an analysis case, with three features: studyAlternatives, the subject; evaluationFunction; tradeStudyObjective. Arrows to EvaluationFunction, a calculation returning a scalar, and to TradeStudyObjective, a requirement with two specializations, MaximizeObjective and MinimizeObjective. Under them: eval(selectedAlternative) == be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EvaluationFunction: an alternative in, a scalar out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TradeStudyObjective: the selected alternative has the best value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MaximizeObjective and MinimizeObjective define best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TradeStudy: subject, evaluation function, objective, selection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v0.6: the alternative definition and one alternative with its scores.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p.172; R18 p.468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III: the alternatives as parts</a:t>
            </a:r>
            <a:endParaRPr lang="en-US" sz="3000" dirty="0"/>
          </a:p>
        </p:txBody>
      </p:sp>
      <p:pic>
        <p:nvPicPr>
          <p:cNvPr id="4" name="Image 0" descr="Listing (course file sysml/lectures/week13/aerolink_trade_analysis_v06.sysml, checked: PASS): part def Alternative { / doc /* An alternative of DEC-001: one score per … */ / attribute waitAtYear2DemandScore : Real; // min / attribute capitalCostScore : Real; // USD M / attribute capacityRetainedAfterLossOfAHubScore : Real; // % / attribute communityNoiseExposureScore : Real; // movements/h / } / part &lt;'ALT-005'&gt; aircraftPlusANewHubVertiport : Alternative { / attribute :&gt;&gt; waitAtYear2DemandScore = 8.0; / attribute :&gt;&gt; capitalCostScore = 18.0; / attribute :&gt;&gt; capacityRetainedAfterLossOfAHubScore = 90.0; / attribute :&gt;&gt; communityNoiseExposureScore = 6.86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9571"/>
            <a:ext cx="6379289" cy="24723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definition: one score attribute per criterion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alternative: a part usage with its ALT ID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alternatives, the baseline among them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in the criterion’s unit, from Week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walk-away points leave three of the six AeroLink alternatives out of the trade before any weight is applied (computed).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p.465–466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Screens: a requirement is not a weight</a:t>
            </a:r>
            <a:endParaRPr lang="en-US" sz="3000" dirty="0"/>
          </a:p>
        </p:txBody>
      </p:sp>
      <p:pic>
        <p:nvPicPr>
          <p:cNvPr id="4" name="Image 0" descr="A funnel. At the top, 6 alternatives. Beside it, those left out: ALT-001, fails SCREEN-3, SCREEN-4; ALT-002, fails SCREEN-3; ALT-003, fails SCREEN-3, SCREEN-4. At the bottom, the subject of the trade: ALT-004, ALT-005, ALT-00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apply before any weight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walk-away point is a screen too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limit on a score is a screen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 of the subject, with the reason in the doc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v0.6: DEC-001 as a usage of TradeStudy, the weights as swing values over their sum.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p.172–173; R18 p.469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IV: DEC-001 as a TradeStudy</a:t>
            </a:r>
            <a:endParaRPr lang="en-US" sz="3000" dirty="0"/>
          </a:p>
        </p:txBody>
      </p:sp>
      <p:pic>
        <p:nvPicPr>
          <p:cNvPr id="4" name="Image 0" descr="Listing (course file sysml/lectures/week13/aerolink_trade_analysis_v06.sysml, checked: PASS): analysis &lt;'DEC-001'&gt; decision : TradeStudy { / subject : Alternative = (balancedAircraftPlusHubCharging, aircraftPlusANewHubVertiport, sixAircraftPlusHubCharging); / attribute waitAtYear2DemandSwing : Real default 100.0; / attribute capitalCostSwing : Real default 75.0; / attribute capacityRetainedAfterLossOfAHubSwing : Real default 40.0; / attribute communityNoiseExposureSwing : Real default 35.0; / attribute swingTotal : Real = waitAtYear2DemandSwing + capitalCostSwing + capacityRetainedAfterLossOfAHubSwing + communityNoiseExposureSwing; / objective : MaximizeObjective; / calc :&gt;&gt; evaluationFunction { / in part alt :&gt;&gt; alternative : Alternative; / return :&gt;&gt; result : Real = (waitAtYear2DemandSwing * 'CRIT-001'(alt.waitAtYear2DemandScore) + capitalCostSwing * 'CRIT-002'(alt.capitalCostScore) + capacityRetainedAfterLossOfAHubSwing * 'CRIT-003'(alt.capacityRetainedAfterLossOfAHubScore) + communityNoiseExposureSwing * 'CRIT-004'(alt.communityNoiseExposureScore)) / swingTotal; / } / return part :&gt;&gt; selectedAlternative : Alternative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8511"/>
            <a:ext cx="6379289" cy="35145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the feasible alternatives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values as defaults; weights = swing ÷ sum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the weighted sum of the criteria’s values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ALT-004 0.670, ALT-005 0.624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swing values and the weights they give (computed): the wait swing is the largest, the others are judged against it.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p.466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weights and their elicitation</a:t>
            </a:r>
            <a:endParaRPr lang="en-US" sz="3000" dirty="0"/>
          </a:p>
        </p:txBody>
      </p:sp>
      <p:pic>
        <p:nvPicPr>
          <p:cNvPr id="4" name="Image 0" descr="Four horizontal bars, one per criterion: CRIT-001 swing 100, weight 0.400; CRIT-002 swing 75, weight 0.300; CRIT-003 swing 40, weight 0.160; CRIT-004 swing 35, weight 0.14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depend on importance and on the range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swing gets 100; others are judged against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sum to one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rationale: the range swung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diagram: each feasible alternative’s total as the weight of CRIT-002 runs from 0 to 1, the other weights keeping their ratios; the leader changes at 0.149 (computed).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p.472; R34 p.612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one weight at a time</a:t>
            </a:r>
            <a:endParaRPr lang="en-US" sz="3000" dirty="0"/>
          </a:p>
        </p:txBody>
      </p:sp>
      <p:pic>
        <p:nvPicPr>
          <p:cNvPr id="4" name="Image 0" descr="A graph of total value against the weight of CRIT-002. Three lines, one per alternative: ALT-004, ALT-005, ALT-006. The base weight 0.300 is marked; ALT-004 leads there. The lines cross at 0.149, below which ALT-005 lead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one weight; the others keep their ratios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diagram shows each total against that weight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reversal point: where the leader changes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the base weight: a fragile decision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v0.6: the sensitivity check of the capital weight, redefining one swing value past the reversal point.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 sl.74; R18 p.472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V: the sensitivity usage</a:t>
            </a:r>
            <a:endParaRPr lang="en-US" sz="3000" dirty="0"/>
          </a:p>
        </p:txBody>
      </p:sp>
      <p:pic>
        <p:nvPicPr>
          <p:cNvPr id="4" name="Image 0" descr="Listing (course file sysml/lectures/week13/aerolink_trade_analysis_v06.sysml, checked: PASS): analysis sensitivityOfCapitalCost :&gt; decision { / doc /* Sensitivity check of DEC-001 (one weight at a … */ / attribute :&gt;&gt; capitalCostSwing = 28.49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37285"/>
            <a:ext cx="6379289" cy="1096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usage that specializes the trade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redefines one swing value; the others keep theirs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28.49 gives weight 0.140: ALT-005 (computed)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explores a judgment; it asserts nothing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parking-garage trade binds its swing values with =; a sensitivity check redefines one. Accepted or rejected?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a sensitivity check on bound swings</a:t>
            </a:r>
            <a:endParaRPr lang="en-US" sz="3000" dirty="0"/>
          </a:p>
        </p:txBody>
      </p:sp>
      <p:pic>
        <p:nvPicPr>
          <p:cNvPr id="4" name="Image 0" descr="A code card titled accepted or rejected, and why, with these lines: analysis garageChoice : TradeStudy { / attribute spacesSwing : Real = 100.0; / attribute costSwing : Real = 80.0; / … / } / analysis costHeavier :&gt; garageChoice { / attribute :&gt;&gt; costSwing = 200.0; / }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1906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checker accept this file?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not, which line, and why?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change would make the check work?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v0.6: the decision recorded on ALT-004 as Rationale metadata whose explanation is the trade study (text shortened for display).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R114 p.555–556; R78 sl.148; R18 p.473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the decision and its rationale</a:t>
            </a:r>
            <a:endParaRPr lang="en-US" sz="3000" dirty="0"/>
          </a:p>
        </p:txBody>
      </p:sp>
      <p:pic>
        <p:nvPicPr>
          <p:cNvPr id="4" name="Image 0" descr="Listing (course file sysml/lectures/week13/aerolink_trade_analysis_v06.sysml, checked: PASS): part &lt;'ALT-004'&gt; balancedAircraftPlusHubCharging : Alternative { / @Rationale { text = &quot;Decision DEC-001: ALT-004 is recommended. ALT-004 is …&quot;; explanation = decision; } / } / #tracesTo dependency from decision to Requirements::'REQ-STK-004'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77888"/>
            <a:ext cx="6379289" cy="125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why, with conditions and residual risk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explanation refers to the trade study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the decision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traces to the requirement it serves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R43 p.109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and document-based: the comparison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total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Balanced: aircraft plus hub charging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plus a new hub vertiport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ALT-006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aircraft plus hub charging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59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v0.6 ranking (computed); Week 3 agrees.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3572256"/>
            <a:ext cx="11094415" cy="89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traces, re-runnable sensitivity, the record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better judgment, or computation by the checker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results of the course checker (release 2026-08) on 7 trade-study files: what it rejects and what it accepts without complaint.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 sl.74; R121 p.573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checker does with trade studies</a:t>
            </a:r>
            <a:endParaRPr lang="en-US" sz="3000" dirty="0"/>
          </a:p>
        </p:txBody>
      </p:sp>
      <p:pic>
        <p:nvPicPr>
          <p:cNvPr id="4" name="Image 0" descr="Two columns. Left, headed checker rejects: objective name misspelled; override of a bound swing. Right, headed checker accepts: weights summing to 1.2; minimize a higher-is-better value; no evaluation function; abstract objective; a weight written as a sw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garage: rejected; a bound value cannot be overridden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declare the swings with default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silently: wrong direction, no evaluation, weights that do not sum to one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still needs a tool and a reviewer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p.465–466; R120 sl.74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in trade studies and analyses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2462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weighted instead of screened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or objective in the wrong direction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typed, or not summing to one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Swings bound, so no sensitivity check can run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criterion traced to no stakeholder concern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satisfy on an estimate; a number with no source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checks of the trade review checklist (course convention).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p.465–466; R18 p.472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 review checklist</a:t>
            </a:r>
            <a:endParaRPr lang="en-US" sz="3000" dirty="0"/>
          </a:p>
        </p:txBody>
      </p:sp>
      <p:pic>
        <p:nvPicPr>
          <p:cNvPr id="4" name="Image 0" descr="A card with 8 short rows: baseline and distinct alternatives; criteria traced; no double counting, requirements as screens; value functions in the right direction; swing weights with rationale; sensitivity past a reversal point; every number computed; compared with Phase 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genuinely different alternatives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traced; no double counting; limits as screens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functions and weights checked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computed numbers, comparison with Phase 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13 mapping (course convention): each Phase I element and the model element it becomes.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R124 p.561–562; R84 p.172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13 mapping, in one table</a:t>
            </a:r>
            <a:endParaRPr lang="en-US" sz="3000" dirty="0"/>
          </a:p>
        </p:txBody>
      </p:sp>
      <p:pic>
        <p:nvPicPr>
          <p:cNvPr id="4" name="Image 0" descr="A two-column table: Measure of effectiveness (MOE); Measure of performance (MOP); Technical performance measure (TPM); TPM estimate and margin; Alternative (ALT); Criterion and its value function (CRIT); Swing weights; Screen (must-meet test), each beside the construct it becom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#moe and #mop attributes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parts of one definition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calculation definitions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 TradeStudy usage; record: Rationale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13’s outputs feed the Week 14 final model, its views and the final review.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Week 14, the final model and review</a:t>
            </a:r>
            <a:endParaRPr lang="en-US" sz="3000" dirty="0"/>
          </a:p>
        </p:txBody>
      </p:sp>
      <p:pic>
        <p:nvPicPr>
          <p:cNvPr id="4" name="Image 0" descr="Three boxes on the left: the trade study, the sensitivity check, the TPM analysis. Arrows to three boxes on the right: the final model, views for stakeholders, the final review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14: the coherent model, views, the final review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asks for your decision and its rationale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ID stable; change through change control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files of Lab L13.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L13: model v0.6 of your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Week 14, Session 1, on the LMS; your own enterprise, never AeroLink</a:t>
            </a:r>
            <a:endParaRPr lang="en-US" sz="1600" dirty="0"/>
          </a:p>
        </p:txBody>
      </p:sp>
      <p:pic>
        <p:nvPicPr>
          <p:cNvPr id="5" name="Image 0" descr="Three bars stacked top to bottom: team-NN-model-v06.sysml; team-NN-trade-study.md; team-NN-checker-log.txt; one upload, before Week 14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9965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enterprise, never AeroLink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files: team-NN-model-v06.sysml, team-NN-trade-study.md, team-NN-checker-log.txt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alternatives, 4 criteria (three for a team of three)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checker errors; every warning explained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in-class steps in the lab tool: import, check the alternatives and screens, trace the criteria, read the ranking.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work: trace every criterion</a:t>
            </a:r>
            <a:endParaRPr lang="en-US" sz="3000" dirty="0"/>
          </a:p>
        </p:txBody>
      </p:sp>
      <p:pic>
        <p:nvPicPr>
          <p:cNvPr id="4" name="Image 0" descr="Four numbered boxes: 1 import both files; 2 alternatives and screens; 3 trace each criterion; 4 read the ranking and the reversal poi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model v0.5 and your Week 3 file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alternatives and the screens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each criterion; choose any requirement limit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ranking and the reversal points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one trace, one reversal point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criterion and what it is derived from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top-ranked alternative and its total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reversal point closest to its base weight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two sentences of feedback per team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seven-day plan for Lab L13, by task and lead role (course convention).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the next seven days</a:t>
            </a:r>
            <a:endParaRPr lang="en-US" sz="3000" dirty="0"/>
          </a:p>
        </p:txBody>
      </p:sp>
      <p:pic>
        <p:nvPicPr>
          <p:cNvPr id="4" name="Image 0" descr="A seven-day chart with 9 task bars: checkpoint fix, day 1; alternatives, screens, day 1 to 2; criteria and weights, day 2 to 3; sensitivity, day 3 to 4; TPM analysis, day 4; decision record, day 5; checker runs, day 5; review and audit, day 6; upload, day 7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5903"/>
            <a:ext cx="11094415" cy="41824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· SEBoK v2.14 (2026), “Decision Management”, p.465–466, 468–469, 472–473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R34 · SEBoK v2.14 (2026), “System Analysis”, p.608–609, 612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R43 · OUSD(R&amp;E) Systems Engineering Guidebook (2021/2022), “Decision Analysis Process”, p.109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 · Seidewitz, Intro to the SysML v2 Language: Textual Notation (Release 2026-08), “Analysis Case Definitions”, sl.92–95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R78 · Seidewitz, Intro to the SysML v2 Language: Textual Notation (Release 2026-08), “Standard View Definitions and Domain Libraries (metadata, analysis, cause and effect, requirements derivation)”, sl.148–149, 152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· OMG SysML v2.1 Beta 2, Part 1 (Release 2026-07), “7.23 Analysis Cases”, p.170, 172–173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R114 · OMG SysML v2.1 Beta 2, Part 1 (Release 2026-07), “9.3.2 Modeling Metadata”, p.555–556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 · Seidewitz, Intro to the SysML v2 Language: Textual Notation (Release 2026-08), “Expressions and Feature Values”, sl.72, 74, 76, 79, 81, 83–84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R121 · OMG SysML v2.1 Beta 2, Part 1 (Release 2026-07), “9.4.5 Trade Studies”, p.571–574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R124 · OMG SysML v2.1 Beta 2, Part 1 (Release 2026-07), “9.3.4 Parameters of Interest Metadata”, p.561–562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13, Session 2: Trade Study / Analysis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2026-10-29T03:16:58Z</dcterms:created>
  <dcterms:modified xsi:type="dcterms:W3CDTF">2026-10-29T03:16:58Z</dcterms:modified>
</cp:coreProperties>
</file>