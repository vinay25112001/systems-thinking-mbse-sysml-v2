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5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5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005840" y="1234440"/>
            <a:ext cx="9144000" cy="365760"/>
          </a:xfrm>
          <a:prstGeom prst="rect">
            <a:avLst/>
          </a:prstGeom>
          <a:noFill/>
          <a:ln/>
        </p:spPr>
        <p:txBody>
          <a:bodyPr wrap="square" lIns="0" tIns="0" rIns="0" bIns="0" rtlCol="0" anchor="ctr"/>
          <a:lstStyle/>
          <a:p>
            <a:pPr indent="0" marL="0">
              <a:buNone/>
            </a:pPr>
            <a:r>
              <a:rPr lang="en-US" sz="1600" b="1" spc="200" kern="0" dirty="0">
                <a:solidFill>
                  <a:srgbClr val="0F6E8C"/>
                </a:solidFill>
                <a:latin typeface="Calibri" pitchFamily="34" charset="0"/>
                <a:ea typeface="Calibri" pitchFamily="34" charset="-122"/>
                <a:cs typeface="Calibri" pitchFamily="34" charset="-120"/>
              </a:rPr>
              <a:t>WEEK 5 · SESSION 1</a:t>
            </a:r>
            <a:endParaRPr lang="en-US" sz="1600" dirty="0"/>
          </a:p>
        </p:txBody>
      </p:sp>
      <p:sp>
        <p:nvSpPr>
          <p:cNvPr id="3" name="Text 1"/>
          <p:cNvSpPr/>
          <p:nvPr/>
        </p:nvSpPr>
        <p:spPr>
          <a:xfrm>
            <a:off x="1005840" y="1645920"/>
            <a:ext cx="10058400" cy="1463040"/>
          </a:xfrm>
          <a:prstGeom prst="rect">
            <a:avLst/>
          </a:prstGeom>
          <a:noFill/>
          <a:ln/>
        </p:spPr>
        <p:txBody>
          <a:bodyPr wrap="square" lIns="0" tIns="0" rIns="0" bIns="0" rtlCol="0" anchor="t"/>
          <a:lstStyle/>
          <a:p>
            <a:pPr indent="0" marL="0">
              <a:buNone/>
            </a:pPr>
            <a:r>
              <a:rPr lang="en-US" sz="4400" b="1" dirty="0">
                <a:solidFill>
                  <a:srgbClr val="18202D"/>
                </a:solidFill>
                <a:latin typeface="Calibri" pitchFamily="34" charset="0"/>
                <a:ea typeface="Calibri" pitchFamily="34" charset="-122"/>
                <a:cs typeface="Calibri" pitchFamily="34" charset="-120"/>
              </a:rPr>
              <a:t>Components / Interfaces</a:t>
            </a:r>
            <a:endParaRPr lang="en-US" sz="4400" dirty="0"/>
          </a:p>
        </p:txBody>
      </p:sp>
      <p:sp>
        <p:nvSpPr>
          <p:cNvPr id="4" name="Text 2"/>
          <p:cNvSpPr/>
          <p:nvPr/>
        </p:nvSpPr>
        <p:spPr>
          <a:xfrm>
            <a:off x="1005840" y="3200400"/>
            <a:ext cx="10058400" cy="548640"/>
          </a:xfrm>
          <a:prstGeom prst="rect">
            <a:avLst/>
          </a:prstGeom>
          <a:noFill/>
          <a:ln/>
        </p:spPr>
        <p:txBody>
          <a:bodyPr wrap="square" lIns="0" tIns="0" rIns="0" bIns="0" rtlCol="0" anchor="ctr"/>
          <a:lstStyle/>
          <a:p>
            <a:pPr indent="0" marL="0">
              <a:buNone/>
            </a:pPr>
            <a:r>
              <a:rPr lang="en-US" sz="2200" dirty="0">
                <a:solidFill>
                  <a:srgbClr val="566071"/>
                </a:solidFill>
                <a:latin typeface="Calibri" pitchFamily="34" charset="0"/>
                <a:ea typeface="Calibri" pitchFamily="34" charset="-122"/>
                <a:cs typeface="Calibri" pitchFamily="34" charset="-120"/>
              </a:rPr>
              <a:t>Session 1: Breaking the system down, and the N² chart</a:t>
            </a:r>
            <a:endParaRPr lang="en-US" sz="2200" dirty="0"/>
          </a:p>
        </p:txBody>
      </p:sp>
      <p:sp>
        <p:nvSpPr>
          <p:cNvPr id="5" name="Text 3"/>
          <p:cNvSpPr/>
          <p:nvPr/>
        </p:nvSpPr>
        <p:spPr>
          <a:xfrm>
            <a:off x="1005840" y="3931920"/>
            <a:ext cx="7772400" cy="2029968"/>
          </a:xfrm>
          <a:prstGeom prst="rect">
            <a:avLst/>
          </a:prstGeom>
          <a:noFill/>
          <a:ln/>
        </p:spPr>
        <p:txBody>
          <a:bodyPr wrap="square" lIns="25400" tIns="25400" rIns="25400" bIns="25400" rtlCol="0" anchor="t"/>
          <a:lstStyle/>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Today: components, interfaces, the N² chart, interface definitions</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Session 2: managing interfaces, their security and resilience, and the Lab L5 launch</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Your Team Record grows: breakdown, N² and interface table, interface requirements, management notes</a:t>
            </a:r>
            <a:endParaRPr lang="en-US" sz="18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fire detection system already sends its alarm to the emergency services. The evidence log at the operations center also needs its incident records, and no interface joins the two.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driving question: how do the pad incident records reach the evidence log?</a:t>
            </a:r>
            <a:endParaRPr lang="en-US" sz="3000" dirty="0"/>
          </a:p>
        </p:txBody>
      </p:sp>
      <p:pic>
        <p:nvPicPr>
          <p:cNvPr id="4" name="Image 0" descr="Left, a box labeled Fire alarm (PHY-008) with a stack of pad incident records beside it. Upper right, a box labeled Emergency response service joined to the fire alarm by a solid line labeled IF-007 alarm. Lower right, a box labeled Ops center holding a document labeled evidence log. Between the fire alarm and the ops center there is no line, only a large question mark.">    </p:cNvPr>
          <p:cNvPicPr>
            <a:picLocks noChangeAspect="1"/>
          </p:cNvPicPr>
          <p:nvPr/>
        </p:nvPicPr>
        <p:blipFill>
          <a:blip r:embed="rId1"/>
          <a:stretch>
            <a:fillRect/>
          </a:stretch>
        </p:blipFill>
        <p:spPr>
          <a:xfrm>
            <a:off x="548640" y="1760155"/>
            <a:ext cx="6379289" cy="3451229"/>
          </a:xfrm>
          <a:prstGeom prst="rect">
            <a:avLst/>
          </a:prstGeom>
        </p:spPr>
      </p:pic>
      <p:sp>
        <p:nvSpPr>
          <p:cNvPr id="5" name="Shape 2"/>
          <p:cNvSpPr/>
          <p:nvPr/>
        </p:nvSpPr>
        <p:spPr>
          <a:xfrm>
            <a:off x="7293689" y="1280160"/>
            <a:ext cx="4349366" cy="1274064"/>
          </a:xfrm>
          <a:prstGeom prst="roundRect">
            <a:avLst>
              <a:gd name="adj" fmla="val 4306"/>
            </a:avLst>
          </a:prstGeom>
          <a:solidFill>
            <a:srgbClr val="ECEFF3"/>
          </a:solidFill>
          <a:ln w="12700">
            <a:solidFill>
              <a:srgbClr val="D3D9E1"/>
            </a:solidFill>
            <a:prstDash val="solid"/>
          </a:ln>
        </p:spPr>
      </p:sp>
      <p:sp>
        <p:nvSpPr>
          <p:cNvPr id="6" name="Text 3"/>
          <p:cNvSpPr/>
          <p:nvPr/>
        </p:nvSpPr>
        <p:spPr>
          <a:xfrm>
            <a:off x="7430849" y="1280160"/>
            <a:ext cx="4075046" cy="1274064"/>
          </a:xfrm>
          <a:prstGeom prst="rect">
            <a:avLst/>
          </a:prstGeom>
          <a:noFill/>
          <a:ln/>
        </p:spPr>
        <p:txBody>
          <a:bodyPr wrap="square" lIns="38100" tIns="38100" rIns="38100" bIns="38100" rtlCol="0" anchor="ctr"/>
          <a:lstStyle/>
          <a:p>
            <a:pPr indent="0" marL="0">
              <a:buNone/>
            </a:pPr>
            <a:r>
              <a:rPr lang="en-US" sz="1100" b="1" spc="100" kern="0" dirty="0">
                <a:solidFill>
                  <a:srgbClr val="18202D"/>
                </a:solidFill>
                <a:latin typeface="Calibri" pitchFamily="34" charset="0"/>
                <a:ea typeface="Calibri" pitchFamily="34" charset="-122"/>
                <a:cs typeface="Calibri" pitchFamily="34" charset="-120"/>
              </a:rPr>
              <a:t>WEEK 4 FINDING (FICTIONAL)</a:t>
            </a:r>
            <a:endParaRPr lang="en-US" sz="1100" dirty="0"/>
          </a:p>
          <a:p>
            <a:pPr indent="0" marL="0">
              <a:buNone/>
            </a:pPr>
            <a:r>
              <a:rPr lang="en-US" sz="1600" dirty="0">
                <a:solidFill>
                  <a:srgbClr val="18202D"/>
                </a:solidFill>
                <a:latin typeface="Calibri" pitchFamily="34" charset="0"/>
                <a:ea typeface="Calibri" pitchFamily="34" charset="-122"/>
                <a:cs typeface="Calibri" pitchFamily="34" charset="-120"/>
              </a:rPr>
              <a:t>The evidence log must hold every pad incident. The incident records have no route from the fire alarm system.</a:t>
            </a:r>
            <a:endParaRPr lang="en-US" sz="1100" dirty="0"/>
          </a:p>
        </p:txBody>
      </p:sp>
      <p:sp>
        <p:nvSpPr>
          <p:cNvPr id="7" name="Text 4"/>
          <p:cNvSpPr/>
          <p:nvPr/>
        </p:nvSpPr>
        <p:spPr>
          <a:xfrm>
            <a:off x="7293689" y="2718816"/>
            <a:ext cx="4349366" cy="2391156"/>
          </a:xfrm>
          <a:prstGeom prst="rect">
            <a:avLst/>
          </a:prstGeom>
          <a:noFill/>
          <a:ln/>
        </p:spPr>
        <p:txBody>
          <a:bodyPr wrap="square" lIns="25400" tIns="25400" rIns="25400" bIns="25400" rtlCol="0" anchor="t"/>
          <a:lstStyle/>
          <a:p>
            <a:pPr marL="228600" indent="-228600">
              <a:spcBef>
                <a:spcPts val="600"/>
              </a:spcBef>
              <a:buSzPct val="100000"/>
              <a:buChar char="■"/>
            </a:pPr>
            <a:r>
              <a:rPr lang="en-US" sz="1800" b="1" dirty="0">
                <a:solidFill>
                  <a:srgbClr val="18202D"/>
                </a:solidFill>
                <a:latin typeface="Calibri" pitchFamily="34" charset="0"/>
                <a:ea typeface="Calibri" pitchFamily="34" charset="-122"/>
                <a:cs typeface="Calibri" pitchFamily="34" charset="-120"/>
              </a:rPr>
              <a:t>A</a:t>
            </a:r>
            <a:pPr indent="0" marL="0">
              <a:buNone/>
            </a:pPr>
            <a:r>
              <a:rPr lang="en-US" sz="1800" dirty="0">
                <a:solidFill>
                  <a:srgbClr val="18202D"/>
                </a:solidFill>
                <a:latin typeface="Calibri" pitchFamily="34" charset="0"/>
                <a:ea typeface="Calibri" pitchFamily="34" charset="-122"/>
                <a:cs typeface="Calibri" pitchFamily="34" charset="-120"/>
              </a:rPr>
              <a:t> · A new interface, fire alarm to operations center</a:t>
            </a:r>
            <a:endParaRPr lang="en-US" sz="1800" dirty="0"/>
          </a:p>
          <a:p>
            <a:pPr marL="228600" indent="-228600">
              <a:spcBef>
                <a:spcPts val="600"/>
              </a:spcBef>
              <a:buSzPct val="100000"/>
              <a:buChar char="■"/>
            </a:pPr>
            <a:r>
              <a:rPr lang="en-US" sz="1800" b="1" dirty="0">
                <a:solidFill>
                  <a:srgbClr val="18202D"/>
                </a:solidFill>
                <a:latin typeface="Calibri" pitchFamily="34" charset="0"/>
                <a:ea typeface="Calibri" pitchFamily="34" charset="-122"/>
                <a:cs typeface="Calibri" pitchFamily="34" charset="-120"/>
              </a:rPr>
              <a:t>B</a:t>
            </a:r>
            <a:pPr indent="0" marL="0">
              <a:buNone/>
            </a:pPr>
            <a:r>
              <a:rPr lang="en-US" sz="1800" dirty="0">
                <a:solidFill>
                  <a:srgbClr val="18202D"/>
                </a:solidFill>
                <a:latin typeface="Calibri" pitchFamily="34" charset="0"/>
                <a:ea typeface="Calibri" pitchFamily="34" charset="-122"/>
                <a:cs typeface="Calibri" pitchFamily="34" charset="-120"/>
              </a:rPr>
              <a:t> · Relay them through the vertiport systems</a:t>
            </a:r>
            <a:endParaRPr lang="en-US" sz="1800" dirty="0"/>
          </a:p>
          <a:p>
            <a:pPr marL="228600" indent="-228600">
              <a:spcBef>
                <a:spcPts val="600"/>
              </a:spcBef>
              <a:buSzPct val="100000"/>
              <a:buChar char="■"/>
            </a:pPr>
            <a:r>
              <a:rPr lang="en-US" sz="1800" b="1" dirty="0">
                <a:solidFill>
                  <a:srgbClr val="18202D"/>
                </a:solidFill>
                <a:latin typeface="Calibri" pitchFamily="34" charset="0"/>
                <a:ea typeface="Calibri" pitchFamily="34" charset="-122"/>
                <a:cs typeface="Calibri" pitchFamily="34" charset="-120"/>
              </a:rPr>
              <a:t>C</a:t>
            </a:r>
            <a:pPr indent="0" marL="0">
              <a:buNone/>
            </a:pPr>
            <a:r>
              <a:rPr lang="en-US" sz="1800" dirty="0">
                <a:solidFill>
                  <a:srgbClr val="18202D"/>
                </a:solidFill>
                <a:latin typeface="Calibri" pitchFamily="34" charset="0"/>
                <a:ea typeface="Calibri" pitchFamily="34" charset="-122"/>
                <a:cs typeface="Calibri" pitchFamily="34" charset="-120"/>
              </a:rPr>
              <a:t> · Staff re-enter each incident</a:t>
            </a:r>
            <a:endParaRPr lang="en-US" sz="1800" dirty="0"/>
          </a:p>
          <a:p>
            <a:pPr marL="228600" indent="-228600">
              <a:spcBef>
                <a:spcPts val="600"/>
              </a:spcBef>
              <a:buSzPct val="100000"/>
              <a:buChar char="■"/>
            </a:pPr>
            <a:r>
              <a:rPr lang="en-US" sz="1800" b="1" dirty="0">
                <a:solidFill>
                  <a:srgbClr val="18202D"/>
                </a:solidFill>
                <a:latin typeface="Calibri" pitchFamily="34" charset="0"/>
                <a:ea typeface="Calibri" pitchFamily="34" charset="-122"/>
                <a:cs typeface="Calibri" pitchFamily="34" charset="-120"/>
              </a:rPr>
              <a:t>D</a:t>
            </a:r>
            <a:pPr indent="0" marL="0">
              <a:buNone/>
            </a:pPr>
            <a:r>
              <a:rPr lang="en-US" sz="1800" dirty="0">
                <a:solidFill>
                  <a:srgbClr val="18202D"/>
                </a:solidFill>
                <a:latin typeface="Calibri" pitchFamily="34" charset="0"/>
                <a:ea typeface="Calibri" pitchFamily="34" charset="-122"/>
                <a:cs typeface="Calibri" pitchFamily="34" charset="-120"/>
              </a:rPr>
              <a:t> · Nothing new: the alarm interface already carries them</a:t>
            </a:r>
            <a:endParaRPr lang="en-US" sz="18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Week 5 takes the Week 4 physical view and information routes, and the Week 2 and Week 3 requirements and risks. Its components and interfaces feed the Week 6 roadmap, the Week 11 physical model and the Week 12 verification.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R47 p.140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Where Week 5 sits: from the physical view to parts and connections</a:t>
            </a:r>
            <a:endParaRPr lang="en-US" sz="3000" dirty="0"/>
          </a:p>
        </p:txBody>
      </p:sp>
      <p:pic>
        <p:nvPicPr>
          <p:cNvPr id="4" name="Image 0" descr="A flow diagram. On the left, three input boxes: Week 4 physical view and routes, Week 2 requirements, Week 3 risks. Arrows lead to a central highlighted box: Week 5 components and interfaces. From it, a solid arrow to Week 6 evolution roadmap, and dashed arrows to Week 11 physical model and interfaces, and Week 12 verification.">    </p:cNvPr>
          <p:cNvPicPr>
            <a:picLocks noChangeAspect="1"/>
          </p:cNvPicPr>
          <p:nvPr/>
        </p:nvPicPr>
        <p:blipFill>
          <a:blip r:embed="rId1"/>
          <a:stretch>
            <a:fillRect/>
          </a:stretch>
        </p:blipFill>
        <p:spPr>
          <a:xfrm>
            <a:off x="548640" y="1540118"/>
            <a:ext cx="6379289" cy="3728615"/>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In</a:t>
            </a:r>
            <a:pPr indent="0" marL="0">
              <a:buNone/>
            </a:pPr>
            <a:r>
              <a:rPr lang="en-US" sz="2000" dirty="0">
                <a:solidFill>
                  <a:srgbClr val="18202D"/>
                </a:solidFill>
                <a:latin typeface="Calibri" pitchFamily="34" charset="0"/>
                <a:ea typeface="Calibri" pitchFamily="34" charset="-122"/>
                <a:cs typeface="Calibri" pitchFamily="34" charset="-120"/>
              </a:rPr>
              <a:t>: Week 4 physical view, allocation and information routes</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In</a:t>
            </a:r>
            <a:pPr indent="0" marL="0">
              <a:buNone/>
            </a:pPr>
            <a:r>
              <a:rPr lang="en-US" sz="2000" dirty="0">
                <a:solidFill>
                  <a:srgbClr val="18202D"/>
                </a:solidFill>
                <a:latin typeface="Calibri" pitchFamily="34" charset="0"/>
                <a:ea typeface="Calibri" pitchFamily="34" charset="-122"/>
                <a:cs typeface="Calibri" pitchFamily="34" charset="-120"/>
              </a:rPr>
              <a:t>: Week 2 requirements; Week 3 risks</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Out</a:t>
            </a:r>
            <a:pPr indent="0" marL="0">
              <a:buNone/>
            </a:pPr>
            <a:r>
              <a:rPr lang="en-US" sz="2000" dirty="0">
                <a:solidFill>
                  <a:srgbClr val="18202D"/>
                </a:solidFill>
                <a:latin typeface="Calibri" pitchFamily="34" charset="0"/>
                <a:ea typeface="Calibri" pitchFamily="34" charset="-122"/>
                <a:cs typeface="Calibri" pitchFamily="34" charset="-120"/>
              </a:rPr>
              <a:t>: Week 6 roadmap (what new technology must plug into)</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Out</a:t>
            </a:r>
            <a:pPr indent="0" marL="0">
              <a:buNone/>
            </a:pPr>
            <a:r>
              <a:rPr lang="en-US" sz="2000" dirty="0">
                <a:solidFill>
                  <a:srgbClr val="18202D"/>
                </a:solidFill>
                <a:latin typeface="Calibri" pitchFamily="34" charset="0"/>
                <a:ea typeface="Calibri" pitchFamily="34" charset="-122"/>
                <a:cs typeface="Calibri" pitchFamily="34" charset="-120"/>
              </a:rPr>
              <a:t>: Week 11 parts, ports and connections; Week 12 verification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system element is any discrete part that can be implemented to meet requirements, and it need not be hardware. A component is a system element at the level where it is no longer treated as complex.</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R102 p.1643; R101 p.1467; R20c p.597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System element and component</a:t>
            </a:r>
            <a:endParaRPr lang="en-US" sz="3000" dirty="0"/>
          </a:p>
        </p:txBody>
      </p:sp>
      <p:pic>
        <p:nvPicPr>
          <p:cNvPr id="4" name="Image 0" descr="A card titled System element, with a row of eight labeled icons beneath: hardware, software, data, humans, processes, procedures, facilities, materials and naturally occurring entities. Below the card a smaller card titled Component, with an arrow from the system element card labeled at the chosen level of decomposition.">    </p:cNvPr>
          <p:cNvPicPr>
            <a:picLocks noChangeAspect="1"/>
          </p:cNvPicPr>
          <p:nvPr/>
        </p:nvPicPr>
        <p:blipFill>
          <a:blip r:embed="rId1"/>
          <a:stretch>
            <a:fillRect/>
          </a:stretch>
        </p:blipFill>
        <p:spPr>
          <a:xfrm>
            <a:off x="548640" y="1504595"/>
            <a:ext cx="6379289" cy="3799661"/>
          </a:xfrm>
          <a:prstGeom prst="rect">
            <a:avLst/>
          </a:prstGeom>
        </p:spPr>
      </p:pic>
      <p:sp>
        <p:nvSpPr>
          <p:cNvPr id="5" name="Shape 2"/>
          <p:cNvSpPr/>
          <p:nvPr/>
        </p:nvSpPr>
        <p:spPr>
          <a:xfrm>
            <a:off x="7293689" y="1280160"/>
            <a:ext cx="4349366" cy="1826514"/>
          </a:xfrm>
          <a:prstGeom prst="rect">
            <a:avLst/>
          </a:prstGeom>
          <a:solidFill>
            <a:srgbClr val="E1EFF4"/>
          </a:solidFill>
          <a:ln w="12700">
            <a:solidFill>
              <a:srgbClr val="E1EFF4"/>
            </a:solidFill>
            <a:prstDash val="solid"/>
          </a:ln>
        </p:spPr>
      </p:sp>
      <p:sp>
        <p:nvSpPr>
          <p:cNvPr id="6" name="Shape 3"/>
          <p:cNvSpPr/>
          <p:nvPr/>
        </p:nvSpPr>
        <p:spPr>
          <a:xfrm>
            <a:off x="7293689" y="1280160"/>
            <a:ext cx="73152" cy="1826514"/>
          </a:xfrm>
          <a:prstGeom prst="rect">
            <a:avLst/>
          </a:prstGeom>
          <a:solidFill>
            <a:srgbClr val="0F6E8C"/>
          </a:solidFill>
          <a:ln w="12700">
            <a:solidFill>
              <a:srgbClr val="0F6E8C"/>
            </a:solidFill>
            <a:prstDash val="solid"/>
          </a:ln>
        </p:spPr>
      </p:sp>
      <p:sp>
        <p:nvSpPr>
          <p:cNvPr id="7" name="Text 4"/>
          <p:cNvSpPr/>
          <p:nvPr/>
        </p:nvSpPr>
        <p:spPr>
          <a:xfrm>
            <a:off x="7522289" y="1280160"/>
            <a:ext cx="3983606" cy="1826514"/>
          </a:xfrm>
          <a:prstGeom prst="rect">
            <a:avLst/>
          </a:prstGeom>
          <a:noFill/>
          <a:ln/>
        </p:spPr>
        <p:txBody>
          <a:bodyPr wrap="square" lIns="50800" tIns="50800" rIns="50800" bIns="50800" rtlCol="0" anchor="ctr"/>
          <a:lstStyle/>
          <a:p>
            <a:pPr indent="0" marL="0">
              <a:buNone/>
            </a:pPr>
            <a:r>
              <a:rPr lang="en-US" sz="1300" b="1" spc="100" kern="0" dirty="0">
                <a:solidFill>
                  <a:srgbClr val="18202D"/>
                </a:solidFill>
                <a:latin typeface="Calibri" pitchFamily="34" charset="0"/>
                <a:ea typeface="Calibri" pitchFamily="34" charset="-122"/>
                <a:cs typeface="Calibri" pitchFamily="34" charset="-120"/>
              </a:rPr>
              <a:t>SYSTEM ELEMENT</a:t>
            </a:r>
            <a:endParaRPr lang="en-US" sz="1300" dirty="0"/>
          </a:p>
          <a:p>
            <a:pPr indent="0" marL="0">
              <a:buNone/>
            </a:pPr>
            <a:r>
              <a:rPr lang="en-US" sz="2100" dirty="0">
                <a:solidFill>
                  <a:srgbClr val="18202D"/>
                </a:solidFill>
                <a:latin typeface="Calibri" pitchFamily="34" charset="0"/>
                <a:ea typeface="Calibri" pitchFamily="34" charset="-122"/>
                <a:cs typeface="Calibri" pitchFamily="34" charset="-120"/>
              </a:rPr>
              <a:t>A discrete part of a system that can be implemented to fulfill specified requirements</a:t>
            </a:r>
            <a:endParaRPr lang="en-US" sz="1300" dirty="0"/>
          </a:p>
          <a:p>
            <a:pPr indent="0" marL="0">
              <a:spcBef>
                <a:spcPts val="600"/>
              </a:spcBef>
              <a:buNone/>
            </a:pPr>
            <a:r>
              <a:rPr lang="en-US" sz="1100" dirty="0">
                <a:solidFill>
                  <a:srgbClr val="0F6E8C"/>
                </a:solidFill>
                <a:latin typeface="Calibri" pitchFamily="34" charset="0"/>
                <a:ea typeface="Calibri" pitchFamily="34" charset="-122"/>
                <a:cs typeface="Calibri" pitchFamily="34" charset="-120"/>
              </a:rPr>
              <a:t>R102 · SEBoK v2.14 (2026), "System Element (glossary)", p.1643</a:t>
            </a:r>
            <a:endParaRPr lang="en-US" sz="1300" dirty="0"/>
          </a:p>
        </p:txBody>
      </p:sp>
      <p:sp>
        <p:nvSpPr>
          <p:cNvPr id="8" name="Text 5"/>
          <p:cNvSpPr/>
          <p:nvPr/>
        </p:nvSpPr>
        <p:spPr>
          <a:xfrm>
            <a:off x="7293689" y="3271266"/>
            <a:ext cx="4349366" cy="1746250"/>
          </a:xfrm>
          <a:prstGeom prst="rect">
            <a:avLst/>
          </a:prstGeom>
          <a:noFill/>
          <a:ln/>
        </p:spPr>
        <p:txBody>
          <a:bodyPr wrap="square" lIns="25400" tIns="25400" rIns="25400" bIns="25400" rtlCol="0" anchor="t"/>
          <a:lstStyle/>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Hardware, software, data, humans, processes, procedures, facilities, materials</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Component: “one of the parts that make up a system”</a:t>
            </a:r>
            <a:endParaRPr lang="en-US" sz="19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system structured in layers of systems and system elements, a few elements per level. Five plus or minus two is a common guideline, not a rule.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R20c p.597; R101 p.1467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Layers, and five plus or minus two per level</a:t>
            </a:r>
            <a:endParaRPr lang="en-US" sz="3000" dirty="0"/>
          </a:p>
        </p:txBody>
      </p:sp>
      <p:pic>
        <p:nvPicPr>
          <p:cNvPr id="4" name="Image 0" descr="A three-level tree. At the top, one box labeled system of interest. Level 1 has five boxes; one of them has four children at level 2. A bracket beside level 1 reads 5 ± 2. A note at the side reads a guideline, not a rule.">    </p:cNvPr>
          <p:cNvPicPr>
            <a:picLocks noChangeAspect="1"/>
          </p:cNvPicPr>
          <p:nvPr/>
        </p:nvPicPr>
        <p:blipFill>
          <a:blip r:embed="rId1"/>
          <a:stretch>
            <a:fillRect/>
          </a:stretch>
        </p:blipFill>
        <p:spPr>
          <a:xfrm>
            <a:off x="548640" y="1691062"/>
            <a:ext cx="6379289" cy="3589413"/>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complex system is structured in layers of systems and system elements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Keep each level to a few elements: about five plus or minus two</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Stop where an element is no longer complex</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guideline: justify a level that breaks it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system breakdown says what the system is made of; the work breakdown says what work delivers it. Each work element produces one or more system elements.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R103 p.1640; R104 p.104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System breakdown structure and work breakdown structure</a:t>
            </a:r>
            <a:endParaRPr lang="en-US" sz="3000" dirty="0"/>
          </a:p>
        </p:txBody>
      </p:sp>
      <p:pic>
        <p:nvPicPr>
          <p:cNvPr id="4" name="Image 0" descr="Two trees side by side. Left tree titled system breakdown: service, with children aircraft, vertiports and operations center. Right tree titled work breakdown: program, with children aircraft acquisition, vertiport construction and operations software development. Dotted lines join aircraft to aircraft acquisition, vertiports to vertiport construction and operations center to operations software development.">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145536"/>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System breakdown</a:t>
            </a:r>
            <a:pPr indent="0" marL="0">
              <a:buNone/>
            </a:pPr>
            <a:r>
              <a:rPr lang="en-US" sz="2000" dirty="0">
                <a:solidFill>
                  <a:srgbClr val="18202D"/>
                </a:solidFill>
                <a:latin typeface="Calibri" pitchFamily="34" charset="0"/>
                <a:ea typeface="Calibri" pitchFamily="34" charset="-122"/>
                <a:cs typeface="Calibri" pitchFamily="34" charset="-120"/>
              </a:rPr>
              <a:t>: a hierarchy of elements used to assign teams, conduct reviews and partition work</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Work breakdown</a:t>
            </a:r>
            <a:pPr indent="0" marL="0">
              <a:buNone/>
            </a:pPr>
            <a:r>
              <a:rPr lang="en-US" sz="2000" dirty="0">
                <a:solidFill>
                  <a:srgbClr val="18202D"/>
                </a:solidFill>
                <a:latin typeface="Calibri" pitchFamily="34" charset="0"/>
                <a:ea typeface="Calibri" pitchFamily="34" charset="-122"/>
                <a:cs typeface="Calibri" pitchFamily="34" charset="-120"/>
              </a:rPr>
              <a:t>: a product-oriented decomposition of the work and deliverables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Work elements are outcomes, not actions; they do not overlap</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One logical element, Fleet Management, is implemented by two physical elements, the chargers and the operations center. Components refine the physical elements.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R19 p.571; R20c p.597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Logical and physical: which elements we break down</a:t>
            </a:r>
            <a:endParaRPr lang="en-US" sz="3000" dirty="0"/>
          </a:p>
        </p:txBody>
      </p:sp>
      <p:pic>
        <p:nvPicPr>
          <p:cNvPr id="4" name="Image 0" descr="Two horizontal planes. Upper plane labeled logical holds one box, LOG-002 Fleet Management. Lower plane labeled physical holds two boxes, PHY-003 Charging Systems and PHY-004 Operations Center, each joined to LOG-002 by a downward arrow labeled allocated to. Under PHY-003 three small boxes hang: turnaround chargers, standard chargers and power controller.">    </p:cNvPr>
          <p:cNvPicPr>
            <a:picLocks noChangeAspect="1"/>
          </p:cNvPicPr>
          <p:nvPr/>
        </p:nvPicPr>
        <p:blipFill>
          <a:blip r:embed="rId1"/>
          <a:stretch>
            <a:fillRect/>
          </a:stretch>
        </p:blipFill>
        <p:spPr>
          <a:xfrm>
            <a:off x="548640" y="1504595"/>
            <a:ext cx="6379289" cy="3799661"/>
          </a:xfrm>
          <a:prstGeom prst="rect">
            <a:avLst/>
          </a:prstGeom>
        </p:spPr>
      </p:pic>
      <p:sp>
        <p:nvSpPr>
          <p:cNvPr id="5" name="Text 2"/>
          <p:cNvSpPr/>
          <p:nvPr/>
        </p:nvSpPr>
        <p:spPr>
          <a:xfrm>
            <a:off x="7293689" y="1280160"/>
            <a:ext cx="4349366" cy="384759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Logical items: allocated functions and interfaces, no specific implementation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Physical items: a specific implementation of each logical element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Components refine the </a:t>
            </a:r>
            <a:pPr indent="0" marL="0">
              <a:buNone/>
            </a:pPr>
            <a:r>
              <a:rPr lang="en-US" sz="2000" b="1" dirty="0">
                <a:solidFill>
                  <a:srgbClr val="18202D"/>
                </a:solidFill>
                <a:latin typeface="Calibri" pitchFamily="34" charset="0"/>
                <a:ea typeface="Calibri" pitchFamily="34" charset="-122"/>
                <a:cs typeface="Calibri" pitchFamily="34" charset="-120"/>
              </a:rPr>
              <a:t>physical</a:t>
            </a:r>
            <a:pPr indent="0" marL="0">
              <a:buNone/>
            </a:pPr>
            <a:r>
              <a:rPr lang="en-US" sz="2000" dirty="0">
                <a:solidFill>
                  <a:srgbClr val="18202D"/>
                </a:solidFill>
                <a:latin typeface="Calibri" pitchFamily="34" charset="0"/>
                <a:ea typeface="Calibri" pitchFamily="34" charset="-122"/>
                <a:cs typeface="Calibri" pitchFamily="34" charset="-120"/>
              </a:rPr>
              <a:t> elements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Interfaces join physical elements, components and external elements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breakdown: 8 physical elements at level 1; 15 level-2 components under the 5 elements that are still complex. Counts from the Week 3 decision. (FICTIONAL; level 2 proposed)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R20c p.597; R101 p.1467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 AeroLink’s component breakdown</a:t>
            </a:r>
            <a:endParaRPr lang="en-US" sz="3000" dirty="0"/>
          </a:p>
        </p:txBody>
      </p:sp>
      <p:pic>
        <p:nvPicPr>
          <p:cNvPr id="4" name="Image 0" descr="A two-level tree under AeroLink service. Level 1: 8 boxes from PHY-001 eVTOL Aircraft (16 aircraft) to PHY-008 Pad fire detection, with counts: vertiports 6 including 4 hubs, chargers 12. Level 2 boxes hang under aircraft, vertiports, chargers, operations center and maintenance: Airframe and rotors; Battery pack and battery management; Flight management and health monitoring; Pads; Terminal and step-free route; Vertiport staff; High-power turnaround chargers; Standard chargers; Vertiport power controller; Scheduling and dispatch platform; Hot-standby platform; Duty managers and remote operators; Planning and evidence services; Certifying technicians; Diagnostic tools and battery workshop. The communications network, the booking platform and the fire detection system have no children.">    </p:cNvPr>
          <p:cNvPicPr>
            <a:picLocks noChangeAspect="1"/>
          </p:cNvPicPr>
          <p:nvPr/>
        </p:nvPicPr>
        <p:blipFill>
          <a:blip r:embed="rId1"/>
          <a:stretch>
            <a:fillRect/>
          </a:stretch>
        </p:blipFill>
        <p:spPr>
          <a:xfrm>
            <a:off x="819158" y="1280160"/>
            <a:ext cx="10553379" cy="2624385"/>
          </a:xfrm>
          <a:prstGeom prst="rect">
            <a:avLst/>
          </a:prstGeom>
        </p:spPr>
      </p:pic>
      <p:sp>
        <p:nvSpPr>
          <p:cNvPr id="5" name="Text 2"/>
          <p:cNvSpPr/>
          <p:nvPr/>
        </p:nvSpPr>
        <p:spPr>
          <a:xfrm>
            <a:off x="548640" y="4041705"/>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Start: </a:t>
            </a:r>
            <a:pPr indent="0" marL="0">
              <a:buNone/>
            </a:pPr>
            <a:r>
              <a:rPr lang="en-US" sz="1600" dirty="0">
                <a:solidFill>
                  <a:srgbClr val="18202D"/>
                </a:solidFill>
                <a:latin typeface="Calibri" pitchFamily="34" charset="0"/>
                <a:ea typeface="Calibri" pitchFamily="34" charset="-122"/>
                <a:cs typeface="Calibri" pitchFamily="34" charset="-120"/>
              </a:rPr>
              <a:t>from the Week 4 physical elements: level 1</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Ask: </a:t>
            </a:r>
            <a:pPr indent="0" marL="0">
              <a:buNone/>
            </a:pPr>
            <a:r>
              <a:rPr lang="en-US" sz="1600" dirty="0">
                <a:solidFill>
                  <a:srgbClr val="18202D"/>
                </a:solidFill>
                <a:latin typeface="Calibri" pitchFamily="34" charset="0"/>
                <a:ea typeface="Calibri" pitchFamily="34" charset="-122"/>
                <a:cs typeface="Calibri" pitchFamily="34" charset="-120"/>
              </a:rPr>
              <a:t>is this element still complex? If not, stop</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Split: </a:t>
            </a:r>
            <a:pPr indent="0" marL="0">
              <a:buNone/>
            </a:pPr>
            <a:r>
              <a:rPr lang="en-US" sz="1600" dirty="0">
                <a:solidFill>
                  <a:srgbClr val="18202D"/>
                </a:solidFill>
                <a:latin typeface="Calibri" pitchFamily="34" charset="0"/>
                <a:ea typeface="Calibri" pitchFamily="34" charset="-122"/>
                <a:cs typeface="Calibri" pitchFamily="34" charset="-120"/>
              </a:rPr>
              <a:t>into a few components of any kind</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Check: </a:t>
            </a:r>
            <a:pPr indent="0" marL="0">
              <a:buNone/>
            </a:pPr>
            <a:r>
              <a:rPr lang="en-US" sz="1600" dirty="0">
                <a:solidFill>
                  <a:srgbClr val="18202D"/>
                </a:solidFill>
                <a:latin typeface="Calibri" pitchFamily="34" charset="0"/>
                <a:ea typeface="Calibri" pitchFamily="34" charset="-122"/>
                <a:cs typeface="Calibri" pitchFamily="34" charset="-120"/>
              </a:rPr>
              <a:t>each component carries some of its parent’s functions</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responsibility card for the charging systems: what it is responsible for, the functions and requirements it carries, who owns it and which interfaces it has.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R47 p.139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Responsibility cards: one per element</a:t>
            </a:r>
            <a:endParaRPr lang="en-US" sz="3000" dirty="0"/>
          </a:p>
        </p:txBody>
      </p:sp>
      <p:pic>
        <p:nvPicPr>
          <p:cNvPr id="4" name="Image 0" descr="A filled card titled PHY-003 Charging Systems. Responsibility: charge aircraft within the turnaround and keep each vertiport within its power limit. Functions: FN-006 and FN-007. Requirements: REQ-SYS-001, REQ-SYS-010. Owner: Vertiport operators. Interfaces: IF-005, IF-006, IF-010.">    </p:cNvPr>
          <p:cNvPicPr>
            <a:picLocks noChangeAspect="1"/>
          </p:cNvPicPr>
          <p:nvPr/>
        </p:nvPicPr>
        <p:blipFill>
          <a:blip r:embed="rId1"/>
          <a:stretch>
            <a:fillRect/>
          </a:stretch>
        </p:blipFill>
        <p:spPr>
          <a:xfrm>
            <a:off x="548640" y="1754755"/>
            <a:ext cx="6379289" cy="3299341"/>
          </a:xfrm>
          <a:prstGeom prst="rect">
            <a:avLst/>
          </a:prstGeom>
        </p:spPr>
      </p:pic>
      <p:sp>
        <p:nvSpPr>
          <p:cNvPr id="5" name="Shape 2"/>
          <p:cNvSpPr/>
          <p:nvPr/>
        </p:nvSpPr>
        <p:spPr>
          <a:xfrm>
            <a:off x="7293689" y="1280160"/>
            <a:ext cx="4349366" cy="1057148"/>
          </a:xfrm>
          <a:prstGeom prst="roundRect">
            <a:avLst>
              <a:gd name="adj" fmla="val 5190"/>
            </a:avLst>
          </a:prstGeom>
          <a:solidFill>
            <a:srgbClr val="E1EFF4"/>
          </a:solidFill>
          <a:ln w="12700">
            <a:solidFill>
              <a:srgbClr val="0F6E8C"/>
            </a:solidFill>
            <a:prstDash val="solid"/>
          </a:ln>
        </p:spPr>
      </p:sp>
      <p:sp>
        <p:nvSpPr>
          <p:cNvPr id="6" name="Text 3"/>
          <p:cNvSpPr/>
          <p:nvPr/>
        </p:nvSpPr>
        <p:spPr>
          <a:xfrm>
            <a:off x="7430849" y="1280160"/>
            <a:ext cx="4075046"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COURSE CARD</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Responsibility · functions · requirements · owner · interfaces</a:t>
            </a:r>
            <a:endParaRPr lang="en-US" sz="1200" dirty="0"/>
          </a:p>
        </p:txBody>
      </p:sp>
      <p:sp>
        <p:nvSpPr>
          <p:cNvPr id="7" name="Text 4"/>
          <p:cNvSpPr/>
          <p:nvPr/>
        </p:nvSpPr>
        <p:spPr>
          <a:xfrm>
            <a:off x="7293689" y="2501900"/>
            <a:ext cx="4349366" cy="1513840"/>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owner manages the element’s side of every interface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An element with no responsibility is a candidate for deletion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Three interfaces: a plug and an outlet, a procedure document, a data message. Each is a shared boundary between two units.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R100 p.1541; R20c p.597; R57 p.410; R57 p.411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an interface is</a:t>
            </a:r>
            <a:endParaRPr lang="en-US" sz="3000" dirty="0"/>
          </a:p>
        </p:txBody>
      </p:sp>
      <p:pic>
        <p:nvPicPr>
          <p:cNvPr id="4" name="Image 0" descr="Three panels, each with two boxes and something between them. Left: a plug meeting an outlet. Middle: a document labeled procedure between two people icons. Right: an envelope labeled message between two computer icons. A caption bar across all three reads interface: a shared boundary between two units.">    </p:cNvPr>
          <p:cNvPicPr>
            <a:picLocks noChangeAspect="1"/>
          </p:cNvPicPr>
          <p:nvPr/>
        </p:nvPicPr>
        <p:blipFill>
          <a:blip r:embed="rId1"/>
          <a:stretch>
            <a:fillRect/>
          </a:stretch>
        </p:blipFill>
        <p:spPr>
          <a:xfrm>
            <a:off x="548640" y="1793907"/>
            <a:ext cx="6379289" cy="3383723"/>
          </a:xfrm>
          <a:prstGeom prst="rect">
            <a:avLst/>
          </a:prstGeom>
        </p:spPr>
      </p:pic>
      <p:sp>
        <p:nvSpPr>
          <p:cNvPr id="5" name="Shape 2"/>
          <p:cNvSpPr/>
          <p:nvPr/>
        </p:nvSpPr>
        <p:spPr>
          <a:xfrm>
            <a:off x="7293689" y="1280160"/>
            <a:ext cx="4349366" cy="2616708"/>
          </a:xfrm>
          <a:prstGeom prst="rect">
            <a:avLst/>
          </a:prstGeom>
          <a:solidFill>
            <a:srgbClr val="E1EFF4"/>
          </a:solidFill>
          <a:ln w="12700">
            <a:solidFill>
              <a:srgbClr val="E1EFF4"/>
            </a:solidFill>
            <a:prstDash val="solid"/>
          </a:ln>
        </p:spPr>
      </p:sp>
      <p:sp>
        <p:nvSpPr>
          <p:cNvPr id="6" name="Shape 3"/>
          <p:cNvSpPr/>
          <p:nvPr/>
        </p:nvSpPr>
        <p:spPr>
          <a:xfrm>
            <a:off x="7293689" y="1280160"/>
            <a:ext cx="73152" cy="2616708"/>
          </a:xfrm>
          <a:prstGeom prst="rect">
            <a:avLst/>
          </a:prstGeom>
          <a:solidFill>
            <a:srgbClr val="0F6E8C"/>
          </a:solidFill>
          <a:ln w="12700">
            <a:solidFill>
              <a:srgbClr val="0F6E8C"/>
            </a:solidFill>
            <a:prstDash val="solid"/>
          </a:ln>
        </p:spPr>
      </p:sp>
      <p:sp>
        <p:nvSpPr>
          <p:cNvPr id="7" name="Text 4"/>
          <p:cNvSpPr/>
          <p:nvPr/>
        </p:nvSpPr>
        <p:spPr>
          <a:xfrm>
            <a:off x="7522289" y="1280160"/>
            <a:ext cx="3983606" cy="2616708"/>
          </a:xfrm>
          <a:prstGeom prst="rect">
            <a:avLst/>
          </a:prstGeom>
          <a:noFill/>
          <a:ln/>
        </p:spPr>
        <p:txBody>
          <a:bodyPr wrap="square" lIns="50800" tIns="50800" rIns="50800" bIns="50800" rtlCol="0" anchor="ctr"/>
          <a:lstStyle/>
          <a:p>
            <a:pPr indent="0" marL="0">
              <a:buNone/>
            </a:pPr>
            <a:r>
              <a:rPr lang="en-US" sz="1100" b="1" spc="100" kern="0" dirty="0">
                <a:solidFill>
                  <a:srgbClr val="18202D"/>
                </a:solidFill>
                <a:latin typeface="Calibri" pitchFamily="34" charset="0"/>
                <a:ea typeface="Calibri" pitchFamily="34" charset="-122"/>
                <a:cs typeface="Calibri" pitchFamily="34" charset="-120"/>
              </a:rPr>
              <a:t>INTERFACE</a:t>
            </a:r>
            <a:endParaRPr lang="en-US" sz="1100" dirty="0"/>
          </a:p>
          <a:p>
            <a:pPr indent="0" marL="0">
              <a:buNone/>
            </a:pPr>
            <a:r>
              <a:rPr lang="en-US" sz="1900" dirty="0">
                <a:solidFill>
                  <a:srgbClr val="18202D"/>
                </a:solidFill>
                <a:latin typeface="Calibri" pitchFamily="34" charset="0"/>
                <a:ea typeface="Calibri" pitchFamily="34" charset="-122"/>
                <a:cs typeface="Calibri" pitchFamily="34" charset="-120"/>
              </a:rPr>
              <a:t>A shared boundary between two functional units, defined by various characteristics pertaining to the functions, physical signal exchanges, and other characteristics</a:t>
            </a:r>
            <a:endParaRPr lang="en-US" sz="1100" dirty="0"/>
          </a:p>
          <a:p>
            <a:pPr indent="0" marL="0">
              <a:spcBef>
                <a:spcPts val="600"/>
              </a:spcBef>
              <a:buNone/>
            </a:pPr>
            <a:r>
              <a:rPr lang="en-US" sz="1000" dirty="0">
                <a:solidFill>
                  <a:srgbClr val="0F6E8C"/>
                </a:solidFill>
                <a:latin typeface="Calibri" pitchFamily="34" charset="0"/>
                <a:ea typeface="Calibri" pitchFamily="34" charset="-122"/>
                <a:cs typeface="Calibri" pitchFamily="34" charset="-120"/>
              </a:rPr>
              <a:t>R100 · SEBoK v2.14 (2026), "Interface (glossary)", p.1541</a:t>
            </a:r>
            <a:endParaRPr lang="en-US" sz="1100" dirty="0"/>
          </a:p>
        </p:txBody>
      </p:sp>
      <p:sp>
        <p:nvSpPr>
          <p:cNvPr id="8" name="Text 5"/>
          <p:cNvSpPr/>
          <p:nvPr/>
        </p:nvSpPr>
        <p:spPr>
          <a:xfrm>
            <a:off x="7293689" y="4061460"/>
            <a:ext cx="4349366" cy="1327912"/>
          </a:xfrm>
          <a:prstGeom prst="rect">
            <a:avLst/>
          </a:prstGeom>
          <a:noFill/>
          <a:ln/>
        </p:spPr>
        <p:txBody>
          <a:bodyPr wrap="square" lIns="25400" tIns="25400" rIns="25400" bIns="25400" rtlCol="0" anchor="t"/>
          <a:lstStyle/>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Binds two system elements, like a link or a connector</a:t>
            </a:r>
            <a:endParaRPr lang="en-US" sz="1700" dirty="0"/>
          </a:p>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In services and enterprises: protocols, procedures, documents</a:t>
            </a:r>
            <a:endParaRPr lang="en-US" sz="17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course’s three kinds, each with one AeroLink interface. External is a flag on any kind: the grid connection is physical and external.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R20c p.597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Typing interfaces: physical, information, organizational; external flagged</a:t>
            </a:r>
            <a:endParaRPr lang="en-US" sz="3000" dirty="0"/>
          </a:p>
        </p:txBody>
      </p:sp>
      <p:pic>
        <p:nvPicPr>
          <p:cNvPr id="4" name="Image 0" descr="Three columns. Physical: energy, material or load, example IF-005 charger power to the aircraft. Information: data over a named medium, example IF-008 booking messages. Organizational: an agreement that carries no flow, example IF-009 pad-slot agreement. Beneath, a band labeled external flag with IF-006 grid connection, drawn crossing a dashed system boundary.">    </p:cNvPr>
          <p:cNvPicPr>
            <a:picLocks noChangeAspect="1"/>
          </p:cNvPicPr>
          <p:nvPr/>
        </p:nvPicPr>
        <p:blipFill>
          <a:blip r:embed="rId1"/>
          <a:stretch>
            <a:fillRect/>
          </a:stretch>
        </p:blipFill>
        <p:spPr>
          <a:xfrm>
            <a:off x="548640" y="1550428"/>
            <a:ext cx="6379289" cy="3870683"/>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293689" y="1280160"/>
          <a:ext cx="4349366" cy="914400"/>
        </p:xfrm>
        <a:graphic>
          <a:graphicData uri="http://schemas.openxmlformats.org/drawingml/2006/table">
            <a:tbl>
              <a:tblPr/>
              <a:tblGrid>
                <a:gridCol w="2174683"/>
                <a:gridCol w="2174683"/>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Kind</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crosses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Physical</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energy, material, mechanical load (things that move or bind)</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Information</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data, over a named medium</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Organizational</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nothing: it records an agreement, a procedure or a responsibility between owners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6" name="Text 2"/>
          <p:cNvSpPr/>
          <p:nvPr/>
        </p:nvSpPr>
        <p:spPr>
          <a:xfrm>
            <a:off x="7293689" y="4440790"/>
            <a:ext cx="4349366" cy="1121664"/>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External</a:t>
            </a:r>
            <a:pPr indent="0" marL="0">
              <a:buNone/>
            </a:pPr>
            <a:r>
              <a:rPr lang="en-US" sz="2000" dirty="0">
                <a:solidFill>
                  <a:srgbClr val="18202D"/>
                </a:solidFill>
                <a:latin typeface="Calibri" pitchFamily="34" charset="0"/>
                <a:ea typeface="Calibri" pitchFamily="34" charset="-122"/>
                <a:cs typeface="Calibri" pitchFamily="34" charset="-120"/>
              </a:rPr>
              <a:t>: one end outside the system of interest (a flag, any kind)</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internal elements that talk over a network the system does not own have an internal interface (the data) and a hidden external one (the network).</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R54 p.331; R55 p.369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External and hidden external interfaces</a:t>
            </a:r>
            <a:endParaRPr lang="en-US" sz="3000" dirty="0"/>
          </a:p>
        </p:txBody>
      </p:sp>
      <p:pic>
        <p:nvPicPr>
          <p:cNvPr id="4" name="Image 0" descr="Two boxes inside a dashed system boundary, labeled element A and element B. A line from each runs out through the boundary into a cloud outside labeled leased network, not ours. A red tag on the cloud reads hidden external interface. Inside the boundary, a dotted line between A and B is labeled internal interface: the data.">    </p:cNvPr>
          <p:cNvPicPr>
            <a:picLocks noChangeAspect="1"/>
          </p:cNvPicPr>
          <p:nvPr/>
        </p:nvPicPr>
        <p:blipFill>
          <a:blip r:embed="rId1"/>
          <a:stretch>
            <a:fillRect/>
          </a:stretch>
        </p:blipFill>
        <p:spPr>
          <a:xfrm>
            <a:off x="548640" y="1691062"/>
            <a:ext cx="6379289" cy="3589413"/>
          </a:xfrm>
          <a:prstGeom prst="rect">
            <a:avLst/>
          </a:prstGeom>
        </p:spPr>
      </p:pic>
      <p:sp>
        <p:nvSpPr>
          <p:cNvPr id="5" name="Text 2"/>
          <p:cNvSpPr/>
          <p:nvPr/>
        </p:nvSpPr>
        <p:spPr>
          <a:xfrm>
            <a:off x="7293689" y="1280160"/>
            <a:ext cx="4349366" cy="28356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Include every external interface; major internal ones too</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Internal elements talking over a medium you do not own, or over radio: a hidden external interface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medium column is how you find them</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five-element teaching N²: elements on the diagonal, each interface written once above it. An inset shows the directed form, where the row produces and the column consumes.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R22 p.630; R22 p.631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N² chart: how it is built</a:t>
            </a:r>
            <a:endParaRPr lang="en-US" sz="3000" dirty="0"/>
          </a:p>
        </p:txBody>
      </p:sp>
      <p:pic>
        <p:nvPicPr>
          <p:cNvPr id="4" name="Image 0" descr="A five-by-five grid with elements A to E on the diagonal. One upper-triangle cell, in row A and column C, holds the label IF-1. The cells below the diagonal are shaded and marked mirror. An inset at the right shows a two-by-two directed grid with an arrow from row to column labeled row produces, column consumes.">    </p:cNvPr>
          <p:cNvPicPr>
            <a:picLocks noChangeAspect="1"/>
          </p:cNvPicPr>
          <p:nvPr/>
        </p:nvPicPr>
        <p:blipFill>
          <a:blip r:embed="rId1"/>
          <a:stretch>
            <a:fillRect/>
          </a:stretch>
        </p:blipFill>
        <p:spPr>
          <a:xfrm>
            <a:off x="548640" y="1712564"/>
            <a:ext cx="6379289" cy="3383723"/>
          </a:xfrm>
          <a:prstGeom prst="rect">
            <a:avLst/>
          </a:prstGeom>
        </p:spPr>
      </p:pic>
      <p:sp>
        <p:nvSpPr>
          <p:cNvPr id="5" name="Text 2"/>
          <p:cNvSpPr/>
          <p:nvPr/>
        </p:nvSpPr>
        <p:spPr>
          <a:xfrm>
            <a:off x="7293689" y="1280160"/>
            <a:ext cx="4349366" cy="384759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Elements on the diagonal: yours and the external ones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cell: the interfaces joining that pair, written once above the diagonal (course convention)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Directed form: the row produces, the column consumes (course convention)</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Check</a:t>
            </a:r>
            <a:pPr indent="0" marL="0">
              <a:buNone/>
            </a:pPr>
            <a:r>
              <a:rPr lang="en-US" sz="2000" dirty="0">
                <a:solidFill>
                  <a:srgbClr val="18202D"/>
                </a:solidFill>
                <a:latin typeface="Calibri" pitchFamily="34" charset="0"/>
                <a:ea typeface="Calibri" pitchFamily="34" charset="-122"/>
                <a:cs typeface="Calibri" pitchFamily="34" charset="-120"/>
              </a:rPr>
              <a:t>: the degrees sum to twice the number of interfaces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N² of the 14 interfaces received from Week 4 over 15 elements, each cell colored by kind. The degree column is left for you to fill.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R22 p.630; R22 p.631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 AeroLink’s N² from the fourteen interfaces</a:t>
            </a:r>
            <a:endParaRPr lang="en-US" sz="3000" dirty="0"/>
          </a:p>
        </p:txBody>
      </p:sp>
      <p:pic>
        <p:nvPicPr>
          <p:cNvPr id="4" name="Image 0" descr="An upper-triangle matrix with fifteen elements on the diagonal: PHY-001 to PHY-008 and EXT-001 to EXT-007, each with a short name. Filled cells: 14 interface labels colored physical, information or organizational. The ops center row holds the most labels. A degree column at the right is empty, with a question mark in each row.">    </p:cNvPr>
          <p:cNvPicPr>
            <a:picLocks noChangeAspect="1"/>
          </p:cNvPicPr>
          <p:nvPr/>
        </p:nvPicPr>
        <p:blipFill>
          <a:blip r:embed="rId1"/>
          <a:stretch>
            <a:fillRect/>
          </a:stretch>
        </p:blipFill>
        <p:spPr>
          <a:xfrm>
            <a:off x="606540" y="1280160"/>
            <a:ext cx="10978615" cy="2730132"/>
          </a:xfrm>
          <a:prstGeom prst="rect">
            <a:avLst/>
          </a:prstGeom>
        </p:spPr>
      </p:pic>
      <p:sp>
        <p:nvSpPr>
          <p:cNvPr id="5" name="Text 2"/>
          <p:cNvSpPr/>
          <p:nvPr/>
        </p:nvSpPr>
        <p:spPr>
          <a:xfrm>
            <a:off x="548640" y="4147452"/>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Diagonal: </a:t>
            </a:r>
            <a:pPr indent="0" marL="0">
              <a:buNone/>
            </a:pPr>
            <a:r>
              <a:rPr lang="en-US" sz="1600" dirty="0">
                <a:solidFill>
                  <a:srgbClr val="18202D"/>
                </a:solidFill>
                <a:latin typeface="Calibri" pitchFamily="34" charset="0"/>
                <a:ea typeface="Calibri" pitchFamily="34" charset="-122"/>
                <a:cs typeface="Calibri" pitchFamily="34" charset="-120"/>
              </a:rPr>
              <a:t>the 8 physical and 7 external elements</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Place: </a:t>
            </a:r>
            <a:pPr indent="0" marL="0">
              <a:buNone/>
            </a:pPr>
            <a:r>
              <a:rPr lang="en-US" sz="1600" dirty="0">
                <a:solidFill>
                  <a:srgbClr val="18202D"/>
                </a:solidFill>
                <a:latin typeface="Calibri" pitchFamily="34" charset="0"/>
                <a:ea typeface="Calibri" pitchFamily="34" charset="-122"/>
                <a:cs typeface="Calibri" pitchFamily="34" charset="-120"/>
              </a:rPr>
              <a:t>each interface in the cell of its two ends</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Type: </a:t>
            </a:r>
            <a:pPr indent="0" marL="0">
              <a:buNone/>
            </a:pPr>
            <a:r>
              <a:rPr lang="en-US" sz="1600" dirty="0">
                <a:solidFill>
                  <a:srgbClr val="18202D"/>
                </a:solidFill>
                <a:latin typeface="Calibri" pitchFamily="34" charset="0"/>
                <a:ea typeface="Calibri" pitchFamily="34" charset="-122"/>
                <a:cs typeface="Calibri" pitchFamily="34" charset="-120"/>
              </a:rPr>
              <a:t>color each cell by kind; mark external</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Count: </a:t>
            </a:r>
            <a:pPr indent="0" marL="0">
              <a:buNone/>
            </a:pPr>
            <a:r>
              <a:rPr lang="en-US" sz="1600" dirty="0">
                <a:solidFill>
                  <a:srgbClr val="18202D"/>
                </a:solidFill>
                <a:latin typeface="Calibri" pitchFamily="34" charset="0"/>
                <a:ea typeface="Calibri" pitchFamily="34" charset="-122"/>
                <a:cs typeface="Calibri" pitchFamily="34" charset="-120"/>
              </a:rPr>
              <a:t>each element’s degree; check the sum</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Degrees revealed: the operations center touches 9 of the 14 interfaces. 4 rows are empty: the network (it is the medium), weather, the spares supply and public transport. Sum 28 = 2 × 14.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R55 p.369; R20c p.603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Reading the N²: the hub, the empty rows, the sum</a:t>
            </a:r>
            <a:endParaRPr lang="en-US" sz="3000" dirty="0"/>
          </a:p>
        </p:txBody>
      </p:sp>
      <p:pic>
        <p:nvPicPr>
          <p:cNvPr id="4" name="Image 0" descr="The AeroLink N² from the previous slide with a filled degree column: PHY-001 4, PHY-002 3, PHY-003 3, PHY-004 9, PHY-005 3, PHY-006 0, PHY-007 1, PHY-008 1, EXT-001 1, EXT-002 1, EXT-003 0, EXT-004 0, EXT-005 0, EXT-006 1, EXT-007 1. The PHY-004 row is highlighted as the hub. The rows of PHY-006, EXT-003, EXT-004 and EXT-005 are outlined in red as empty. A total at the foot reads 28 = 2 × 14.">    </p:cNvPr>
          <p:cNvPicPr>
            <a:picLocks noChangeAspect="1"/>
          </p:cNvPicPr>
          <p:nvPr/>
        </p:nvPicPr>
        <p:blipFill>
          <a:blip r:embed="rId1"/>
          <a:stretch>
            <a:fillRect/>
          </a:stretch>
        </p:blipFill>
        <p:spPr>
          <a:xfrm>
            <a:off x="548640" y="1469084"/>
            <a:ext cx="6379289" cy="3870683"/>
          </a:xfrm>
          <a:prstGeom prst="rect">
            <a:avLst/>
          </a:prstGeom>
        </p:spPr>
      </p:pic>
      <p:sp>
        <p:nvSpPr>
          <p:cNvPr id="5" name="Text 2"/>
          <p:cNvSpPr/>
          <p:nvPr/>
        </p:nvSpPr>
        <p:spPr>
          <a:xfrm>
            <a:off x="7293689" y="1280160"/>
            <a:ext cx="4349366" cy="1906016"/>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Hub</a:t>
            </a:r>
            <a:pPr indent="0" marL="0">
              <a:buNone/>
            </a:pPr>
            <a:r>
              <a:rPr lang="en-US" sz="2000" dirty="0">
                <a:solidFill>
                  <a:srgbClr val="18202D"/>
                </a:solidFill>
                <a:latin typeface="Calibri" pitchFamily="34" charset="0"/>
                <a:ea typeface="Calibri" pitchFamily="34" charset="-122"/>
                <a:cs typeface="Calibri" pitchFamily="34" charset="-120"/>
              </a:rPr>
              <a:t>: the operations center, degree 9</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Empty rows</a:t>
            </a:r>
            <a:pPr indent="0" marL="0">
              <a:buNone/>
            </a:pPr>
            <a:r>
              <a:rPr lang="en-US" sz="2000" dirty="0">
                <a:solidFill>
                  <a:srgbClr val="18202D"/>
                </a:solidFill>
                <a:latin typeface="Calibri" pitchFamily="34" charset="0"/>
                <a:ea typeface="Calibri" pitchFamily="34" charset="-122"/>
                <a:cs typeface="Calibri" pitchFamily="34" charset="-120"/>
              </a:rPr>
              <a:t>: each needs an interface or a recorded reason</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Sum</a:t>
            </a:r>
            <a:pPr indent="0" marL="0">
              <a:buNone/>
            </a:pPr>
            <a:r>
              <a:rPr lang="en-US" sz="2000" dirty="0">
                <a:solidFill>
                  <a:srgbClr val="18202D"/>
                </a:solidFill>
                <a:latin typeface="Calibri" pitchFamily="34" charset="0"/>
                <a:ea typeface="Calibri" pitchFamily="34" charset="-122"/>
                <a:cs typeface="Calibri" pitchFamily="34" charset="-120"/>
              </a:rPr>
              <a:t>: 28 = 2 × 14</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Overlay the allocation on the N²: a flow between functions on two different elements needs an interface of the matching kind. The go / no-go status rides IF-012; the incident records had nothing to ride.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R22 p.630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Functional flows across the physical boundary</a:t>
            </a:r>
            <a:endParaRPr lang="en-US" sz="3000" dirty="0"/>
          </a:p>
        </p:txBody>
      </p:sp>
      <p:pic>
        <p:nvPicPr>
          <p:cNvPr id="4" name="Image 0" descr="Three element boxes: maintenance with FN-008 inside, operations center with FN-011 and FN-016 inside, and fire alarm with FN-010 inside. A solid arrow from FN-008 to FN-011 is labeled go / no-go status over IF-012. A dashed red arrow from FN-010 to FN-016 is labeled incident records, no interface in Week 4.">    </p:cNvPr>
          <p:cNvPicPr>
            <a:picLocks noChangeAspect="1"/>
          </p:cNvPicPr>
          <p:nvPr/>
        </p:nvPicPr>
        <p:blipFill>
          <a:blip r:embed="rId1"/>
          <a:stretch>
            <a:fillRect/>
          </a:stretch>
        </p:blipFill>
        <p:spPr>
          <a:xfrm>
            <a:off x="548640" y="1540118"/>
            <a:ext cx="6379289" cy="3728615"/>
          </a:xfrm>
          <a:prstGeom prst="rect">
            <a:avLst/>
          </a:prstGeom>
        </p:spPr>
      </p:pic>
      <p:sp>
        <p:nvSpPr>
          <p:cNvPr id="5" name="Text 2"/>
          <p:cNvSpPr/>
          <p:nvPr/>
        </p:nvSpPr>
        <p:spPr>
          <a:xfrm>
            <a:off x="7293689" y="1280160"/>
            <a:ext cx="4349366" cy="314553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flow whose two functions sit on different elements is a </a:t>
            </a:r>
            <a:pPr indent="0" marL="0">
              <a:buNone/>
            </a:pPr>
            <a:r>
              <a:rPr lang="en-US" sz="2000" b="1" dirty="0">
                <a:solidFill>
                  <a:srgbClr val="18202D"/>
                </a:solidFill>
                <a:latin typeface="Calibri" pitchFamily="34" charset="0"/>
                <a:ea typeface="Calibri" pitchFamily="34" charset="-122"/>
                <a:cs typeface="Calibri" pitchFamily="34" charset="-120"/>
              </a:rPr>
              <a:t>crossing flow</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crossing flow rides an information interface, or a recorded relay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AeroLink: 20 crossing flows, computed from the Week 4 functions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decision: a one-way information interface from the fire detection system to the operations center (IF-015). A relay also adds one new interface, but its path has two hops and depends on another system; re-entry loses records. (FICTIONAL; proposed)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R20c p.599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Answering the driving question: a new interface, chosen with reasons</a:t>
            </a:r>
            <a:endParaRPr lang="en-US" sz="3000" dirty="0"/>
          </a:p>
        </p:txBody>
      </p:sp>
      <p:pic>
        <p:nvPicPr>
          <p:cNvPr id="4" name="Image 0" descr="The scene from the driving question, now with a solid arrow from Fire alarm (PHY-008) to Ops center labeled IF-015 incident records, one way. Below, three small option cards: direct, one new interface, chosen; relay through vertiport systems, one new interface and a path of two; staff re-entry, no interface but records lost, struck through.">    </p:cNvPr>
          <p:cNvPicPr>
            <a:picLocks noChangeAspect="1"/>
          </p:cNvPicPr>
          <p:nvPr/>
        </p:nvPicPr>
        <p:blipFill>
          <a:blip r:embed="rId1"/>
          <a:stretch>
            <a:fillRect/>
          </a:stretch>
        </p:blipFill>
        <p:spPr>
          <a:xfrm>
            <a:off x="548640" y="1398420"/>
            <a:ext cx="6379289" cy="4012012"/>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a:t>
            </a:r>
            <a:pPr indent="0" marL="0">
              <a:buNone/>
            </a:pPr>
            <a:r>
              <a:rPr lang="en-US" sz="2000" dirty="0">
                <a:solidFill>
                  <a:srgbClr val="18202D"/>
                </a:solidFill>
                <a:latin typeface="Calibri" pitchFamily="34" charset="0"/>
                <a:ea typeface="Calibri" pitchFamily="34" charset="-122"/>
                <a:cs typeface="Calibri" pitchFamily="34" charset="-120"/>
              </a:rPr>
              <a:t> chosen: one new interface, one way, over the ground network</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B</a:t>
            </a:r>
            <a:pPr indent="0" marL="0">
              <a:buNone/>
            </a:pPr>
            <a:r>
              <a:rPr lang="en-US" sz="2000" dirty="0">
                <a:solidFill>
                  <a:srgbClr val="18202D"/>
                </a:solidFill>
                <a:latin typeface="Calibri" pitchFamily="34" charset="0"/>
                <a:ea typeface="Calibri" pitchFamily="34" charset="-122"/>
                <a:cs typeface="Calibri" pitchFamily="34" charset="-120"/>
              </a:rPr>
              <a:t> relay: one new interface too, but a path of two and a second system</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a:t>
            </a:r>
            <a:pPr indent="0" marL="0">
              <a:buNone/>
            </a:pPr>
            <a:r>
              <a:rPr lang="en-US" sz="2000" dirty="0">
                <a:solidFill>
                  <a:srgbClr val="18202D"/>
                </a:solidFill>
                <a:latin typeface="Calibri" pitchFamily="34" charset="0"/>
                <a:ea typeface="Calibri" pitchFamily="34" charset="-122"/>
                <a:cs typeface="Calibri" pitchFamily="34" charset="-120"/>
              </a:rPr>
              <a:t> re-entry: a manual procedure that loses records</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D</a:t>
            </a:r>
            <a:pPr indent="0" marL="0">
              <a:buNone/>
            </a:pPr>
            <a:r>
              <a:rPr lang="en-US" sz="2000" dirty="0">
                <a:solidFill>
                  <a:srgbClr val="18202D"/>
                </a:solidFill>
                <a:latin typeface="Calibri" pitchFamily="34" charset="0"/>
                <a:ea typeface="Calibri" pitchFamily="34" charset="-122"/>
                <a:cs typeface="Calibri" pitchFamily="34" charset="-120"/>
              </a:rPr>
              <a:t> wrong: the alarm goes outside AeroLink</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course interface table, one row per interface. For the exercise, only the identity and ends of the fire alarm interface are filled in.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R57 p.413; R57 p.411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interface definition table</a:t>
            </a:r>
            <a:endParaRPr lang="en-US" sz="3000" dirty="0"/>
          </a:p>
        </p:txBody>
      </p:sp>
      <p:pic>
        <p:nvPicPr>
          <p:cNvPr id="4" name="Image 0" descr="A header strip with 11 columns: ID and name, kind (external flagged), ends, what crosses, direction, medium, constraint and requirement, owner of each side, verification, protection, degraded mode. One row below it: IF-007, fire alarm to emergency response service, information, external, ends PHY-008 and EXT-006. Every other cell of the row is blank.">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Describe every interface with the </a:t>
            </a:r>
            <a:pPr indent="0" marL="0">
              <a:buNone/>
            </a:pPr>
            <a:r>
              <a:rPr lang="en-US" sz="2000" b="1" dirty="0">
                <a:solidFill>
                  <a:srgbClr val="18202D"/>
                </a:solidFill>
                <a:latin typeface="Calibri" pitchFamily="34" charset="0"/>
                <a:ea typeface="Calibri" pitchFamily="34" charset="-122"/>
                <a:cs typeface="Calibri" pitchFamily="34" charset="-120"/>
              </a:rPr>
              <a:t>same</a:t>
            </a:r>
            <a:pPr indent="0" marL="0">
              <a:buNone/>
            </a:pPr>
            <a:r>
              <a:rPr lang="en-US" sz="2000" dirty="0">
                <a:solidFill>
                  <a:srgbClr val="18202D"/>
                </a:solidFill>
                <a:latin typeface="Calibri" pitchFamily="34" charset="0"/>
                <a:ea typeface="Calibri" pitchFamily="34" charset="-122"/>
                <a:cs typeface="Calibri" pitchFamily="34" charset="-120"/>
              </a:rPr>
              <a:t> attributes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Include how it is used, not only its technical form</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Course columns: what crosses, direction, medium, constraint, owners, verification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Pairs: complete the fire alarm row</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completed rows: the external fire alarm interface and the new incident-record interface. Direction is computed from the Week 4 routes. (FICTIONAL; attribute values proposed)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R57 p.413; R22 p.630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III: defining the fire alarm and incident-record interfaces</a:t>
            </a:r>
            <a:endParaRPr lang="en-US" sz="3000" dirty="0"/>
          </a:p>
        </p:txBody>
      </p:sp>
      <p:pic>
        <p:nvPicPr>
          <p:cNvPr id="4" name="Image 0" descr="Two filled definition cards side by side. IF-007: information, external; PHY-008 → EXT-006 (INFO-010); medium: alarm transmission to the emergency services dispatch center over two independent paths (proposed); constraint: alarm received at the dispatch center within 30 s of detection; requirement REQ-SYS-009; owners Vertiport operators and Emergency responders; verification VER-009. IF-015: information; PHY-008 → PHY-004 (INFO-006); medium: ground network (PHY-006); constraint: each pad incident record in the evidence log within 1 h of the incident; requirements REQ-STK-016, REQ-SYS-015; owners Vertiport operators and AeroLink; verification planned: test: injected pad incidents appear in the evidence log within 1 h.">    </p:cNvPr>
          <p:cNvPicPr>
            <a:picLocks noChangeAspect="1"/>
          </p:cNvPicPr>
          <p:nvPr/>
        </p:nvPicPr>
        <p:blipFill>
          <a:blip r:embed="rId1"/>
          <a:stretch>
            <a:fillRect/>
          </a:stretch>
        </p:blipFill>
        <p:spPr>
          <a:xfrm>
            <a:off x="819158" y="1280160"/>
            <a:ext cx="10553379" cy="2624385"/>
          </a:xfrm>
          <a:prstGeom prst="rect">
            <a:avLst/>
          </a:prstGeom>
        </p:spPr>
      </p:pic>
      <p:sp>
        <p:nvSpPr>
          <p:cNvPr id="5" name="Text 2"/>
          <p:cNvSpPr/>
          <p:nvPr/>
        </p:nvSpPr>
        <p:spPr>
          <a:xfrm>
            <a:off x="548640" y="4041705"/>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Crosses: </a:t>
            </a:r>
            <a:pPr indent="0" marL="0">
              <a:buNone/>
            </a:pPr>
            <a:r>
              <a:rPr lang="en-US" sz="1600" dirty="0">
                <a:solidFill>
                  <a:srgbClr val="18202D"/>
                </a:solidFill>
                <a:latin typeface="Calibri" pitchFamily="34" charset="0"/>
                <a:ea typeface="Calibri" pitchFamily="34" charset="-122"/>
                <a:cs typeface="Calibri" pitchFamily="34" charset="-120"/>
              </a:rPr>
              <a:t>the item, from the Week 4 information view</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Direction: </a:t>
            </a:r>
            <a:pPr indent="0" marL="0">
              <a:buNone/>
            </a:pPr>
            <a:r>
              <a:rPr lang="en-US" sz="1600" dirty="0">
                <a:solidFill>
                  <a:srgbClr val="18202D"/>
                </a:solidFill>
                <a:latin typeface="Calibri" pitchFamily="34" charset="0"/>
                <a:ea typeface="Calibri" pitchFamily="34" charset="-122"/>
                <a:cs typeface="Calibri" pitchFamily="34" charset="-120"/>
              </a:rPr>
              <a:t>from producer to consumer, per item</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Constraint: </a:t>
            </a:r>
            <a:pPr indent="0" marL="0">
              <a:buNone/>
            </a:pPr>
            <a:r>
              <a:rPr lang="en-US" sz="1600" dirty="0">
                <a:solidFill>
                  <a:srgbClr val="18202D"/>
                </a:solidFill>
                <a:latin typeface="Calibri" pitchFamily="34" charset="0"/>
                <a:ea typeface="Calibri" pitchFamily="34" charset="-122"/>
                <a:cs typeface="Calibri" pitchFamily="34" charset="-120"/>
              </a:rPr>
              <a:t>the requirement that bounds it</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Owners: </a:t>
            </a:r>
            <a:pPr indent="0" marL="0">
              <a:buNone/>
            </a:pPr>
            <a:r>
              <a:rPr lang="en-US" sz="1600" dirty="0">
                <a:solidFill>
                  <a:srgbClr val="18202D"/>
                </a:solidFill>
                <a:latin typeface="Calibri" pitchFamily="34" charset="0"/>
                <a:ea typeface="Calibri" pitchFamily="34" charset="-122"/>
                <a:cs typeface="Calibri" pitchFamily="34" charset="-120"/>
              </a:rPr>
              <a:t>one per side; then verification</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three steps worked on the flight-intent interface to the air traffic service. The requirement names the interface it governs. (FICTIONAL; value proposed)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R13 p.563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Interface requirements in three steps</a:t>
            </a:r>
            <a:endParaRPr lang="en-US" sz="3000" dirty="0"/>
          </a:p>
        </p:txBody>
      </p:sp>
      <p:pic>
        <p:nvPicPr>
          <p:cNvPr id="4" name="Image 0" descr="Three numbered boxes left to right. 1 Identify: operations center (PHY-004) and the air traffic service (EXT-001), across IF-003. 2 Define: the intended route and departure time out; acceptance or amendment back; over the provider’s data service. 3 Write: The operations system shall send each flight intent to the air navigation service provider over IF-003 at least 10 min before the planned departure.">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1</a:t>
            </a:r>
            <a:pPr indent="0" marL="0">
              <a:buNone/>
            </a:pPr>
            <a:r>
              <a:rPr lang="en-US" sz="2000" dirty="0">
                <a:solidFill>
                  <a:srgbClr val="18202D"/>
                </a:solidFill>
                <a:latin typeface="Calibri" pitchFamily="34" charset="0"/>
                <a:ea typeface="Calibri" pitchFamily="34" charset="-122"/>
                <a:cs typeface="Calibri" pitchFamily="34" charset="-120"/>
              </a:rPr>
              <a:t> Identify the boundaries and the interactions across them</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2</a:t>
            </a:r>
            <a:pPr indent="0" marL="0">
              <a:buNone/>
            </a:pPr>
            <a:r>
              <a:rPr lang="en-US" sz="2000" dirty="0">
                <a:solidFill>
                  <a:srgbClr val="18202D"/>
                </a:solidFill>
                <a:latin typeface="Calibri" pitchFamily="34" charset="0"/>
                <a:ea typeface="Calibri" pitchFamily="34" charset="-122"/>
                <a:cs typeface="Calibri" pitchFamily="34" charset="-120"/>
              </a:rPr>
              <a:t> Define each interaction: what crosses, and the media</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3</a:t>
            </a:r>
            <a:pPr indent="0" marL="0">
              <a:buNone/>
            </a:pPr>
            <a:r>
              <a:rPr lang="en-US" sz="2000" dirty="0">
                <a:solidFill>
                  <a:srgbClr val="18202D"/>
                </a:solidFill>
                <a:latin typeface="Calibri" pitchFamily="34" charset="0"/>
                <a:ea typeface="Calibri" pitchFamily="34" charset="-122"/>
                <a:cs typeface="Calibri" pitchFamily="34" charset="-120"/>
              </a:rPr>
              <a:t> Write the interface requirement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Name the definition it points to</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Six elements joined by eleven links, drawn two ways: scattered, with no grouping; grouped into two modules, five links cross the module boundary.</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R20c p.599; R20c p.603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Modularity: maximum consistency inside, minimum interfaces outside</a:t>
            </a:r>
            <a:endParaRPr lang="en-US" sz="3000" dirty="0"/>
          </a:p>
        </p:txBody>
      </p:sp>
      <p:pic>
        <p:nvPicPr>
          <p:cNvPr id="4" name="Image 0" descr="Two panels with the same six elements and the same eleven links. Left panel, scattered: no grouping. Right panel: the elements are in two rounded modules of three; six links lie inside the modules and five cross between them, those five drawn heavier and counted.">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Aim: fewer physical interfaces; modularity (low interdependence)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Maximum consistency inside an element, minimum interfaces outside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Focus on interfaces at abstract levels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But concentration can cost resilience: Session 2</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Exit: one interface of your enterprise</a:t>
            </a:r>
            <a:endParaRPr lang="en-US" sz="3000" dirty="0"/>
          </a:p>
        </p:txBody>
      </p:sp>
      <p:sp>
        <p:nvSpPr>
          <p:cNvPr id="3" name="Shape 1"/>
          <p:cNvSpPr/>
          <p:nvPr/>
        </p:nvSpPr>
        <p:spPr>
          <a:xfrm>
            <a:off x="548640" y="1280160"/>
            <a:ext cx="6379289" cy="1057148"/>
          </a:xfrm>
          <a:prstGeom prst="roundRect">
            <a:avLst>
              <a:gd name="adj" fmla="val 5190"/>
            </a:avLst>
          </a:prstGeom>
          <a:solidFill>
            <a:srgbClr val="E1EFF4"/>
          </a:solidFill>
          <a:ln w="12700">
            <a:solidFill>
              <a:srgbClr val="0F6E8C"/>
            </a:solidFill>
            <a:prstDash val="solid"/>
          </a:ln>
        </p:spPr>
      </p:sp>
      <p:sp>
        <p:nvSpPr>
          <p:cNvPr id="4" name="Text 2"/>
          <p:cNvSpPr/>
          <p:nvPr/>
        </p:nvSpPr>
        <p:spPr>
          <a:xfrm>
            <a:off x="685800" y="1280160"/>
            <a:ext cx="6104969"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ONE-MINUTE PAPER</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Name one organizational interface of your enterprise, the agreement it records, and who owns each side.</a:t>
            </a:r>
            <a:endParaRPr lang="en-US" sz="1200" dirty="0"/>
          </a:p>
        </p:txBody>
      </p:sp>
      <p:sp>
        <p:nvSpPr>
          <p:cNvPr id="5" name="Text 3"/>
          <p:cNvSpPr/>
          <p:nvPr/>
        </p:nvSpPr>
        <p:spPr>
          <a:xfrm>
            <a:off x="7293689" y="128016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Before Session 2 (about 15 min): list your Week 4 physical elements and externals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Mark every pair that exchanges something, and what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Bring it: you draft your N² in class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R13 · SEBoK v2.14 (2026), “System Requirements Definition”, p.563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R19 · SEBoK v2.14 (2026), “System Architecture Design Definition”, p.571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R20c · SEBoK v2.14 (2026), “Physical Architecture”, p.596–597, 599, 603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R22 · SEBoK v2.14 (2026), “System Integration”, p.630–631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R47 · OUSD(R&amp;E) Systems Engineering Guidebook (2021/2022), “Interface Management Process”, p.138–140</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R54 · The MITRE Systems Engineering Guide (2014), “Analyzing and Defining Requirements”, p.331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R55 · The MITRE Systems Engineering Guide (2014), “Develop System-Level Technical Requirements”, p.369</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R57 · The MITRE Systems Engineering Guide (2014), “Interface Management”, p.410–414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R100 · SEBoK v2.14 (2026), “Interface (glossary)”, p.1541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R101 · SEBoK v2.14 (2026), “Component (glossary)”, p.1467</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R102 · SEBoK v2.14 (2026), “System Element (glossary)”, p.1643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R103 · SEBoK v2.14 (2026), “System Breakdown Structure (glossary)”, p.1640</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R104 · OUSD(R&amp;E) Systems Engineering Guidebook (2021/2022), “Work Breakdown Structure”, p.104</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200" b="1" spc="100" kern="0" dirty="0">
                <a:solidFill>
                  <a:srgbClr val="18202D"/>
                </a:solidFill>
                <a:latin typeface="Calibri" pitchFamily="34" charset="0"/>
                <a:ea typeface="Calibri" pitchFamily="34" charset="-122"/>
                <a:cs typeface="Calibri" pitchFamily="34" charset="-120"/>
              </a:rPr>
              <a:t>CREDITS AND LICENSES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OUSD(R&amp;E) Systems Engineering Guidebook: Distribution Statement A. Approved for public release. Distribution is unlimited.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The MITRE Systems Engineering Guide: © 2014 by The MITRE Corporation. All rights reserved. Approved for public release; distribution unlimited (Case Numbers 10-4072 and 12-1089). Quoted briefly with attribution.</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Figures are original drawings for this course; none redraws a figure from the sources.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 Session 1: Components / Interfaces</dc:title>
  <dc:subject>Systems Thinking and MBSE with SysML v2</dc:subject>
  <dc:creator>SysML Learning Studio (generated)</dc:creator>
  <cp:lastModifiedBy>SysML Learning Studio (generated)</cp:lastModifiedBy>
  <cp:revision>1</cp:revision>
  <dcterms:created xsi:type="dcterms:W3CDTF">2026-10-27T14:48:07Z</dcterms:created>
  <dcterms:modified xsi:type="dcterms:W3CDTF">2026-10-27T14:48:07Z</dcterms:modified>
</cp:coreProperties>
</file>