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13 fills the Analysis package: the Week 3 trade study and the Week 2 measures enter the model your team built since Week 8.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Study /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Measures, calculations, constraints and analysis cases</a:t>
            </a:r>
            <a:endParaRPr lang="en-US" sz="1600" dirty="0"/>
          </a:p>
        </p:txBody>
      </p:sp>
      <p:pic>
        <p:nvPicPr>
          <p:cNvPr id="5" name="Image 0" descr="Two document cards at the top: Week 3 trade study and Week 2 measures. Thick arrows run down to one package box drawn strong, Analysis; beside it a faint box, Verification, labeled Week 12. Below, a row labeled Phase II with the week numbers 8 to 14, number 13 highlighted, and the line: model v0.6 of your enterpri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8622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measures, calculations, constraints, analysis cases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the trade study in the model, sensitivity, the decision record, the Lab L13 launch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output: model v0.6 of your own enterprise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trade study in model v0.6, and a claim about its result (lines shortened for display).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who computed the 0.670?</a:t>
            </a:r>
            <a:endParaRPr lang="en-US" sz="3000" dirty="0"/>
          </a:p>
        </p:txBody>
      </p:sp>
      <p:pic>
        <p:nvPicPr>
          <p:cNvPr id="4" name="Image 0" descr="A code card with the opening lines of the trade study: analysis DEC-001 decision typed by TradeStudy, its subject (the feasible alternatives), its swing values, its objective MaximizeObjective and its evaluation function. Under it a claim: the model selected ALT-004, value 0.67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057148"/>
          </a:xfrm>
          <a:prstGeom prst="roundRect">
            <a:avLst>
              <a:gd name="adj" fmla="val 5190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10571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model selected ALT-004, value 0.670.” Who computed it?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50190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The checker, when it accepted the file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The model says how; a tool outside the checker computed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Someone typed the number in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It cannot be told from the model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enters model v0.6: the Phase I trade study and measures, and what model v0.5 already holds for them to trace to.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Week 13 imports from Phase I</a:t>
            </a:r>
            <a:endParaRPr lang="en-US" sz="3000" dirty="0"/>
          </a:p>
        </p:txBody>
      </p:sp>
      <p:pic>
        <p:nvPicPr>
          <p:cNvPr id="4" name="Image 0" descr="Three document cards: Week 3 trade, Week 2 and 3 measures, model v0.5. Arrows from the first two run down to one package box, Analysis, labeled ALT, CRIT, DEC and MOE, MOP, TPM. A dashed arrow from model v0.5 is labeled traces: requirements, concerns, elemen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537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alternatives, criteria, screens, weights, scores, the decision, TPMs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measures of effectiveness and performance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v0.5: requirements, concerns, design elements to trace to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kept; new IDs continue after the highest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feeds a decision through effectiveness, cost and risk.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R34 p.608–609; R43 p.109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gives decisions a rigorous basis</a:t>
            </a:r>
            <a:endParaRPr lang="en-US" sz="3000" dirty="0"/>
          </a:p>
        </p:txBody>
      </p:sp>
      <p:pic>
        <p:nvPicPr>
          <p:cNvPr id="4" name="Image 0" descr="Three boxes at the top, effectiveness, cost and risk, with arrows converging on one box labeled decision. Under the decision box: traceable, defendable, actionab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analysis: a rigorous approach to technical decisions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studies compare alternative solutions against criteria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subjective criteria; check the sensitivity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analysis: traceable, defendable, actionable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AeroLink chain of measures: an MOE, the MOP that supports it, and the TPM that tracks a design attribute against a requirement.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R122 p.1562; R123 p.1663; R15 p.532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effectiveness, of performance, and TPMs</a:t>
            </a:r>
            <a:endParaRPr lang="en-US" sz="3000" dirty="0"/>
          </a:p>
        </p:txBody>
      </p:sp>
      <p:pic>
        <p:nvPicPr>
          <p:cNvPr id="4" name="Image 0" descr="Three stacked boxes. Top: MOE-004 dispatches outside approved limits, labeled the acquirer’s satisfaction. Middle: MOP-005 landing energy remaining, labeled what the design must achieve. Bottom: TPM-003 landing energy reserve, labeled tracked over time. Arrows run upward from TPM to MOP to MOE; a side arrow from TPM-003 points to REQ-SYS-003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2151888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2151888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215188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OF EFFECTIVENESS (MOE)</a:t>
            </a:r>
            <a:endParaRPr lang="en-US" sz="1300" dirty="0"/>
          </a:p>
          <a:p>
            <a:pPr indent="0" marL="0">
              <a:buNone/>
            </a:pPr>
            <a:r>
              <a:rPr lang="en-US" sz="2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metrics by which an acquirer will measure satisfaction with products produced by the technical effort.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R122 · SEBoK v2.14 (2026), "Measure of Effectiveness (MoE) (glossary)", p.1562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93689" y="3596640"/>
            <a:ext cx="4349366" cy="1451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MoP: an engineering measure needed to satisfy an MoE</a:t>
            </a:r>
            <a:endParaRPr lang="en-US" sz="19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9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TPM: how well a system element satisfies specified requirements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v0.6: an MOE and an MOP marked with the library metadata, a TPM, and their trace links.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R78 sl.149; R124 p.561–562; R69 p.193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in the model: #moe and #mop</a:t>
            </a:r>
            <a:endParaRPr lang="en-US" sz="3000" dirty="0"/>
          </a:p>
        </p:txBody>
      </p:sp>
      <p:pic>
        <p:nvPicPr>
          <p:cNvPr id="4" name="Image 0" descr="Listing (course file sysml/lectures/week13/aerolink_trade_analysis_v06.sysml, checked: PASS): private import ParametersOfInterestMetadata::*; / #moe attribute &lt;'MOE-004'&gt; dispatchesOutsideApprovedLimits : Real { / doc /* Measure of effectiveness: Dispatches outside … */ / } / #mop attribute &lt;'MOP-005'&gt; landingEnergyRemaining : Real { / doc /* Measure of performance: Landing energy remaining. … */ / } / #mop attribute &lt;'TPM-003'&gt; landingEnergyReserveOnTheDesignTrip : Real { / } / #tracesTo dependency from 'MOP-005' to 'MOE-004'; / #tracesTo dependency from 'TPM-003' to 'MOP-005'; / #tracesTo dependency from 'TPM-003' to Requirements::'REQ-SYS-003'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49978"/>
            <a:ext cx="6379289" cy="20715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#moe and #mop: library metadata on an attribute usage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TPM: #mop plus its own documentation (course convention)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run from the measure to what it supports or tracks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TPM-003 now: the current estimate, the contingency that gives the worst case, and the margin to the threshold (computed from the Week 3 record).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R44 p.113; R44 p.117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TPM over time: estimate, contingency, margin</a:t>
            </a:r>
            <a:endParaRPr lang="en-US" sz="3000" dirty="0"/>
          </a:p>
        </p:txBody>
      </p:sp>
      <p:pic>
        <p:nvPicPr>
          <p:cNvPr id="4" name="Image 0" descr="A horizontal percent scale. A threshold line at 20, a worst-case marker at 21.5, the current estimate at 23 and the objective at 25. A bracket between estimate and worst case is labeled contingency 1.5; a bracket between worst case and threshold is labeled margin 1.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TPMs: measures collected over time, estimated early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current estimate adjusted by the contingency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= how far the worst case stays inside the threshold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trade space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AeroLink criterion scores one measure and is derived from what the stakeholders asked for: a requirement, a concern, a need or an objective.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p.465; R18 p.466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come from requirements and concerns</a:t>
            </a:r>
            <a:endParaRPr lang="en-US" sz="3000" dirty="0"/>
          </a:p>
        </p:txBody>
      </p:sp>
      <p:pic>
        <p:nvPicPr>
          <p:cNvPr id="4" name="Image 0" descr="Four criterion boxes in a row, CRIT-001 to CRIT-004. Above each, the elements it is derived from: CRIT-001: REQ-STK-001, CON-001; CRIT-002: CON-005, MGO-004; CRIT-003: NEED-005; CRIT-004: NEED-003, CON-012. Below each, the measure it scor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and measures come from stakeholders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objective essential; the set complete and non-redundant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measure, one criterion: no double counting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Must-meet limits are screens, not weights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symbols students confuse: = binds a value for good, default sets one that a redefinition may override, and == compares.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R120 sl.72; R120 sl.74; R120 sl.83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values: binding, default, equality</a:t>
            </a:r>
            <a:endParaRPr lang="en-US" sz="3000" dirty="0"/>
          </a:p>
        </p:txBody>
      </p:sp>
      <p:pic>
        <p:nvPicPr>
          <p:cNvPr id="4" name="Image 0" descr="Three rows. First row: = binds, the value is fixed. Second row: default, overridable when redefined. Third row: == compares, a Boolean. A note under the rows: a sensitivity check needs defaul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value binds the feature to an expression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applies unless a redefinition overrides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is Boolean equality; = denotes binding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v0.6: the value function of the wait criterion as a calculation definition, traced to its measure, requirement and concern.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R119 p.155–157; R120 sl.76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definitions: inputs and one result</a:t>
            </a:r>
            <a:endParaRPr lang="en-US" sz="3000" dirty="0"/>
          </a:p>
        </p:txBody>
      </p:sp>
      <p:pic>
        <p:nvPicPr>
          <p:cNvPr id="4" name="Image 0" descr="Listing (course file sysml/lectures/week13/aerolink_trade_analysis_v06.sysml, checked: PASS): calc def &lt;'CRIT-001'&gt; 'Value of Wait at Year-2 demand' { / doc /* Linear value of Wait at Year-2 demand (min): 0 … */ / in x : Real; / return v : Real = if x &gt;= 60.0 ? 0.0 else if x &lt;= 5.0 ? 1.0 else (60.0 - x) / 55.0; / } / #tracesTo dependency from 'CRIT-001' to 'MOE-001'; / #tracesTo dependency from 'CRIT-001' to Requirements::'REQ-STK-001'; / #tracesTo dependency from 'CRIT-001' to Stakeholders::'CON-001'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88028"/>
            <a:ext cx="6379289" cy="16327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kind of action definition with a result parameter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declares the result; bind it, or end with a result expression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semicolon after a result expression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function should be pure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 criterion’s value function: value 0 at the 60-minute walk-away point, 1 at the 5-minute stretch goal, with three alternatives placed on it (values computed).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p.465–466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function maps a score to a value</a:t>
            </a:r>
            <a:endParaRPr lang="en-US" sz="3000" dirty="0"/>
          </a:p>
        </p:txBody>
      </p:sp>
      <p:pic>
        <p:nvPicPr>
          <p:cNvPr id="4" name="Image 0" descr="A graph of value against wait in minutes. A line falls from value 1 at 5 minutes to value 0 at 60 minutes and stays at 0 beyond. Three points: ALT-006 at 6 minutes, value 0.982; ALT-004 at 8 minutes, value 0.945; ALT-002 at 12 minutes, value 0.873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Walk-away point: value 0, the decision maker walks away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goal: value 1, no more value beyond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shape and its rationale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Clamped between the anchors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 ALT-002 violates (288 against 300 trips per day) and an asserted constraint on every alternative.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R119 p.157–158; R120 sl.79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definitions: a predicate that may be false</a:t>
            </a:r>
            <a:endParaRPr lang="en-US" sz="3000" dirty="0"/>
          </a:p>
        </p:txBody>
      </p:sp>
      <p:pic>
        <p:nvPicPr>
          <p:cNvPr id="4" name="Image 0" descr="Listing (course file sysml/lectures/week13/constraint_versus_assert.sysml, checked: PASS): constraint def MeetsCapacityTarget { / in capacity : Real; / in target : Real; / capacity &gt;= target / } / part def CapacityAlternative { / attribute capacityTripsPerDay : Real; / attribute shareRetainedAfterHubLoss : Real; / assert constraint retainedIsAShare { shareRetainedAfterHubLoss &gt;= 0.0 and shareRetainedAfterHubLoss &lt;= 1.0 } / } / part &lt;'ALT-002'&gt; additionalAircraftOnly : CapacityAlternative { / attribute :&gt;&gt; capacityTripsPerDay = 288.0; / attribute :&gt;&gt; shareRetainedAfterHubLoss = 0.67; / constraint meetsYear2Target : MeetsCapacityTarget { / in capacity = capacityTripsPerDay; / in target = 300.0; / }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86728"/>
            <a:ext cx="6379289" cy="3198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predicate: in parameters, a Boolean result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if true, violated otherwise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violated constraint leaves the model consistent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condition as a constraint and as an assertion: what a false value means in each case.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R119 p.158; R120 sl.81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Asserted constraints: a violation is an inconsistency</a:t>
            </a:r>
            <a:endParaRPr lang="en-US" sz="3000" dirty="0"/>
          </a:p>
        </p:txBody>
      </p:sp>
      <p:pic>
        <p:nvPicPr>
          <p:cNvPr id="4" name="Image 0" descr="A two-row table. Row one, constraint: false means the condition does not hold; the model is consistent; use it for screens and checks. Row two, assert constraint: false means the model is inconsistent; use it for laws of physics and definition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assert: the constraint must be true at all times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can be found false, the model is inconsistent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laws of physics and definitions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assert what an alternative is allowed to fail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ferry operator asserts that every ferry carries at least 400 passengers; one carries 350. Will the checker accept the file?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a false assertion</a:t>
            </a:r>
            <a:endParaRPr lang="en-US" sz="3000" dirty="0"/>
          </a:p>
        </p:txBody>
      </p:sp>
      <p:pic>
        <p:nvPicPr>
          <p:cNvPr id="4" name="Image 0" descr="A code card titled accepted or rejected, and why, with these lines: part def Ferry { / attribute passengerCapacity : Real; / assert constraint meetsTarget : CarriesAtLeast { / in passengers = passengerCapacity; / in target = 400.0; / } / } / part harborStar : Ferry { / attribute :&gt;&gt; passengerCapacity = 350.0; / }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model consistent?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checker accept it?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line for each answer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an analysis case: a subject goes in with the inputs, the result comes out, and the objective is a requirement on the result.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p.170; R84 p.172; R75 sl.92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case definitions: subject, objective, result</a:t>
            </a:r>
            <a:endParaRPr lang="en-US" sz="3000" dirty="0"/>
          </a:p>
        </p:txBody>
      </p:sp>
      <p:pic>
        <p:nvPicPr>
          <p:cNvPr id="4" name="Image 0" descr="A large box labeled analysis def. On its left, two arrows enter: subject and inputs. On its right an arrow leaves: return, the result. Under the box a smaller box labeled objective, with an arrow from the result into it: assume and require constraints on the resul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what is analyzed, declared first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the result about the subject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 requirement on the result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Usages make the subject and inputs specific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an analysis case can be performed, and where the AeroLink examples sit.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p.170; R75 sl.93; R120 sl.84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perform an analysis case</a:t>
            </a:r>
            <a:endParaRPr lang="en-US" sz="3000" dirty="0"/>
          </a:p>
        </p:txBody>
      </p:sp>
      <p:pic>
        <p:nvPicPr>
          <p:cNvPr id="4" name="Image 0" descr="Three lanes. Lane one, analysis actions with calculations: marked AeroLink TPM-003 and the trade study. Lane two, specified in SysML and solved by an external solver. Lane three, simultaneous equations as asserted constraints for a solver. Under the lanes: calculations are causal, constraints are acaus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actions whose calculations return results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in SysML, solved by an external solver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equations asserted for a solver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are causal; constraints are acausal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v0.6: the analysis case definition that computes the worst case of TPM-003 and requires it to meet the threshold.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p.170; R84 p.172; R75 sl.92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I: the TPM-003 analysis definition</a:t>
            </a:r>
            <a:endParaRPr lang="en-US" sz="3000" dirty="0"/>
          </a:p>
        </p:txBody>
      </p:sp>
      <p:pic>
        <p:nvPicPr>
          <p:cNvPr id="4" name="Image 0" descr="Listing (course file sysml/lectures/week13/aerolink_trade_analysis_v06.sysml, checked: PASS): analysis def 'Worst case of TPM-003' { / doc /* Computes the worst-case estimate of … */ / subject flightOperations : Logical::'Flight Operations'; / in attribute estimate : Real; / in attribute contingency : Real; / in attribute threshold : Real; / return worstCase : Real = estimate - contingency; / objective { / doc /* The worst case meets the threshold. */ / assume constraint { contingency &gt;= 0.0 } / require constraint { worstCase &gt;= threshold } / }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76995"/>
            <a:ext cx="6379289" cy="24175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the flight-operations logical part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estimate, contingency, threshold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worst case, an expression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assume, then require on the result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model v0.6: the TPM-003 analysis usage, its threshold bound to the requirement’s attribute, and the margin as an expression.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 sl.94; R84 p.170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II: the analysis usage and the margin</a:t>
            </a:r>
            <a:endParaRPr lang="en-US" sz="3000" dirty="0"/>
          </a:p>
        </p:txBody>
      </p:sp>
      <p:pic>
        <p:nvPicPr>
          <p:cNvPr id="4" name="Image 0" descr="Listing (course file sysml/lectures/week13/aerolink_trade_analysis_v06.sysml, checked: PASS): part tpmAnalysis { / doc /* TPM-003 on LOG-001 flightOperations: worst … */ / analysis worstCaseOfTPM003 : 'Worst case of TPM-003' { / subject flightOperations = Logical::logicalArchitecture.flightOperations; / in estimate = 23.0; / in contingency = 1.5; / in threshold = Requirements::'REQ-SYS-003'.minPlannedLandingEnergyPercent; / } / attribute margin : Real = worstCaseOfTPM003.worstCase - worstCaseOfTPM003.threshold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05348"/>
            <a:ext cx="6379289" cy="2198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bound to the logical part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bound to the requirement’s attribute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21.5; margin 1.5 (computed)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satisfy: an estimate is not evidence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estimate updates a TPM; it becomes verification evidence only when a verification case uses it, and a satisfy is an assertion, not a check.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p.162; R44 p.113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estimate is not evidence</a:t>
            </a:r>
            <a:endParaRPr lang="en-US" sz="3000" dirty="0"/>
          </a:p>
        </p:txBody>
      </p:sp>
      <p:pic>
        <p:nvPicPr>
          <p:cNvPr id="4" name="Image 0" descr="Three boxes in a row: analysis estimate, verification case, verdict. An arrow from the estimate to the verification case is labeled used as evidence by. A separate box, satisfy, with a crossed-out arrow from the analysis labeled not written here: an asser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satisfy asserts that a requirement is satisfied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assertion makes the model inconsistent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comes from a verification case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feed TPMs and verification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 written twice can drift; a limit bound to the requirement’s attribute cannot.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R120 sl.72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each limit once</a:t>
            </a:r>
            <a:endParaRPr lang="en-US" sz="3000" dirty="0"/>
          </a:p>
        </p:txBody>
      </p:sp>
      <p:pic>
        <p:nvPicPr>
          <p:cNvPr id="4" name="Image 0" descr="Two panels. Left, labeled copied: the requirement says 20 and the analysis threshold says 18, with a question mark between them. Right, labeled bound: the analysis threshold has an arrow to the requirement’s attribute, 20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 threshold to the requirement’s attribute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copied number can drift from its source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 accepts a copied, wrong limit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 with a unit: bind by hand, or record why not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results of the course checker (release 2026-08) on 6 course files: what it rejects, and what it accepts without complaint.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R119 p.157–158; R120 sl.83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checker checks, and what it cannot</a:t>
            </a:r>
            <a:endParaRPr lang="en-US" sz="3000" dirty="0"/>
          </a:p>
        </p:txBody>
      </p:sp>
      <p:pic>
        <p:nvPicPr>
          <p:cNvPr id="4" name="Image 0" descr="Two columns. Left, headed checker rejects: semicolon after the result; == written for =; input before the subject. Right, headed checker accepts: an assertion that is false; objective missed; limit copied, and wrong. The messages the checker recorded are in the notes and the less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ferry: accepted, no message; the model is inconsistent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syntax and a few rules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silently: false assertions, missed objectives, copied limits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 evaluates no expression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what with a number in an analysis model: the model states it, a tool evaluates it, the record says which tool.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p.170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the model says how; a tool computes</a:t>
            </a:r>
            <a:endParaRPr lang="en-US" sz="3000" dirty="0"/>
          </a:p>
        </p:txBody>
      </p:sp>
      <p:pic>
        <p:nvPicPr>
          <p:cNvPr id="4" name="Image 0" descr="Three boxes in a row: the model states inputs and expressions; the lab tool, a spreadsheet or a solver evaluates them; the record says who computed each number. A fourth box below, the checker, is labeled parses and resolves names, evaluates no express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states inputs and expressions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evaluates expressions computes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reported number names who computed 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card: four fields for one criterion of your Week 3 trade, and four for one TPM.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one criterion and one TPM of yours</a:t>
            </a:r>
            <a:endParaRPr lang="en-US" sz="3000" dirty="0"/>
          </a:p>
        </p:txBody>
      </p:sp>
      <p:pic>
        <p:nvPicPr>
          <p:cNvPr id="4" name="Image 0" descr="A card with two rows of boxes. Row one, criterion: measure, derived from, walk-away, stretch. Row two, TPM: estimate, contingency, worst case, margi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805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criterion: its measure, what it is derived from, its anchors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TPM: estimate, contingency, worst case, margin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requirement holds the TPM’s threshold?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R15 · SEBoK v2.14 (2026), “Measurement”, p.532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 · SEBoK v2.14 (2026), “Decision Management”, p.465–466, 468–469, 472–473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R34 · SEBoK v2.14 (2026), “System Analysis”, p.608–609, 612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R43 · OUSD(R&amp;E) Systems Engineering Guidebook (2021/2022), “Decision Analysis Process”, p.109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R44 · OUSD(R&amp;E) Systems Engineering Guidebook (2021/2022), “Technical Assessment Process”, p.113, 117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R69 · OMG SysML v2.1 Beta 2, Part 1 (Release 2026-07), “7.27 Metadata”, p.193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R75 · Seidewitz, Intro to the SysML v2 Language: Textual Notation (Release 2026-08), “Analysis Case Definitions”, sl.92–95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R78 · Seidewitz, Intro to the SysML v2 Language: Textual Notation (Release 2026-08), “Standard View Definitions and Domain Libraries (metadata, analysis, cause and effect, requirements derivation)”, sl.148–149, 152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· OMG SysML v2.1 Beta 2, Part 1 (Release 2026-07), “7.21 Requirements”, p.162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R84 · OMG SysML v2.1 Beta 2, Part 1 (Release 2026-07), “7.23 Analysis Cases”, p.170, 172–173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R119 · OMG SysML v2.1 Beta 2, Part 1 (Release 2026-07), “7.19 Calculations”, p.155–158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R120 · Seidewitz, Intro to the SysML v2 Language: Textual Notation (Release 2026-08), “Expressions and Feature Values”, sl.72, 74, 76, 79, 81, 83–84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R122 · SEBoK v2.14 (2026), “Measure of Effectiveness (MoE) (glossary)”, p.1562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R123 · SEBoK v2.14 (2026), “Technical Performance Measure (TPM) (glossary)”, p.1663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R124 · OMG SysML v2.1 Beta 2, Part 1 (Release 2026-07), “9.3.4 Parameters of Interest Metadata”, p.561–562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OUSD(R&amp;E) Systems Engineering Guidebook: Distribution Statement A. Approved for public release. Distribution is unlimited.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13, Session 1: Trade Study / Analysis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2026-10-28T13:15:39Z</dcterms:created>
  <dcterms:modified xsi:type="dcterms:W3CDTF">2026-10-28T13:15:39Z</dcterms:modified>
</cp:coreProperties>
</file>