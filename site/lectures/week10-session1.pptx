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CT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8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11094415" cy="0"/>
          </a:xfrm>
          <a:prstGeom prst="line">
            <a:avLst/>
          </a:prstGeom>
          <a:noFill/>
          <a:ln w="31750">
            <a:solidFill>
              <a:srgbClr val="0F6E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D3D9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 and MBSE with SysML v2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24248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· Session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CTURE_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6E8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D3D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 and MBSE with SysML v2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24248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· Session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fills two packages of your model: the Week 2 ConOps goes into Behavior, the Week 4 architecture into Logical; Requirements was filled in Week 9.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/ Behavioral Modeling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1: Logical architecture and action flows</a:t>
            </a:r>
            <a:endParaRPr lang="en-US" sz="1600" dirty="0"/>
          </a:p>
        </p:txBody>
      </p:sp>
      <p:pic>
        <p:nvPicPr>
          <p:cNvPr id="5" name="Image 0" descr="Two document cards at the top: Week 2 ConOps and Week 4 architecture. Thick arrows run down from them to two package boxes drawn strong, Behavior and Logical; beside them a faint box, Requirements, labeled Week 9. Below, a row labeled Phase II with the week numbers 8 to 14, number 10 highlighted, and the line: model v0.3 of your enterpris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8622"/>
            <a:ext cx="6379289" cy="37286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93689" y="1554480"/>
            <a:ext cx="4349366" cy="2525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the logical architecture and action flows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operating states, use cases, consistency checks, the Lab L10 launch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output: model v0.3 of your own enterprise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dispatch decision for a hospital patient-transfer service: three guarded branches on a triage score (lines wrapped for display). Course illustration, not SysML v2 graphical notation. (FICTIONAL)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question: the flow is well formed. Does it always continue?</a:t>
            </a:r>
            <a:endParaRPr lang="en-US" sz="3000" dirty="0"/>
          </a:p>
        </p:txBody>
      </p:sp>
      <p:pic>
        <p:nvPicPr>
          <p:cNvPr id="4" name="Image 0" descr="A code card with these lines: attribute triageScore : Integer; / first start; / then action receiveRequest; / then decide triage; / if triageScore &gt;= 8 then dispatchCritical; / if triageScore &gt;= 4 and triageScore &lt; 8 then dispatchUrgent; / if triageScore &lt; 3 then scheduleRoutine;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93689" y="1280160"/>
            <a:ext cx="4349366" cy="1057148"/>
          </a:xfrm>
          <a:prstGeom prst="roundRect">
            <a:avLst>
              <a:gd name="adj" fmla="val 5190"/>
            </a:avLst>
          </a:prstGeom>
          <a:solidFill>
            <a:srgbClr val="ECEFF3"/>
          </a:solidFill>
          <a:ln w="12700">
            <a:solidFill>
              <a:srgbClr val="D3D9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30849" y="1280160"/>
            <a:ext cx="4075046" cy="10571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</a:t>
            </a:r>
            <a:endParaRPr lang="en-US" sz="1200" dirty="0"/>
          </a:p>
          <a:p>
            <a:pPr indent="0" marL="0">
              <a:buNone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whole-number triage score arrives. Which is true?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293689" y="250190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The flow always continues to one of the three actions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For some scores no successor is possible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The checker rejects this file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It cannot be told from the text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sources of this week and the model packages they enter, with the ID prefixes that cross: SCN and CAP from the ConOps, FN, LOG and INFO from the architecture, and the placeholders of model v0.2.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Week 10 imports from Phase I</a:t>
            </a:r>
            <a:endParaRPr lang="en-US" sz="3000" dirty="0"/>
          </a:p>
        </p:txBody>
      </p:sp>
      <p:pic>
        <p:nvPicPr>
          <p:cNvPr id="4" name="Image 0" descr="Top row, titled What enters the model: three cards, ConOps, Architecture, Model v0.2. Bottom row, titled Model packages: Behavior under the first card and a wide Logical box under the other two. Arrows run down labeled SCN, CAP from ConOps; FN, LOG, INFO from Architecture; and placeholders, dashed and grey, from Model v0.2 into Logical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227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scenarios with steps and alternates; capabilities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 functions with their items, logical elements, information items, allocations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9: placeholder subjects in Logical; capability links still waiting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IDs throughout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AeroLink logical elements, each with the principal physical element that will realize it (Flight Operations is also realized at the ops center): the logical view says what must be done, the physical view gives a concrete solution, allocated in Week 11. Course illustration, not SysML v2 graphical notation.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R20b p.587; R20c p.596; R81 p.90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versus physical architecture</a:t>
            </a:r>
            <a:endParaRPr lang="en-US" sz="3000" dirty="0"/>
          </a:p>
        </p:txBody>
      </p:sp>
      <p:pic>
        <p:nvPicPr>
          <p:cNvPr id="4" name="Image 0" descr="Top row, labeled Logical view: what it must do: two strong cards, Scheduling and Flight Operations. Dashed arrows run down from each, labeled Week 11, to two faint cards in a row labeled Physical view: a concrete solution: Ops center and Aircraft. At the bottom: both are parts, at two level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93689" y="1280160"/>
            <a:ext cx="4349366" cy="1903984"/>
          </a:xfrm>
          <a:prstGeom prst="rect">
            <a:avLst/>
          </a:prstGeom>
          <a:solidFill>
            <a:srgbClr val="E1EFF4"/>
          </a:solidFill>
          <a:ln w="12700">
            <a:solidFill>
              <a:srgbClr val="E1EFF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93689" y="1280160"/>
            <a:ext cx="73152" cy="1903984"/>
          </a:xfrm>
          <a:prstGeom prst="rect">
            <a:avLst/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22289" y="1280160"/>
            <a:ext cx="3983606" cy="19039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OF LOGICAL ARCHITECTURE (SEBOK)</a:t>
            </a:r>
            <a:endParaRPr lang="en-US" sz="1000" dirty="0"/>
          </a:p>
          <a:p>
            <a:pPr indent="0" marL="0">
              <a:buNone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“models and views of the functionality and behavior of the future engineered system as it should operate while in service”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R20b · SEBoK v2.14 (2026), "Logical Architecture", p.587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293689" y="3348736"/>
            <a:ext cx="4349366" cy="1844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6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architecture: a concrete solution that accommodates the logical one</a:t>
            </a:r>
            <a:endParaRPr lang="en-US" sz="16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6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SysML v2 both are parts: purely logical, or physical</a:t>
            </a:r>
            <a:endParaRPr lang="en-US" sz="16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6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models the logical view; Week 11 the physical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views SEBoK names for a logical architecture: what is transformed, in what order and on what condition, and how often each function runs.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R20b p.587–588; R20b p.590–591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views of a logical architecture</a:t>
            </a:r>
            <a:endParaRPr lang="en-US" sz="3000" dirty="0"/>
          </a:p>
        </p:txBody>
      </p:sp>
      <p:pic>
        <p:nvPicPr>
          <p:cNvPr id="4" name="Image 0" descr="Three tall panels side by side. Left, functional: what it transforms, with a box labeled function and an arrow down to the word item. Middle, behavioral: in what order, when, with box F1 above box F2 joined by an arrow. Right, temporal: how often each runs, with the lines every 1 s and on an even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537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Functional: functions and sub-functions, with their inputs and outputs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Behavioral: scenarios of functions and operational modes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Temporal: functions classed by how often they run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output: a trace between logical elements and system requirements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AeroLink functions in the order a booking is served, with the item each passes to the next where one is modeled. Course illustration, not SysML v2 graphical notation.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R20b p.587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and the items they exchange</a:t>
            </a:r>
            <a:endParaRPr lang="en-US" sz="3000" dirty="0"/>
          </a:p>
        </p:txBody>
      </p:sp>
      <p:pic>
        <p:nvPicPr>
          <p:cNvPr id="4" name="Image 0" descr="Three wide cards stacked: FN-001 Accept ride request, FN-002 Match request to aircraft, FN-011 Dispatch aircraft. The arrow from the first to the second is labeled Passenger information; the arrow from the second to the third is labeled Aircraft assignmen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93689" y="1280160"/>
            <a:ext cx="4349366" cy="2089912"/>
          </a:xfrm>
          <a:prstGeom prst="rect">
            <a:avLst/>
          </a:prstGeom>
          <a:solidFill>
            <a:srgbClr val="E1EFF4"/>
          </a:solidFill>
          <a:ln w="12700">
            <a:solidFill>
              <a:srgbClr val="E1EFF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93689" y="1280160"/>
            <a:ext cx="73152" cy="2089912"/>
          </a:xfrm>
          <a:prstGeom prst="rect">
            <a:avLst/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22289" y="1280160"/>
            <a:ext cx="3983606" cy="2089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(SEBOK)</a:t>
            </a:r>
            <a:endParaRPr lang="en-US" sz="1200" dirty="0"/>
          </a:p>
          <a:p>
            <a:pPr indent="0" marL="0">
              <a:buNone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 action that transforms inputs and generates outputs, involving data, materials, and/or energies”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R20b · SEBoK v2.14 (2026), "Logical Architecture", p.587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293689" y="3534664"/>
            <a:ext cx="4349366" cy="20299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8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and outputs: the items functions exchange</a:t>
            </a:r>
            <a:endParaRPr lang="en-US" sz="18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8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Deduced from requirements, or derived from a design choice</a:t>
            </a:r>
            <a:endParaRPr lang="en-US" sz="18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8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tree alone does not show the flows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pitfalls and three proven practices from SEBoK’s tables for logical architecture, in short form.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R20b p.594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 and proven practices</a:t>
            </a:r>
            <a:endParaRPr lang="en-US" sz="3000" dirty="0"/>
          </a:p>
        </p:txBody>
      </p:sp>
      <p:pic>
        <p:nvPicPr>
          <p:cNvPr id="4" name="Image 0" descr="Two columns. Left, headed Pitfalls: too deep; no inputs, outputs; a static tree only. Right, headed Practices: scenarios first; to move ↔ moving; control, I/O, trigger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835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 decomposing too deep; functions without inputs and outputs; a static tree only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Practices: scenarios of functions before the tree; a function “to move” and its mode “moving”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scenario: control flow, then items, then triggers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parts in AeroLink model v0.3: a Week 9 placeholder reused as a part definition, a new part definition, and the logical architecture as part usages (excerpt).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R70 sl.15–16; R81 p.90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decomposition: part definitions and part usages</a:t>
            </a:r>
            <a:endParaRPr lang="en-US" sz="3000" dirty="0"/>
          </a:p>
        </p:txBody>
      </p:sp>
      <p:pic>
        <p:nvPicPr>
          <p:cNvPr id="4" name="Image 0" descr="Listing (course file sysml/lectures/week10/aerolink_logical_behavior_v03.sysml, checked: PASS): part def 'Scheduling' { / doc /* Placeholder subject of REQ-SYS-005, … */ / … / } / part def 'Decision Support' { doc /* Provides weather … */ } / part logicalArchitecture { / doc /* The logical architecture (Week 4): one part per logical … */ / part &lt;'LOG-001'&gt; flightOperations : 'Flight Operations' { / …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36141"/>
            <a:ext cx="6379289" cy="19365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145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definition: the kind of element; part usage: the element in this architecture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convention: the LOG ID on the usage, inside one part logicalArchitecture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 9 placeholder with the same name becomes the definition; another name is specialized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capability, a function derived from it and two #derivedFrom dependencies in AeroLink model v0.3: one from a function, one from a requirement.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R72 sl.30; R115 p.580; R80 p.50–51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Capabilities, functions and the links Week 9 left waiting</a:t>
            </a:r>
            <a:endParaRPr lang="en-US" sz="3000" dirty="0"/>
          </a:p>
        </p:txBody>
      </p:sp>
      <p:pic>
        <p:nvPicPr>
          <p:cNvPr id="4" name="Image 0" descr="Listing (course file sysml/lectures/week10/aerolink_logical_behavior_v03.sysml, checked: PASS): action def &lt;'CAP-003'&gt; 'Fleet charging management' { doc /* Return arriving … */ } / action &lt;'FN-006'&gt; 'Charge aircraft' { / doc /* Restore battery energy to the dispatch … */ / in electricalEnergy : 'Electrical energy'; / in chargingPowerSetPoints : 'INFO-011'; / out maintenanceData : 'INFO-003'; / } / #derivedFrom dependency 'FN-006 derived from CAP-003' from 'FN-006' to 'CAP-003'; / #derivedFrom dependency 'REQ-SYS-003 derived from CAP-004' from Requirements::'REQ-SYS-003' to 'CAP-004';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29404"/>
            <a:ext cx="6379289" cy="23500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45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convention: a capability is an action definition, a function an action usage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depends on its capability: a #derivedFrom dependency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requirement traced to a capability links the same way: a derivation must end on requirements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AeroLink system requirements and the functions they are allocated to in model v0.3, a fragment of the matrix read from the model. Course illustration, not SysML v2 graphical notation.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R20b p.591–592; R81 p.110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allocated to functions</a:t>
            </a:r>
            <a:endParaRPr lang="en-US" sz="3000" dirty="0"/>
          </a:p>
        </p:txBody>
      </p:sp>
      <p:pic>
        <p:nvPicPr>
          <p:cNvPr id="4" name="Image 0" descr="A small matrix with system requirement IDs as rows and function IDs as columns; an X marks each allocation, one per row. Under it, the count of system requirements allocated out of all system requirement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145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SEBoK: assign system requirements to functional elements, and trace them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Week 4 allocation: allocate from the requirement to the function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AeroLink: 20 allocations; three system requirements not yet allocated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information item as an item definition and FN-003 as an action usage with its in and out items, in AeroLink model v0.3.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R82 p.117; R72 sl.30; R70 sl.17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as actions: parameters and items</a:t>
            </a:r>
            <a:endParaRPr lang="en-US" sz="3000" dirty="0"/>
          </a:p>
        </p:txBody>
      </p:sp>
      <p:pic>
        <p:nvPicPr>
          <p:cNvPr id="4" name="Image 0" descr="Listing (course file sysml/lectures/week10/aerolink_logical_behavior_v03.sysml, checked: PASS): item def &lt;'INFO-008'&gt; 'Flight release and plan' { doc /* For each … */ } / action &lt;'FN-003'&gt; 'Plan flight' { / doc /* Produce a route and energy plan that lands … */ / in aircraftAssignment : 'INFO-012'; / in flightData : 'INFO-002'; / in weatherData : 'INFO-004'; / out flightReleaseAndPlan : 'INFO-008'; / 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56715"/>
            <a:ext cx="6379289" cy="165810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93689" y="1280160"/>
            <a:ext cx="4349366" cy="1733550"/>
          </a:xfrm>
          <a:prstGeom prst="rect">
            <a:avLst/>
          </a:prstGeom>
          <a:solidFill>
            <a:srgbClr val="E1EFF4"/>
          </a:solidFill>
          <a:ln w="12700">
            <a:solidFill>
              <a:srgbClr val="E1EFF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93689" y="1280160"/>
            <a:ext cx="73152" cy="1733550"/>
          </a:xfrm>
          <a:prstGeom prst="rect">
            <a:avLst/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22289" y="1280160"/>
            <a:ext cx="3983606" cy="173355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DEFINITION (SYSML V2.1 BETA 2)</a:t>
            </a:r>
            <a:endParaRPr lang="en-US" sz="1100" dirty="0"/>
          </a:p>
          <a:p>
            <a:pPr indent="0" marL="0">
              <a:buNone/>
            </a:pPr>
            <a:r>
              <a:rPr lang="en-US" sz="19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kind of occurrence definition … that classifies action performances”</a:t>
            </a:r>
            <a:endParaRPr lang="en-US" sz="11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R82 · OMG SysML v2.1 Beta 2, Part 1 (Release 2026-07), "7.17 Actions", p.117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293689" y="3178302"/>
            <a:ext cx="4349366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8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in and out features are its parameters</a:t>
            </a:r>
            <a:endParaRPr lang="en-US" sz="18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8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definition: things that exist in time and space and may flow</a:t>
            </a:r>
            <a:endParaRPr lang="en-US" sz="18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8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convention: a function’s in and out items come from your information view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neutral example: a logical part performs a function, and an allocation states the same responsibility as a mapping. Checked: PASS.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R72 sl.41; R82 p.136; R81 p.110–111; R76 sl.106–107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Allocating functions to logical elements: perform and allocate</a:t>
            </a:r>
            <a:endParaRPr lang="en-US" sz="3000" dirty="0"/>
          </a:p>
        </p:txBody>
      </p:sp>
      <p:pic>
        <p:nvPicPr>
          <p:cNvPr id="4" name="Image 0" descr="Listing (course file sysml/lectures/week10/allocate_versus_perform.sysml, checked: PASS): package Logical { / action matchRequest { doc /* Select an aircraft and a time slot … */ } / part def Scheduling; / part scheduling : Scheduling { / perform matchRequest; / } / allocate matchRequest to scheduling; / 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34768"/>
            <a:ext cx="6379289" cy="15020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93689" y="1280160"/>
            <a:ext cx="4349366" cy="1687068"/>
          </a:xfrm>
          <a:prstGeom prst="rect">
            <a:avLst/>
          </a:prstGeom>
          <a:solidFill>
            <a:srgbClr val="E1EFF4"/>
          </a:solidFill>
          <a:ln w="12700">
            <a:solidFill>
              <a:srgbClr val="E1EFF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93689" y="1280160"/>
            <a:ext cx="73152" cy="1687068"/>
          </a:xfrm>
          <a:prstGeom prst="rect">
            <a:avLst/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22289" y="1280160"/>
            <a:ext cx="3983606" cy="16870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(SYSML V2.1 BETA 2)</a:t>
            </a:r>
            <a:endParaRPr lang="en-US" sz="1100" dirty="0"/>
          </a:p>
          <a:p>
            <a:pPr indent="0" marL="0">
              <a:buNone/>
            </a:pPr>
            <a:r>
              <a:rPr lang="en-US" sz="18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target element is responsible for realizing some or all of the intent of the source element”</a:t>
            </a:r>
            <a:endParaRPr lang="en-US" sz="11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R81 · OMG SysML v2.1 Beta 2, Part 1 (Release 2026-07), "7.11 Parts", p.110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293689" y="3131820"/>
            <a:ext cx="4349366" cy="209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6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in a part: that part is the performer</a:t>
            </a:r>
            <a:endParaRPr lang="en-US" sz="16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6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allocate: a mapping across structures, often made early</a:t>
            </a:r>
            <a:endParaRPr lang="en-US" sz="16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6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convention: perform for functions; allocate for requirements now, logical to physical in Week 11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LOG-005 in AeroLink model v0.3, typed by the Week 9 placeholder, performing the functions allocated to it, and three requirement allocations.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R72 sl.41; R81 p.110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 worked example I: the logical architecture</a:t>
            </a:r>
            <a:endParaRPr lang="en-US" sz="3000" dirty="0"/>
          </a:p>
        </p:txBody>
      </p:sp>
      <p:pic>
        <p:nvPicPr>
          <p:cNvPr id="4" name="Image 0" descr="Listing (course file sysml/lectures/week10/aerolink_logical_behavior_v03.sysml, checked: PASS): part &lt;'LOG-005'&gt; scheduling : 'Scheduling' { / perform Logical::'FN-002'; / perform Logical::'FN-011'; / perform Logical::'FN-017'; / } / allocate Requirements::'REQ-SYS-005' to 'FN-002'; / allocate Requirements::'REQ-SYS-011' to 'FN-002'; / allocate Requirements::'REQ-STK-006' to 'FN-011';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85511"/>
            <a:ext cx="6379289" cy="20378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215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logical parts perform 17 functions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requirement allocations, all from Week 4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from the Week 4 case; nothing retyped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293689" y="3660648"/>
            <a:ext cx="4349366" cy="1320546"/>
          </a:xfrm>
          <a:prstGeom prst="roundRect">
            <a:avLst>
              <a:gd name="adj" fmla="val 4155"/>
            </a:avLst>
          </a:prstGeom>
          <a:solidFill>
            <a:srgbClr val="ECEFF3"/>
          </a:solidFill>
          <a:ln w="12700">
            <a:solidFill>
              <a:srgbClr val="D3D9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30849" y="3660648"/>
            <a:ext cx="4075046" cy="132054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PAIR, 1 MIN</a:t>
            </a:r>
            <a:endParaRPr lang="en-US" sz="1200" dirty="0"/>
          </a:p>
          <a:p>
            <a:pPr indent="0" marL="0">
              <a:buNone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performs dispatch, and which requirement makes that a safety question?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links between the same two AeroLink steps: a flow transfers the plan, a succession orders the steps, a succession flow does both. Course illustration, not SysML v2 graphical notation.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R72 sl.30–32; R82 p.118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and transfer: successions and flows</a:t>
            </a:r>
            <a:endParaRPr lang="en-US" sz="3000" dirty="0"/>
          </a:p>
        </p:txBody>
      </p:sp>
      <p:pic>
        <p:nvPicPr>
          <p:cNvPr id="4" name="Image 0" descr="Three rows, each with a box planFlight on the left and a box fileFlightIntent on the right. Row flow: a dashed grey arrow with a chip labeled plan. Row succession: a solid arrow, no chip. Row succession flow: a solid arrow with a chip labeled pla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525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Succession: the first completes before the second begins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transfers an item from an output to an input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Succession flow: the output is produced before the next begins consuming it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equivalent ways to write that a precedes b, and two reading rules.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R72 sl.33–34; R82 p.134–135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Shorthands: then, and decomposition</a:t>
            </a:r>
            <a:endParaRPr lang="en-US" sz="3000" dirty="0"/>
          </a:p>
        </p:txBody>
      </p:sp>
      <p:pic>
        <p:nvPicPr>
          <p:cNvPr id="4" name="Image 0" descr="Two code cards joined by an equals sign: first a; then action b; equals first a then b; action b;. Below, a card: then: from the action just before. At the bottom, a card: text order alone orders nothing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525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a succession from the lexically previous action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action can be decomposed directly into actions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reading: text order alone orders nothing; successions do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SCN-002 step 4 in AeroLink model v0.3: a decision with one guarded branch and else, and a merge where the alternate rejoins. Course illustration, not SysML v2 graphical notation.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R72 sl.35–38; R82 p.118; R82 p.135–136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Choices: conditional successions, decide and merge</a:t>
            </a:r>
            <a:endParaRPr lang="en-US" sz="3000" dirty="0"/>
          </a:p>
        </p:txBody>
      </p:sp>
      <p:pic>
        <p:nvPicPr>
          <p:cNvPr id="4" name="Image 0" descr="A box boardParty at the top, an arrow down to a diamond labeled decide. One branch runs right, labeled with the guard in brackets, to a box departWithRemainingParty; the other runs down, labeled [else], to a second diamond labeled merge. An arrow from the alternate’s box also reaches the merge, and from the merge an arrow runs down to a box takeOffAndCruis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succession: taken only if its guard is true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exactly one successor; else when every guard is false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merge: waits for any one predecessor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target is named, never declared in place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driving question’s guards on a number line, with the uncovered score marked, and a second pair of guards that can both be true.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R72 sl.35; R72 sl.38; R82 p.118; R82 p.134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semantics of choice: gaps and overlaps</a:t>
            </a:r>
            <a:endParaRPr lang="en-US" sz="3000" dirty="0"/>
          </a:p>
        </p:txBody>
      </p:sp>
      <p:pic>
        <p:nvPicPr>
          <p:cNvPr id="4" name="Image 0" descr="A number line from 0 to 10 with ticks at 0, 3, 4, 8 and 10. Bars above it: routine below 3, urgent from 4 to 8, critical from 8 to 10; the bar between 3 and 4 is marked red, labeled gap: no successor. Below, a second example headed overlap: two guards true: bar B from 3 to 10 and bar A from 5 to 10, labeled both true: one is chose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525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B: a score of 3 has no possible successor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guards: only one successor is chosen; the model does not say which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checker evaluates no guard: both files pass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293689" y="3970528"/>
            <a:ext cx="4349366" cy="1320546"/>
          </a:xfrm>
          <a:prstGeom prst="roundRect">
            <a:avLst>
              <a:gd name="adj" fmla="val 4155"/>
            </a:avLst>
          </a:prstGeom>
          <a:solidFill>
            <a:srgbClr val="E1EFF4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30849" y="3970528"/>
            <a:ext cx="4075046" cy="132054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200" dirty="0"/>
          </a:p>
          <a:p>
            <a:pPr indent="0" marL="0">
              <a:buNone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every case: write else, and check each guard against its ConOps condition.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AeroLink turnaround: after the charger is connected, charging and boarding run concurrently, and the aircraft is released when both are done (course example).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R72 sl.40; R82 p.118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Concurrency: fork and join</a:t>
            </a:r>
            <a:endParaRPr lang="en-US" sz="3000" dirty="0"/>
          </a:p>
        </p:txBody>
      </p:sp>
      <p:pic>
        <p:nvPicPr>
          <p:cNvPr id="4" name="Image 0" descr="Listing (course file sysml/lectures/week10/fork_join_turnaround.sysml, checked: PASS): action def Turnaround { / first start; / then action connectCharger { doc /* 1. The … */ } / then fork chargeAndBoard; / then chargeToThreshold; / then boardNextParty; / action chargeToThreshold { doc /* 2-3. Charge … */ } / then bothDone; / action boardNextParty { doc /* The next party … */ } / then bothDone; / join bothDone; / then action disconnectCharger { doc /* 5. The … */ } / then action releaseAsDispatchReady { doc /* 6. The … */ } / then done; / 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62750"/>
            <a:ext cx="6379289" cy="2683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215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fork: all its successors may start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join: waits for all its predecessors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fork only where the ConOps says “at the same time”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of the item flows of SCN-002 in AeroLink model v0.3: the plan, and the passenger party through the flight.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R72 sl.30; R72 sl.45–46; R82 p.118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flows between steps, and messages at the boundary</a:t>
            </a:r>
            <a:endParaRPr lang="en-US" sz="3000" dirty="0"/>
          </a:p>
        </p:txBody>
      </p:sp>
      <p:pic>
        <p:nvPicPr>
          <p:cNvPr id="4" name="Image 0" descr="Listing (course file sysml/lectures/week10/aerolink_logical_behavior_v03.sysml, checked: PASS): flow planFlight.flightReleaseAndPlan to fileFlightIntent.flightReleaseAndPlan; / flow boardParty.passengerPartyOut to takeOffAndCruise.passengerPartyIn; / flow takeOffAndCruise.passengerPartyOut to approachAndLand.passengerPartyIn; / flow approachAndLand.passengerPartyOut to deplane.passengerPartyIn;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846574"/>
            <a:ext cx="6379289" cy="127838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145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flow: from an out parameter of one step to an in parameter of a later step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 SCN-002: 7 item flows, computed from the functions’ items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an organizational boundary: send and accept; ports follow in Week 11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part of the SCN-002 flow inside its use case in AeroLink model v0.3: guards, steps subsetting their functions, two decisions and an ending alternate.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R72 sl.30–38; R76 sl.101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II: SCN-002 from ConOps table to action flow</a:t>
            </a:r>
            <a:endParaRPr lang="en-US" sz="3000" dirty="0"/>
          </a:p>
        </p:txBody>
      </p:sp>
      <p:pic>
        <p:nvPicPr>
          <p:cNvPr id="4" name="Image 0" descr="Listing (course file sysml/lectures/week10/aerolink_logical_behavior_v03.sysml, checked: PASS): attribute destinationPadOccupied : Boolean; / attribute passengerNoShow : Boolean; / attribute intentNotAccepted : Boolean; / first start; / then action planFlight :&gt; Logical::'FN-003' { doc /* 1. System: … */ } / then action fileFlightIntent :&gt; Logical::'FN-012' { doc /* 2. System: … */ } / then decide beforeAcceptIntent; / if intentNotAccepted then holdAndRefile; / else acceptIntent; / action holdAndRefile { doc /* A3 (before step 3): The … */ } / then done; / action acceptIntent { doc /* 3. Air traffic service: … */ } / then action boardParty :&gt; Logical::'FN-014' { doc /* 4. … */ } / then decide afterBoardParty; / if passengerNoShow then departWithRemainingParty; / else rejoinTakeOffAndCruise; / action departWithRemainingParty { doc /* A2 (after step … */ } / then rejoinTakeOffAndCruise;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46724"/>
            <a:ext cx="6379289" cy="29154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227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convention: each step an action subsetting its function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alternate: a guarded branch where its condition becomes known, before or after its step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rejoin: a merge before the step; an ending: done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SCN-002: 7 steps, 3 decisions, 2 merges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adapted from SCN-002 step 3, shown without its checker result. Course illustration, not SysML v2 graphical notation. (FICTIONAL)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accepted or rejected?</a:t>
            </a:r>
            <a:endParaRPr lang="en-US" sz="3000" dirty="0"/>
          </a:p>
        </p:txBody>
      </p:sp>
      <p:pic>
        <p:nvPicPr>
          <p:cNvPr id="4" name="Image 0" descr="A code card titled Accepted or rejected? Why? with these lines: then decide intentCheck; / if intentAccepted then action boardParty; / else holdAndRefile; / action holdAndRefile; / then done;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02805"/>
            <a:ext cx="6379289" cy="37286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93689" y="1280160"/>
            <a:ext cx="4349366" cy="793750"/>
          </a:xfrm>
          <a:prstGeom prst="roundRect">
            <a:avLst>
              <a:gd name="adj" fmla="val 6912"/>
            </a:avLst>
          </a:prstGeom>
          <a:solidFill>
            <a:srgbClr val="ECEFF3"/>
          </a:solidFill>
          <a:ln w="12700">
            <a:solidFill>
              <a:srgbClr val="D3D9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30849" y="1280160"/>
            <a:ext cx="4075046" cy="79375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PREDICT, 1 MIN</a:t>
            </a:r>
            <a:endParaRPr lang="en-US" sz="1200" dirty="0"/>
          </a:p>
          <a:p>
            <a:pPr indent="0" marL="0">
              <a:buNone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the checker accept this file?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293689" y="2238502"/>
            <a:ext cx="4349366" cy="1203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Write: accepted or rejected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rejected: the line, and the reason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results of the course checker (release 2026-08) on 10 course files: what it rejects, and what it accepts without complaint.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R72 sl.35; R82 p.136; R82 p.146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checker checks, and what it cannot</a:t>
            </a:r>
            <a:endParaRPr lang="en-US" sz="3000" dirty="0"/>
          </a:p>
        </p:txBody>
      </p:sp>
      <p:pic>
        <p:nvPicPr>
          <p:cNvPr id="4" name="Image 0" descr="Two columns. Left, headed checker rejects: branch target declared; guard before trigger; perform: no such action; transition owned by a parallel state. Right, headed checker accepts: guards with a gap, no else; fork for a choice; no initial state; two initial states; unreachable state; crossing regions, inside a region. The messages the checker recorded are in the notes and the lesso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415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 card: rejected at the branch; a target is named, not declared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Rejected: syntax, unresolved names, a few rules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silently: gaps, forks for choices, missing or extra initial states, unreachable states, crossings written inside a region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errors is necessary, never sufficient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exit card: four fields to fill for one step and one alternate of your team’s scenario, and two questions.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map one step and one alternate</a:t>
            </a:r>
            <a:endParaRPr lang="en-US" sz="3000" dirty="0"/>
          </a:p>
        </p:txBody>
      </p:sp>
      <p:pic>
        <p:nvPicPr>
          <p:cNvPr id="4" name="Image 0" descr="A card with four labeled boxes: ConOps step, flow node, construct, function. Below them a tag: and two questions (the questions are listed on the slide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537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scenario with the most alternates from your Week 2 ConOps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one step and one alternate: node, construct, function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alternate a choice or something happening at the same time?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end the scenario, or rejoin, and where?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and credits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3413053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R20b · SEBoK v2.14 (2026), “Logical Architecture”, p.587–592, 594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R20c · SEBoK v2.14 (2026), “Physical Architecture”, p.596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R70 · Seidewitz, Intro to the SysML v2 Language: Textual Notation (Release 2026-08), “Introduction to the SysML v2 Language”, sl.15–17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R72 · Seidewitz, Intro to the SysML v2 Language: Textual Notation (Release 2026-08), “Action Definition”, sl.30–38, 40–41, 45–46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R76 · Seidewitz, Intro to the SysML v2 Language: Textual Notation (Release 2026-08), “Use Case Definition”, sl.100–101, 106–107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236013" y="1280160"/>
            <a:ext cx="3413053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R80 · OMG SysML v2.1 Beta 2, Part 1 (Release 2026-07), “7.1 Language Overview”, p.50–51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R81 · OMG SysML v2.1 Beta 2, Part 1 (Release 2026-07), “7.11 Parts”, p.90, 110–111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R82 · OMG SysML v2.1 Beta 2, Part 1 (Release 2026-07), “7.17 Actions”, p.117–118, 134–136, 145–146, 150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R115 · OMG SysML v2.1 Beta 2, Part 1 (Release 2026-07), “9.6 Requirement Derivation Domain Library”, p.580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923386" y="1280160"/>
            <a:ext cx="54864" cy="4846320"/>
          </a:xfrm>
          <a:prstGeom prst="rect">
            <a:avLst/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0546" y="1280160"/>
            <a:ext cx="3582509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AND LICENSES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SysML v2 Language, Textual Notation (Release 2026-08): Copyright © 2019–2026 Model Driven Solutions, Inc. Licensed under the Creative Commons Attribution 4.0 International License (CC BY 4.0).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SEBoK v2.14: “This material is used under a Creative Commons Attribution-NonCommercial ShareAlike 3.0 Unported License from The Trustees of the Stevens Institute of Technology.” (SEBoK, “Bkcase Wiki:Copyright”, PDF p.31). Quotations are short and cited; no SEBoK figure or table is reproduced.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original drawings for this course; none redraws a figure from the sources.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 Urban Mobility is a fictional teaching case: every number, name and statement about it is a teaching value.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Wright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10, Session 1: Logical / Behavioral Modeling</dc:title>
  <dc:subject>Systems Thinking and MBSE with SysML v2</dc:subject>
  <dc:creator>SysML Learning Studio (generated)</dc:creator>
  <cp:lastModifiedBy>SysML Learning Studio (generated)</cp:lastModifiedBy>
  <cp:revision>1</cp:revision>
  <dcterms:created xsi:type="dcterms:W3CDTF">2026-10-27T14:48:09Z</dcterms:created>
  <dcterms:modified xsi:type="dcterms:W3CDTF">2026-10-27T14:48:09Z</dcterms:modified>
</cp:coreProperties>
</file>