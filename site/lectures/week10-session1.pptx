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fills two packages of your model: the Week 2 ConOps goes into Behavior, the Week 4 architecture into Logical; Requirements was filled in Week 9.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/ Behavioral Modeling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Logical architecture and action flows</a:t>
            </a:r>
            <a:endParaRPr lang="en-US" sz="1600" dirty="0"/>
          </a:p>
        </p:txBody>
      </p:sp>
      <p:pic>
        <p:nvPicPr>
          <p:cNvPr id="5" name="Image 0" descr="Two document cards at the top: Week 2 ConOps and Week 4 architecture. Thick arrows run down from them to two package boxes drawn strong, Behavior and Logical; beside them a faint box, Requirements, labeled Week 9. Below, a row labeled Phase II with the week numbers 8 to 14, number 10 highlighted, and the line: model v0.3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logical architecture and action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operating states, use cases, consistency checks, the Lab L10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v0.3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decision for a hospital patient-transfer service: three guarded branches on a triage score (lines wrapped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flow is well formed. Does it always continue?</a:t>
            </a:r>
            <a:endParaRPr lang="en-US" sz="3000" dirty="0"/>
          </a:p>
        </p:txBody>
      </p:sp>
      <p:pic>
        <p:nvPicPr>
          <p:cNvPr id="4" name="Image 0" descr="A code card with these lines: attribute triageScore : Integer; / first start; / then action receiveRequest; / then decide triage; / if triageScore &gt;= 8 then dispatchCritical; / if triageScore &gt;= 4 and triageScore &lt; 8 then dispatchUrgent; / if triageScore &lt; 3 then scheduleRouti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whole-number triage score arrives.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flow always continues to one of the three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For some scores no successor is possible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SCN and CAP from the ConOps, FN, LOG and INFO from the architecture, and the placeholders of model v0.2.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10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ConOps, Architecture, Model v0.2. Bottom row, titled Model packages: Behavior under the first card and a wide Logical box under the other two. Arrows run down labeled SCN, CAP from ConOps; FN, LOG, INFO from Architecture; and placeholders, dashed and grey, from Model v0.2 into Log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scenarios with steps and alternates; capabilities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functions with their items, logical elements, information items,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placeholder subjects in Logical; capability links still waiting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logical elements, each with the principal physical element that will realize it (Flight Operations is also realized at the ops center): the logical view says what must be done, the physical view gives a concrete solution, allocated in Week 11.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p.596;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versus physical architecture</a:t>
            </a:r>
            <a:endParaRPr lang="en-US" sz="3000" dirty="0"/>
          </a:p>
        </p:txBody>
      </p:sp>
      <p:pic>
        <p:nvPicPr>
          <p:cNvPr id="4" name="Image 0" descr="Top row, labeled Logical view: what it must do: two strong cards, Scheduling and Flight Operations. Dashed arrows run down from each, labeled Week 11, to two faint cards in a row labeled Physical view: a concrete solution: Ops center and Aircraft. At the bottom: both are parts, at two lev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0398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0398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03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LOGICAL ARCHITECTURE (SEBOK)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“models and views of the functionality and behavior of the future engineered system as it should operate while in service”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348736"/>
            <a:ext cx="4349366" cy="1844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a concrete solution that accommodates the logical one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SysML v2 both are parts: purely logical, or physical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models the logical view; Week 11 the physical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views SEBoK names for a logical architecture: what is transformed, in what order and on what condition, and how often each function runs.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p.587–588; R20b p.590–591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a logical architecture</a:t>
            </a:r>
            <a:endParaRPr lang="en-US" sz="3000" dirty="0"/>
          </a:p>
        </p:txBody>
      </p:sp>
      <p:pic>
        <p:nvPicPr>
          <p:cNvPr id="4" name="Image 0" descr="Three tall panels side by side. Left, functional: what it transforms, with a box labeled function and an arrow down to the word item. Middle, behavioral: in what order, when, with box F1 above box F2 joined by an arrow. Right, temporal: how often each runs, with the lines every 1 s and on an ev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functions and sub-functions, with their inputs and outputs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Behavioral: scenarios of functions and operational modes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functions classed by how often they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output: a trace between logical elements and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functions in the order a booking is served, with the item each passes to the next where one is modeled.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and the items they exchange</a:t>
            </a:r>
            <a:endParaRPr lang="en-US" sz="3000" dirty="0"/>
          </a:p>
        </p:txBody>
      </p:sp>
      <p:pic>
        <p:nvPicPr>
          <p:cNvPr id="4" name="Image 0" descr="Three wide cards stacked: FN-001 Accept ride request, FN-002 Match request to aircraft, FN-011 Dispatch aircraft. The arrow from the first to the second is labeled Passenger information; the arrow from the second to the third is labeled Aircraft assignm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8991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8991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89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(SEBOK)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action that transforms inputs and generates outputs, involving data, materials, and/or energies”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53466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outputs: the items functions exchange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Deduced from requirements, or derived from a design choice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tree alone does not show the flows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pitfalls and three proven practices from SEBoK’s tables for logical architecture, in short form.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and proven practices</a:t>
            </a:r>
            <a:endParaRPr lang="en-US" sz="3000" dirty="0"/>
          </a:p>
        </p:txBody>
      </p:sp>
      <p:pic>
        <p:nvPicPr>
          <p:cNvPr id="4" name="Image 0" descr="Two columns. Left, headed Pitfalls: too deep; no inputs, outputs; a static tree only. Right, headed Practices: scenarios first; to move ↔ moving; control, I/O, trigg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decomposing too deep; functions without inputs and outputs; a static tree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scenarios of functions before the tree; a function “to move” and its mode “moving”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scenario: control flow, then items, then triggers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in AeroLink model v0.3: a Week 9 placeholder reused as a part definition, a new part definition, and the logical architecture as part usages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decomposition: part definitions and part usages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def 'Scheduling' { / doc /* Placeholder subject of REQ-SYS-005, … */ / … / } / part def 'Decision Support' { doc /* Provides weather … */ } / part logicalArchitecture { / doc /* The logical architecture (Week 4): one part per logical … */ / part &lt;'LOG-001'&gt; flightOperations : 'Flight Operations' {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6141"/>
            <a:ext cx="6379289" cy="1936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LOG ID on the usage, inside one part logicalArchitecture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with the same name becomes the definition; another name is specialized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capability, a function derived from it and two #derivedFrom dependencies in AeroLink model v0.3: one from a function, one from a requirement.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R115 p.580; R80 p.50–51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functions and the links Week 9 left waiting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ction def &lt;'CAP-003'&gt; 'Fleet charging management' { doc /* Return arriving … */ } / action &lt;'FN-006'&gt; 'Charge aircraft' { / doc /* Restore battery energy to the dispatch … */ / in electricalEnergy : 'Electrical energy'; / in chargingPowerSetPoints : 'INFO-011'; / out maintenanceData : 'INFO-003'; / } / #derivedFrom dependency 'FN-006 derived from CAP-003' from 'FN-006' to 'CAP-003'; / #derivedFrom dependency 'REQ-SYS-003 derived from CAP-004' from Requirements::'REQ-SYS-003' to 'CAP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capability is an action definition, a function an action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depends on its capability: a #derivedFrom dependency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traced to a capability links the same way: a derivation must end on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system requirements and the functions they are allocated to in model v0.3, a fragment of the matrix read from the model.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p.591–592;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allocated to functions</a:t>
            </a:r>
            <a:endParaRPr lang="en-US" sz="3000" dirty="0"/>
          </a:p>
        </p:txBody>
      </p:sp>
      <p:pic>
        <p:nvPicPr>
          <p:cNvPr id="4" name="Image 0" descr="A small matrix with system requirement IDs as rows and function IDs as columns; an X marks each allocation, one per row. Under it, the count of system requirements allocated out of all system requir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SEBoK: assign system requirements to functional elements, and trace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4 allocation: allocate from the requirement to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20 allocations; three system requirements not yet allocated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information item as an item definition and FN-003 as an action usage with its in and out items, in AeroLink model v0.3.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p.117; R72 sl.30; R70 sl.17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actions: parameters and items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item def &lt;'INFO-008'&gt; 'Flight release and plan' { doc /* For each … */ } / action &lt;'FN-003'&gt; 'Plan flight' { / doc /* Produce a route and energy plan that lands … */ / in aircraftAssignment : 'INFO-012'; / in flightData : 'INFO-002'; / in weatherData : 'INFO-004'; / out flightReleaseAndPlan : 'INFO-008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6715"/>
            <a:ext cx="6379289" cy="16581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classifies action performances”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p.117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2308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in and out features are its parameters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definition: things that exist in time and space and may flow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function’s in and out items come from your information 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neutral example: a logical part performs a function, and an allocation states the same responsibility as a mapping.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p.136; R81 p.110–111; R76 sl.106–107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functions to logical elements: perform and allocate</a:t>
            </a:r>
            <a:endParaRPr lang="en-US" sz="3000" dirty="0"/>
          </a:p>
        </p:txBody>
      </p:sp>
      <p:pic>
        <p:nvPicPr>
          <p:cNvPr id="4" name="Image 0" descr="Listing (course file sysml/lectures/week10/allocate_versus_perform.sysml, checked: PASS): package Logical { / action matchRequest { doc /* Select an aircraft and a time slot … */ } / part def Scheduling; / part scheduling : Scheduling { / perform matchRequest; / } / allocate matchRequest to scheduling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4768"/>
            <a:ext cx="6379289" cy="1502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209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allocate: a mapping across structures, often made early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 for functions; allocate for requirements now, logical to physical in Week 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LOG-005 in AeroLink model v0.3, typed by the Week 9 placeholder, performing the functions allocated to it, and three requirement allocations.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logical architecture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&lt;'LOG-005'&gt; scheduling : 'Scheduling' { / perform Logical::'FN-002'; / perform Logical::'FN-011'; / perform Logical::'FN-017'; / } / allocate Requirements::'REQ-SYS-005' to 'FN-002'; / allocate Requirements::'REQ-SYS-011' to 'FN-002'; / allocate Requirements::'REQ-STK-006' to 'FN-01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85511"/>
            <a:ext cx="6379289" cy="2037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parts perform 17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requirement allocations, all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performs dispatch, and which requirement makes that a safety question?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links between the same two AeroLink steps: a flow transfers the plan, a succession orders the steps, a succession flow does both.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sl.30–32;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transfer: successions and flows</a:t>
            </a:r>
            <a:endParaRPr lang="en-US" sz="3000" dirty="0"/>
          </a:p>
        </p:txBody>
      </p:sp>
      <p:pic>
        <p:nvPicPr>
          <p:cNvPr id="4" name="Image 0" descr="Three rows, each with a box planFlight on the left and a box fileFlightIntent on the right. Row flow: a dashed grey arrow with a chip labeled plan. Row succession: a solid arrow, no chip. Row succession flow: a solid arrow with a chip labeled pla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Succession: the first completes before the second begins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transfers an item from an output to an input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flow: the output is produced before the next begins consuming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equivalent ways to write that a precedes b, and two reading rules.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sl.33–34; R82 p.134–135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Shorthands: then, and decomposition</a:t>
            </a:r>
            <a:endParaRPr lang="en-US" sz="3000" dirty="0"/>
          </a:p>
        </p:txBody>
      </p:sp>
      <p:pic>
        <p:nvPicPr>
          <p:cNvPr id="4" name="Image 0" descr="Two code cards joined by an equals sign: first a; then action b; equals first a then b; action b;. Below, a card: then: from the action just before. At the bottom, a card: text order alone orders noth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 succession from the lexically previous 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can be decomposed directly into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reading: text order alone orders nothing; successions do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 step 4 in AeroLink model v0.3: a decision with one guarded branch and else, and a merge where the alternate rejoins.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p.118; R82 p.135–136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conditional successions, decide and merge</a:t>
            </a:r>
            <a:endParaRPr lang="en-US" sz="3000" dirty="0"/>
          </a:p>
        </p:txBody>
      </p:sp>
      <p:pic>
        <p:nvPicPr>
          <p:cNvPr id="4" name="Image 0" descr="A box boardParty at the top, an arrow down to a diamond labeled decide. One branch runs right, labeled with the guard in brackets, to a box departWithRemainingParty; the other runs down, labeled [else], to a second diamond labeled merge. An arrow from the alternate’s box also reaches the merge, and from the merge an arrow runs down to a box takeOffAndCru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succession: taken only if its guard is true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exactly one successor; else when every guard is false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merge: waits for any one predecessor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target is named, never declared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question’s guards on a number line, with the uncovered score marked, and a second pair of guards that can both be true.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R72 sl.38; R82 p.118; R82 p.134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semantics of choice: gaps and overlaps</a:t>
            </a:r>
            <a:endParaRPr lang="en-US" sz="3000" dirty="0"/>
          </a:p>
        </p:txBody>
      </p:sp>
      <p:pic>
        <p:nvPicPr>
          <p:cNvPr id="4" name="Image 0" descr="A number line from 0 to 10 with ticks at 0, 3, 4, 8 and 10. Bars above it: routine below 3, urgent from 4 to 8, critical from 8 to 10; the bar between 3 and 4 is marked red, labeled gap: no successor. Below, a second example headed overlap: two guards true: bar B from 3 to 10 and bar A from 5 to 10, labeled both true: one is chos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a score of 3 has no possible successor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guards: only one successor is chosen; the model does not say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guard: both files pass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every case: write else, and check each guard against its ConOps condition.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turnaround: after the charger is connected, charging and boarding run concurrently, and the aircraft is released when both are done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sl.40;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fork and join</a:t>
            </a:r>
            <a:endParaRPr lang="en-US" sz="3000" dirty="0"/>
          </a:p>
        </p:txBody>
      </p:sp>
      <p:pic>
        <p:nvPicPr>
          <p:cNvPr id="4" name="Image 0" descr="Listing (course file sysml/lectures/week10/fork_join_turnaround.sysml, checked: PASS): action def Turnaround { / first start; / then action connectCharger { doc /* 1. The … */ } / then fork chargeAndBoard; / then chargeToThreshold; / then boardNextParty; / action chargeToThreshold { doc /* 2-3. Charge … */ } / then bothDone; / action boardNextParty { doc /* The next party … */ } / then bothDone; / join bothDone; / then action disconnectCharger { doc /* 5. The … */ } / then action releaseAsDispatchReady { doc /* 6. The … */ } / then don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62750"/>
            <a:ext cx="6379289" cy="2683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fork: all its successors may start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join: waits for all its predecessors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fork only where the ConOps says “at the same time”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item flows of SCN-002 in AeroLink model v0.3: the plan, and the passenger party through the flight.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R72 sl.45–46;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flows between steps, and messages at the boundary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flow planFlight.flightReleaseAndPlan to fileFlightIntent.flightReleaseAndPlan; / flow boardParty.passengerPartyOut to takeOffAndCruise.passengerPartyIn; / flow takeOffAndCruise.passengerPartyOut to approachAndLand.passengerPartyIn; / flow approachAndLand.passengerPartyOut to deplane.passengerParty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46574"/>
            <a:ext cx="6379289" cy="12783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flow: from an out parameter of one step to an in parameter of a later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SCN-002: 7 item flows, computed from the functions’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an organizational boundary: send and accept; ports follow in Week 11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of the SCN-002 flow inside its use case in AeroLink model v0.3: guards, steps subsetting their functions, two decisions and an ending alternate.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sl.30–38;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SCN-002 from ConOps table to action flow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ttribute destinationPadOccupied : Boolean; / attribute passengerNoShow : Boolean; / attribute intentNotAccepted : Boolean; / first start; / then action planFlight :&gt; Logical::'FN-003' { doc /* 1. System: … */ } / then action fileFlightIntent :&gt; Logical::'FN-012' { doc /* 2. System: … */ } / then decide beforeAcceptIntent; / if intentNotAccepted then holdAndRefile; / else acceptIntent; / action holdAndRefile { doc /* A3 (before step 3): The … */ } / then done; / action acceptIntent { doc /* 3. Air traffic service: … */ } / then action boardParty :&gt; Logical::'FN-014' { doc /* 4. … */ } / then decide afterBoardParty; / if passengerNoShow then departWithRemainingParty; / else rejoinTakeOffAndCruise; / action departWithRemainingParty { doc /* A2 (after step … */ } / then rejoinTakeOffAndCruis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6724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each step an action subsetting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guarded branch where its condition becomes known, before or after its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rejoin: a merge before the step; an ending: done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SCN-002: 7 steps, 3 decisions, 2 merges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adapted from SCN-002 step 3,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then decide intentCheck; / if intentAccepted then action boardParty; / else holdAndRefile; / action holdAndRefile; / then do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R82 p.136;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branch target declared; guard before trigger; perform: no such action; transition owned by a parallel state. Right, headed checker accepts: guards with a gap, no else; fork for a choice; no initial state; two initial states; unreachable state; crossing regions, inside a region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 at the branch; a target is named, not declared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syntax, unresolved names,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gaps, forks for choices, missing or extra initial states, unreachable states, crossings written inside a region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step and one alternate of your team’s scenario,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map one step and one alternate</a:t>
            </a:r>
            <a:endParaRPr lang="en-US" sz="3000" dirty="0"/>
          </a:p>
        </p:txBody>
      </p:sp>
      <p:pic>
        <p:nvPicPr>
          <p:cNvPr id="4" name="Image 0" descr="A card with four labeled boxes: ConOps step, flow node, construct, function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with the most alternates from your Week 2 ConOps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step and one alternate: node, construct,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alternate a choice or something happening at the same time?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end the scenario, or rejoin, and where?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p.50–51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110–111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1: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2026-10-28T17:28:25Z</dcterms:created>
  <dcterms:modified xsi:type="dcterms:W3CDTF">2026-10-28T17:28:25Z</dcterms:modified>
</cp:coreProperties>
</file>