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the coolant connection between a pump and an engine block, from one checked file.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draft moves the coolant?</a:t>
            </a:r>
            <a:endParaRPr lang="en-US" sz="3000" dirty="0"/>
          </a:p>
        </p:txBody>
      </p:sp>
      <p:pic>
        <p:nvPicPr>
          <p:cNvPr id="4" name="Image 0" descr="Listing (course file sysml/lectures/week11/warmup_three_drafts.sysml, checked: PASS): package DraftOneFlow { / flow pumpSide.coolant to engineSide.coolant; / package DraftTwoReversed { / flow engineSide.coolant to pumpSide.coolant; / package DraftThreeBinding { / bind pump.coolantOut = engineBlock.coolant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2150"/>
            <a:ext cx="6379289" cy="28099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drafts say that coolant moves from the pump to the engine?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Draft one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Drafts one and two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Drafts one and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All three: the checker accepts them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draft says: a flow from the pump to the engine, a flow the other way, and a binding that makes two features equal.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sl.26;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one moves it, one reverses it, one moves nothing</a:t>
            </a:r>
            <a:endParaRPr lang="en-US" sz="3000" dirty="0"/>
          </a:p>
        </p:txBody>
      </p:sp>
      <p:pic>
        <p:nvPicPr>
          <p:cNvPr id="4" name="Image 0" descr="Three rows, each with a pump box and an engine box. Row one: an arrow from pump to engine labeled flow: coolant moves. Row two: an arrow from engine to pump labeled flow, the wrong way. Row three: an equals sign between them labeled bind: same value, nothing mov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A: only draft one moves coolant from pump to engine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two: a flow from the in item to the out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three: a binding asserts equal values; it is not a transfer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model a pump connected to a tank: a logical connection, and a connection through a medium modeled as a part.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R71 sl.19;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and the interface medium</a:t>
            </a:r>
            <a:endParaRPr lang="en-US" sz="3000" dirty="0"/>
          </a:p>
        </p:txBody>
      </p:sp>
      <p:pic>
        <p:nvPicPr>
          <p:cNvPr id="4" name="Image 0" descr="Top row: a pump box and a tank box joined by one line labeled logical connection. Bottom row: a pump box, a plumbing box and a tank box, joined by two lines, labeled the medium as a 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2651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2651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2651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DEFINITION (TRAINING DECK)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 definition whose usages are connections between its ends”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"Connections", sl.18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271266"/>
            <a:ext cx="4349366" cy="2122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usage connects two features in context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connection abstracts the medium away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medium is a part in between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definition of IF-005 in AeroLink model v0.4: two port ends, one typed by the port definition and one by its conjugate, and a flow per crossing.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p.106; R81 p.109; R71 sl.22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definitions and interface usages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def 'Aircraft to charger power and handshake' { / end port eVTOLAircraft : 'Aircraft to charger power and handshake port'; / end port chargingSystems : ~'Aircraft to charger power and handshake port'; / flow chargingSystems.electricalEnergy to eVTOLAircraft.electricalEnergy; / flow eVTOLAircraft.batteryStateAndCellLimits to chargingSystems.batteryStateAndCellLimits; / flow chargingSystems.chargerReadinessAndSessionControl to eVTOLAircraft.chargerReadinessAndSessionControl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9183"/>
            <a:ext cx="6379289" cy="20504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21386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21386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2138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connection definition … whose ends are restricted to be port definitions”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p.106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658616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usage connects two compatible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a.p to b.q: dot notation to each port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written once in the interface definition are established wherever the interface is used: two ports, connected, with the items moving out to in.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sl.26; R71 sl.27; R71 sl.28; R81 p.112; R81 p.116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across an interface</a:t>
            </a:r>
            <a:endParaRPr lang="en-US" sz="3000" dirty="0"/>
          </a:p>
        </p:txBody>
      </p:sp>
      <p:pic>
        <p:nvPicPr>
          <p:cNvPr id="4" name="Image 0" descr="Left, a card labeled interface definition with two flow lines. An arrow labeled used by runs to the right, where two part boxes each carry a port; between the ports, two arrows in opposite directions labeled with item na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flow: from an output of the source to an input of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the transfer is ongoing while both act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in an interface definition: established when the interface is 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flow per Week 5 crossing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manifold’s outer port delegates its oxygen to the regulator inside it with a binding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sl.25;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connectors: delegation, not transfer</a:t>
            </a:r>
            <a:endParaRPr lang="en-US" sz="3000" dirty="0"/>
          </a:p>
        </p:txBody>
      </p:sp>
      <p:pic>
        <p:nvPicPr>
          <p:cNvPr id="4" name="Image 0" descr="Listing (course file sysml/lectures/week11/binding_delegation.sysml, checked: PASS): part def Regulator { / out item regulatedOxygen : Oxygen; / } / part def Manifold { / port toWard : OxygenPort; / part regulator : Regulator; / bind toWard.oxygen = regulator.regulatedOxygen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950"/>
            <a:ext cx="6379289" cy="19956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= b: the two features have equal values in the same 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delegate an outer port’s feature to the inner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(= expression) is also a binding, not a default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interface usages in AeroLink model v0.4: an information interface, an organizational one and the charging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R71 sl.18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physical and organizational interfaces in the model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&lt;'IF-003'&gt; operationsCenterToAirTrafficService : 'Operations center to air traffic service' connect operationsCenter.toControlledAirspaceAirTrafficService to controlledAirspaceAirTrafficService.toOperationsCenter; / connection &lt;'IF-004'&gt; operationsToMaintenanceWorkOrderHandover connect operationsCenter to maintenanceFacility { / … / } / interface &lt;'IF-005'&gt; aircraftToChargerPowerAndHandshake : 'Aircraft to charger power and handshake' connect eVTOLAircraft.toChargingSystems to chargingSystems.toEVTOLAircraf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5922"/>
            <a:ext cx="6379289" cy="19196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information: an interface between two ports, with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Organizational: a connection between the two parts; the agreement in its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nothing flows across an agreement, so no ports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interfaces in model v0.4 by kind, and the element most of them meet at.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III: the interface set in the model</a:t>
            </a:r>
            <a:endParaRPr lang="en-US" sz="3000" dirty="0"/>
          </a:p>
        </p:txBody>
      </p:sp>
      <p:pic>
        <p:nvPicPr>
          <p:cNvPr id="4" name="Image 0" descr="Three bars: physical 3, information 10, organizational 3. Beside them a card: Ops center, an end of 10 interfaces. Below: 13 port definitions, 26 ports, 24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interfaces: 3 physical, 10 information, 3 organizational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ports, 24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5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35076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35076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Center is an end of 10 interfaces. What does SEBoK’s modularity practice ask about that?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requirement with the interface definition as subject, allocated to the interface usage and to the function that realizes it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p.563;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requirements in the model</a:t>
            </a:r>
            <a:endParaRPr lang="en-US" sz="3000" dirty="0"/>
          </a:p>
        </p:txBody>
      </p:sp>
      <p:pic>
        <p:nvPicPr>
          <p:cNvPr id="4" name="Image 0" descr="Listing (course file sysml/lectures/week11/interface_requirement_added.sysml, checked: PASS): requirement &lt;'REQ-SYS-121'&gt; 'Low-pressure alarm delivery' { / doc /* The manifold shall deliver each low-pressure alarm … */ / subject alarmLink : 'Alarm link'; / } / allocate 'REQ-SYS-121' to ward.alarmLink; / allocate 'REQ-SYS-121' to 'FN-03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68191"/>
            <a:ext cx="6379289" cy="14724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2793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2793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279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 (SEBOK)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functional requirement that deals with an interaction of a system across an interface boundary with another system”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p.563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72688"/>
            <a:ext cx="4349366" cy="185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takes them as inputs, gives specifications as outputs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Week 9 did not model gets the interface definition as subject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interface requirements Week 10 deferred, allocated in AeroLink model v0.4 to their interfaces and to the functions Week 10 named.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p.110; R20c p.601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interface requirements: the open items close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Requirements::'REQ-SYS-013' to physicalArchitecture.operationsCenterToAirTrafficService; / allocate Requirements::'REQ-SYS-013' to Logical::'FN-012'; / allocate Requirements::'REQ-SYS-014' to physicalArchitecture.weatherInformationServiceToOperationsCenter; / allocate Requirements::'REQ-SYS-014' to Logical::'FN-004'; / allocate Requirements::'REQ-SYS-015' to physicalArchitecture.fireDetectionToOperationsCenterIncidentRecords; / allocate Requirements::'REQ-SYS-015' to Logical::'FN-016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5371"/>
            <a:ext cx="6379289" cy="16581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allocate to its interface, and to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REQ-SYS-013, REQ-SYS-014, REQ-SYS-015 now allocated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REQ-STK-021, with its reason and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with a disposition is honest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systems’ design value and the satisfy claim for the charge-time requirement in AeroLink model v0.4, with its basis.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claims: the design asserts it meets a requirement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attribute :&gt;&gt; chargeTimeToDispatch = 18 [min]; / … / } / satisfy Requirements::'REQ-SYS-001' by physicalArchitecture.chargingSystems { doc /* Basis: …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2659"/>
            <a:ext cx="6379289" cy="15062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 by e: R holds with e bound to its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must be of the subject’s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value is an attribute of e; the basis says where it comes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verified in Week 12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on a compressor and a satisfy claim in a workshop,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what does the checker say?</a:t>
            </a:r>
            <a:endParaRPr lang="en-US" sz="3000" dirty="0"/>
          </a:p>
        </p:txBody>
      </p:sp>
      <p:pic>
        <p:nvPicPr>
          <p:cNvPr id="4" name="Image 0" descr="A code card titled Accepted, warned or rejected? with these lines: requirement def &lt;'REQ-SYS-101'&gt; DeliveryPressure { / subject compressor : Compressor; / require constraint { compressor.deliveryPressureBar &gt;= 7.0 } / } / part workshopAir { / part compressor : Compressor { / part tank : StorageTank; / } / requirement deliveryPressure : DeliveryPressure; / satisfy deliveryPressure by workshopAir.tank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silently, accepted with a warning, or rejected?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choice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is the claim about the right element?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the week’s 10 calibration files: rejected, and accepted silently or with only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this week,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; binding for a transfer; ~ end, plain port; satisfy, wrong part (a warning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accepted, with a warning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ends that are not ports, names that do 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Accepted: mismatched ports, reversed flows, bindings for transfers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warning is a finding until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common errors in first physical and interface models, each with the check that catches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physical and interface models</a:t>
            </a:r>
            <a:endParaRPr lang="en-US" sz="3000" dirty="0"/>
          </a:p>
        </p:txBody>
      </p:sp>
      <p:pic>
        <p:nvPicPr>
          <p:cNvPr id="4" name="Image 0" descr="Six cards in two columns: same port type at both ends; flow the wrong way; binding used as a transfer; interface invented, not in Week 5; allocation with no nested functions; satisfy on the wrong element. Each card has a small tag naming the che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the same port type; a flow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binding where a transfer is meant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the Week 5 table does not have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allocation with no nested functions; satisfy on the wrong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p.601; R81 p.93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lements and components as parts; logical to physical allocated, nested; ports, end B conjugate; flows the right way; every Week 5 interface, none invented; interface requirements allocated; satisfy: conforming, with a basis; externals have a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Week 5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11, short form: each Phase I element of the Week 4 and Week 5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v0.4</a:t>
            </a:r>
            <a:endParaRPr lang="en-US" sz="3000" dirty="0"/>
          </a:p>
        </p:txBody>
      </p:sp>
      <p:pic>
        <p:nvPicPr>
          <p:cNvPr id="4" name="Image 0" descr="A two-column table, Phase I and model v0.4: PHY, part def and part; CMP, nested part; FN on PHY, perform; LOG to PHY, allocate, nested; EXT, ref part; IF, port def, interface def, interface; IF organizational, connection; crossing, directed item, flow; interface REQ, allocate twice; claim, satis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generated from your Week 10 model and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placeholder links, placements of new functions, what crosses and which way, the functions of each interface requirement, the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 kept; new ones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does with the physical architecture and interfaces modeled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12, digital thread and verification</a:t>
            </a:r>
            <a:endParaRPr lang="en-US" sz="3000" dirty="0"/>
          </a:p>
        </p:txBody>
      </p:sp>
      <p:pic>
        <p:nvPicPr>
          <p:cNvPr id="4" name="Image 0" descr="Three bars stacked top to bottom, joined by arrows: satisfy claims, to verify; interface requirements, a verification case each; the thread from need to evidence, audi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satisfy claim: a verification case plans its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 method and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thread: need to requirement to design to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L11: model v0.4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12,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4.sysml; team-NN-interface-review.md; team-NN-checker-log.txt; one upload, before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team-NN-model-v04.sysml, team-NN-interface-review.md,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12,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link and place, set the crossings, preview the ports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what crosses your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11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both files; 2 min · link part definitions, place new functions; 7 min · each interface: items and directions; 1 min · preview ports and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10 model and your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each Week 8 or 9 part definition; place Week 10’s new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interface: every crossing as an item, with its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ports and flows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one interface, its port definition, one direction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interface and its crossings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port definition and which end is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one direction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L11,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Q11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parts and placements, days 1 to 2; what crosses, directions, days 2 to 3; interface requirements, days 3 to 4; satisfy claim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p.162, 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2: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2026-10-29T03:16:58Z</dcterms:created>
  <dcterms:modified xsi:type="dcterms:W3CDTF">2026-10-29T03:16:58Z</dcterms:modified>
</cp:coreProperties>
</file>