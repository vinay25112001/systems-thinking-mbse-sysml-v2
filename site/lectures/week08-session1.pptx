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8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8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Week 8 turns the Systems Thinking package into model v0.1: Context, Stakeholders, Physical are filled now; the other packages wait, each labeled with the week that fills it.</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Import Systems Thinking Artifacts / Stakeholders</a:t>
            </a:r>
            <a:endParaRPr lang="en-US" sz="3000" dirty="0"/>
          </a:p>
        </p:txBody>
      </p:sp>
      <p:sp>
        <p:nvSpPr>
          <p:cNvPr id="4" name="Text 2"/>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Session 1: From documents to a model: MBSE and the SysML v2 language</a:t>
            </a:r>
            <a:endParaRPr lang="en-US" sz="1600" dirty="0"/>
          </a:p>
        </p:txBody>
      </p:sp>
      <p:pic>
        <p:nvPicPr>
          <p:cNvPr id="5" name="Image 0" descr="A horizontal band in three parts. On the left, a stack of document icons labeled Week 7 Systems Thinking package. A thick arrow labeled import by ID points right to a package tree labeled Model v0.1. In the tree, 3 packages are drawn solid and filled: Context, Stakeholders, Physical. The other 8 packages are drawn dashed and dimmed, each with a small tag giving the week that fills it: Needs (Week 9), Requirements (Week 9), Behavior (Week 10), Logical (Week 10), Verification (Week 12), Analysis (Week 13), AROU (Week 13), Evolution (Week 14).">    </p:cNvPr>
          <p:cNvPicPr>
            <a:picLocks noChangeAspect="1"/>
          </p:cNvPicPr>
          <p:nvPr/>
        </p:nvPicPr>
        <p:blipFill>
          <a:blip r:embed="rId1"/>
          <a:stretch>
            <a:fillRect/>
          </a:stretch>
        </p:blipFill>
        <p:spPr>
          <a:xfrm>
            <a:off x="839025" y="1554480"/>
            <a:ext cx="5798519" cy="4136898"/>
          </a:xfrm>
          <a:prstGeom prst="rect">
            <a:avLst/>
          </a:prstGeom>
        </p:spPr>
      </p:pic>
      <p:sp>
        <p:nvSpPr>
          <p:cNvPr id="6" name="Text 3"/>
          <p:cNvSpPr/>
          <p:nvPr/>
        </p:nvSpPr>
        <p:spPr>
          <a:xfrm>
            <a:off x="7293689" y="1554480"/>
            <a:ext cx="4349366" cy="314553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Today: what a model changes, and the core of SysML v2</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Session 2: packages and names, the toolchain, the import, stakeholders and concerns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This week: Learn, Guided Practice, the Assessment, and model v0.1 of your own enterprise from the Phase I export tool</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20-minute charge to the dispatch threshold appears in nine artifacts of its Phase I package: stated, computed from, or relied on.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driving question: one number, nine places</a:t>
            </a:r>
            <a:endParaRPr lang="en-US" sz="3000" dirty="0"/>
          </a:p>
        </p:txBody>
      </p:sp>
      <p:pic>
        <p:nvPicPr>
          <p:cNvPr id="4" name="Image 0" descr="9 document tiles in three columns headed states, computes and rests on. Each tile has its ID as a heading and one short line with the value highlighted (the kind of artifact is given here in parentheses): Data Sheet (Week 1 case facts): 20 min charge to the dispatch threshold, under states; REQ-SYS-001 (System requirement): charge to the dispatch threshold in 20 min, under states; REQ-STK-005 (Stakeholder requirement): 25 min hub turnaround = 20 min charge + 5 min pad work, under computes; A-007 (Assumption): 48 charges per charger per 16 h day (960 ÷ 20), under computes; SCN-003 (Scenario): the aircraft is charged in 20 min within the turnaround, under states; MOP-002 (Measure of performance): charge time to the dispatch threshold, under states; TPM-001 (Technical performance measure): estimate tracked against the 20 min target, under computes; TECH-001 (Technology assessment): high-power charging restores the battery in 20 min, under rests on; DEC-001 (Trade-study decision): capacity = chargers × 48 decides ALT-004, under rests on. One extra tile, dashed and folded at the foot of the rests on column, is labeled the one you miss and carries a question mark.">    </p:cNvPr>
          <p:cNvPicPr>
            <a:picLocks noChangeAspect="1"/>
          </p:cNvPicPr>
          <p:nvPr/>
        </p:nvPicPr>
        <p:blipFill>
          <a:blip r:embed="rId1"/>
          <a:stretch>
            <a:fillRect/>
          </a:stretch>
        </p:blipFill>
        <p:spPr>
          <a:xfrm>
            <a:off x="548640" y="1283771"/>
            <a:ext cx="6379289" cy="4566683"/>
          </a:xfrm>
          <a:prstGeom prst="rect">
            <a:avLst/>
          </a:prstGeom>
        </p:spPr>
      </p:pic>
      <p:sp>
        <p:nvSpPr>
          <p:cNvPr id="5" name="Shape 2"/>
          <p:cNvSpPr/>
          <p:nvPr/>
        </p:nvSpPr>
        <p:spPr>
          <a:xfrm>
            <a:off x="7293689" y="1280160"/>
            <a:ext cx="4349366" cy="1057148"/>
          </a:xfrm>
          <a:prstGeom prst="roundRect">
            <a:avLst>
              <a:gd name="adj" fmla="val 5190"/>
            </a:avLst>
          </a:prstGeom>
          <a:solidFill>
            <a:srgbClr val="ECEFF3"/>
          </a:solidFill>
          <a:ln w="12700">
            <a:solidFill>
              <a:srgbClr val="D3D9E1"/>
            </a:solidFill>
            <a:prstDash val="solid"/>
          </a:ln>
        </p:spPr>
      </p:sp>
      <p:sp>
        <p:nvSpPr>
          <p:cNvPr id="6" name="Text 3"/>
          <p:cNvSpPr/>
          <p:nvPr/>
        </p:nvSpPr>
        <p:spPr>
          <a:xfrm>
            <a:off x="7430849" y="1280160"/>
            <a:ext cx="4075046"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WHAT IF (FICTIONAL)</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The charger supplier now says 24 minutes, not 20.</a:t>
            </a:r>
            <a:endParaRPr lang="en-US" sz="1200" dirty="0"/>
          </a:p>
        </p:txBody>
      </p:sp>
      <p:sp>
        <p:nvSpPr>
          <p:cNvPr id="7" name="Text 4"/>
          <p:cNvSpPr/>
          <p:nvPr/>
        </p:nvSpPr>
        <p:spPr>
          <a:xfrm>
            <a:off x="7293689" y="2501900"/>
            <a:ext cx="4349366" cy="1203960"/>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Which artifacts must change?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How would you be sure you found them all?</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Every Phase II week models a Phase I artifact by ID; Week 14 presents one coherent SysML v2 model of your enterprise.</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Phase II: your package becomes one model</a:t>
            </a:r>
            <a:endParaRPr lang="en-US" sz="3000" dirty="0"/>
          </a:p>
        </p:txBody>
      </p:sp>
      <p:pic>
        <p:nvPicPr>
          <p:cNvPr id="4" name="Image 0" descr="Two horizontal lanes. The upper lane is labeled Phase I: documents, with week boxes Week 1 to Week 7. The lower lane is labeled Phase II: one model, with week boxes Week 8 to Week 14. Dashed vertical arrows run from the upper lane down to the lower lane: Week 1 to Week 8; Week 2 to Week 9; Weeks 2 and 4 to Week 10; Week 5 to Week 11; Weeks 2 and 3 to Week 12; Week 3 to Week 13; Weeks 6 and 7 to Week 14. A thin thread labeled stable IDs (ENT, EXT, STK, CON, NEED, REQ …) runs along all the arrows. The Week 1 to Week 8 arrow is drawn solid and highlighted.">    </p:cNvPr>
          <p:cNvPicPr>
            <a:picLocks noChangeAspect="1"/>
          </p:cNvPicPr>
          <p:nvPr/>
        </p:nvPicPr>
        <p:blipFill>
          <a:blip r:embed="rId1"/>
          <a:stretch>
            <a:fillRect/>
          </a:stretch>
        </p:blipFill>
        <p:spPr>
          <a:xfrm>
            <a:off x="548640" y="1614930"/>
            <a:ext cx="6379289" cy="3904365"/>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Phase I: a document-based Systems Thinking package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Phase II: the same enterprise as one SysML v2 model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week models a named Phase I artifact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Stable IDs are the thread: the same ID in document and model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AeroLink first, then your own enterprise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models of one aircraft, each selective: a physical mockup, a mathematical model and a logical model, chosen for different concerns. (AeroLink,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R33a p.290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 model is</a:t>
            </a:r>
            <a:endParaRPr lang="en-US" sz="3000" dirty="0"/>
          </a:p>
        </p:txBody>
      </p:sp>
      <p:pic>
        <p:nvPicPr>
          <p:cNvPr id="4" name="Image 0" descr="In the center, a simple outline of an AeroLink air taxi. Around it, three panels joined to it by thin lines labeled mapping. Upper left: a small scale mockup on a stand, labeled physical model, with the concern: does the cabin fit four seats? Upper right: a short equation, range = speed × flight time, labeled mathematical model, with the concern: can it reach the next vertiport? Bottom: a box-and-line sketch, battery to motors to rotors, labeled logical model, with the concern: what fails if the battery fails? Each panel shows only part of the aircraft.">    </p:cNvPr>
          <p:cNvPicPr>
            <a:picLocks noChangeAspect="1"/>
          </p:cNvPicPr>
          <p:nvPr/>
        </p:nvPicPr>
        <p:blipFill>
          <a:blip r:embed="rId1"/>
          <a:stretch>
            <a:fillRect/>
          </a:stretch>
        </p:blipFill>
        <p:spPr>
          <a:xfrm>
            <a:off x="750721" y="1280160"/>
            <a:ext cx="5975126" cy="4248531"/>
          </a:xfrm>
          <a:prstGeom prst="rect">
            <a:avLst/>
          </a:prstGeom>
        </p:spPr>
      </p:pic>
      <p:sp>
        <p:nvSpPr>
          <p:cNvPr id="5" name="Shape 2"/>
          <p:cNvSpPr/>
          <p:nvPr/>
        </p:nvSpPr>
        <p:spPr>
          <a:xfrm>
            <a:off x="7293689" y="1280160"/>
            <a:ext cx="4349366" cy="1965960"/>
          </a:xfrm>
          <a:prstGeom prst="rect">
            <a:avLst/>
          </a:prstGeom>
          <a:solidFill>
            <a:srgbClr val="E1EFF4"/>
          </a:solidFill>
          <a:ln w="12700">
            <a:solidFill>
              <a:srgbClr val="E1EFF4"/>
            </a:solidFill>
            <a:prstDash val="solid"/>
          </a:ln>
        </p:spPr>
      </p:sp>
      <p:sp>
        <p:nvSpPr>
          <p:cNvPr id="6" name="Shape 3"/>
          <p:cNvSpPr/>
          <p:nvPr/>
        </p:nvSpPr>
        <p:spPr>
          <a:xfrm>
            <a:off x="7293689" y="1280160"/>
            <a:ext cx="73152" cy="1965960"/>
          </a:xfrm>
          <a:prstGeom prst="rect">
            <a:avLst/>
          </a:prstGeom>
          <a:solidFill>
            <a:srgbClr val="0F6E8C"/>
          </a:solidFill>
          <a:ln w="12700">
            <a:solidFill>
              <a:srgbClr val="0F6E8C"/>
            </a:solidFill>
            <a:prstDash val="solid"/>
          </a:ln>
        </p:spPr>
      </p:sp>
      <p:sp>
        <p:nvSpPr>
          <p:cNvPr id="7" name="Text 4"/>
          <p:cNvSpPr/>
          <p:nvPr/>
        </p:nvSpPr>
        <p:spPr>
          <a:xfrm>
            <a:off x="7522289" y="1280160"/>
            <a:ext cx="3983606" cy="1965960"/>
          </a:xfrm>
          <a:prstGeom prst="rect">
            <a:avLst/>
          </a:prstGeom>
          <a:noFill/>
          <a:ln/>
        </p:spPr>
        <p:txBody>
          <a:bodyPr wrap="square" lIns="50800" tIns="50800" rIns="50800" bIns="50800" rtlCol="0" anchor="ctr"/>
          <a:lstStyle/>
          <a:p>
            <a:pPr indent="0" marL="0">
              <a:buNone/>
            </a:pPr>
            <a:r>
              <a:rPr lang="en-US" sz="1100" b="1" spc="100" kern="0" dirty="0">
                <a:solidFill>
                  <a:srgbClr val="18202D"/>
                </a:solidFill>
                <a:latin typeface="Calibri" pitchFamily="34" charset="0"/>
                <a:ea typeface="Calibri" pitchFamily="34" charset="-122"/>
                <a:cs typeface="Calibri" pitchFamily="34" charset="-120"/>
              </a:rPr>
              <a:t>MODEL (OMG, AS LISTED BY SEBOK)</a:t>
            </a:r>
            <a:endParaRPr lang="en-US" sz="1100" dirty="0"/>
          </a:p>
          <a:p>
            <a:pPr indent="0" marL="0">
              <a:buNone/>
            </a:pPr>
            <a:r>
              <a:rPr lang="en-US" sz="1800" dirty="0">
                <a:solidFill>
                  <a:srgbClr val="18202D"/>
                </a:solidFill>
                <a:latin typeface="Calibri" pitchFamily="34" charset="0"/>
                <a:ea typeface="Calibri" pitchFamily="34" charset="-122"/>
                <a:cs typeface="Calibri" pitchFamily="34" charset="-120"/>
              </a:rPr>
              <a:t>“a selective representation of some system whose form and content are chosen based on a specific set of concerns”</a:t>
            </a:r>
            <a:endParaRPr lang="en-US" sz="1100" dirty="0"/>
          </a:p>
          <a:p>
            <a:pPr indent="0" marL="0">
              <a:spcBef>
                <a:spcPts val="600"/>
              </a:spcBef>
              <a:buNone/>
            </a:pPr>
            <a:r>
              <a:rPr lang="en-US" sz="900" dirty="0">
                <a:solidFill>
                  <a:srgbClr val="0F6E8C"/>
                </a:solidFill>
                <a:latin typeface="Calibri" pitchFamily="34" charset="0"/>
                <a:ea typeface="Calibri" pitchFamily="34" charset="-122"/>
                <a:cs typeface="Calibri" pitchFamily="34" charset="-120"/>
              </a:rPr>
              <a:t>R33a · SEBoK v2.14 (2026), "What is a Model?", p.290</a:t>
            </a:r>
            <a:endParaRPr lang="en-US" sz="1100" dirty="0"/>
          </a:p>
        </p:txBody>
      </p:sp>
      <p:sp>
        <p:nvSpPr>
          <p:cNvPr id="8" name="Text 5"/>
          <p:cNvSpPr/>
          <p:nvPr/>
        </p:nvSpPr>
        <p:spPr>
          <a:xfrm>
            <a:off x="7293689" y="3410712"/>
            <a:ext cx="4349366" cy="1146810"/>
          </a:xfrm>
          <a:prstGeom prst="rect">
            <a:avLst/>
          </a:prstGeom>
          <a:noFill/>
          <a:ln/>
        </p:spPr>
        <p:txBody>
          <a:bodyPr wrap="square" lIns="25400" tIns="25400" rIns="25400" bIns="25400" rtlCol="0" anchor="t"/>
          <a:lstStyle/>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Related to the system by a mapping</a:t>
            </a:r>
            <a:endParaRPr lang="en-US" sz="1700" dirty="0"/>
          </a:p>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Physical, mathematical or logical</a:t>
            </a:r>
            <a:endParaRPr lang="en-US" sz="1700" dirty="0"/>
          </a:p>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One system usually needs many models</a:t>
            </a:r>
            <a:endParaRPr lang="en-US" sz="17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modeling language has an abstract syntax, a concrete syntax and semantics. A tool checks conformance to the rules; whether the model means what you intend is a separate question.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R33a p.291–292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Modeling languages and tools</a:t>
            </a:r>
            <a:endParaRPr lang="en-US" sz="3000" dirty="0"/>
          </a:p>
        </p:txBody>
      </p:sp>
      <p:pic>
        <p:nvPicPr>
          <p:cNvPr id="4" name="Image 0" descr="Three horizontal layers stacked on top of each other. Bottom layer: Abstract syntax, what may exist: constructs and the rules for combining them. Middle layer: Concrete syntax, how it is written: text, diagrams, tables. Top layer: Semantics, what it means. On the right, a tool icon labeled modeling tool with two solid check-mark arrows pointing at the bottom and middle layers, labeled conforms to the rules. A dashed arrow from the tool toward the top layer ends in a question mark, labeled means what you intend?">    </p:cNvPr>
          <p:cNvPicPr>
            <a:picLocks noChangeAspect="1"/>
          </p:cNvPicPr>
          <p:nvPr/>
        </p:nvPicPr>
        <p:blipFill>
          <a:blip r:embed="rId1"/>
          <a:stretch>
            <a:fillRect/>
          </a:stretch>
        </p:blipFill>
        <p:spPr>
          <a:xfrm>
            <a:off x="548640" y="1393925"/>
            <a:ext cx="6379289" cy="4021001"/>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Abstract syntax:</a:t>
            </a:r>
            <a:pPr indent="0" marL="0">
              <a:buNone/>
            </a:pPr>
            <a:r>
              <a:rPr lang="en-US" sz="2000" dirty="0">
                <a:solidFill>
                  <a:srgbClr val="18202D"/>
                </a:solidFill>
                <a:latin typeface="Calibri" pitchFamily="34" charset="0"/>
                <a:ea typeface="Calibri" pitchFamily="34" charset="-122"/>
                <a:cs typeface="Calibri" pitchFamily="34" charset="-120"/>
              </a:rPr>
              <a:t> the constructs and the rules for building a model</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Concrete syntax:</a:t>
            </a:r>
            <a:pPr indent="0" marL="0">
              <a:buNone/>
            </a:pPr>
            <a:r>
              <a:rPr lang="en-US" sz="2000" dirty="0">
                <a:solidFill>
                  <a:srgbClr val="18202D"/>
                </a:solidFill>
                <a:latin typeface="Calibri" pitchFamily="34" charset="0"/>
                <a:ea typeface="Calibri" pitchFamily="34" charset="-122"/>
                <a:cs typeface="Calibri" pitchFamily="34" charset="-120"/>
              </a:rPr>
              <a:t> the symbols or text that express them</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Semantics:</a:t>
            </a:r>
            <a:pPr indent="0" marL="0">
              <a:buNone/>
            </a:pPr>
            <a:r>
              <a:rPr lang="en-US" sz="2000" dirty="0">
                <a:solidFill>
                  <a:srgbClr val="18202D"/>
                </a:solidFill>
                <a:latin typeface="Calibri" pitchFamily="34" charset="0"/>
                <a:ea typeface="Calibri" pitchFamily="34" charset="-122"/>
                <a:cs typeface="Calibri" pitchFamily="34" charset="-120"/>
              </a:rPr>
              <a:t> what the constructs mean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Tools check that a model conforms to the language’s rules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Left: nine documents kept in step by hand. Right: one model element that the dependent elements are related to. (AeroLink,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R33a p.292; R28 p.370; R27 p.56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MBSE versus a document-centric package</a:t>
            </a:r>
            <a:endParaRPr lang="en-US" sz="3000" dirty="0"/>
          </a:p>
        </p:txBody>
      </p:sp>
      <p:pic>
        <p:nvPicPr>
          <p:cNvPr id="4" name="Image 0" descr="Two panels. Left panel, titled document-centric: 9 document icons scattered, labeled Data Sheet, REQ-SYS-001, REQ-STK-005, A-007, SCN-003, MOP-002, TPM-001, TECH-001, DEC-001, joined by hand-drawn dashed double arrows labeled keep in step. Right panel, titled model-based: one central rounded node labeled chargeTimeToDispatch = 20 min, with 8 solid lines radiating to small element nodes carrying the same IDs except the Data Sheet; each line is labeled with its relationship kind: states, computes or rests on.">    </p:cNvPr>
          <p:cNvPicPr>
            <a:picLocks noChangeAspect="1"/>
          </p:cNvPicPr>
          <p:nvPr/>
        </p:nvPicPr>
        <p:blipFill>
          <a:blip r:embed="rId1"/>
          <a:stretch>
            <a:fillRect/>
          </a:stretch>
        </p:blipFill>
        <p:spPr>
          <a:xfrm>
            <a:off x="636320" y="1280160"/>
            <a:ext cx="6203929" cy="4411218"/>
          </a:xfrm>
          <a:prstGeom prst="rect">
            <a:avLst/>
          </a:prstGeom>
        </p:spPr>
      </p:pic>
      <p:sp>
        <p:nvSpPr>
          <p:cNvPr id="5" name="Shape 2"/>
          <p:cNvSpPr/>
          <p:nvPr/>
        </p:nvSpPr>
        <p:spPr>
          <a:xfrm>
            <a:off x="7293689" y="1280160"/>
            <a:ext cx="4349366" cy="2554732"/>
          </a:xfrm>
          <a:prstGeom prst="rect">
            <a:avLst/>
          </a:prstGeom>
          <a:solidFill>
            <a:srgbClr val="E1EFF4"/>
          </a:solidFill>
          <a:ln w="12700">
            <a:solidFill>
              <a:srgbClr val="E1EFF4"/>
            </a:solidFill>
            <a:prstDash val="solid"/>
          </a:ln>
        </p:spPr>
      </p:sp>
      <p:sp>
        <p:nvSpPr>
          <p:cNvPr id="6" name="Shape 3"/>
          <p:cNvSpPr/>
          <p:nvPr/>
        </p:nvSpPr>
        <p:spPr>
          <a:xfrm>
            <a:off x="7293689" y="1280160"/>
            <a:ext cx="73152" cy="2554732"/>
          </a:xfrm>
          <a:prstGeom prst="rect">
            <a:avLst/>
          </a:prstGeom>
          <a:solidFill>
            <a:srgbClr val="0F6E8C"/>
          </a:solidFill>
          <a:ln w="12700">
            <a:solidFill>
              <a:srgbClr val="0F6E8C"/>
            </a:solidFill>
            <a:prstDash val="solid"/>
          </a:ln>
        </p:spPr>
      </p:sp>
      <p:sp>
        <p:nvSpPr>
          <p:cNvPr id="7" name="Text 4"/>
          <p:cNvSpPr/>
          <p:nvPr/>
        </p:nvSpPr>
        <p:spPr>
          <a:xfrm>
            <a:off x="7522289" y="1280160"/>
            <a:ext cx="3983606" cy="2554732"/>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MBSE (INCOSE, QUOTED BY SEBOK)</a:t>
            </a:r>
            <a:endParaRPr lang="en-US" sz="1300" dirty="0"/>
          </a:p>
          <a:p>
            <a:pPr indent="0" marL="0">
              <a:buNone/>
            </a:pPr>
            <a:r>
              <a:rPr lang="en-US" sz="2200" dirty="0">
                <a:solidFill>
                  <a:srgbClr val="18202D"/>
                </a:solidFill>
                <a:latin typeface="Calibri" pitchFamily="34" charset="0"/>
                <a:ea typeface="Calibri" pitchFamily="34" charset="-122"/>
                <a:cs typeface="Calibri" pitchFamily="34" charset="-120"/>
              </a:rPr>
              <a:t>“the formalized application of modeling to support system requirements, design, analysis, verification, and validation activities”</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R33a · SEBoK v2.14 (2026), "What is a Model?", p.292</a:t>
            </a:r>
            <a:endParaRPr lang="en-US" sz="1300" dirty="0"/>
          </a:p>
        </p:txBody>
      </p:sp>
      <p:sp>
        <p:nvSpPr>
          <p:cNvPr id="8" name="Text 5"/>
          <p:cNvSpPr/>
          <p:nvPr/>
        </p:nvSpPr>
        <p:spPr>
          <a:xfrm>
            <a:off x="7293689" y="3999484"/>
            <a:ext cx="4349366" cy="1513840"/>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Models are the primary, controlled artifacts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One repository as the single source of truth</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benefits SEBoK names, weighed against the upkeep they depend 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R28 p.373–374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MBSE buys, and what it costs</a:t>
            </a:r>
            <a:endParaRPr lang="en-US" sz="3000" dirty="0"/>
          </a:p>
        </p:txBody>
      </p:sp>
      <p:pic>
        <p:nvPicPr>
          <p:cNvPr id="4" name="Image 0" descr="A balance scale. The left pan holds three weights labeled inconsistencies surface while modeling, one source reduces miscommunication, easier to search and extract. The right pan holds three weights labeled regular model updates, learning the language and tool, model drift if neglected. Under the scale a caption reads benefits shrink when the model falls out of date. At the bottom right, a small document icon generated from a model icon by an arrow labeled hybrid: documents generated for milestones.">    </p:cNvPr>
          <p:cNvPicPr>
            <a:picLocks noChangeAspect="1"/>
          </p:cNvPicPr>
          <p:nvPr/>
        </p:nvPicPr>
        <p:blipFill>
          <a:blip r:embed="rId1"/>
          <a:stretch>
            <a:fillRect/>
          </a:stretch>
        </p:blipFill>
        <p:spPr>
          <a:xfrm>
            <a:off x="548640" y="1318249"/>
            <a:ext cx="6379289" cy="4335040"/>
          </a:xfrm>
          <a:prstGeom prst="rect">
            <a:avLst/>
          </a:prstGeom>
        </p:spPr>
      </p:pic>
      <p:sp>
        <p:nvSpPr>
          <p:cNvPr id="5" name="Text 2"/>
          <p:cNvSpPr/>
          <p:nvPr/>
        </p:nvSpPr>
        <p:spPr>
          <a:xfrm>
            <a:off x="7293689" y="1280160"/>
            <a:ext cx="4349366" cy="331012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Inconsistencies surface while the model is built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One source: fewer miscommunications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Easier to search and extract</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Cost:</a:t>
            </a:r>
            <a:pPr indent="0" marL="0">
              <a:buNone/>
            </a:pPr>
            <a:r>
              <a:rPr lang="en-US" sz="2000" dirty="0">
                <a:solidFill>
                  <a:srgbClr val="18202D"/>
                </a:solidFill>
                <a:latin typeface="Calibri" pitchFamily="34" charset="0"/>
                <a:ea typeface="Calibri" pitchFamily="34" charset="-122"/>
                <a:cs typeface="Calibri" pitchFamily="34" charset="-120"/>
              </a:rPr>
              <a:t> an out-of-date model loses its benefits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Hybrid: documents generated from the model</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precise, well-made model of a poor design is still a poor design.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R33b p.295–296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Model quality is not design quality</a:t>
            </a:r>
            <a:endParaRPr lang="en-US" sz="3000" dirty="0"/>
          </a:p>
        </p:txBody>
      </p:sp>
      <p:pic>
        <p:nvPicPr>
          <p:cNvPr id="4" name="Image 0" descr="A clean technical drawing of a chair with dimension lines on every leg and on the seat, all neatly labeled, and a tick mark labeled model: precise. One leg is visibly shorter than the other three; a callout on it reads design: wobbles. Below the drawing, a box labeled root package doc: purpose, who uses the model and for which decisions.">    </p:cNvPr>
          <p:cNvPicPr>
            <a:picLocks noChangeAspect="1"/>
          </p:cNvPicPr>
          <p:nvPr/>
        </p:nvPicPr>
        <p:blipFill>
          <a:blip r:embed="rId1"/>
          <a:stretch>
            <a:fillRect/>
          </a:stretch>
        </p:blipFill>
        <p:spPr>
          <a:xfrm>
            <a:off x="548640" y="1450954"/>
            <a:ext cx="6379289" cy="4069629"/>
          </a:xfrm>
          <a:prstGeom prst="rect">
            <a:avLst/>
          </a:prstGeom>
        </p:spPr>
      </p:pic>
      <p:sp>
        <p:nvSpPr>
          <p:cNvPr id="5" name="Shape 2"/>
          <p:cNvSpPr/>
          <p:nvPr/>
        </p:nvSpPr>
        <p:spPr>
          <a:xfrm>
            <a:off x="7293689" y="1280160"/>
            <a:ext cx="4349366" cy="1320546"/>
          </a:xfrm>
          <a:prstGeom prst="roundRect">
            <a:avLst>
              <a:gd name="adj" fmla="val 4155"/>
            </a:avLst>
          </a:prstGeom>
          <a:solidFill>
            <a:srgbClr val="E1EFF4"/>
          </a:solidFill>
          <a:ln w="12700">
            <a:solidFill>
              <a:srgbClr val="0F6E8C"/>
            </a:solidFill>
            <a:prstDash val="solid"/>
          </a:ln>
        </p:spPr>
      </p:sp>
      <p:sp>
        <p:nvSpPr>
          <p:cNvPr id="6" name="Text 3"/>
          <p:cNvSpPr/>
          <p:nvPr/>
        </p:nvSpPr>
        <p:spPr>
          <a:xfrm>
            <a:off x="7430849" y="1280160"/>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KEY POINT</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“The quality of a model should not be confused with the quality of the design that the model represents.”</a:t>
            </a:r>
            <a:endParaRPr lang="en-US" sz="1200" dirty="0"/>
          </a:p>
        </p:txBody>
      </p:sp>
      <p:sp>
        <p:nvSpPr>
          <p:cNvPr id="7" name="Text 4"/>
          <p:cNvSpPr/>
          <p:nvPr/>
        </p:nvSpPr>
        <p:spPr>
          <a:xfrm>
            <a:off x="7293689" y="2765298"/>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Define the model’s purpose first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Judge the model by how well it serves that purpose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Your root package states the purpose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One model, several views: each view queries the model and renders the result for a stakeholder’s concern. (AeroLink,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R33c p.300; R80 p.48; R85 p.181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Model versus view</a:t>
            </a:r>
            <a:endParaRPr lang="en-US" sz="3000" dirty="0"/>
          </a:p>
        </p:txBody>
      </p:sp>
      <p:pic>
        <p:nvPicPr>
          <p:cNvPr id="4" name="Image 0" descr="In the center, a cylinder labeled AeroLink model. Three arrows leave it, each labeled query + rendering. The first ends at a small table labeled stakeholder table view; the second at a box-and-line diagram labeled context diagram view; the third at a block of text lines labeled textual view. Beside each view stands a stakeholder figure with a speech label: beside the table, the review board: who holds which concern?; beside the diagram, the architect: what crosses the boundary?; beside the text, the modeler: what exactly is declared? A dashed outline around each stakeholder and its view is labeled viewpoint.">    </p:cNvPr>
          <p:cNvPicPr>
            <a:picLocks noChangeAspect="1"/>
          </p:cNvPicPr>
          <p:nvPr/>
        </p:nvPicPr>
        <p:blipFill>
          <a:blip r:embed="rId1"/>
          <a:stretch>
            <a:fillRect/>
          </a:stretch>
        </p:blipFill>
        <p:spPr>
          <a:xfrm>
            <a:off x="657226" y="1280160"/>
            <a:ext cx="6162116" cy="4411218"/>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system model can have many views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Viewpoint:</a:t>
            </a:r>
            <a:pPr indent="0" marL="0">
              <a:buNone/>
            </a:pPr>
            <a:r>
              <a:rPr lang="en-US" sz="2000" dirty="0">
                <a:solidFill>
                  <a:srgbClr val="18202D"/>
                </a:solidFill>
                <a:latin typeface="Calibri" pitchFamily="34" charset="0"/>
                <a:ea typeface="Calibri" pitchFamily="34" charset="-122"/>
                <a:cs typeface="Calibri" pitchFamily="34" charset="-120"/>
              </a:rPr>
              <a:t> the information a set of stakeholders needs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View:</a:t>
            </a:r>
            <a:pPr indent="0" marL="0">
              <a:buNone/>
            </a:pPr>
            <a:r>
              <a:rPr lang="en-US" sz="2000" dirty="0">
                <a:solidFill>
                  <a:srgbClr val="18202D"/>
                </a:solidFill>
                <a:latin typeface="Calibri" pitchFamily="34" charset="0"/>
                <a:ea typeface="Calibri" pitchFamily="34" charset="-122"/>
                <a:cs typeface="Calibri" pitchFamily="34" charset="-120"/>
              </a:rPr>
              <a:t> a query of the model and a rendering of its results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Your context diagram and register become views, not separate files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same part definition in the graphical and the textual notation, as the specification’s representative-notation table shows it.</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R90 sl.7, 9; R80 p.66; R28 p.372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SysML v2: one model, textual and graphical notation</a:t>
            </a:r>
            <a:endParaRPr lang="en-US" sz="3000" dirty="0"/>
          </a:p>
        </p:txBody>
      </p:sp>
      <p:pic>
        <p:nvPicPr>
          <p:cNvPr id="4" name="Image 0" descr="Two panels joined by a double arrow labeled same element. Left panel, titled graphical notation: a rectangle with the keyword «part def» in guillemets on the first line and PartDef1 on the second; below it a second rectangle with «part def» and &lt;PD2&gt; PartDef2. Right panel, titled textual notation: two code lines, part def PartDef1; and part def &lt;PD2&gt; PartDef2;. Under both panels, a strip of four short contrasts labeled SysML v1 to SysML v2: UML profile to own metamodel; nine diagram types to views and viewpoints; diagrams as the model to text, diagrams and tables as renderings; tool files to a standard API.">    </p:cNvPr>
          <p:cNvPicPr>
            <a:picLocks noChangeAspect="1"/>
          </p:cNvPicPr>
          <p:nvPr/>
        </p:nvPicPr>
        <p:blipFill>
          <a:blip r:embed="rId1"/>
          <a:stretch>
            <a:fillRect/>
          </a:stretch>
        </p:blipFill>
        <p:spPr>
          <a:xfrm>
            <a:off x="623254" y="1280160"/>
            <a:ext cx="6230061" cy="4411218"/>
          </a:xfrm>
          <a:prstGeom prst="rect">
            <a:avLst/>
          </a:prstGeom>
        </p:spPr>
      </p:pic>
      <p:sp>
        <p:nvSpPr>
          <p:cNvPr id="5" name="Text 2"/>
          <p:cNvSpPr/>
          <p:nvPr/>
        </p:nvSpPr>
        <p:spPr>
          <a:xfrm>
            <a:off x="7293689" y="1280160"/>
            <a:ext cx="4349366" cy="300024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new metamodel, not constrained by UML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Grounded in formal semantics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Views: graphical, tabular, textual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standard API for other tools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Course convention: write text; diagrams are views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four-layer language architecture: KerML provides Root, Core and Kernel; SysML adds the Systems layer.</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sl.3–4; R90 sl.8; R80 p.47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Four layers: KerML under SysML</a:t>
            </a:r>
            <a:endParaRPr lang="en-US" sz="3000" dirty="0"/>
          </a:p>
        </p:txBody>
      </p:sp>
      <p:pic>
        <p:nvPicPr>
          <p:cNvPr id="4" name="Image 0" descr="A stack of four horizontal layers, bottom to top. Root: syntactic elements without model-level semantics, with example words element, comment, namespace, relationship, import, dependency. Core: fundamental semantic concepts with a direct mapping to formal logic, with example words type, classifier, feature, multiplicity, specialization. Kernel: the foundation for building modeling languages, with example words class, data type, behavior, function, metadata, package. Systems: the modeling language for systems engineering, with example words part, attribute, port, action, state, requirement, concern, view. A bracket on the right spans Root, Core and Kernel and is labeled KerML; a second bracket spans Systems and is labeled SysML.">    </p:cNvPr>
          <p:cNvPicPr>
            <a:picLocks noChangeAspect="1"/>
          </p:cNvPicPr>
          <p:nvPr/>
        </p:nvPicPr>
        <p:blipFill>
          <a:blip r:embed="rId1"/>
          <a:stretch>
            <a:fillRect/>
          </a:stretch>
        </p:blipFill>
        <p:spPr>
          <a:xfrm>
            <a:off x="623254" y="1280160"/>
            <a:ext cx="6230061" cy="4411218"/>
          </a:xfrm>
          <a:prstGeom prst="rect">
            <a:avLst/>
          </a:prstGeom>
        </p:spPr>
      </p:pic>
      <p:sp>
        <p:nvSpPr>
          <p:cNvPr id="5" name="Text 2"/>
          <p:cNvSpPr/>
          <p:nvPr/>
        </p:nvSpPr>
        <p:spPr>
          <a:xfrm>
            <a:off x="7293689" y="1280160"/>
            <a:ext cx="4349366" cy="4239768"/>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Root:</a:t>
            </a:r>
            <a:pPr indent="0" marL="0">
              <a:buNone/>
            </a:pPr>
            <a:r>
              <a:rPr lang="en-US" sz="2000" dirty="0">
                <a:solidFill>
                  <a:srgbClr val="18202D"/>
                </a:solidFill>
                <a:latin typeface="Calibri" pitchFamily="34" charset="0"/>
                <a:ea typeface="Calibri" pitchFamily="34" charset="-122"/>
                <a:cs typeface="Calibri" pitchFamily="34" charset="-120"/>
              </a:rPr>
              <a:t> syntax without model-level semantics: elements, namespaces, imports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Core:</a:t>
            </a:r>
            <a:pPr indent="0" marL="0">
              <a:buNone/>
            </a:pPr>
            <a:r>
              <a:rPr lang="en-US" sz="2000" dirty="0">
                <a:solidFill>
                  <a:srgbClr val="18202D"/>
                </a:solidFill>
                <a:latin typeface="Calibri" pitchFamily="34" charset="0"/>
                <a:ea typeface="Calibri" pitchFamily="34" charset="-122"/>
                <a:cs typeface="Calibri" pitchFamily="34" charset="-120"/>
              </a:rPr>
              <a:t> type, feature, multiplicity; formal semantics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Kernel:</a:t>
            </a:r>
            <a:pPr indent="0" marL="0">
              <a:buNone/>
            </a:pPr>
            <a:r>
              <a:rPr lang="en-US" sz="2000" dirty="0">
                <a:solidFill>
                  <a:srgbClr val="18202D"/>
                </a:solidFill>
                <a:latin typeface="Calibri" pitchFamily="34" charset="0"/>
                <a:ea typeface="Calibri" pitchFamily="34" charset="-122"/>
                <a:cs typeface="Calibri" pitchFamily="34" charset="-120"/>
              </a:rPr>
              <a:t> foundation for modeling languages; the package lives here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Systems:</a:t>
            </a:r>
            <a:pPr indent="0" marL="0">
              <a:buNone/>
            </a:pPr>
            <a:r>
              <a:rPr lang="en-US" sz="2000" dirty="0">
                <a:solidFill>
                  <a:srgbClr val="18202D"/>
                </a:solidFill>
                <a:latin typeface="Calibri" pitchFamily="34" charset="0"/>
                <a:ea typeface="Calibri" pitchFamily="34" charset="-122"/>
                <a:cs typeface="Calibri" pitchFamily="34" charset="-120"/>
              </a:rPr>
              <a:t> SysML: parts, attributes, requirements, concerns …</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Most SysML elements specialize KerML elements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Ownership forms a tree: deleting an element deletes its whole subtree. A relationship can also link elements in different branches.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p.48–49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Elements, relationships, ownership</a:t>
            </a:r>
            <a:endParaRPr lang="en-US" sz="3000" dirty="0"/>
          </a:p>
        </p:txBody>
      </p:sp>
      <p:pic>
        <p:nvPicPr>
          <p:cNvPr id="4" name="Image 0" descr="A small ownership tree drawn top down: a package node labeled package Stakeholders at the top, owning two nodes, part def STK-005 and concern CON-006; the part def owns a node labeled metadata annotation. A dashed line crosses between the branches from CON-006 to STK-005, labeled relationship: stakeholder typed by STK-005. A delete mark (an X in a circle) sits on the concern node, and its subtree is greyed and hatched, labeled deleted with it. A small tag at the corner reads element ID: managed by the tool; name and short name: written in the text.">    </p:cNvPr>
          <p:cNvPicPr>
            <a:picLocks noChangeAspect="1"/>
          </p:cNvPicPr>
          <p:nvPr/>
        </p:nvPicPr>
        <p:blipFill>
          <a:blip r:embed="rId1"/>
          <a:stretch>
            <a:fillRect/>
          </a:stretch>
        </p:blipFill>
        <p:spPr>
          <a:xfrm>
            <a:off x="548640" y="1509220"/>
            <a:ext cx="6379289" cy="3953098"/>
          </a:xfrm>
          <a:prstGeom prst="rect">
            <a:avLst/>
          </a:prstGeom>
        </p:spPr>
      </p:pic>
      <p:sp>
        <p:nvSpPr>
          <p:cNvPr id="5" name="Text 2"/>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Elements; some elements are relationships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Ownership is a tree: delete an element, delete its subtree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tool manages the element ID; you write a name and a short name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Phase I words for things with structure and behavior all become parts in SysML v2, at different places in a decomposition.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p.48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No “system” keyword: everything with structure and behavior is a part</a:t>
            </a:r>
            <a:endParaRPr lang="en-US" sz="3000" dirty="0"/>
          </a:p>
        </p:txBody>
      </p:sp>
      <p:pic>
        <p:nvPicPr>
          <p:cNvPr id="4" name="Image 0" descr="On the left, a column of Phase I words in rounded labels: enterprise, system of interest, subsystem, component, external system. Each has an arrow to a single box on the right labeled part (part def and part usage). Beside each arrow, a small note gives where it sits: enterprise: a part definition in Context; system of interest: the part the context refers to; subsystem and component: parts inside it (Week 11); external system: a part usage in the context part.">    </p:cNvPr>
          <p:cNvPicPr>
            <a:picLocks noChangeAspect="1"/>
          </p:cNvPicPr>
          <p:nvPr/>
        </p:nvPicPr>
        <p:blipFill>
          <a:blip r:embed="rId1"/>
          <a:stretch>
            <a:fillRect/>
          </a:stretch>
        </p:blipFill>
        <p:spPr>
          <a:xfrm>
            <a:off x="548640" y="1408562"/>
            <a:ext cx="6379289" cy="4154413"/>
          </a:xfrm>
          <a:prstGeom prst="rect">
            <a:avLst/>
          </a:prstGeom>
        </p:spPr>
      </p:pic>
      <p:sp>
        <p:nvSpPr>
          <p:cNvPr id="5" name="Text 2"/>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No constructs called system, subsystem, assembly or component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An entity with structure and behavior is a </a:t>
            </a:r>
            <a:pPr indent="0" marL="0">
              <a:buNone/>
            </a:pPr>
            <a:r>
              <a:rPr lang="en-US" sz="2000" b="1" dirty="0">
                <a:solidFill>
                  <a:srgbClr val="18202D"/>
                </a:solidFill>
                <a:latin typeface="Calibri" pitchFamily="34" charset="0"/>
                <a:ea typeface="Calibri" pitchFamily="34" charset="-122"/>
                <a:cs typeface="Calibri" pitchFamily="34" charset="-120"/>
              </a:rPr>
              <a:t>part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Enterprise, service, vertiport, charger, external system: all parts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One definition, used in two contexts. The usages are roles in a context; the physical chargers are instances, which the model text does not list. (AeroLink,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p.63; R90 sl.12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definition–usage pattern</a:t>
            </a:r>
            <a:endParaRPr lang="en-US" sz="3000" dirty="0"/>
          </a:p>
        </p:txBody>
      </p:sp>
      <p:pic>
        <p:nvPicPr>
          <p:cNvPr id="4" name="Image 0" descr="Three horizontal bands. Top band, labeled definition: one card reading part def Charger. Middle band, labeled usages: two context boxes side by side, hub vertiport and spoke vertiport, each containing a small card reading part chargers : Charger; solid arrows labeled defined by run from each card up to the definition card. Bottom band, labeled instances (not in the model text): several small charger icons under each context box, joined by thin dotted lines to the usage above, labeled plays the role.">    </p:cNvPr>
          <p:cNvPicPr>
            <a:picLocks noChangeAspect="1"/>
          </p:cNvPicPr>
          <p:nvPr/>
        </p:nvPicPr>
        <p:blipFill>
          <a:blip r:embed="rId1"/>
          <a:stretch>
            <a:fillRect/>
          </a:stretch>
        </p:blipFill>
        <p:spPr>
          <a:xfrm>
            <a:off x="770857" y="1280160"/>
            <a:ext cx="5934856" cy="4248531"/>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a:t>
            </a:r>
            <a:pPr indent="0" marL="0">
              <a:buNone/>
            </a:pPr>
            <a:r>
              <a:rPr lang="en-US" sz="2000" b="1" dirty="0">
                <a:solidFill>
                  <a:srgbClr val="18202D"/>
                </a:solidFill>
                <a:latin typeface="Calibri" pitchFamily="34" charset="0"/>
                <a:ea typeface="Calibri" pitchFamily="34" charset="-122"/>
                <a:cs typeface="Calibri" pitchFamily="34" charset="-120"/>
              </a:rPr>
              <a:t>definition</a:t>
            </a:r>
            <a:pPr indent="0" marL="0">
              <a:buNone/>
            </a:pPr>
            <a:r>
              <a:rPr lang="en-US" sz="2000" dirty="0">
                <a:solidFill>
                  <a:srgbClr val="18202D"/>
                </a:solidFill>
                <a:latin typeface="Calibri" pitchFamily="34" charset="0"/>
                <a:ea typeface="Calibri" pitchFamily="34" charset="-122"/>
                <a:cs typeface="Calibri" pitchFamily="34" charset="-120"/>
              </a:rPr>
              <a:t> classifies a kind of element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a:t>
            </a:r>
            <a:pPr indent="0" marL="0">
              <a:buNone/>
            </a:pPr>
            <a:r>
              <a:rPr lang="en-US" sz="2000" b="1" dirty="0">
                <a:solidFill>
                  <a:srgbClr val="18202D"/>
                </a:solidFill>
                <a:latin typeface="Calibri" pitchFamily="34" charset="0"/>
                <a:ea typeface="Calibri" pitchFamily="34" charset="-122"/>
                <a:cs typeface="Calibri" pitchFamily="34" charset="-120"/>
              </a:rPr>
              <a:t>usage</a:t>
            </a:r>
            <a:pPr indent="0" marL="0">
              <a:buNone/>
            </a:pPr>
            <a:r>
              <a:rPr lang="en-US" sz="2000" dirty="0">
                <a:solidFill>
                  <a:srgbClr val="18202D"/>
                </a:solidFill>
                <a:latin typeface="Calibri" pitchFamily="34" charset="0"/>
                <a:ea typeface="Calibri" pitchFamily="34" charset="-122"/>
                <a:cs typeface="Calibri" pitchFamily="34" charset="-120"/>
              </a:rPr>
              <a:t> is a usage of a definition in a context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usage is defined by at least one definition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Parts, attributes, ports, actions, requirements, concerns …</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usage is a role, not an instance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training deck’s Vehicle (slide 9) in the graphical notation: an attribute, a composite part and a ref part; VehicleStatus holds only data. Right: what composite and referential mean for instances.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sl.9; R80 p.64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Part and attribute definitions; composite and referential</a:t>
            </a:r>
            <a:endParaRPr lang="en-US" sz="3000" dirty="0"/>
          </a:p>
        </p:txBody>
      </p:sp>
      <p:pic>
        <p:nvPicPr>
          <p:cNvPr id="4" name="Image 0" descr="Left, a square-cornered box «part def» Vehicle with an attributes compartment, mass : ScalarValues::Real, and a parts compartment holding two rounded usages: «part» eng : Engine and «ref part» driver : Person. Below it, a square-cornered box «attribute def» VehicleStatus with the attributes gearSetting : Integer and acceleratorPosition : Real, and the note: VehicleStatus is data only: an attribute definition may not own a part, and attribute usages are always referential. Right, an illustration headed if a vehicle ends: a dashed vehicle outline containing an engine, crossed out, labeled the engine ends too: composite; and a person outside it with a check mark, labeled the driver goes on: referential. A footnote says the right-hand pictures show instances, an illustration, not SysML notation.">    </p:cNvPr>
          <p:cNvPicPr>
            <a:picLocks noChangeAspect="1"/>
          </p:cNvPicPr>
          <p:nvPr/>
        </p:nvPicPr>
        <p:blipFill>
          <a:blip r:embed="rId1"/>
          <a:stretch>
            <a:fillRect/>
          </a:stretch>
        </p:blipFill>
        <p:spPr>
          <a:xfrm>
            <a:off x="645012" y="1280160"/>
            <a:ext cx="6186546" cy="4248531"/>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Part definition:</a:t>
            </a:r>
            <a:pPr indent="0" marL="0">
              <a:buNone/>
            </a:pPr>
            <a:r>
              <a:rPr lang="en-US" sz="2000" dirty="0">
                <a:solidFill>
                  <a:srgbClr val="18202D"/>
                </a:solidFill>
                <a:latin typeface="Calibri" pitchFamily="34" charset="0"/>
                <a:ea typeface="Calibri" pitchFamily="34" charset="-122"/>
                <a:cs typeface="Calibri" pitchFamily="34" charset="-120"/>
              </a:rPr>
              <a:t> systems or parts of systems, existing in space and time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Attribute definition:</a:t>
            </a:r>
            <a:pPr indent="0" marL="0">
              <a:buNone/>
            </a:pPr>
            <a:r>
              <a:rPr lang="en-US" sz="2000" dirty="0">
                <a:solidFill>
                  <a:srgbClr val="18202D"/>
                </a:solidFill>
                <a:latin typeface="Calibri" pitchFamily="34" charset="0"/>
                <a:ea typeface="Calibri" pitchFamily="34" charset="-122"/>
                <a:cs typeface="Calibri" pitchFamily="34" charset="-120"/>
              </a:rPr>
              <a:t> data that describes them</a:t>
            </a:r>
            <a:endParaRPr lang="en-US" sz="2000" dirty="0"/>
          </a:p>
          <a:p>
            <a:pPr marL="228600" indent="-228600">
              <a:spcBef>
                <a:spcPts val="600"/>
              </a:spcBef>
              <a:buSzPct val="100000"/>
              <a:buChar char="■"/>
            </a:pPr>
            <a:r>
              <a:rPr lang="en-US" sz="2000" dirty="0">
                <a:solidFill>
                  <a:srgbClr val="18202D"/>
                </a:solidFill>
                <a:latin typeface="Consolas" pitchFamily="34" charset="0"/>
                <a:ea typeface="Consolas" pitchFamily="34" charset="-122"/>
                <a:cs typeface="Consolas" pitchFamily="34" charset="-120"/>
              </a:rPr>
              <a:t>part</a:t>
            </a:r>
            <a:pPr indent="0" marL="0">
              <a:buNone/>
            </a:pPr>
            <a:r>
              <a:rPr lang="en-US" sz="2000" dirty="0">
                <a:solidFill>
                  <a:srgbClr val="18202D"/>
                </a:solidFill>
                <a:latin typeface="Calibri" pitchFamily="34" charset="0"/>
                <a:ea typeface="Calibri" pitchFamily="34" charset="-122"/>
                <a:cs typeface="Calibri" pitchFamily="34" charset="-120"/>
              </a:rPr>
              <a:t>: composite, ends with its owner; </a:t>
            </a:r>
            <a:pPr indent="0" marL="0">
              <a:buNone/>
            </a:pPr>
            <a:r>
              <a:rPr lang="en-US" sz="2000" dirty="0">
                <a:solidFill>
                  <a:srgbClr val="18202D"/>
                </a:solidFill>
                <a:latin typeface="Consolas" pitchFamily="34" charset="0"/>
                <a:ea typeface="Consolas" pitchFamily="34" charset="-122"/>
                <a:cs typeface="Consolas" pitchFamily="34" charset="-120"/>
              </a:rPr>
              <a:t>ref part</a:t>
            </a:r>
            <a:pPr indent="0" marL="0">
              <a:buNone/>
            </a:pPr>
            <a:r>
              <a:rPr lang="en-US" sz="2000" dirty="0">
                <a:solidFill>
                  <a:srgbClr val="18202D"/>
                </a:solidFill>
                <a:latin typeface="Calibri" pitchFamily="34" charset="0"/>
                <a:ea typeface="Calibri" pitchFamily="34" charset="-122"/>
                <a:cs typeface="Calibri" pitchFamily="34" charset="-120"/>
              </a:rPr>
              <a:t>: referential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Attributes are always referential</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AeroLink configuration as usages: twelve aircraft, values bound with their units. Above: NASA concept art of an air taxi at a vertiport, the kind of system the model describes (public domain; credited in the references). (AeroLink, FICTIONAL; course SysML file)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p.63–64, 73; R70 sl.12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Features and multiplicity</a:t>
            </a:r>
            <a:endParaRPr lang="en-US" sz="3000" dirty="0"/>
          </a:p>
        </p:txBody>
      </p:sp>
      <p:pic>
        <p:nvPicPr>
          <p:cNvPr id="4" name="Image 0" descr="At the top, a photograph-style NASA concept image of an electric air taxi on a rooftop vertiport, captioned: what the model describes: air taxis and vertiports. Below, two rounded usage boxes in the SysML v2 graphical notation. Left: «part» aeroLink : Context::AeroLinkEnterprise, with an attributes compartment :&gt;&gt; operatingDay = 16 [h] and :&gt;&gt; vertiportCount = 6. A line with a filled diamond at aeroLink joins it to the right box: «part» &lt;'PHY-001'&gt; aircraft : EVTOLAircraft[12], with the attributes :&gt;&gt; seats = 4, :&gt;&gt; cruiseSpeed = 150 [km/h] and :&gt;&gt; padEdgeNoise = 63.5 [dB]. Two notes underneath: [12]: multiplicity, exactly twelve aircraft; :&gt;&gt; redefines an inherited attribute and binds a value with its unit.">    </p:cNvPr>
          <p:cNvPicPr>
            <a:picLocks noChangeAspect="1"/>
          </p:cNvPicPr>
          <p:nvPr/>
        </p:nvPicPr>
        <p:blipFill>
          <a:blip r:embed="rId1"/>
          <a:stretch>
            <a:fillRect/>
          </a:stretch>
        </p:blipFill>
        <p:spPr>
          <a:xfrm>
            <a:off x="838813" y="1280160"/>
            <a:ext cx="5798943" cy="4248531"/>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Usages nested in a definition are its </a:t>
            </a:r>
            <a:pPr indent="0" marL="0">
              <a:buNone/>
            </a:pPr>
            <a:r>
              <a:rPr lang="en-US" sz="2000" b="1" dirty="0">
                <a:solidFill>
                  <a:srgbClr val="18202D"/>
                </a:solidFill>
                <a:latin typeface="Calibri" pitchFamily="34" charset="0"/>
                <a:ea typeface="Calibri" pitchFamily="34" charset="-122"/>
                <a:cs typeface="Calibri" pitchFamily="34" charset="-120"/>
              </a:rPr>
              <a:t>features</a:t>
            </a:r>
            <a:endParaRPr lang="en-US" sz="2000" dirty="0"/>
          </a:p>
          <a:p>
            <a:pPr marL="228600" indent="-228600">
              <a:spcBef>
                <a:spcPts val="600"/>
              </a:spcBef>
              <a:buSzPct val="100000"/>
              <a:buChar char="■"/>
            </a:pPr>
            <a:r>
              <a:rPr lang="en-US" sz="2000" dirty="0">
                <a:solidFill>
                  <a:srgbClr val="18202D"/>
                </a:solidFill>
                <a:latin typeface="Consolas" pitchFamily="34" charset="0"/>
                <a:ea typeface="Consolas" pitchFamily="34" charset="-122"/>
                <a:cs typeface="Consolas" pitchFamily="34" charset="-120"/>
              </a:rPr>
              <a:t>[12]</a:t>
            </a:r>
            <a:pPr indent="0" marL="0">
              <a:buNone/>
            </a:pPr>
            <a:r>
              <a:rPr lang="en-US" sz="2000" dirty="0">
                <a:solidFill>
                  <a:srgbClr val="18202D"/>
                </a:solidFill>
                <a:latin typeface="Calibri" pitchFamily="34" charset="0"/>
                <a:ea typeface="Calibri" pitchFamily="34" charset="-122"/>
                <a:cs typeface="Calibri" pitchFamily="34" charset="-120"/>
              </a:rPr>
              <a:t>: exactly twelve; </a:t>
            </a:r>
            <a:pPr indent="0" marL="0">
              <a:buNone/>
            </a:pPr>
            <a:r>
              <a:rPr lang="en-US" sz="2000" dirty="0">
                <a:solidFill>
                  <a:srgbClr val="18202D"/>
                </a:solidFill>
                <a:latin typeface="Consolas" pitchFamily="34" charset="0"/>
                <a:ea typeface="Consolas" pitchFamily="34" charset="-122"/>
                <a:cs typeface="Consolas" pitchFamily="34" charset="-120"/>
              </a:rPr>
              <a:t>[4..8]</a:t>
            </a:r>
            <a:pPr indent="0" marL="0">
              <a:buNone/>
            </a:pPr>
            <a:r>
              <a:rPr lang="en-US" sz="2000" dirty="0">
                <a:solidFill>
                  <a:srgbClr val="18202D"/>
                </a:solidFill>
                <a:latin typeface="Calibri" pitchFamily="34" charset="0"/>
                <a:ea typeface="Calibri" pitchFamily="34" charset="-122"/>
                <a:cs typeface="Calibri" pitchFamily="34" charset="-120"/>
              </a:rPr>
              <a:t>: four to eight; </a:t>
            </a:r>
            <a:pPr indent="0" marL="0">
              <a:buNone/>
            </a:pPr>
            <a:r>
              <a:rPr lang="en-US" sz="2000" dirty="0">
                <a:solidFill>
                  <a:srgbClr val="18202D"/>
                </a:solidFill>
                <a:latin typeface="Consolas" pitchFamily="34" charset="0"/>
                <a:ea typeface="Consolas" pitchFamily="34" charset="-122"/>
                <a:cs typeface="Consolas" pitchFamily="34" charset="-120"/>
              </a:rPr>
              <a:t>[1..*]</a:t>
            </a:r>
            <a:pPr indent="0" marL="0">
              <a:buNone/>
            </a:pPr>
            <a:r>
              <a:rPr lang="en-US" sz="2000" dirty="0">
                <a:solidFill>
                  <a:srgbClr val="18202D"/>
                </a:solidFill>
                <a:latin typeface="Calibri" pitchFamily="34" charset="0"/>
                <a:ea typeface="Calibri" pitchFamily="34" charset="-122"/>
                <a:cs typeface="Calibri" pitchFamily="34" charset="-120"/>
              </a:rPr>
              <a:t>: one or more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Owned part usage without subsetting or redefinition: </a:t>
            </a:r>
            <a:pPr indent="0" marL="0">
              <a:buNone/>
            </a:pPr>
            <a:r>
              <a:rPr lang="en-US" sz="2000" dirty="0">
                <a:solidFill>
                  <a:srgbClr val="18202D"/>
                </a:solidFill>
                <a:latin typeface="Consolas" pitchFamily="34" charset="0"/>
                <a:ea typeface="Consolas" pitchFamily="34" charset="-122"/>
                <a:cs typeface="Consolas" pitchFamily="34" charset="-120"/>
              </a:rPr>
              <a:t>1..1</a:t>
            </a:r>
            <a:pPr indent="0" marL="0">
              <a:buNone/>
            </a:pPr>
            <a:r>
              <a:rPr lang="en-US" sz="2000" dirty="0">
                <a:solidFill>
                  <a:srgbClr val="18202D"/>
                </a:solidFill>
                <a:latin typeface="Calibri" pitchFamily="34" charset="0"/>
                <a:ea typeface="Calibri" pitchFamily="34" charset="-122"/>
                <a:cs typeface="Calibri" pitchFamily="34" charset="-120"/>
              </a:rPr>
              <a:t> by default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package-level usage can be specialized in context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An abstract charger and two specializations in the graphical notation: the hollow triangle points at the general definition. (AeroLink, FICTIONAL; ratings are instructor values)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sl.10; R80 p.64, 72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Specialization</a:t>
            </a:r>
            <a:endParaRPr lang="en-US" sz="3000" dirty="0"/>
          </a:p>
        </p:txBody>
      </p:sp>
      <p:pic>
        <p:nvPicPr>
          <p:cNvPr id="4" name="Image 0" descr="A taxonomy in the SysML v2 graphical notation. At the top, a square-cornered box «abstract part def» Charger with the attribute ratedPower : PowerValue. Below, two square-cornered boxes, «part def» HighPowerCharger with redefines ratedPower = 350 [kW], and «part def» StandardCharger with redefines ratedPower = 150 [kW]. Their lines join and end in one hollow triangle at Charger, labeled specializes (:&gt;). A note: abstract: every Charger is a HighPowerCharger or a StandardCharger; each inherits ratedPower and binds its own value.">    </p:cNvPr>
          <p:cNvPicPr>
            <a:picLocks noChangeAspect="1"/>
          </p:cNvPicPr>
          <p:nvPr/>
        </p:nvPicPr>
        <p:blipFill>
          <a:blip r:embed="rId1"/>
          <a:stretch>
            <a:fillRect/>
          </a:stretch>
        </p:blipFill>
        <p:spPr>
          <a:xfrm>
            <a:off x="548640" y="1371148"/>
            <a:ext cx="6379289" cy="4066556"/>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specialized definition classifies a subset of its general definition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It inherits the features and can add its own</a:t>
            </a:r>
            <a:endParaRPr lang="en-US" sz="2000" dirty="0"/>
          </a:p>
          <a:p>
            <a:pPr marL="228600" indent="-228600">
              <a:spcBef>
                <a:spcPts val="600"/>
              </a:spcBef>
              <a:buSzPct val="100000"/>
              <a:buChar char="■"/>
            </a:pPr>
            <a:r>
              <a:rPr lang="en-US" sz="2000" dirty="0">
                <a:solidFill>
                  <a:srgbClr val="18202D"/>
                </a:solidFill>
                <a:latin typeface="Consolas" pitchFamily="34" charset="0"/>
                <a:ea typeface="Consolas" pitchFamily="34" charset="-122"/>
                <a:cs typeface="Consolas" pitchFamily="34" charset="-120"/>
              </a:rPr>
              <a:t>:&gt;</a:t>
            </a:r>
            <a:pPr indent="0" marL="0">
              <a:buNone/>
            </a:pPr>
            <a:r>
              <a:rPr lang="en-US" sz="2000" dirty="0">
                <a:solidFill>
                  <a:srgbClr val="18202D"/>
                </a:solidFill>
                <a:latin typeface="Calibri" pitchFamily="34" charset="0"/>
                <a:ea typeface="Calibri" pitchFamily="34" charset="-122"/>
                <a:cs typeface="Calibri" pitchFamily="34" charset="-120"/>
              </a:rPr>
              <a:t> is the same as </a:t>
            </a:r>
            <a:pPr indent="0" marL="0">
              <a:buNone/>
            </a:pPr>
            <a:r>
              <a:rPr lang="en-US" sz="2000" dirty="0">
                <a:solidFill>
                  <a:srgbClr val="18202D"/>
                </a:solidFill>
                <a:latin typeface="Consolas" pitchFamily="34" charset="0"/>
                <a:ea typeface="Consolas" pitchFamily="34" charset="-122"/>
                <a:cs typeface="Consolas" pitchFamily="34" charset="-120"/>
              </a:rPr>
              <a:t>specializes</a:t>
            </a:r>
            <a:endParaRPr lang="en-US" sz="2000" dirty="0"/>
          </a:p>
          <a:p>
            <a:pPr marL="228600" indent="-228600">
              <a:spcBef>
                <a:spcPts val="600"/>
              </a:spcBef>
              <a:buSzPct val="100000"/>
              <a:buChar char="■"/>
            </a:pPr>
            <a:r>
              <a:rPr lang="en-US" sz="2000" dirty="0">
                <a:solidFill>
                  <a:srgbClr val="18202D"/>
                </a:solidFill>
                <a:latin typeface="Consolas" pitchFamily="34" charset="0"/>
                <a:ea typeface="Consolas" pitchFamily="34" charset="-122"/>
                <a:cs typeface="Consolas" pitchFamily="34" charset="-120"/>
              </a:rPr>
              <a:t>abstract</a:t>
            </a:r>
            <a:pPr indent="0" marL="0">
              <a:buNone/>
            </a:pPr>
            <a:r>
              <a:rPr lang="en-US" sz="2000" dirty="0">
                <a:solidFill>
                  <a:srgbClr val="18202D"/>
                </a:solidFill>
                <a:latin typeface="Calibri" pitchFamily="34" charset="0"/>
                <a:ea typeface="Calibri" pitchFamily="34" charset="-122"/>
                <a:cs typeface="Calibri" pitchFamily="34" charset="-120"/>
              </a:rPr>
              <a:t>: every instance belongs to some specialization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Subsetting and redefinition as sets of values: at a hub, the turnaround chargers are among the chargers; at a spoke, the chargers are replaced by standard ones. (AeroLink,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sl.11; R80 p.64–65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Subsetting</a:t>
            </a:r>
            <a:endParaRPr lang="en-US" sz="3000" dirty="0"/>
          </a:p>
        </p:txBody>
      </p:sp>
      <p:pic>
        <p:nvPicPr>
          <p:cNvPr id="4" name="Image 0" descr="An illustration with two sets side by side. Left, a HubVertiport: a large oval labeled chargers [1..*] holding a smaller dashed oval labeled turnaroundChargers [2] with two HP chargers inside it, and an ellipsis for further chargers outside the smaller oval. Caption: subsets: the turnaround chargers are among the chargers; subsetting adds no chargers. Right, a SpokeVertiport: an oval labeled chargers, redefined: StandardCharger[1..*], with three S chargers and an ellipsis. Caption: redefines: replaces the inherited chargers; every charger at a spoke is standard. A key: HP a HighPowerCharger, S a StandardCharger. A footnote: sets of values, an illustration, not SysML notation.">    </p:cNvPr>
          <p:cNvPicPr>
            <a:picLocks noChangeAspect="1"/>
          </p:cNvPicPr>
          <p:nvPr/>
        </p:nvPicPr>
        <p:blipFill>
          <a:blip r:embed="rId1"/>
          <a:stretch>
            <a:fillRect/>
          </a:stretch>
        </p:blipFill>
        <p:spPr>
          <a:xfrm>
            <a:off x="770857" y="1280160"/>
            <a:ext cx="5934856" cy="4248531"/>
          </a:xfrm>
          <a:prstGeom prst="rect">
            <a:avLst/>
          </a:prstGeom>
        </p:spPr>
      </p:pic>
      <p:sp>
        <p:nvSpPr>
          <p:cNvPr id="5" name="Text 2"/>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Subsetting: the values of one feature are a subset of another’s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subsetting feature may narrow type and multiplicity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It is an additional feature; the subsetted one remains</a:t>
            </a:r>
            <a:endParaRPr lang="en-US" sz="2000" dirty="0"/>
          </a:p>
        </p:txBody>
      </p:sp>
      <p:sp>
        <p:nvSpPr>
          <p:cNvPr id="6" name="Shape 3"/>
          <p:cNvSpPr/>
          <p:nvPr/>
        </p:nvSpPr>
        <p:spPr>
          <a:xfrm>
            <a:off x="7293689" y="3970528"/>
            <a:ext cx="4349366" cy="1320546"/>
          </a:xfrm>
          <a:prstGeom prst="roundRect">
            <a:avLst>
              <a:gd name="adj" fmla="val 4155"/>
            </a:avLst>
          </a:prstGeom>
          <a:solidFill>
            <a:srgbClr val="ECEFF3"/>
          </a:solidFill>
          <a:ln w="12700">
            <a:solidFill>
              <a:srgbClr val="D3D9E1"/>
            </a:solidFill>
            <a:prstDash val="solid"/>
          </a:ln>
        </p:spPr>
      </p:sp>
      <p:sp>
        <p:nvSpPr>
          <p:cNvPr id="7" name="Text 4"/>
          <p:cNvSpPr/>
          <p:nvPr/>
        </p:nvSpPr>
        <p:spPr>
          <a:xfrm>
            <a:off x="7430849" y="3970528"/>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THINK–PAIR (30 S)</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 hub has </a:t>
            </a:r>
            <a:pPr indent="0" marL="0">
              <a:buNone/>
            </a:pPr>
            <a:r>
              <a:rPr lang="en-US" sz="1700" dirty="0">
                <a:solidFill>
                  <a:srgbClr val="18202D"/>
                </a:solidFill>
                <a:latin typeface="Consolas" pitchFamily="34" charset="0"/>
                <a:ea typeface="Consolas" pitchFamily="34" charset="-122"/>
                <a:cs typeface="Consolas" pitchFamily="34" charset="-120"/>
              </a:rPr>
              <a:t>chargers[4]</a:t>
            </a:r>
            <a:pPr indent="0" marL="0">
              <a:buNone/>
            </a:pPr>
            <a:r>
              <a:rPr lang="en-US" sz="1700" dirty="0">
                <a:solidFill>
                  <a:srgbClr val="18202D"/>
                </a:solidFill>
                <a:latin typeface="Calibri" pitchFamily="34" charset="0"/>
                <a:ea typeface="Calibri" pitchFamily="34" charset="-122"/>
                <a:cs typeface="Calibri" pitchFamily="34" charset="-120"/>
              </a:rPr>
              <a:t>; two of them are its </a:t>
            </a:r>
            <a:pPr indent="0" marL="0">
              <a:buNone/>
            </a:pPr>
            <a:r>
              <a:rPr lang="en-US" sz="1700" dirty="0">
                <a:solidFill>
                  <a:srgbClr val="18202D"/>
                </a:solidFill>
                <a:latin typeface="Consolas" pitchFamily="34" charset="0"/>
                <a:ea typeface="Consolas" pitchFamily="34" charset="-122"/>
                <a:cs typeface="Consolas" pitchFamily="34" charset="-120"/>
              </a:rPr>
              <a:t>turnaroundChargers</a:t>
            </a:r>
            <a:pPr indent="0" marL="0">
              <a:buNone/>
            </a:pPr>
            <a:r>
              <a:rPr lang="en-US" sz="1700" dirty="0">
                <a:solidFill>
                  <a:srgbClr val="18202D"/>
                </a:solidFill>
                <a:latin typeface="Calibri" pitchFamily="34" charset="0"/>
                <a:ea typeface="Calibri" pitchFamily="34" charset="-122"/>
                <a:cs typeface="Calibri" pitchFamily="34" charset="-120"/>
              </a:rPr>
              <a:t>. Four chargers in all, or six?</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training deck’s redefinition example (slide 12) in the graphical notation: a new name and type, and a narrower multiplicity under the same name.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p.65; R70 sl.12, 15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Redefinition</a:t>
            </a:r>
            <a:endParaRPr lang="en-US" sz="3000" dirty="0"/>
          </a:p>
        </p:txBody>
      </p:sp>
      <p:pic>
        <p:nvPicPr>
          <p:cNvPr id="4" name="Image 0" descr="Two taxonomies in the SysML v2 graphical notation. Left: «part def» Vehicle with the part eng : Engine; below it «part def» SmallVehicle, joined to Vehicle by a hollow-triangle line, with the part smallEng : SmallEngine redefines eng. Right: «part def» Engine with the part cyl : Cylinder[4..6]; below it «part def» SmallEngine with redefines cyl[4] and «part def» BigEngine with redefines cyl[6], both joined to Engine by one hollow-triangle line. Notes: SmallVehicle: a new name and a more specific type; SmallEngine and BigEngine: same name, 4..6 narrowed to 4 or 6; :&gt;&gt; is the same as redefines: BigVehicle has bigEng : BigEngine :&gt;&gt; eng.">    </p:cNvPr>
          <p:cNvPicPr>
            <a:picLocks noChangeAspect="1"/>
          </p:cNvPicPr>
          <p:nvPr/>
        </p:nvPicPr>
        <p:blipFill>
          <a:blip r:embed="rId1"/>
          <a:stretch>
            <a:fillRect/>
          </a:stretch>
        </p:blipFill>
        <p:spPr>
          <a:xfrm>
            <a:off x="548640" y="1328670"/>
            <a:ext cx="6379289" cy="4314198"/>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Redefinition is a kind of subsetting that </a:t>
            </a:r>
            <a:pPr indent="0" marL="0">
              <a:buNone/>
            </a:pPr>
            <a:r>
              <a:rPr lang="en-US" sz="2000" b="1" dirty="0">
                <a:solidFill>
                  <a:srgbClr val="18202D"/>
                </a:solidFill>
                <a:latin typeface="Calibri" pitchFamily="34" charset="0"/>
                <a:ea typeface="Calibri" pitchFamily="34" charset="-122"/>
                <a:cs typeface="Calibri" pitchFamily="34" charset="-120"/>
              </a:rPr>
              <a:t>replaces</a:t>
            </a:r>
            <a:pPr indent="0" marL="0">
              <a:buNone/>
            </a:pPr>
            <a:r>
              <a:rPr lang="en-US" sz="2000" dirty="0">
                <a:solidFill>
                  <a:srgbClr val="18202D"/>
                </a:solidFill>
                <a:latin typeface="Calibri" pitchFamily="34" charset="0"/>
                <a:ea typeface="Calibri" pitchFamily="34" charset="-122"/>
                <a:cs typeface="Calibri" pitchFamily="34" charset="-120"/>
              </a:rPr>
              <a:t> the redefined feature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Can change the name, specialize the type, constrain the multiplicity</a:t>
            </a:r>
            <a:endParaRPr lang="en-US" sz="2000" dirty="0"/>
          </a:p>
          <a:p>
            <a:pPr marL="228600" indent="-228600">
              <a:spcBef>
                <a:spcPts val="600"/>
              </a:spcBef>
              <a:buSzPct val="100000"/>
              <a:buChar char="■"/>
            </a:pPr>
            <a:r>
              <a:rPr lang="en-US" sz="2000" dirty="0">
                <a:solidFill>
                  <a:srgbClr val="18202D"/>
                </a:solidFill>
                <a:latin typeface="Consolas" pitchFamily="34" charset="0"/>
                <a:ea typeface="Consolas" pitchFamily="34" charset="-122"/>
                <a:cs typeface="Consolas" pitchFamily="34" charset="-120"/>
              </a:rPr>
              <a:t>:&gt;&gt;</a:t>
            </a:r>
            <a:pPr indent="0" marL="0">
              <a:buNone/>
            </a:pPr>
            <a:r>
              <a:rPr lang="en-US" sz="2000" dirty="0">
                <a:solidFill>
                  <a:srgbClr val="18202D"/>
                </a:solidFill>
                <a:latin typeface="Calibri" pitchFamily="34" charset="0"/>
                <a:ea typeface="Calibri" pitchFamily="34" charset="-122"/>
                <a:cs typeface="Calibri" pitchFamily="34" charset="-120"/>
              </a:rPr>
              <a:t> is the same as </a:t>
            </a:r>
            <a:pPr indent="0" marL="0">
              <a:buNone/>
            </a:pPr>
            <a:r>
              <a:rPr lang="en-US" sz="2000" dirty="0">
                <a:solidFill>
                  <a:srgbClr val="18202D"/>
                </a:solidFill>
                <a:latin typeface="Consolas" pitchFamily="34" charset="0"/>
                <a:ea typeface="Consolas" pitchFamily="34" charset="-122"/>
                <a:cs typeface="Consolas" pitchFamily="34" charset="-120"/>
              </a:rPr>
              <a:t>redefines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 use it this week: </a:t>
            </a:r>
            <a:pPr indent="0" marL="0">
              <a:buNone/>
            </a:pPr>
            <a:r>
              <a:rPr lang="en-US" sz="2000" dirty="0">
                <a:solidFill>
                  <a:srgbClr val="18202D"/>
                </a:solidFill>
                <a:latin typeface="Consolas" pitchFamily="34" charset="0"/>
                <a:ea typeface="Consolas" pitchFamily="34" charset="-122"/>
                <a:cs typeface="Consolas" pitchFamily="34" charset="-120"/>
              </a:rPr>
              <a:t>:&gt;&gt; padCount = 4</a:t>
            </a:r>
            <a:pPr indent="0" marL="0">
              <a:buNone/>
            </a:pPr>
            <a:r>
              <a:rPr lang="en-US" sz="2000" dirty="0">
                <a:solidFill>
                  <a:srgbClr val="18202D"/>
                </a:solidFill>
                <a:latin typeface="Calibri" pitchFamily="34" charset="0"/>
                <a:ea typeface="Calibri" pitchFamily="34" charset="-122"/>
                <a:cs typeface="Calibri" pitchFamily="34" charset="-120"/>
              </a:rPr>
              <a:t> in Guided Practice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Read :&gt; by asking what stands on its left: a definition or a usage.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p.72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One symbol, two meanings</a:t>
            </a:r>
            <a:endParaRPr lang="en-US" sz="3000" dirty="0"/>
          </a:p>
        </p:txBody>
      </p:sp>
      <p:pic>
        <p:nvPicPr>
          <p:cNvPr id="4" name="Image 0" descr="A decision tree. The root box asks: is the element on the left of :&gt; a definition or a usage? Left branch, labeled definition (part def, attribute def …): a box reading specialization (specializes), with a second box below: on the right must stand a definition. Right branch, labeled usage (part, attribute …): a box reading subsetting (subsets), with a second box below: on the right must stand a usage (a feature). Under the right branch, a small card shows part hubs : HubVertiport[3] :&gt; Vertiport; with a cross mark and the recorded checker message: Couldn’t resolve reference to Feature Vertiport. At the bottom, a strip shows the three usage forms side by side: : defined by, :&gt; subsets, :&gt;&gt; redefines.">    </p:cNvPr>
          <p:cNvPicPr>
            <a:picLocks noChangeAspect="1"/>
          </p:cNvPicPr>
          <p:nvPr/>
        </p:nvPicPr>
        <p:blipFill>
          <a:blip r:embed="rId1"/>
          <a:stretch>
            <a:fillRect/>
          </a:stretch>
        </p:blipFill>
        <p:spPr>
          <a:xfrm>
            <a:off x="548640" y="1367705"/>
            <a:ext cx="6379289" cy="4236129"/>
          </a:xfrm>
          <a:prstGeom prst="rect">
            <a:avLst/>
          </a:prstGeom>
        </p:spPr>
      </p:pic>
      <p:sp>
        <p:nvSpPr>
          <p:cNvPr id="5" name="Text 2"/>
          <p:cNvSpPr/>
          <p:nvPr/>
        </p:nvSpPr>
        <p:spPr>
          <a:xfrm>
            <a:off x="7293689" y="1280160"/>
            <a:ext cx="4349366" cy="28356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After a </a:t>
            </a:r>
            <a:pPr indent="0" marL="0">
              <a:buNone/>
            </a:pPr>
            <a:r>
              <a:rPr lang="en-US" sz="2000" b="1" dirty="0">
                <a:solidFill>
                  <a:srgbClr val="18202D"/>
                </a:solidFill>
                <a:latin typeface="Calibri" pitchFamily="34" charset="0"/>
                <a:ea typeface="Calibri" pitchFamily="34" charset="-122"/>
                <a:cs typeface="Calibri" pitchFamily="34" charset="-120"/>
              </a:rPr>
              <a:t>definition</a:t>
            </a:r>
            <a:pPr indent="0" marL="0">
              <a:buNone/>
            </a:pPr>
            <a:r>
              <a:rPr lang="en-US" sz="2000" dirty="0">
                <a:solidFill>
                  <a:srgbClr val="18202D"/>
                </a:solidFill>
                <a:latin typeface="Calibri" pitchFamily="34" charset="0"/>
                <a:ea typeface="Calibri" pitchFamily="34" charset="-122"/>
                <a:cs typeface="Calibri" pitchFamily="34" charset="-120"/>
              </a:rPr>
              <a:t>: :&gt; means specializes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After a </a:t>
            </a:r>
            <a:pPr indent="0" marL="0">
              <a:buNone/>
            </a:pPr>
            <a:r>
              <a:rPr lang="en-US" sz="2000" b="1" dirty="0">
                <a:solidFill>
                  <a:srgbClr val="18202D"/>
                </a:solidFill>
                <a:latin typeface="Calibri" pitchFamily="34" charset="0"/>
                <a:ea typeface="Calibri" pitchFamily="34" charset="-122"/>
                <a:cs typeface="Calibri" pitchFamily="34" charset="-120"/>
              </a:rPr>
              <a:t>usage</a:t>
            </a:r>
            <a:pPr indent="0" marL="0">
              <a:buNone/>
            </a:pPr>
            <a:r>
              <a:rPr lang="en-US" sz="2000" dirty="0">
                <a:solidFill>
                  <a:srgbClr val="18202D"/>
                </a:solidFill>
                <a:latin typeface="Calibri" pitchFamily="34" charset="0"/>
                <a:ea typeface="Calibri" pitchFamily="34" charset="-122"/>
                <a:cs typeface="Calibri" pitchFamily="34" charset="-120"/>
              </a:rPr>
              <a:t>: :&gt; means subsets: the right side must be a feature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usage has three forms: : typing, :&gt; subsetting, :&gt;&gt; redefinition</a:t>
            </a:r>
            <a:endParaRPr lang="en-US" sz="2000" dirty="0"/>
          </a:p>
        </p:txBody>
      </p:sp>
      <p:sp>
        <p:nvSpPr>
          <p:cNvPr id="6" name="Shape 3"/>
          <p:cNvSpPr/>
          <p:nvPr/>
        </p:nvSpPr>
        <p:spPr>
          <a:xfrm>
            <a:off x="7293689" y="4280408"/>
            <a:ext cx="4349366" cy="1320546"/>
          </a:xfrm>
          <a:prstGeom prst="roundRect">
            <a:avLst>
              <a:gd name="adj" fmla="val 4155"/>
            </a:avLst>
          </a:prstGeom>
          <a:solidFill>
            <a:srgbClr val="ECEFF3"/>
          </a:solidFill>
          <a:ln w="12700">
            <a:solidFill>
              <a:srgbClr val="D3D9E1"/>
            </a:solidFill>
            <a:prstDash val="solid"/>
          </a:ln>
        </p:spPr>
      </p:sp>
      <p:sp>
        <p:nvSpPr>
          <p:cNvPr id="7" name="Text 4"/>
          <p:cNvSpPr/>
          <p:nvPr/>
        </p:nvSpPr>
        <p:spPr>
          <a:xfrm>
            <a:off x="7430849" y="4280408"/>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PREDICT (1 MIN)</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part hubs : HubVertiport[3] :&gt; Vertiport; — Vertiport is a part definition. Does the checker accept it?</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sl.9; R80 p.64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Writing check: your first part definition</a:t>
            </a:r>
            <a:endParaRPr lang="en-US" sz="3000" dirty="0"/>
          </a:p>
        </p:txBody>
      </p:sp>
      <p:sp>
        <p:nvSpPr>
          <p:cNvPr id="4" name="Shape 2"/>
          <p:cNvSpPr/>
          <p:nvPr/>
        </p:nvSpPr>
        <p:spPr>
          <a:xfrm>
            <a:off x="548640" y="1280160"/>
            <a:ext cx="11094415" cy="1057148"/>
          </a:xfrm>
          <a:prstGeom prst="roundRect">
            <a:avLst>
              <a:gd name="adj" fmla="val 5190"/>
            </a:avLst>
          </a:prstGeom>
          <a:solidFill>
            <a:srgbClr val="ECEFF3"/>
          </a:solidFill>
          <a:ln w="12700">
            <a:solidFill>
              <a:srgbClr val="D3D9E1"/>
            </a:solidFill>
            <a:prstDash val="solid"/>
          </a:ln>
        </p:spPr>
      </p:sp>
      <p:sp>
        <p:nvSpPr>
          <p:cNvPr id="5" name="Text 3"/>
          <p:cNvSpPr/>
          <p:nvPr/>
        </p:nvSpPr>
        <p:spPr>
          <a:xfrm>
            <a:off x="685800" y="1280160"/>
            <a:ext cx="10820095"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PAIRS, 2 MINUTES, ON PAPER</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 bakery owns two to four ovens and works with one flour supplier that it does not own. Each oven has a capacity, a whole number. Write the part definitions.</a:t>
            </a:r>
            <a:endParaRPr lang="en-US" sz="1200" dirty="0"/>
          </a:p>
        </p:txBody>
      </p:sp>
      <p:sp>
        <p:nvSpPr>
          <p:cNvPr id="6" name="Text 4"/>
          <p:cNvSpPr/>
          <p:nvPr/>
        </p:nvSpPr>
        <p:spPr>
          <a:xfrm>
            <a:off x="548640" y="2501900"/>
            <a:ext cx="11094415" cy="12862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Which keyword for the ovens, which for the supplier?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Where does the multiplicity go?</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What type does the capacity have?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aircraft definition declares quantity kinds; the AeroLink usage binds each value with its unit. (AeroLink, FICTIONAL; course SysML files)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p.77; R79 sl.164, 167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Attributes and quantities with units</a:t>
            </a:r>
            <a:endParaRPr lang="en-US" sz="3000" dirty="0"/>
          </a:p>
        </p:txBody>
      </p:sp>
      <p:pic>
        <p:nvPicPr>
          <p:cNvPr id="4" name="Image 0" descr="Left, headed definition: the kind, a square-cornered box «part def» EVTOLAircraft with the attributes seats : Natural, cruiseSpeed : SpeedValue and padEdgeNoise : SoundPressureLevelValue. Right, headed usage: the value, a rounded box «part» &lt;'PHY-001'&gt; aircraft : EVTOLAircraft[12] with :&gt;&gt; seats = 4, :&gt;&gt; cruiseSpeed = 150 [km/h] and :&gt;&gt; padEdgeNoise = 63.5 [dB]. A defined-by line, ending in two dots and a hollow triangle, runs from the usage to the definition, and a dashed accent arrow joins each attribute to its value. Notes underneath: SpeedValue fixes the kind, a speed, and no unit; 150 [km/h] brings its unit with the value, so a tool can convert it. seats is a Natural: a count, not a quantity with a unit.">    </p:cNvPr>
          <p:cNvPicPr>
            <a:picLocks noChangeAspect="1"/>
          </p:cNvPicPr>
          <p:nvPr/>
        </p:nvPicPr>
        <p:blipFill>
          <a:blip r:embed="rId1"/>
          <a:stretch>
            <a:fillRect/>
          </a:stretch>
        </p:blipFill>
        <p:spPr>
          <a:xfrm>
            <a:off x="548640" y="1605839"/>
            <a:ext cx="6379289" cy="3759860"/>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An attribute definition defines a set of data values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Quantities use the Quantities and Units library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definition fixes the </a:t>
            </a:r>
            <a:pPr indent="0" marL="0">
              <a:buNone/>
            </a:pPr>
            <a:r>
              <a:rPr lang="en-US" sz="2000" b="1" dirty="0">
                <a:solidFill>
                  <a:srgbClr val="18202D"/>
                </a:solidFill>
                <a:latin typeface="Calibri" pitchFamily="34" charset="0"/>
                <a:ea typeface="Calibri" pitchFamily="34" charset="-122"/>
                <a:cs typeface="Calibri" pitchFamily="34" charset="-120"/>
              </a:rPr>
              <a:t>kind</a:t>
            </a:r>
            <a:pPr indent="0" marL="0">
              <a:buNone/>
            </a:pPr>
            <a:r>
              <a:rPr lang="en-US" sz="2000" dirty="0">
                <a:solidFill>
                  <a:srgbClr val="18202D"/>
                </a:solidFill>
                <a:latin typeface="Calibri" pitchFamily="34" charset="0"/>
                <a:ea typeface="Calibri" pitchFamily="34" charset="-122"/>
                <a:cs typeface="Calibri" pitchFamily="34" charset="-120"/>
              </a:rPr>
              <a:t>: </a:t>
            </a:r>
            <a:pPr indent="0" marL="0">
              <a:buNone/>
            </a:pPr>
            <a:r>
              <a:rPr lang="en-US" sz="2000" dirty="0">
                <a:solidFill>
                  <a:srgbClr val="18202D"/>
                </a:solidFill>
                <a:latin typeface="Consolas" pitchFamily="34" charset="0"/>
                <a:ea typeface="Consolas" pitchFamily="34" charset="-122"/>
                <a:cs typeface="Consolas" pitchFamily="34" charset="-120"/>
              </a:rPr>
              <a:t>SpeedValue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specific unit comes with the value: </a:t>
            </a:r>
            <a:pPr indent="0" marL="0">
              <a:buNone/>
            </a:pPr>
            <a:r>
              <a:rPr lang="en-US" sz="2000" dirty="0">
                <a:solidFill>
                  <a:srgbClr val="18202D"/>
                </a:solidFill>
                <a:latin typeface="Consolas" pitchFamily="34" charset="0"/>
                <a:ea typeface="Consolas" pitchFamily="34" charset="-122"/>
                <a:cs typeface="Consolas" pitchFamily="34" charset="-120"/>
              </a:rPr>
              <a:t>150 [km/h]</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vertiport network as a definition, a package-level usage and two sibling configurations: the baseline and the recommended alternative. (AeroLink, FICTIONAL; course SysML file)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p.65; R70 sl.15–16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kinds and configurations</a:t>
            </a:r>
            <a:endParaRPr lang="en-US" sz="3000" dirty="0"/>
          </a:p>
        </p:txBody>
      </p:sp>
      <p:pic>
        <p:nvPicPr>
          <p:cNvPr id="4" name="Image 0" descr="Left, a square-cornered box «part def» VertiportNetwork with a parts compartment: sites : Vertiport[1..*], hubs : HubVertiport[1..*] subsets sites, spokes : SpokeVertiport[0..*] subsets sites. To its right, a rounded box «part» vertiportNetwork : VertiportNetwork, joined to the definition by a defined-by line. Below it, two rounded boxes, «part» baselineNetwork with redefines sites[6], redefines hubs[3], redefines spokes[3], and «part» alt004Network with redefines sites[6], redefines hubs[4], redefines spokes[2]; their lines join and end in one hollow triangle at vertiportNetwork, labeled subsets (:&gt;), each a sibling. Under the definition, one ring of six sites per configuration, each labeled: baseline: 3 hubs, 3 spokes, drawn as three filled circles (hubs, HubVertiport) and three hollow circles (spokes, SpokeVertiport); ALT-004: 4 hubs, 2 spokes, with the converted spoke, now the fourth hub, circled by a dashed ring. A line above the rings reads: rings of six sites: a schematic, not SysML (not a map either).">    </p:cNvPr>
          <p:cNvPicPr>
            <a:picLocks noChangeAspect="1"/>
          </p:cNvPicPr>
          <p:nvPr/>
        </p:nvPicPr>
        <p:blipFill>
          <a:blip r:embed="rId1"/>
          <a:stretch>
            <a:fillRect/>
          </a:stretch>
        </p:blipFill>
        <p:spPr>
          <a:xfrm>
            <a:off x="1744893" y="1280160"/>
            <a:ext cx="8701909" cy="2624385"/>
          </a:xfrm>
          <a:prstGeom prst="rect">
            <a:avLst/>
          </a:prstGeom>
        </p:spPr>
      </p:pic>
      <p:sp>
        <p:nvSpPr>
          <p:cNvPr id="5" name="Text 2"/>
          <p:cNvSpPr/>
          <p:nvPr/>
        </p:nvSpPr>
        <p:spPr>
          <a:xfrm>
            <a:off x="548640" y="4041705"/>
            <a:ext cx="11094415" cy="1306576"/>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Kinds: </a:t>
            </a:r>
            <a:pPr indent="0" marL="0">
              <a:buNone/>
            </a:pPr>
            <a:r>
              <a:rPr lang="en-US" sz="1400" dirty="0">
                <a:solidFill>
                  <a:srgbClr val="18202D"/>
                </a:solidFill>
                <a:latin typeface="Calibri" pitchFamily="34" charset="0"/>
                <a:ea typeface="Calibri" pitchFamily="34" charset="-122"/>
                <a:cs typeface="Calibri" pitchFamily="34" charset="-120"/>
              </a:rPr>
              <a:t>Which box defines a kind of thing?</a:t>
            </a:r>
            <a:endParaRPr lang="en-US" sz="1400" dirty="0"/>
          </a:p>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Among: </a:t>
            </a:r>
            <a:pPr indent="0" marL="0">
              <a:buNone/>
            </a:pPr>
            <a:r>
              <a:rPr lang="en-US" sz="1400" dirty="0">
                <a:solidFill>
                  <a:srgbClr val="18202D"/>
                </a:solidFill>
                <a:latin typeface="Calibri" pitchFamily="34" charset="0"/>
                <a:ea typeface="Calibri" pitchFamily="34" charset="-122"/>
                <a:cs typeface="Calibri" pitchFamily="34" charset="-120"/>
              </a:rPr>
              <a:t>Which features are among other features?</a:t>
            </a:r>
            <a:endParaRPr lang="en-US" sz="1400" dirty="0"/>
          </a:p>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Configurations: </a:t>
            </a:r>
            <a:pPr indent="0" marL="0">
              <a:buNone/>
            </a:pPr>
            <a:r>
              <a:rPr lang="en-US" sz="1400" dirty="0">
                <a:solidFill>
                  <a:srgbClr val="18202D"/>
                </a:solidFill>
                <a:latin typeface="Calibri" pitchFamily="34" charset="0"/>
                <a:ea typeface="Calibri" pitchFamily="34" charset="-122"/>
                <a:cs typeface="Calibri" pitchFamily="34" charset="-120"/>
              </a:rPr>
              <a:t>How do the baseline and the alternative differ, and what do they share?</a:t>
            </a:r>
            <a:endParaRPr lang="en-US" sz="1400" dirty="0"/>
          </a:p>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Classify: </a:t>
            </a:r>
            <a:pPr indent="0" marL="0">
              <a:buNone/>
            </a:pPr>
            <a:r>
              <a:rPr lang="en-US" sz="1400" dirty="0">
                <a:solidFill>
                  <a:srgbClr val="18202D"/>
                </a:solidFill>
                <a:latin typeface="Calibri" pitchFamily="34" charset="0"/>
                <a:ea typeface="Calibri" pitchFamily="34" charset="-122"/>
                <a:cs typeface="Calibri" pitchFamily="34" charset="-120"/>
              </a:rPr>
              <a:t>Two tokens: is </a:t>
            </a:r>
            <a:pPr indent="0" marL="0">
              <a:buNone/>
            </a:pPr>
            <a:r>
              <a:rPr lang="en-US" sz="1400" dirty="0">
                <a:solidFill>
                  <a:srgbClr val="18202D"/>
                </a:solidFill>
                <a:latin typeface="Consolas" pitchFamily="34" charset="0"/>
                <a:ea typeface="Consolas" pitchFamily="34" charset="-122"/>
                <a:cs typeface="Consolas" pitchFamily="34" charset="-120"/>
              </a:rPr>
              <a:t>:&gt;</a:t>
            </a:r>
            <a:pPr indent="0" marL="0">
              <a:buNone/>
            </a:pPr>
            <a:r>
              <a:rPr lang="en-US" sz="1400" dirty="0">
                <a:solidFill>
                  <a:srgbClr val="18202D"/>
                </a:solidFill>
                <a:latin typeface="Calibri" pitchFamily="34" charset="0"/>
                <a:ea typeface="Calibri" pitchFamily="34" charset="-122"/>
                <a:cs typeface="Calibri" pitchFamily="34" charset="-120"/>
              </a:rPr>
              <a:t> after </a:t>
            </a:r>
            <a:pPr indent="0" marL="0">
              <a:buNone/>
            </a:pPr>
            <a:r>
              <a:rPr lang="en-US" sz="1400" dirty="0">
                <a:solidFill>
                  <a:srgbClr val="18202D"/>
                </a:solidFill>
                <a:latin typeface="Consolas" pitchFamily="34" charset="0"/>
                <a:ea typeface="Consolas" pitchFamily="34" charset="-122"/>
                <a:cs typeface="Consolas" pitchFamily="34" charset="-120"/>
              </a:rPr>
              <a:t>baselineNetwork</a:t>
            </a:r>
            <a:pPr indent="0" marL="0">
              <a:buNone/>
            </a:pPr>
            <a:r>
              <a:rPr lang="en-US" sz="1400" dirty="0">
                <a:solidFill>
                  <a:srgbClr val="18202D"/>
                </a:solidFill>
                <a:latin typeface="Calibri" pitchFamily="34" charset="0"/>
                <a:ea typeface="Calibri" pitchFamily="34" charset="-122"/>
                <a:cs typeface="Calibri" pitchFamily="34" charset="-120"/>
              </a:rPr>
              <a:t> subsetting or specialization? What does </a:t>
            </a:r>
            <a:pPr indent="0" marL="0">
              <a:buNone/>
            </a:pPr>
            <a:r>
              <a:rPr lang="en-US" sz="1400" dirty="0">
                <a:solidFill>
                  <a:srgbClr val="18202D"/>
                </a:solidFill>
                <a:latin typeface="Consolas" pitchFamily="34" charset="0"/>
                <a:ea typeface="Consolas" pitchFamily="34" charset="-122"/>
                <a:cs typeface="Consolas" pitchFamily="34" charset="-120"/>
              </a:rPr>
              <a:t>part redefines sites[6]</a:t>
            </a:r>
            <a:pPr indent="0" marL="0">
              <a:buNone/>
            </a:pPr>
            <a:r>
              <a:rPr lang="en-US" sz="1400" dirty="0">
                <a:solidFill>
                  <a:srgbClr val="18202D"/>
                </a:solidFill>
                <a:latin typeface="Calibri" pitchFamily="34" charset="0"/>
                <a:ea typeface="Calibri" pitchFamily="34" charset="-122"/>
                <a:cs typeface="Calibri" pitchFamily="34" charset="-120"/>
              </a:rPr>
              <a:t> do?</a:t>
            </a:r>
            <a:endParaRPr lang="en-US" sz="14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listings and the results the course checker recorded for them. The third passed with a real modeling error.</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R70 sl.9; R80 p.77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Predict the checker</a:t>
            </a:r>
            <a:endParaRPr lang="en-US" sz="3000" dirty="0"/>
          </a:p>
        </p:txBody>
      </p:sp>
      <p:pic>
        <p:nvPicPr>
          <p:cNvPr id="4" name="Image 0" descr="Three cards stacked, each with the lines of its listing that decide the result, a stamp revealed in sequence and the recorded result written under it. The full listings: Card 1: package PredictPc5 {     private import ISQ::*;     block EVTOLAircraft {         attribute cruiseSpeed : SpeedValue;     } } Stamp: FAIL: line 4, “no viable alternative at input ‘EVTOLAircraft’” (a syntax error: block is not a SysML v2 keyword). Card 2: package PredictPc2 {     part def OperationsCenter;     part def MaintenanceFacility;     part aeroLink {         part &lt;'PHY-004'&gt; operationsCenter : OperationsCenter;         part &lt;'PHY-004'&gt; maintenanceFacility : MaintenanceFacility;     } } Stamp: PASS with two warnings, lines 6 and 7: “Duplicate of other owned member name”. Card 3: package PredictPc6 {     private import ScalarValues::*;     part def Charger;     attribute def ChargerStatus {         attribute available : Boolean;         part charger : Charger;     } } Stamp: PASS, no message, although an attribute definition may not have composite features. Card 3 carries an extra label: PASS, but wrong.">    </p:cNvPr>
          <p:cNvPicPr>
            <a:picLocks noChangeAspect="1"/>
          </p:cNvPicPr>
          <p:nvPr/>
        </p:nvPicPr>
        <p:blipFill>
          <a:blip r:embed="rId1"/>
          <a:stretch>
            <a:fillRect/>
          </a:stretch>
        </p:blipFill>
        <p:spPr>
          <a:xfrm>
            <a:off x="712105" y="1280160"/>
            <a:ext cx="6052358" cy="4411218"/>
          </a:xfrm>
          <a:prstGeom prst="rect">
            <a:avLst/>
          </a:prstGeom>
        </p:spPr>
      </p:pic>
      <p:sp>
        <p:nvSpPr>
          <p:cNvPr id="5" name="Text 2"/>
          <p:cNvSpPr/>
          <p:nvPr/>
        </p:nvSpPr>
        <p:spPr>
          <a:xfrm>
            <a:off x="7293689" y="1280160"/>
            <a:ext cx="4349366" cy="190601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1 · block EVTOLAircraft { … }</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2 · two parts with the same short name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3 · an attribute definition that owns a part</a:t>
            </a:r>
            <a:endParaRPr lang="en-US" sz="2000" dirty="0"/>
          </a:p>
        </p:txBody>
      </p:sp>
      <p:sp>
        <p:nvSpPr>
          <p:cNvPr id="6" name="Shape 3"/>
          <p:cNvSpPr/>
          <p:nvPr/>
        </p:nvSpPr>
        <p:spPr>
          <a:xfrm>
            <a:off x="7293689" y="3350768"/>
            <a:ext cx="4349366" cy="1320546"/>
          </a:xfrm>
          <a:prstGeom prst="roundRect">
            <a:avLst>
              <a:gd name="adj" fmla="val 4155"/>
            </a:avLst>
          </a:prstGeom>
          <a:solidFill>
            <a:srgbClr val="E1EFF4"/>
          </a:solidFill>
          <a:ln w="12700">
            <a:solidFill>
              <a:srgbClr val="0F6E8C"/>
            </a:solidFill>
            <a:prstDash val="solid"/>
          </a:ln>
        </p:spPr>
      </p:sp>
      <p:sp>
        <p:nvSpPr>
          <p:cNvPr id="7" name="Text 4"/>
          <p:cNvSpPr/>
          <p:nvPr/>
        </p:nvSpPr>
        <p:spPr>
          <a:xfrm>
            <a:off x="7430849" y="3350768"/>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KEY POINT</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 PASS means the file parsed and no rule fired. Meaning is your responsibility.</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tool proof as the course checker prints it: the command, a PASS with no message, a FAIL with its diagnostics, and the summary (recorded course run).</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Live demonstration: running the course checker</a:t>
            </a:r>
            <a:endParaRPr lang="en-US" sz="3000" dirty="0"/>
          </a:p>
        </p:txBody>
      </p:sp>
      <p:pic>
        <p:nvPicPr>
          <p:cNvPr id="4" name="Image 0" descr="A terminal window. The first line is the command: python -I scripts/check_sysml.py models/tool_proof_pass.sysml models/invalid_tool_proof_unquoted_id.sysml --report models/proof-report.json. The output follows, line by line: OMG SysML v2 Pilot Implementation (SysMLInteractive, Jupyter kernel jar) release 2026-08 (kernel 0.62.0), Java 21.0.12.1+1-LTS, library load … s / PASS  (expected PASS: OK)  models/tool_proof_pass.sysml / FAIL  (expected FAIL: OK)  models/invalid_tool_proof_unquoted_id.sysml / ERROR   9:12     mismatched input '-' expecting '&gt;' / ERROR   9:18     no viable alternative at input 'roadNetwork' / 2 file(s): 1 PASS, 1 FAIL, 0 ERROR. Report: models/proof-report.json. Long lines wrap with a continuation mark. Numbered badges in the left margin mark four lines, and a legend under the terminal names them: 1, tool, release and kernel; 2, PASS: no message under it; 3, ERROR line:column message; 4, summary and report file.">    </p:cNvPr>
          <p:cNvPicPr>
            <a:picLocks noChangeAspect="1"/>
          </p:cNvPicPr>
          <p:nvPr/>
        </p:nvPicPr>
        <p:blipFill>
          <a:blip r:embed="rId1"/>
          <a:stretch>
            <a:fillRect/>
          </a:stretch>
        </p:blipFill>
        <p:spPr>
          <a:xfrm>
            <a:off x="548640" y="1374881"/>
            <a:ext cx="6379289" cy="4384462"/>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Command: python -I scripts/check_sysml.py, then your files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PASS: parsed, every name resolved, no rule fired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ERROR line:column message: go to that place; fix the first error first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Guide: “Install and run the course checker”; one installation per team</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exit ticket, and what to do before Session 2: one checker installation per team, and the tool proof every member runs.</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Exit and preparation for Session 2</a:t>
            </a:r>
            <a:endParaRPr lang="en-US" sz="3000" dirty="0"/>
          </a:p>
        </p:txBody>
      </p:sp>
      <p:pic>
        <p:nvPicPr>
          <p:cNvPr id="4" name="Image 0" descr="On the left, a ticket card titled Exit ticket with two numbered questions, each above writing lines: 1, one place your Week 7 package repeats a value; 2, in part x : A :&gt; y;, what is y? On the right, a checklist titled before Session 2 with three items, each with an empty check box: install the checker: one per team; run both tool-proof files, with two result cards, pass file: PASS and fail file: FAIL at line 9; bring your Week 7 package’s list of ID kinds.">    </p:cNvPr>
          <p:cNvPicPr>
            <a:picLocks noChangeAspect="1"/>
          </p:cNvPicPr>
          <p:nvPr/>
        </p:nvPicPr>
        <p:blipFill>
          <a:blip r:embed="rId1"/>
          <a:stretch>
            <a:fillRect/>
          </a:stretch>
        </p:blipFill>
        <p:spPr>
          <a:xfrm>
            <a:off x="548640" y="1572994"/>
            <a:ext cx="6379289" cy="3988237"/>
          </a:xfrm>
          <a:prstGeom prst="rect">
            <a:avLst/>
          </a:prstGeom>
        </p:spPr>
      </p:pic>
      <p:sp>
        <p:nvSpPr>
          <p:cNvPr id="5" name="Text 2"/>
          <p:cNvSpPr/>
          <p:nvPr/>
        </p:nvSpPr>
        <p:spPr>
          <a:xfrm>
            <a:off x="7293689" y="1280160"/>
            <a:ext cx="4349366" cy="423976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Ticket 1: one place your Week 7 package repeats a value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Ticket 2: in </a:t>
            </a:r>
            <a:pPr indent="0" marL="0">
              <a:buNone/>
            </a:pPr>
            <a:r>
              <a:rPr lang="en-US" sz="2000" dirty="0">
                <a:solidFill>
                  <a:srgbClr val="18202D"/>
                </a:solidFill>
                <a:latin typeface="Consolas" pitchFamily="34" charset="0"/>
                <a:ea typeface="Consolas" pitchFamily="34" charset="-122"/>
                <a:cs typeface="Consolas" pitchFamily="34" charset="-120"/>
              </a:rPr>
              <a:t>part x : A :&gt; y;</a:t>
            </a:r>
            <a:pPr indent="0" marL="0">
              <a:buNone/>
            </a:pPr>
            <a:r>
              <a:rPr lang="en-US" sz="2000" dirty="0">
                <a:solidFill>
                  <a:srgbClr val="18202D"/>
                </a:solidFill>
                <a:latin typeface="Calibri" pitchFamily="34" charset="0"/>
                <a:ea typeface="Calibri" pitchFamily="34" charset="-122"/>
                <a:cs typeface="Calibri" pitchFamily="34" charset="-120"/>
              </a:rPr>
              <a:t> what is </a:t>
            </a:r>
            <a:pPr indent="0" marL="0">
              <a:buNone/>
            </a:pPr>
            <a:r>
              <a:rPr lang="en-US" sz="2000" dirty="0">
                <a:solidFill>
                  <a:srgbClr val="18202D"/>
                </a:solidFill>
                <a:latin typeface="Consolas" pitchFamily="34" charset="0"/>
                <a:ea typeface="Consolas" pitchFamily="34" charset="-122"/>
                <a:cs typeface="Consolas" pitchFamily="34" charset="-120"/>
              </a:rPr>
              <a:t>y</a:t>
            </a:r>
            <a:pPr indent="0" marL="0">
              <a:buNone/>
            </a:pPr>
            <a:r>
              <a:rPr lang="en-US" sz="2000" dirty="0">
                <a:solidFill>
                  <a:srgbClr val="18202D"/>
                </a:solidFill>
                <a:latin typeface="Calibri" pitchFamily="34" charset="0"/>
                <a:ea typeface="Calibri" pitchFamily="34" charset="-122"/>
                <a:cs typeface="Calibri" pitchFamily="34" charset="-120"/>
              </a:rPr>
              <a: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Before Session 2: one checker installation per team (guide: “Install and run the course checker”)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member: run the two tool-proof files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Bring the list of ID kinds in your package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R27 · SEBoK v2.14 (2026), “Fundamentals for Digital Engineering”, p.56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R28 · SEBoK v2.14 (2026), “Model-Based Systems Engineering (MBSE)”, p.370, 372–374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R33a · SEBoK v2.14 (2026), “What is a Model?”, p.290–292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R33b · SEBoK v2.14 (2026), “Why Model?”, p.295–296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R33c · SEBoK v2.14 (2026), “Types of Models”, p.300</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R70 · Seidewitz, Intro to the SysML v2 Language: Textual Notation (Release 2026-08), “Introduction to the SysML v2 Language”, sl.3–12, 15–16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R79 · Seidewitz, Intro to the SysML v2 Language: Textual Notation (Release 2026-08), “Quantities and Units”, sl.164, 167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R80 · OMG SysML v2.1 Beta 2, Part 1 (Release 2026-07), “7.1 Language Overview”, p.47–51, 56, 60–61, 63–66, 72–73, 77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R85 · OMG SysML v2.1 Beta 2, Part 1 (Release 2026-07), “7.26 Views and Viewpoints”, p.181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R90 · Friedenthal, Intro to the SysML v2 Language: Graphical Notation (2023-03-07), “Systems Modeling Language”, sl.7–9, 12, 22</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050" b="1" spc="100" kern="0" dirty="0">
                <a:solidFill>
                  <a:srgbClr val="18202D"/>
                </a:solidFill>
                <a:latin typeface="Calibri" pitchFamily="34" charset="0"/>
                <a:ea typeface="Calibri" pitchFamily="34" charset="-122"/>
                <a:cs typeface="Calibri" pitchFamily="34" charset="-120"/>
              </a:rPr>
              <a:t>CREDITS AND LICENSES</a:t>
            </a:r>
            <a:endParaRPr lang="en-US" sz="1050" dirty="0"/>
          </a:p>
          <a:p>
            <a:pPr marL="152400" indent="-152400">
              <a:spcBef>
                <a:spcPts val="400"/>
              </a:spcBef>
              <a:buSzPct val="100000"/>
              <a:buChar char="■"/>
            </a:pPr>
            <a:r>
              <a:rPr lang="en-US" sz="1050" dirty="0">
                <a:solidFill>
                  <a:srgbClr val="18202D"/>
                </a:solidFill>
                <a:latin typeface="Calibri" pitchFamily="34" charset="0"/>
                <a:ea typeface="Calibri" pitchFamily="34" charset="-122"/>
                <a:cs typeface="Calibri" pitchFamily="34" charset="-120"/>
              </a:rPr>
              <a:t>Introduction to the SysML v2 Language, Textual Notation (Release 2026-08): Copyright © 2019–2026 Model Driven Solutions, Inc. Licensed under the Creative Commons Attribution 4.0 International License (CC BY 4.0).</a:t>
            </a:r>
            <a:endParaRPr lang="en-US" sz="1050" dirty="0"/>
          </a:p>
          <a:p>
            <a:pPr marL="152400" indent="-152400">
              <a:spcBef>
                <a:spcPts val="400"/>
              </a:spcBef>
              <a:buSzPct val="100000"/>
              <a:buChar char="■"/>
            </a:pPr>
            <a:r>
              <a:rPr lang="en-US" sz="105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050" dirty="0"/>
          </a:p>
          <a:p>
            <a:pPr marL="152400" indent="-152400">
              <a:spcBef>
                <a:spcPts val="400"/>
              </a:spcBef>
              <a:buSzPct val="100000"/>
              <a:buChar char="■"/>
            </a:pPr>
            <a:r>
              <a:rPr lang="en-US" sz="1050" dirty="0">
                <a:solidFill>
                  <a:srgbClr val="18202D"/>
                </a:solidFill>
                <a:latin typeface="Calibri" pitchFamily="34" charset="0"/>
                <a:ea typeface="Calibri" pitchFamily="34" charset="-122"/>
                <a:cs typeface="Calibri" pitchFamily="34" charset="-120"/>
              </a:rPr>
              <a:t>Figures are original drawings for this course, except the photographs credited here; none redraws a figure from the sources.</a:t>
            </a:r>
            <a:endParaRPr lang="en-US" sz="1050" dirty="0"/>
          </a:p>
          <a:p>
            <a:pPr marL="152400" indent="-152400">
              <a:spcBef>
                <a:spcPts val="400"/>
              </a:spcBef>
              <a:buSzPct val="100000"/>
              <a:buChar char="■"/>
            </a:pPr>
            <a:r>
              <a:rPr lang="en-US" sz="105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050" dirty="0"/>
          </a:p>
          <a:p>
            <a:pPr marL="152400" indent="-152400">
              <a:spcBef>
                <a:spcPts val="400"/>
              </a:spcBef>
              <a:buSzPct val="100000"/>
              <a:buChar char="■"/>
            </a:pPr>
            <a:r>
              <a:rPr lang="en-US" sz="1050" dirty="0">
                <a:solidFill>
                  <a:srgbClr val="18202D"/>
                </a:solidFill>
                <a:latin typeface="Calibri" pitchFamily="34" charset="0"/>
                <a:ea typeface="Calibri" pitchFamily="34" charset="-122"/>
                <a:cs typeface="Calibri" pitchFamily="34" charset="-120"/>
              </a:rPr>
              <a:t>Photograph in the figure “The AeroLink usage and the thing it describes”: “Vertiport CU rev3”, artist concept by NASA Headquarters (Lillian Gipson and Kyle Jenkins), 2021, https://commons.wikimedia.org/wiki/File:Vertiport_CU_rev3.jpg (NASA photo ID vertiport_CU_rev3). Public domain in the United States (created solely by NASA); no endorsement by NASA is implied.</a:t>
            </a:r>
            <a:endParaRPr lang="en-US" sz="105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Session 1: Import Systems Thinking Artifacts / Stakeholders</dc:title>
  <dc:subject>Systems Thinking and MBSE with SysML v2</dc:subject>
  <dc:creator>SysML Learning Studio (generated)</dc:creator>
  <cp:lastModifiedBy>SysML Learning Studio (generated)</cp:lastModifiedBy>
  <cp:revision>1</cp:revision>
  <dcterms:created xsi:type="dcterms:W3CDTF">2026-10-29T01:56:43Z</dcterms:created>
  <dcterms:modified xsi:type="dcterms:W3CDTF">2026-10-29T01:56:43Z</dcterms:modified>
</cp:coreProperties>
</file>