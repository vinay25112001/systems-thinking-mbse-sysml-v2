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 p.369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questions from Session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59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The pad-slot agreement between the vertiport operators and AeroLink: which kind, and what crosses it?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Why does the communications network have no interface of its own on the N²?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What turns an internal interface into a hidden external one?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management as a loop: define, control, communicate, verify, and back to define as knowledge grows.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R47 p.138; R47 p.139; R57 p.411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interfaces are managed, not just defined</a:t>
            </a:r>
            <a:endParaRPr lang="en-US" sz="3000" dirty="0"/>
          </a:p>
        </p:txBody>
      </p:sp>
      <p:pic>
        <p:nvPicPr>
          <p:cNvPr id="4" name="Image 0" descr="A four-step loop drawn as a circle of arrows: define (interface specifications), control (changes under configuration management), communicate (to the owners of affected elements), verify (compliance and tests). An arrow returns from verify to define; the center of the loop reads iterative as design matu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0155"/>
            <a:ext cx="6379289" cy="3451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define, manage and ensure compliance of internal and external interfaces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interface control degrades performance, affordability, sustainability, maintainability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attributes act as constraints on design change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Iterative: refined as the design matures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AeroLink’s proposed interface control working group: one seat for each owner of an interface that joins two organizations, 7 in all, with the number of cross-owner interfaces each seat shares. (FICTIONAL; proposed)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R57 p.412; R57 p.414; R47 p.140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the interface control working group</a:t>
            </a:r>
            <a:endParaRPr lang="en-US" sz="3000" dirty="0"/>
          </a:p>
        </p:txBody>
      </p:sp>
      <p:pic>
        <p:nvPicPr>
          <p:cNvPr id="4" name="Image 0" descr="A round table with 7 labeled seats: AeroLink, Vertiport operators, Air navigation service provider, Electric utility, Emergency responders, Weather information provider and Aircraft manufacturer (OEM). Each seat shows how many of the 11 cross-owner interfaces (IF-001, IF-003, IF-005, IF-006, IF-007, IF-009, IF-010, IF-011, IF-014, IF-015 and IF-016) that organization sha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8420"/>
            <a:ext cx="6379289" cy="4012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 architectures need more governance, not less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ICWG: technical representatives of the interfacing activities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purpose: interface issues engineer-to-engineer contact cannot resolve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management plan lists interfaces, standards and tests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interface lets today’s charger and a future one plug into the same socket; a service-level agreement says what each side may expect.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R57 p.413; R47 p.139; R20c p.596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service-level agreements</a:t>
            </a:r>
            <a:endParaRPr lang="en-US" sz="3000" dirty="0"/>
          </a:p>
        </p:txBody>
      </p:sp>
      <p:pic>
        <p:nvPicPr>
          <p:cNvPr id="4" name="Image 0" descr="A charger socket drawn as a standard outline, with two plugs approaching it: one labeled today’s charger, one labeled future charger, both matching the outline. Beside it, an agreement card with four fields: parties, obligations, service level, review da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0155"/>
            <a:ext cx="6379289" cy="3451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Standards-based interfaces support interoperability and reuse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interfaces enable modular open systems and future technology insertion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agreements state the performance each side may expect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organizational interface is managed by its agreement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ICR-001 to IF-005: the rows and columns of its two ends show 5 neighbouring interfaces; two of them and one requirement are actually reached. (FICTIONAL; proposed)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R47 p.138; R47 p.139; R36 p.498; R36 p.499; R57 p.414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I: one interface change, traced through the N²</a:t>
            </a:r>
            <a:endParaRPr lang="en-US" sz="3000" dirty="0"/>
          </a:p>
        </p:txBody>
      </p:sp>
      <p:pic>
        <p:nvPicPr>
          <p:cNvPr id="4" name="Image 0" descr="The AeroLink N² with the rows and columns of PHY-001 and PHY-003 shaded. The changed interface IF-005 is outlined. The neighbouring interfaces in the shaded rows and columns are marked: IF-001, IF-002, IF-006, IF-010 and IF-013. The interfaces the change reaches are filled: IF-006 and IF-010; the other neighbours are outlined only. A legend at the lower left names the four mark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8" y="1280160"/>
            <a:ext cx="10553379" cy="2624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41705"/>
            <a:ext cx="11094415" cy="143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change to one interface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rows and columns of its two ends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which neighbours and requirements it affects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owners decide; baseline the new version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an interface crosses a trust boundary: an external end, ends with different owners, a public-facing end, a public network between the ends, or a radio medium anyone with a transmitter can reach. A leased wired network makes a possible crossing.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 p.1234; R25 p.1231; R25 p.1229; R54 p.331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security: trust boundaries</a:t>
            </a:r>
            <a:endParaRPr lang="en-US" sz="3000" dirty="0"/>
          </a:p>
        </p:txBody>
      </p:sp>
      <p:pic>
        <p:nvPicPr>
          <p:cNvPr id="4" name="Image 0" descr="A dashed enterprise boundary containing two shaded owner zones, owner 1 and owner 2. Five numbered interfaces: 1 from an element inside to one outside the boundary, labeled external end; 2 between the two owner zones, labeled different owners; 3 from an element marked public to an internal element, labeled public-facing end; 4 between two elements of owner 1 through a cloud labeled public network; 5 between two elements of owner 2 drawn as radio waves, labeled radio. A dotted line joins two elements of owner 2 through a cloud labeled leased network, marked possible. A key at the right repeats the five numbered reaso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8420"/>
            <a:ext cx="6379289" cy="4012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8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Adversity often comes through or from connected systems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 protected from unauthorized alteration, exfiltration, infiltration, destruction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rule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crossing needs protection, or a reason it needs none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grid connection, the booking link and the charger data link cross?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measures placed on one information interface: checks at the sending end, along the path and at the receiving end, and a local interlock that does not depend on the interface at all.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 p.1205; R24 p.1206; R24 p.1207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at the interface: integrity, authentication, separation</a:t>
            </a:r>
            <a:endParaRPr lang="en-US" sz="3000" dirty="0"/>
          </a:p>
        </p:txBody>
      </p:sp>
      <p:pic>
        <p:nvPicPr>
          <p:cNvPr id="4" name="Image 0" descr="Two element boxes joined by a message arrow. At the sending box: authenticate the sender, least privilege. On the arrow: integrity check, encryption for personal data. At the receiving box: boundary enforcement, reject malformed or out-of-date messages. Around the receiving box a dashed wall labeled domain separation, with a public front end outside it. Under the receiving box, a separate local interlock with no arrow to the interfa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sender; </a:t>
            </a:r>
            <a:pPr indent="0" marL="0">
              <a:buNone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integrity-check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message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separation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isolate items with different protection needs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enforcement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format and rate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local interlock that acts without the interface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failure over time: normal exchange, loss detected, the degraded mode each side enters, recovery. The degraded mode is decided at design time, not at the moment of failure.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 p.1205; R24 p.1207; R25 p.1233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modes at interfaces: what each side does when it fails</a:t>
            </a:r>
            <a:endParaRPr lang="en-US" sz="3000" dirty="0"/>
          </a:p>
        </p:txBody>
      </p:sp>
      <p:pic>
        <p:nvPicPr>
          <p:cNvPr id="4" name="Image 0" descr="A timeline with four phases. Normal: messages flowing. Loss detected: a gap with a timer. Degraded mode: the receiving side treats the missing status as the unsafe value and the dependent function stops or switches to a manual procedure. Recovery: messages resume and the system returns to normal. A band beneath reads limit the duration and the spread of the los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7657"/>
            <a:ext cx="6379289" cy="3033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gracefully: partial function instead of total failure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safe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(course default): treat a missing status as the unsafe value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on the last valid value for a stated time, then stop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duration and the spread of the loss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AeroLink interfaces read for security and resilience. Across all 16, 14 cross a trust boundary, 1 crosses only if the ground network is leased, and 1 crosses none. (FICTIONAL; proposed)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 p.1234; R24 p.1206; R24 p.1205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II: trust boundaries, protection and degraded modes on AeroLink</a:t>
            </a:r>
            <a:endParaRPr lang="en-US" sz="3000" dirty="0"/>
          </a:p>
        </p:txBody>
      </p:sp>
      <p:pic>
        <p:nvPicPr>
          <p:cNvPr id="4" name="Image 0" descr="Three cards, each with three short sections: why it crosses, its protection in brief, and its degraded mode. IF-008 booking link: crosses because of a public-facing end; one protection example, domain separation; degraded: confirmed trips still fly. IF-010 charger data: crosses because of different owners; one protection example, authenticate every charger; degraded: a missing status is read as not charged. IF-006 grid connection: crosses because of external end and different owners; no data, so a reason instead of protection; degraded: charging stops. A strip beneath counts 14 crossing, 1 possible, 1 no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8" y="1280160"/>
            <a:ext cx="10553379" cy="2624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41705"/>
            <a:ext cx="11094415" cy="143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Cross?: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five reasons to each interface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matched to what crosses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side does on failure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each treatment answers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audit lenses applied to the interface set: coverage, externals, hidden paths, verification. Find the gaps before the findings are read out.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 p.630; R55 p.369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the interface set: four lenses</a:t>
            </a:r>
            <a:endParaRPr lang="en-US" sz="3000" dirty="0"/>
          </a:p>
        </p:txBody>
      </p:sp>
      <p:pic>
        <p:nvPicPr>
          <p:cNvPr id="4" name="Image 0" descr="The AeroLink interface N² with four labeled lenses drawn over it as magnifying glasses: coverage (is every crossing flow carried?), externals (does every external element have an interface or a reason?), hidden paths (which interfaces run over a medium we may not own, and which exchanges have no interface at all?), verification (which interfaces have a verification case?). No findings are mark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0428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 every crossing flow carried?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 interface or a reason for each?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paths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media we may not own; exchanges with no interface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which interfaces have a case?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groupings of AeroLink’s eight physical elements into integration aggregates. By owner, 6 internal interfaces lie between aggregates; aircraft and charging first, 4. The 5 external interfaces are verified with their external parties.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 p.630; R22 p.631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aggregates from the N²</a:t>
            </a:r>
            <a:endParaRPr lang="en-US" sz="3000" dirty="0"/>
          </a:p>
        </p:txBody>
      </p:sp>
      <p:pic>
        <p:nvPicPr>
          <p:cNvPr id="4" name="Image 0" descr="Two panels. Left, By owner: aggregates PHY-001, PHY-004, PHY-005, PHY-006, PHY-007 and PHY-002, PHY-003, PHY-008, with the between-aggregate interfaces IF-001, IF-005, IF-009, IF-010, IF-014 and IF-015 drawn across the gap. Right, Aircraft and charging first: aggregates PHY-001, PHY-003 and PHY-002, PHY-004, PHY-005, PHY-006, PHY-007, PHY-008, with IF-001, IF-002, IF-010 and IF-013 across the ga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8420"/>
            <a:ext cx="6379289" cy="4012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elements so that fewer interfaces lie between aggregates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inside each aggregate, then the interfaces between them; compare groupings of similar size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element or interface forgotten; every one verified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interfaces: with the external party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allocations of the same 23 function flows. One platform (chosen): 14 cross, κ = 0.61, 6 element pairs. Distributed dispatch: 20 cross, κ = 0.87, 10 pairs. Course metric.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p.599; R22 p.631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III: the coupling count Week 4 deferred</a:t>
            </a:r>
            <a:endParaRPr lang="en-US" sz="3000" dirty="0"/>
          </a:p>
        </p:txBody>
      </p:sp>
      <p:pic>
        <p:nvPicPr>
          <p:cNvPr id="4" name="Image 0" descr="Two side-by-side panels. Left, one operations platform: X = 14 of 23, κ = 0.61, P = 6, most partners 5 at PHY-004. Right, distributed dispatch at the vertiports: X = 20 of 23, κ = 0.87, P = 10, most partners 5 at PHY-002 and PHY-004; 4 of its pairs marked as having no information interfa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8" y="1280160"/>
            <a:ext cx="10553379" cy="2624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41705"/>
            <a:ext cx="11094415" cy="143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flows; X crossing; κ = X ÷ E; P pairs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alternative on the same flows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 crossings against interfaces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count cannot see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p.597; R57 p.413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method cannot tell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2070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N² shows that an interface exists, not that it performs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120 s = 30 + 30 + 30 s + 30 s margin; a hold precedes classification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typing, the columns and the trust-boundary rule are course conventions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interface control document template is held: the table is a teaching form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People: passengers and staff need human–system interfaces, modeled later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5’s artifacts and the weeks that use them: insertion points for the roadmap, a package section, the physical model in SysML v2, verification, and an optional analysis in Week 13.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sl.18; R47 p.140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goes: Weeks 6, 7, 11 and 12</a:t>
            </a:r>
            <a:endParaRPr lang="en-US" sz="3000" dirty="0"/>
          </a:p>
        </p:txBody>
      </p:sp>
      <p:pic>
        <p:nvPicPr>
          <p:cNvPr id="4" name="Image 0" descr="A central box labeled Week 5 components and interfaces with arrows to 5 boxes: Week 6, interface standards and the change request: technology insertion points: what a new charger, aircraft or platform must plug into; Week 7, components, interfaces and their security attributes: the components-and-interfaces section of the Systems Thinking Engineering Package; Week 11, components and interfaces: components become parts; interface ends become ports; interfaces become interface definitions and connections; what crosses becomes flows of items; Week 12, verification column and degraded modes: verification cases for each interface, and the digital thread from requirement to evidence; Week 13, the coupling count: an analysis the trade study may reuse (instructor option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8420"/>
            <a:ext cx="6379289" cy="4012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insertion points are interfaces; standards make them cheap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components and interfaces join the engineering package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components become parts, ends become ports, interfaces become connections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verification cases for every interface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L5: components, the N² and interface definitions for your enterprise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379289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 components with responsibility cards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N² and at least 8 interface definitions, every column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interface requirements; one change request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and degraded mode for every interface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93689" y="1280160"/>
            <a:ext cx="4349366" cy="229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three: 4 components, 6 interfaces, 2 requirements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6, Session 1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imports your Week 4 record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N² template with a 12-minute timer: physical elements, then externals, on the diagonal; one interface ID per cell with its kind.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 p.630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your first N²</a:t>
            </a:r>
            <a:endParaRPr lang="en-US" sz="3000" dirty="0"/>
          </a:p>
        </p:txBody>
      </p:sp>
      <p:pic>
        <p:nvPicPr>
          <p:cNvPr id="4" name="Image 0" descr="An empty upper-triangle grid of ten by ten with the diagonal cells shaded and labeled element 1 to element 10, a legend for the kinds P, I and O and an external marker, and a timer icon reading 12 mi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 your Week 4 physical elements, then your externals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each cell from the pre-work; type it P, I or O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crossing flows from your Week 4 information view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degrees; check the sum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check: degrees and one external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teams: read the degree of each element and the sum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checks: is the sum twice the number of interfaces?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names one external interface and its owner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seven days ahead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1–2: breakdown and cards; days 2–4: N², table, security columns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4–5: interface requirements; day 5: management notes and the change request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6: audit and AI usage statement; day 7: export and upload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Q5 opens today; log your hours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· SEBoK v2.14 (2026), “Physical Architecture”, p.596–597, 599, 603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 · SEBoK v2.14 (2026), “System Integration”, p.630–631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 · SEBoK v2.14 (2026), “System Resilience”, p.1205–1207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 · SEBoK v2.14 (2026), “System Security”, p.1229, 1231, 1233–1234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R36 · SEBoK v2.14 (2026), “Configuration Baselines”, p.498–499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R47 · OUSD(R&amp;E) Systems Engineering Guidebook (2021/2022), “Interface Management Process”, p.138–140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R54 · The MITRE Systems Engineering Guide (2014), “Analyzing and Defining Requirements”, p.331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 · The MITRE Systems Engineering Guide (2014), “Develop System-Level Technical Requirements”, p.369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R57 · The MITRE Systems Engineering Guide (2014), “Interface Management”, p.410–414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· Seidewitz, Intro to the SysML v2 Language: Textual Notation (Release 2026-08), “Connections”, sl.18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Systems Engineering Guide: © 2014 by The MITRE Corporation. All rights reserved. Approved for public release; distribution unlimited (Case Numbers 10-4072 and 12-1089). Quoted briefly with attribution.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5, Session 2: Components / Interfaces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2026-10-27T14:48:07Z</dcterms:created>
  <dcterms:modified xsi:type="dcterms:W3CDTF">2026-10-27T14:48:07Z</dcterms:modified>
</cp:coreProperties>
</file>