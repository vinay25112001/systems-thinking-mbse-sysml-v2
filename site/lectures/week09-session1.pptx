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Session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Session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fills two packages of the model your team built in Week 8: the Week 1 needs go into Needs, the Week 2 requirements into Requirements.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/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Requirements as model elements</a:t>
            </a:r>
            <a:endParaRPr lang="en-US" sz="1600" dirty="0"/>
          </a:p>
        </p:txBody>
      </p:sp>
      <p:pic>
        <p:nvPicPr>
          <p:cNvPr id="5" name="Image 0" descr="Two document cards at the top: Week 1 needs and Week 2 requirements. Thick arrows run down from them to three package boxes: Stakeholders (labeled Week 8, drawn faint), Needs and Requirements (drawn strong). Below, a row labeled Phase II with the week numbers 8 to 14, number 9 highlighted, and the line: model v0.2 of your enterpri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8622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requirement construct of SysML v2 and the relationships around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requirement quality, AeroLink worked examples, AI-assisted review, the Lab L9 launch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output: model v0.2 of your own enterprise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AeroLink system requirement modeled by two teams: Team A writes the statement only; Team B adds three lines.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what can the model know about a requirement?</a:t>
            </a:r>
            <a:endParaRPr lang="en-US" sz="3000" dirty="0"/>
          </a:p>
        </p:txBody>
      </p:sp>
      <p:pic>
        <p:nvPicPr>
          <p:cNvPr id="4" name="Image 0" descr="Two cards side by side, each headed REQ-SYS-001 with the line doc: the statement (the statement is: The charging system shall charge an aircraft from any landing state of charge at or above the 20 % reserve to the dispatch threshold within 20 min.). Card A, labeled Team A, has nothing else. Card B, labeled Team B, has three more boxes, highlighted: subject: chargers; limit: 20 min; charge time ≤ lim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793750"/>
          </a:xfrm>
          <a:prstGeom prst="roundRect">
            <a:avLst>
              <a:gd name="adj" fmla="val 6912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0849" y="1280160"/>
            <a:ext cx="4075046" cy="79375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true?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93689" y="2238502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The two models say the same thing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Team B’s model says more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Team B’s model proves the design meets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Only Team A’s model is a requirement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I documents and the model packages they enter, with the ID prefixes that cross: STK and CON in Week 8, MGO, NEED, REQ-STK and REQ-SYS this week.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Week 9 imports from Phase I</a:t>
            </a:r>
            <a:endParaRPr lang="en-US" sz="3000" dirty="0"/>
          </a:p>
        </p:txBody>
      </p:sp>
      <p:pic>
        <p:nvPicPr>
          <p:cNvPr id="4" name="Image 0" descr="Top row, titled Phase I documents: three cards, Register, Needs, Requirements. Bottom row, titled Model packages: three boxes, Stakeholders, Needs, Requirements. An arrow runs down from each card to the box below it, labeled with the ID prefixes that cross: STK, CON (dashed and grey, done in Week 8); MGO, NEED; REQ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register, concerns, mission and objectives, needs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stakeholder and system requirements, traced to needs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stakeholders and concerns already in the model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9: needs and requirements join them, with the same IDs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need to requirement on AeroLink: the stakeholder’s view, the transformation, and the obligation on an entity.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p.557–558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are not requirements</a:t>
            </a:r>
            <a:endParaRPr lang="en-US" sz="3000" dirty="0"/>
          </a:p>
        </p:txBody>
      </p:sp>
      <p:pic>
        <p:nvPicPr>
          <p:cNvPr id="4" name="Image 0" descr="Three wide boxes stacked top to bottom, joined by arrows. Top: Need: NEED-004, stakeholder’s view, black box. Middle: Analysis and decision, 25 = 20 + 5 min. Bottom, drawn strong: Requirement: REQ-STK-005, an obligation on an entity. The arrow into the bottom box is labeled traceabl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2151888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2151888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2151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STATEMENT (SEBOK, QUOTING THE INCOSE NEEDS AND REQUIREMENTS MANUAL)</a:t>
            </a:r>
            <a:endParaRPr lang="en-US" sz="1300" dirty="0"/>
          </a:p>
          <a:p>
            <a:pPr indent="0" marL="0">
              <a:buNone/>
            </a:pPr>
            <a:r>
              <a:rPr lang="en-US" sz="2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“formal transformation of one or more needs or parent requirements into an agreed-to obligation for an entity”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· SEBoK v2.14 (2026), "System Requirements Definition", p.558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93689" y="3596640"/>
            <a:ext cx="4349366" cy="145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the stakeholder’s view, a black box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the developer’s view, an obligation on an entity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requirements table row and the same requirement as a model element, related to a stakeholder, a concern, a parent and a design element.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p.564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model adds to a requirements table</a:t>
            </a:r>
            <a:endParaRPr lang="en-US" sz="3000" dirty="0"/>
          </a:p>
        </p:txBody>
      </p:sp>
      <p:pic>
        <p:nvPicPr>
          <p:cNvPr id="4" name="Image 0" descr="On the left, a card labeled table row, with REQ-STK-005 and parent NEED-004. On the right, REQ-STK-005 as a strong box with four lines to four boxes around it: STK-005, CON-006, NEED-004, and a dashed box labeled design, joined by a dashed lin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620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functions, inputs, sources, outputs, destinations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Interdependencies with the rest of the system data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analysis and simulation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stays: part of a requirement model element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 requirement, on a neutral example: an ID and a name, the informal text, the subject, a parameter and a required constraint; then a usage that binds the limit. Checked: PASS.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p.161–162; R74 sl.86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is a constraint</a:t>
            </a:r>
            <a:endParaRPr lang="en-US" sz="3000" dirty="0"/>
          </a:p>
        </p:txBody>
      </p:sp>
      <p:pic>
        <p:nvPicPr>
          <p:cNvPr id="4" name="Image 0" descr="Listing (course file sysml/lectures/week09/requirement_anatomy.sysml, checked: PASS): requirement def &lt;'R-1'&gt; ResponseTimeLimit { / doc /* The device shall respond within the response-time limit. */ / subject device : Device; / attribute limit : DurationValue; / require constraint { device.responseTime &lt;= limit } / } / requirement &lt;'R-1.1'&gt; quickResponse : ResponseTimeLimit { / doc /* The device shall respond within 2 s. */ / attribute :&gt;&gt; limit = 2 [s]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49649"/>
            <a:ext cx="6379289" cy="21095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2399792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2399792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2399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DEFINITION (SYSML V2.1 BETA 2)</a:t>
            </a:r>
            <a:endParaRPr lang="en-US" sz="1200" dirty="0"/>
          </a:p>
          <a:p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kind of constraint definition … that specifies stakeholder-imposed constraints that a design solution must satisfy to be a valid solution”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· OMG SysML v2.1 Beta 2, Part 1 (Release 2026-07), "7.21 Requirements", p.161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93689" y="3844544"/>
            <a:ext cx="4349366" cy="138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“shall” text, or formal constraint expressions</a:t>
            </a:r>
            <a:endParaRPr lang="en-US" sz="18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false: satisfied when it evaluates to true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requirement definition used three times: each AeroLink usage binds its own measured feature and limit.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p.161; R83 p.165; R74 sl.89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definitions and requirement usages</a:t>
            </a:r>
            <a:endParaRPr lang="en-US" sz="3000" dirty="0"/>
          </a:p>
        </p:txBody>
      </p:sp>
      <p:pic>
        <p:nvPicPr>
          <p:cNvPr id="4" name="Image 0" descr="A card at the top labeled definition, measured ≤ limit. Lines run down to three usage cards: REQ-SYS-005 limit 60 s; REQ-SYS-008 limit 2 min; REQ-SYS-009 limit 30 s. The lines are labeled usag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usage: a definition used in a context (a package, a part, another requirement)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usage may redefine and bind the definition’s features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requirement definition per usage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write a definition only when several requirements share a form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REQ-SYS-001 has the chargers as its subject: only an entity that conforms to that definition can satisfy it.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p.161–162; R83 p.166; R74 sl.88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subject: what the requirement is about</a:t>
            </a:r>
            <a:endParaRPr lang="en-US" sz="3000" dirty="0"/>
          </a:p>
        </p:txBody>
      </p:sp>
      <p:pic>
        <p:nvPicPr>
          <p:cNvPr id="4" name="Image 0" descr="REQ-SYS-001 at the top. An arrow labeled subject runs down to a box, Chargers. Lines run from it to three cards: chargers, conforms; fast chargers, specializes (both drawn as accepted); aircraft, does not (drawn as rejected, with a dashed line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594104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594104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5941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(SYSML V2.1 BETA 2)</a:t>
            </a:r>
            <a:endParaRPr lang="en-US" sz="900" dirty="0"/>
          </a:p>
          <a:p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distinguished parameter that identifies the entity on which the requirement is being specified”</a:t>
            </a:r>
            <a:endParaRPr lang="en-US" sz="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· OMG SysML v2.1 Beta 2, Part 1 (Release 2026-07), "7.21 Requirements", p.161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293689" y="3038856"/>
            <a:ext cx="4349366" cy="1875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4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entity conforming to the subject’s definition can satisfy it</a:t>
            </a:r>
            <a:endParaRPr lang="en-US" sz="14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4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declared: Anything. Declared: first, before any other parameter</a:t>
            </a:r>
            <a:endParaRPr lang="en-US" sz="14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4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the enterprise for stakeholder requirements; for system requirements, the element the “shall” is about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declaration line in four parts: the keyword, the short name that is the requirement ID, the declared name, and the body.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p.165; R80 p.49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 ID and the informal text</a:t>
            </a:r>
            <a:endParaRPr lang="en-US" sz="3000" dirty="0"/>
          </a:p>
        </p:txBody>
      </p:sp>
      <p:pic>
        <p:nvPicPr>
          <p:cNvPr id="4" name="Image 0" descr="Four boxes in two rows. Top row: requirement, labeled keyword; &lt;'REQ-SYS-001'&gt;, labeled short name = ID. Bottom row: 'Charge to dispatch …', labeled declared name; { body }, labeled doc, subject …. Under them the line: the ID is quoted: it has hyphen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83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 comments are the informal text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name is also the requirement ID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the Phase I ID as a quoted short name; the doc is the Phase I statement, word for word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teams’ requirements as checked listings: Team A’s statement only, Team B’s subject, limit and required constraint. Both PASS the checker.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p.161; R83 p.165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alone is not enough: the required constraint</a:t>
            </a:r>
            <a:endParaRPr lang="en-US" sz="3000" dirty="0"/>
          </a:p>
        </p:txBody>
      </p:sp>
      <p:pic>
        <p:nvPicPr>
          <p:cNvPr id="4" name="Image 0" descr="Listing (course file sysml/lectures/week09/driving_question_two_teams.sysml, checked: PASS): package TeamA { / requirement &lt;'REQ-SYS-001'&gt; 'Charge to dispatch threshold in 20 min' { / doc /* The charging system shall charge an aircraft from any landing state of charge at or above / * the 20 % reserve to the dispatch threshold within 20 min. */ / } / } / package TeamB { / requirement &lt;'REQ-SYS-001'&gt; 'Charge to dispatch threshold in 20 min' { / doc /* The charging system shall charge an aircraft from any landing state of charge at or above / * the 20 % reserve to the dispatch threshold within 20 min. */ / subject chargers : Chargers; / attribute maxChargeTime : DurationValue = 20 [min]; / require constraint { chargers.chargeTimeToDispatch &lt;= maxChargeTime } / }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8068"/>
            <a:ext cx="6379289" cy="2915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A: a requirement with nothing the model can evaluate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B: names the subject, the quantity and the limit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Not C: meeting it needs a satisfy claim, consistent values and, later, evidence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293689" y="3970528"/>
            <a:ext cx="4349366" cy="1057148"/>
          </a:xfrm>
          <a:prstGeom prst="roundRect">
            <a:avLst>
              <a:gd name="adj" fmla="val 5190"/>
            </a:avLst>
          </a:prstGeom>
          <a:solidFill>
            <a:srgbClr val="E1EFF4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3970528"/>
            <a:ext cx="4075046" cy="10571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files pass the checker. Validity is not meaning.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effective constraint of a requirement is an implication: if every assumption holds, every required constraint must hold.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p.165; R74 sl.87; R74 sl.91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when a requirement applies</a:t>
            </a:r>
            <a:endParaRPr lang="en-US" sz="3000" dirty="0"/>
          </a:p>
        </p:txBody>
      </p:sp>
      <p:pic>
        <p:nvPicPr>
          <p:cNvPr id="4" name="Image 0" descr="A truth table with columns assumes, requires, result. Row 1: yes, yes, satisfied. Row 2: yes, no, violated. Row 3: no, either, satisfied. Under the table: row 3: nothing is demand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417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constraint: if all assumptions are true, all required constraints must be true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the keywords assume and require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 assumption is false, the requirement demands nothing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293689" y="3862070"/>
            <a:ext cx="4349366" cy="1521968"/>
          </a:xfrm>
          <a:prstGeom prst="roundRect">
            <a:avLst>
              <a:gd name="adj" fmla="val 3605"/>
            </a:avLst>
          </a:prstGeom>
          <a:solidFill>
            <a:srgbClr val="FBEFD9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3862070"/>
            <a:ext cx="4075046" cy="15219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REASONING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assumption marks a region the requirement leaves uncovered. Someone must decide whether another requirement covers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has three kinds of distinguished parameter: the subject, actors and stakeholders.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p.162; R83 p.166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and stakeholders as requirement parameters</a:t>
            </a:r>
            <a:endParaRPr lang="en-US" sz="3000" dirty="0"/>
          </a:p>
        </p:txBody>
      </p:sp>
      <p:pic>
        <p:nvPicPr>
          <p:cNvPr id="4" name="Image 0" descr="A large card titled requirement with three slots, each a label and a description: subject, the entity obliged; actor, external, needed; stakeholder, has concern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and stakeholders: further distinguished parameters, written as part usages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external to the subject, necessary for satisfaction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Stakeholder: has concerns related to the requirement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made every stakeholder a part definition: now it types these parameters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NEED-004 frames the concern it answers, CON-006, from the Week 8 model; a frame to a concern it does not answer is crossed out.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p.162; R83 p.167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and framing</a:t>
            </a:r>
            <a:endParaRPr lang="en-US" sz="3000" dirty="0"/>
          </a:p>
        </p:txBody>
      </p:sp>
      <p:pic>
        <p:nvPicPr>
          <p:cNvPr id="4" name="Image 0" descr="NEED-004 on the left, drawn strong. A thick arrow labeled frame runs to CON-006, upper right. A dashed grey arrow runs to CON-012, lower right, crossed out with a ✕; under CON-012 the words not answer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concern is a kind of requirement; its stakeholders are parameters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can frame concerns: each must then be addressed for it to be satisfied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framed concern is a subrequirement, so a required constraint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only the concerns the need answers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NEED-004 in AeroLink model v0.2, generated from the Week 1 case: subject, stakeholder and frame (the doc is shortened on the slide).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p.162; R83 p.167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worked example I: the Needs package</a:t>
            </a:r>
            <a:endParaRPr lang="en-US" sz="3000" dirty="0"/>
          </a:p>
        </p:txBody>
      </p:sp>
      <p:pic>
        <p:nvPicPr>
          <p:cNvPr id="4" name="Image 0" descr="Listing (course file sysml/lectures/week09/aerolink_needs_requirements_v02.sysml, checked: PASS): requirement &lt;'NEED-004'&gt; 'Pads not limited by turnaround' { / doc /* Vertiport operators need the air-taxi service to … */ / subject enterprise : Context::'ENT-001'; / stakeholder vertiportOperators : Stakeholders::'STK-005'; / frame Stakeholders::'CON-006'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55534"/>
            <a:ext cx="6379289" cy="14977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48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a need is a requirement usage whose subject is the enterprise</a:t>
            </a:r>
            <a:endParaRPr lang="en-US" sz="18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stakeholder: typed by the Week 8 part definition</a:t>
            </a:r>
            <a:endParaRPr lang="en-US" sz="18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frame: each concern the need answers</a:t>
            </a:r>
            <a:endParaRPr lang="en-US" sz="18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 keeps the stakeholder’s words, condition and rationale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293689" y="4393692"/>
            <a:ext cx="4349366" cy="1026160"/>
          </a:xfrm>
          <a:prstGeom prst="roundRect">
            <a:avLst>
              <a:gd name="adj" fmla="val 5347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4393692"/>
            <a:ext cx="4075046" cy="1026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PAIR, 1 MIN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NEED-010: who is its stakeholder, and which concern should it frame?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group: a specification group whose members share its subject or bind theirs to a feature of it, and an organizing group whose members keep independent, unbound subjects.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 sl.90; R83 p.161; R83 p.167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groups</a:t>
            </a:r>
            <a:endParaRPr lang="en-US" sz="3000" dirty="0"/>
          </a:p>
        </p:txBody>
      </p:sp>
      <p:pic>
        <p:nvPicPr>
          <p:cNvPr id="4" name="Image 0" descr="Two large cards side by side. Left: specification group; one group subject; members share or bind to it; under it a tag, satisfiable. Right: organizing group; no group subject; members unbound; under it a tag, satisfy membe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76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can group others: by reference (require) or by composition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take the group’s subject or bind theirs to a feature of it: subject engine = vehicle.engine;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with independent, unbound subjects: an organizing group, not satisfiable as a whole; satisfy its members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duration form and REQ-SYS-005, one of its three usages in AeroLink model v0.2 (metadata lines omitted on the slide).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 sl.86–89; R83 p.161; R83 p.166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II: three latency requirements, one definition</a:t>
            </a:r>
            <a:endParaRPr lang="en-US" sz="3000" dirty="0"/>
          </a:p>
        </p:txBody>
      </p:sp>
      <p:pic>
        <p:nvPicPr>
          <p:cNvPr id="4" name="Image 0" descr="Listing (course file sysml/lectures/week09/aerolink_needs_requirements_v02.sysml, checked: PASS): requirement def DurationUpperLimit { / doc /* Shared form (course convention): the measured … */ / attribute measured : DurationValue; / attribute limit : DurationValue; / require constraint { measured &lt;= limit } / } / requirement &lt;'REQ-SYS-005'&gt; 'Aircraft assignment time' : DurationUpperLimit { / doc /* The scheduling function shall assign a … */ / subject scheduling : Logical::'Scheduling'; / attribute :&gt;&gt; measured = scheduling.assignmentLatencyP99; / attribute :&gt;&gt; limit = 60 [s]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1984"/>
            <a:ext cx="6379289" cy="26875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 requirements, one form: a measured latency at most a limit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definition; each usage has its own ID, doc, subject and two bindings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 measured feature: the constraint reads nothing the design has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REQ-STK-003 in AeroLink model v0.2: its attributes, rationale and TBD status as three annotations.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R77 sl.108; R114 p.555–557; R84 p.175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attributes as metadata: rationale, method, status</a:t>
            </a:r>
            <a:endParaRPr lang="en-US" sz="3000" dirty="0"/>
          </a:p>
        </p:txBody>
      </p:sp>
      <p:pic>
        <p:nvPicPr>
          <p:cNvPr id="4" name="Image 0" descr="Listing (course file sysml/lectures/week09/aerolink_needs_requirements_v02.sysml, checked: PASS): requirement &lt;'REQ-STK-003'&gt; 'No dispatch outside weather limits' { / doc /* The AeroLink service shall not dispatch a flight … */ / subject enterprise : Context::'ENT-001'; / attribute requiredDispatchesBeyondWeatherLimits : Natural = 0; / require constraint { enterprise.dispatchesBeyondWeatherLimits == requiredDispatchesBeyondWeatherLimits } / @RequirementAttributes { level = &quot;stakeholder&quot;; requirementType = &quot;functional&quot;; method = VerificationMethodKind::demo; criterion = &quot;Zero dispatches with a forecast beyond TBD-01 at either end (limits pending U-001)&quot;; } / @Rationale { text = &quot;Weather beyond the approved limits removes the margin the certification basis assumes; the FAA needs assurance that the operation, not just the aircraft, respects those limits.&quot;; } / @StatusInfo { status = StatusKind::tbd; owner = &quot;Director of Flight Operations&quot;; }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33545"/>
            <a:ext cx="6379289" cy="27044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84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defined by a metadata definition, applied as an annotation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Rationale (text), StatusInfo (status, owner), StatusKind (tbd, tbc, open, done …)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methods: inspect, analyze, demo, test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RequirementAttributes for type, method and criterion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derivation of REQ-SYS-001 from REQ-STK-005 in AeroLink model v0.2: the parent is the #original end, the child the #derive end.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R115 p.580–583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Derivation: the library connection</a:t>
            </a:r>
            <a:endParaRPr lang="en-US" sz="3000" dirty="0"/>
          </a:p>
        </p:txBody>
      </p:sp>
      <p:pic>
        <p:nvPicPr>
          <p:cNvPr id="4" name="Image 0" descr="Listing (course file sysml/lectures/week09/aerolink_needs_requirements_v02.sysml, checked: PASS): #derivation connection 'REQ-SYS-001 derives from REQ-STK-005' { / end #original ::&gt; 'REQ-STK-005'; / end #derive ::&gt; 'REQ-SYS-001'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41504"/>
            <a:ext cx="6379289" cy="10885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733550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73355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73355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(SYSML V2.1 BETA 2 DOMAIN LIBRARY)</a:t>
            </a:r>
            <a:endParaRPr lang="en-US" sz="1100" dirty="0"/>
          </a:p>
          <a:p>
            <a:pPr indent="0" marL="0">
              <a:buNone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“asserts that one or more derivedRequirements are derived from a single originalRequirement”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R115 · OMG SysML v2.1 Beta 2, Part 1 (Release 2026-07), "9.6 Requirement Derivation Domain Library", p.580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93689" y="3178302"/>
            <a:ext cx="4349366" cy="1937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subject satisfying the original should satisfy each derived one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Ends: #original (the parent), #derive (the child)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parent satisfied implies child satisfied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ordered by how much they claim: a dependency, a refinement-tagged dependency, a derivation, a satisfy assertion.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R76 sl.105; R80 p.50–51; R114 p.556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Dependencies, refinement and the direction rule</a:t>
            </a:r>
            <a:endParaRPr lang="en-US" sz="3000" dirty="0"/>
          </a:p>
        </p:txBody>
      </p:sp>
      <p:pic>
        <p:nvPicPr>
          <p:cNvPr id="4" name="Image 0" descr="Four bars stacked top to bottom, with an arrow beside them pointing up: satisfy: an assertion (drawn strong, at the top); derivation: parent ⇒ child; refinement: more precise; dependency: model level only (at the bottom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Dependency: clients need suppliers for their complete specification; model level only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from = the dependent element (client), to = what it depends on (supplier)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metadata tags a dependency as a refinement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strongest relationship you can defend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thread from STK-005 to REQ-SYS-001, with the model element behind each arrow; satisfy and verify follow in Weeks 11 and 12.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p.162; R115 p.580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trace pattern: stakeholder to system requirement</a:t>
            </a:r>
            <a:endParaRPr lang="en-US" sz="3000" dirty="0"/>
          </a:p>
        </p:txBody>
      </p:sp>
      <p:pic>
        <p:nvPicPr>
          <p:cNvPr id="4" name="Image 0" descr="Five boxes in a column, joined by arrows labeled with the model element they stand for: STK-005; stakeholder; CON-006; frame; NEED-004; derivation; REQ-STK-005; derivation; REQ-SYS-001. From the last box two dashed arrows run to dashed boxes: satisfy · Week 11, and verify · Week 12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711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→ concern → need → stakeholder requirement → system requirement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an element you write in the model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satisfied by a design element (Week 11), verified by a verification case (Week 12)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293689" y="4156456"/>
            <a:ext cx="4349366" cy="1026160"/>
          </a:xfrm>
          <a:prstGeom prst="roundRect">
            <a:avLst>
              <a:gd name="adj" fmla="val 5347"/>
            </a:avLst>
          </a:prstGeom>
          <a:solidFill>
            <a:srgbClr val="FBEFD9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4156456"/>
            <a:ext cx="4075046" cy="1026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drawing is a course illustration. The model is the text the checker reads.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relationships of REQ-SYS-001: derived from its parent, claimed satisfied by a design element (an assertion), and checked by a verification case (Week 12).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p.162; R83 p.168; R84 p.176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look at satisfy: an assertion, not a trace link</a:t>
            </a:r>
            <a:endParaRPr lang="en-US" sz="3000" dirty="0"/>
          </a:p>
        </p:txBody>
      </p:sp>
      <p:pic>
        <p:nvPicPr>
          <p:cNvPr id="4" name="Image 0" descr="REQ-SYS-001 in the center, drawn strong. Above it REQ-STK-005, joined by an arrow labeled derivation. Lower left, Chargers, joined to the center by a heavy arrow labeled satisfy. Lower right, a dashed box, verification case, joined by a dashed arrow labeled verif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965960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96596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 REQUIREMENT USAGE (SYSML V2.1 BETA 2)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“asserts that a requirement is satisfied when a given feature is bound to the subject parameter of the requirement”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· OMG SysML v2.1 Beta 2, Part 1 (Release 2026-07), "7.21 Requirements", p.162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93689" y="3410712"/>
            <a:ext cx="4349366" cy="1937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assertion about a design, not a trace link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rule: not between two requirements; use a derivation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verify, in a verification case’s objective (Week 12)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results of the course checker (release 2026-08) on six course files: what it rejects, and what it accepts without complaint.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p.165–166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checker checks, and what it cannot</a:t>
            </a:r>
            <a:endParaRPr lang="en-US" sz="3000" dirty="0"/>
          </a:p>
        </p:txBody>
      </p:sp>
      <p:pic>
        <p:nvPicPr>
          <p:cNvPr id="4" name="Image 0" descr="Two columns. Left, headed checker rejects: two definitions; subject not first; unquoted ID. Right, headed checker accepts: doc only, wrong subject; swapped derivation; satisfy: a warning. The messages the checker recorded are in the notes and the less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errors is necessary, never sufficient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requirement for subject, constraint and intent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for one release; a new release may differ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card: four fields to write and three questions to answer, for one of your team’s Week 2 system requirements.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one requirement, three questions</a:t>
            </a:r>
            <a:endParaRPr lang="en-US" sz="3000" dirty="0"/>
          </a:p>
        </p:txBody>
      </p:sp>
      <p:pic>
        <p:nvPicPr>
          <p:cNvPr id="4" name="Image 0" descr="A card with four labeled boxes: ID, doc, subject, constraint. Below them a tag: and three questions (the questions are listed on the slide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team system requirement as a usage: ID, doc, subject, required constraint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its subject, and why that element?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 condition in its text an assumption, or part of the quantity?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need or parent does it derive from?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· SEBoK v2.14 (2026), “System Requirements Definition”, p.557–558, 564, 566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 · Seidewitz, Intro to the SysML v2 Language: Textual Notation (Release 2026-08), “Requirement Definitions”, sl.86–91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R76 · Seidewitz, Intro to the SysML v2 Language: Textual Notation (Release 2026-08), “Use Case Definition”, sl.105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R77 · Seidewitz, Intro to the SysML v2 Language: Textual Notation (Release 2026-08), “Metadata”, sl.108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R80 · OMG SysML v2.1 Beta 2, Part 1 (Release 2026-07), “7.1 Language Overview”, p.49–51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· OMG SysML v2.1 Beta 2, Part 1 (Release 2026-07), “7.21 Requirements”, p.161–162, 165–168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· OMG SysML v2.1 Beta 2, Part 1 (Release 2026-07), “7.23 Analysis Cases”, p.175–176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R114 · OMG SysML v2.1 Beta 2, Part 1 (Release 2026-07), “9.3.2 Modeling Metadata”, p.555–557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R115 · OMG SysML v2.1 Beta 2, Part 1 (Release 2026-07), “9.6 Requirement Derivation Domain Library”, p.580–583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9, Session 1: Needs / Requirements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2026-10-27T14:48:09Z</dcterms:created>
  <dcterms:modified xsi:type="dcterms:W3CDTF">2026-10-27T14:48:09Z</dcterms:modified>
</cp:coreProperties>
</file>