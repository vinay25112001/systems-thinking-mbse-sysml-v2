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</a:p>
          <a:p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  <a:p>
            <a:endParaRPr lang="en-US" dirty="0"/>
          </a:p>
          <a:p>
            <a:r>
              <a:rPr lang="en-US" dirty="0" b="1"/>
              <a:t/>
            </a:r>
            <a:r>
              <a:rPr lang="en-US" dirty="0"/>
              <a:t/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/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1097280"/>
            <a:ext cx="11094415" cy="0"/>
          </a:xfrm>
          <a:prstGeom prst="line">
            <a:avLst/>
          </a:prstGeom>
          <a:noFill/>
          <a:ln w="31750">
            <a:solidFill>
              <a:srgbClr val="0F6E8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CTURE_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F6E8C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D3D9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6400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 Thinking and MBSE with SysML v2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24248" y="64008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05840" y="12344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0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 · SESSION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1005840" y="16459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Presentation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1005840" y="32004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2: Presenting and defending engineering decisions; the Phase I design review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3931920"/>
            <a:ext cx="7772400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First: how to present and defend a decision, and how to answer a finding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the Phase I design review, team by team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reviewers have read your package and written their findings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p.109; R43 p.110; R56 p.387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defendable decision is traceable, and states its limits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Traceable: every claim leads to an ID or an analysis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Defendable: the criteria, weights and sensitivity are shown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Actionable: it ends in a decision and an action plan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 maker decides; you make it decidable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123184"/>
            <a:ext cx="11094415" cy="793750"/>
          </a:xfrm>
          <a:prstGeom prst="roundRect">
            <a:avLst>
              <a:gd name="adj" fmla="val 6912"/>
            </a:avLst>
          </a:prstGeom>
          <a:solidFill>
            <a:srgbClr val="E1EFF4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3123184"/>
            <a:ext cx="10820095" cy="79375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POINT</a:t>
            </a:r>
            <a:endParaRPr lang="en-US" sz="1200" dirty="0"/>
          </a:p>
          <a:p>
            <a:pPr indent="0" marL="0">
              <a:buNone/>
            </a:pPr>
            <a:r>
              <a:rPr lang="en-US" sz="17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Reviewers judge how well you show the link from your design to its requirements.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engineering argument in six links: the claim, its evidence, the criteria, the conditions, the residual risk and what would change it.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p.110; R18 p.473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of an engineering argument</a:t>
            </a:r>
            <a:endParaRPr lang="en-US" sz="3000" dirty="0"/>
          </a:p>
        </p:txBody>
      </p:sp>
      <p:pic>
        <p:nvPicPr>
          <p:cNvPr id="4" name="Image 0" descr="Six boxes in reading order, two rows of three joined by arrows: claim, evidence by ID, criteria and weights; then conditions, residual risk, what would change it. Under the evidence box a small tag reads ID; from the last box a dashed arrow loops back to the claim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6200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the recommendation, in one sentence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analysis and IDs, not adjectives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what “better” meant, with weights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and residual risk: the limits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change it: the honest exit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the trade: AeroLink’s Year-2 decision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6379289" cy="19883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ALT-004, 4 aircraft and a fourth hub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Evidence: 320 trips/day by month 24; passes every screen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0.670 against 0.624 for ALT-005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alternatives survive the screens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conditions, from the sensitivity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residual risks, each with its R ID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stated exits: what would change 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p.387; R105 p.531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Defending a risk position and a roadmap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6379289" cy="19060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Risk: the handling chosen, its owner and its trigger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a risk is a decision: say why and who watches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residual level, not only the treatment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each increment serves a named gap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by evidence: maturity, triggers, dependencies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the timing with what starts it, not a date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briefing, two depths: the decision on top, the evidence one step below, reachable when asked.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R105 p.531; R43 p.110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 a mixed audience</a:t>
            </a:r>
            <a:endParaRPr lang="en-US" sz="3000" dirty="0"/>
          </a:p>
        </p:txBody>
      </p:sp>
      <p:pic>
        <p:nvPicPr>
          <p:cNvPr id="4" name="Image 0" descr="A slide outline with a large top band labeled decision and conditions, in plain words. Below it three smaller panels labeled trade, risk and roadmap, each with an ID tag. A dashed arrow from a question mark at the side points down into the panel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2158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the decision, in operational terms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 per slide; IDs on the slide, jargon off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down on request, from summary to analysis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RID form: where, what and against which criterion, severity, and the proposed fix.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findings: the review item discrepancy (RID)</a:t>
            </a:r>
            <a:endParaRPr lang="en-US" sz="3000" dirty="0"/>
          </a:p>
        </p:txBody>
      </p:sp>
      <p:pic>
        <p:nvPicPr>
          <p:cNvPr id="4" name="Image 0" descr="A blank form card with labeled fields, top to bottom: RID number and reviewer; where, the ID or section; what is wrong; the criterion or source; severity, with two boxes, major and minor; proposed fix. Every field is empty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33101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the ID or section it concerns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what is wrong, against which criterion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Severity: major or minor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proposed fix: what would close it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convention: the form on the Assessment page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RID gets one of three dispositions, each with a response; accepted and deferred ones also get an owner.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Answering findings: accept, defer or reject</a:t>
            </a:r>
            <a:endParaRPr lang="en-US" sz="3000" dirty="0"/>
          </a:p>
        </p:txBody>
      </p:sp>
      <p:pic>
        <p:nvPicPr>
          <p:cNvPr id="4" name="Image 0" descr="A box labeled RID on the left with three arrows. Accept leads to a box: response says what changes; owner. Defer leads to a box: response says when; owner; carried as an open item. Reject leads to a box: response gives the evidence. All three arrows end at a bar labeled exit criteria me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Accept, defer or reject, each with a response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accepted or deferred RID has an owner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only with evidence: an ID, a decision, a computation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when every RID is dispositioned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RIDs raised against AeroLink’s package and their dispositions: 2 accepted, 1 deferred, 1 rejected. (FICTIONAL)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p.566; R13 p.565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example: four RIDs against the AeroLink package</a:t>
            </a:r>
            <a:endParaRPr lang="en-US" sz="3000" dirty="0"/>
          </a:p>
        </p:txBody>
      </p:sp>
      <p:pic>
        <p:nvPicPr>
          <p:cNvPr id="4" name="Image 0" descr="A table of 4 rows with columns RID, where, severity and disposition: RID-001, NEED-008, major, accept; RID-002, PHY-006, major, defer; RID-003, GAP-001, minor, reject; RID-004, Week 4 F5, Week 5 F7, Week 5 F8, minor, accep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437"/>
            <a:ext cx="11094415" cy="272957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147452"/>
            <a:ext cx="11094415" cy="14305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RID-001 Accept: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NEED-008: major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RID-002 Defer: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PHY-006: major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RID-003 Reject: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GAP-001: minor</a:t>
            </a:r>
            <a:endParaRPr lang="en-US" sz="1600" dirty="0"/>
          </a:p>
          <a:p>
            <a:pPr marL="342900" indent="-342900">
              <a:spcBef>
                <a:spcPts val="600"/>
              </a:spcBef>
              <a:buSzPct val="100000"/>
              <a:buFont typeface="+mj-lt"/>
              <a:buAutoNum type="arabicPeriod" startAt="1"/>
            </a:pPr>
            <a:r>
              <a:rPr lang="en-US" sz="16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RID-004 Accept: </a:t>
            </a:r>
            <a:pPr indent="0" marL="0">
              <a:buNone/>
            </a:pPr>
            <a:r>
              <a:rPr lang="en-US" sz="16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F5, Week 5 F7, Week 5 F8: minor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828538"/>
            <a:ext cx="11094415" cy="43510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Figure.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block for five teams: 8-minute slots of 4 minutes of briefing and 4 of questions on the RIDs.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p.387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the review: criteria, roles and timing</a:t>
            </a:r>
            <a:endParaRPr lang="en-US" sz="3000" dirty="0"/>
          </a:p>
        </p:txBody>
      </p:sp>
      <p:pic>
        <p:nvPicPr>
          <p:cNvPr id="4" name="Image 0" descr="A horizontal time bar of 44 minutes: a 2-minute opening, five team slots of 8 minutes, each split into briefing and questions, and a 2-minute clos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21462"/>
            <a:ext cx="6379289" cy="372861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293689" y="1280160"/>
            <a:ext cx="4349366" cy="29179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Criteria: the presentation rubric, known in advance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 present and answer for their sections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teams: 4 min briefing, 4 min questions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teams: 6 min briefing, 4 min questions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design reviews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Briefing: summary, one decision defended, one thread walked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the reviewers’ RIDs, answered by their owners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Recorder: each RID raised and the first answer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team ready while the questions run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991225"/>
            <a:ext cx="11094415" cy="272415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05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</a:t>
            </a:r>
            <a:pPr indent="0" marL="0">
              <a:buNone/>
            </a:pPr>
            <a:r>
              <a:rPr lang="en-US" sz="1050" dirty="0">
                <a:solidFill>
                  <a:srgbClr val="5660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p.388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Closing the review: what happens next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80160"/>
            <a:ext cx="11094415" cy="16784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Dispositions of every RID: within 3 days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and deferred RIDs: owned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package in the tool and export it again</a:t>
            </a:r>
            <a:endParaRPr lang="en-US" sz="2000" dirty="0"/>
          </a:p>
          <a:p>
            <a:pPr marL="228600" indent="-228600">
              <a:spcBef>
                <a:spcPts val="600"/>
              </a:spcBef>
              <a:buSzPct val="100000"/>
              <a:buChar char="■"/>
            </a:pPr>
            <a:r>
              <a:rPr lang="en-US" sz="20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starts from the closed package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 and credits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R06c · SEBoK v2.14 (2026), “Technical Reviews and Audits”, p.386–388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R13 · SEBoK v2.14 (2026), “System Requirements Definition”, p.565–566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R18 · SEBoK v2.14 (2026), “Decision Management”, p.473–474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36013" y="1280160"/>
            <a:ext cx="3413053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R43 · OUSD(R&amp;E) Systems Engineering Guidebook (2021/2022), “Decision Analysis Process”, p.109–110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R56 · The MITRE Systems Engineering Guide (2014), “Assess the Design”, p.387, 389</a:t>
            </a:r>
            <a:endParaRPr lang="en-US" sz="1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R105 · The MITRE Systems Engineering Guide (2014), “Technology Planning”, p.531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7923386" y="1280160"/>
            <a:ext cx="54864" cy="4846320"/>
          </a:xfrm>
          <a:prstGeom prst="rect">
            <a:avLst/>
          </a:prstGeom>
          <a:solidFill>
            <a:srgbClr val="0F6E8C"/>
          </a:solidFill>
          <a:ln w="12700">
            <a:solidFill>
              <a:srgbClr val="0F6E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60546" y="1280160"/>
            <a:ext cx="3582509" cy="48463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AND LICENSES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SEBoK v2.14: “This material is used under a Creative Commons Attribution-NonCommercial ShareAlike 3.0 Unported License from The Trustees of the Stevens Institute of Technology.” (SEBoK, “Bkcase Wiki:Copyright”, PDF p.31). Quotations are short and cited; no SEBoK figure or table is reproduced.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OUSD(R&amp;E) Systems Engineering Guidebook: Distribution Statement A. Approved for public release. Distribution is unlimited.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MITRE Systems Engineering Guide: © 2014 by The MITRE Corporation. All rights reserved. Approved for public release; distribution unlimited (Case Numbers 10-4072 and 12-1089). Quoted briefly with attribution.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are original drawings for this course; none redraws a figure from the sources.</a:t>
            </a:r>
            <a:endParaRPr lang="en-US" sz="1200" dirty="0"/>
          </a:p>
          <a:p>
            <a:pPr marL="152400" indent="-152400">
              <a:spcBef>
                <a:spcPts val="400"/>
              </a:spcBef>
              <a:buSzPct val="100000"/>
              <a:buChar char="■"/>
            </a:pPr>
            <a:r>
              <a:rPr lang="en-US" sz="1200" dirty="0">
                <a:solidFill>
                  <a:srgbClr val="1820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AeroLink Urban Mobility is a fictional teaching case: every number, name and statement about it is a teaching value.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400800"/>
            <a:ext cx="9144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8202D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Wright State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7, Session 2: Final Presentation</dc:title>
  <dc:subject>Systems Thinking and MBSE with SysML v2</dc:subject>
  <dc:creator>SysML Learning Studio (generated)</dc:creator>
  <cp:lastModifiedBy>SysML Learning Studio (generated)</cp:lastModifiedBy>
  <cp:revision>1</cp:revision>
  <dcterms:created xsi:type="dcterms:W3CDTF">2026-10-29T03:16:56Z</dcterms:created>
  <dcterms:modified xsi:type="dcterms:W3CDTF">2026-10-29T03:16:56Z</dcterms:modified>
</cp:coreProperties>
</file>