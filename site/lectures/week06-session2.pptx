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6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6 · Session 2</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R60 p.525; R106 p.583; R46 p.126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Warm-up: three questions from Session 1</a:t>
            </a:r>
            <a:endParaRPr lang="en-US" sz="3000" dirty="0"/>
          </a:p>
        </p:txBody>
      </p:sp>
      <p:sp>
        <p:nvSpPr>
          <p:cNvPr id="4" name="Text 2"/>
          <p:cNvSpPr/>
          <p:nvPr/>
        </p:nvSpPr>
        <p:spPr>
          <a:xfrm>
            <a:off x="548640" y="128016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 What does a TRL not tell you?</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2. Name the two ways to define increments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3. What is an off-ramp, and when does an increment need one?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Transition is planned, implemented and lived with; technology insertion recurs during operation.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R107 p.447; R107 p.448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Transition is a process, not a date</a:t>
            </a:r>
            <a:endParaRPr lang="en-US" sz="3000" dirty="0"/>
          </a:p>
        </p:txBody>
      </p:sp>
      <p:pic>
        <p:nvPicPr>
          <p:cNvPr id="4" name="Image 0" descr="An arrow labeled a process over time runs above a bar of three segments: plan, implement, operate and maintain. Below the third segment, three markers point into it, labeled insert technology.">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Transition: from development to fielding and sustainment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process over time: plan, implement, operate and maintain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Plan it early; design for insertion during operation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Strategies: simultaneous operation, cutover, retirement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An insertion point is where maturity, the ability to insert and operational timing all hold.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R107 p.449; R47 p.139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 flexible technology roadmap: when to insert</a:t>
            </a:r>
            <a:endParaRPr lang="en-US" sz="3000" dirty="0"/>
          </a:p>
        </p:txBody>
      </p:sp>
      <p:pic>
        <p:nvPicPr>
          <p:cNvPr id="4" name="Image 0" descr="Three overlapping circles labeled maturity, ability to insert and operational timing. Their common center is labeled insertion point.">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Plan when, how and why to insert improvements after deployment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Balance maturity, the ability to insert, and operational timing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Open, standard interfaces make later insertion easier</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service changed while it runs: one part is replaced at a time, and the old and the new must work together.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R26 p.681; R26 p.682; R26 p.683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Modernizing a service or an enterprise while it operates</a:t>
            </a:r>
            <a:endParaRPr lang="en-US" sz="3000" dirty="0"/>
          </a:p>
        </p:txBody>
      </p:sp>
      <p:pic>
        <p:nvPicPr>
          <p:cNvPr id="4" name="Image 0" descr="A train of four carriages moving right. The third carriage is drawn dashed, being replaced by a new carriage lowered from above. A label reads phase-based change, backward compatible.">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Reasons include obsolescence and new uses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service must stay backward compatible during the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Large services change in phases, area by area</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largest challenge: changing while the system operates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modification enters the Vee at its own level; a lower-level change flows upward through its parent requirements.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R26 p.682; R26 p.683; R26 p.684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Changing without breaking: the Vee entry point, compatibility, regression</a:t>
            </a:r>
            <a:endParaRPr lang="en-US" sz="3000" dirty="0"/>
          </a:p>
        </p:txBody>
      </p:sp>
      <p:pic>
        <p:nvPicPr>
          <p:cNvPr id="4" name="Image 0" descr="A Vee with three entry points marked on its left arm, labeled A system, B subsystem and C component. An arrow beside the arm points upward from C toward A, labeled flow requirements to parent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92988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change enters the Vee at its own level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Lower-level changes flow up through parent requirements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component change should keep form, fit, function and interface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Regression test what was not changed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Concurrent changes: a block, or continuous integration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Each AeroLink increment changes security and resilience; the change is planned with the increment, not after it.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R25 p.1231; R25 p.1234; R24 p.1203; R24 p.1205; R24 p.1208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Security and resilience as the enterprise evolves</a:t>
            </a:r>
            <a:endParaRPr lang="en-US" sz="3000" dirty="0"/>
          </a:p>
        </p:txBody>
      </p:sp>
      <p:pic>
        <p:nvPicPr>
          <p:cNvPr id="4" name="Image 0" descr="Three columns headed Increment 1, Increment 2 and Increment 3, in two rows. Security row: signed storage commands; new link, authenticated; datalink flies the aircraft. Resilience row: service in a grid outage; written fallback; safe landing without link.">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increment, state its security and resilience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Security cannot be added by retrofit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Link each new risk to the increment that creates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roadmap links at least one security or resilience risk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transition risk exists only while the change is being made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course roadmap: three horizon columns, four lanes, and increment bars that start at a trigger.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p.862; R12 p.863; R105 p.530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Anatomy of a roadmap</a:t>
            </a:r>
            <a:endParaRPr lang="en-US" sz="3000" dirty="0"/>
          </a:p>
        </p:txBody>
      </p:sp>
      <p:pic>
        <p:nvPicPr>
          <p:cNvPr id="4" name="Image 0" descr="An empty grid with three columns, near term, mid term and far term, and four rows, capability, technology, architecture and interfaces, operations and people. One empty dashed bar spans three rows of the mid-term column, with a diamond at its top corner labeled trigger.">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423976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Horizons: near, mid and far, each with an end state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Lanes: capability, technology, architecture and interfaces, operations and people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increment: content, entry trigger, dependencies, off-ramp, transition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increment linked to the gap, need or objective it serves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Dependencies point back in time: a cycle has no first step</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as-is at entry into service and, in the near column, the committed Year-2 step: together, the baseline trajectory.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R109 p.131; R109 p.132; R12 p.860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Increment 0, the baseline trajectory</a:t>
            </a:r>
            <a:endParaRPr lang="en-US" sz="3000" dirty="0"/>
          </a:p>
        </p:txBody>
      </p:sp>
      <p:pic>
        <p:nvPicPr>
          <p:cNvPr id="4" name="Image 0" descr="A grid with the lanes capability, technology, architecture and operations, and the columns as is, near, mid and far. The as-is column: 240/day, fleet-limited; 6 chargers, 288/day; 1 platform + standby; 12 aircraft, piloted. The near column, the committed step: 320/day; 8 chargers; platform unchanged; 16 aircraft. The mid and far columns are empty.">    </p:cNvPr>
          <p:cNvPicPr>
            <a:picLocks noChangeAspect="1"/>
          </p:cNvPicPr>
          <p:nvPr/>
        </p:nvPicPr>
        <p:blipFill>
          <a:blip r:embed="rId1"/>
          <a:stretch>
            <a:fillRect/>
          </a:stretch>
        </p:blipFill>
        <p:spPr>
          <a:xfrm>
            <a:off x="548640" y="1280437"/>
            <a:ext cx="11094415" cy="2729578"/>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As is: </a:t>
            </a:r>
            <a:pPr indent="0" marL="0">
              <a:buNone/>
            </a:pPr>
            <a:r>
              <a:rPr lang="en-US" sz="1600" dirty="0">
                <a:solidFill>
                  <a:srgbClr val="18202D"/>
                </a:solidFill>
                <a:latin typeface="Calibri" pitchFamily="34" charset="0"/>
                <a:ea typeface="Calibri" pitchFamily="34" charset="-122"/>
                <a:cs typeface="Calibri" pitchFamily="34" charset="-120"/>
              </a:rPr>
              <a:t>Every roadmap starts from an honest “as is”</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Fleet: </a:t>
            </a:r>
            <a:pPr indent="0" marL="0">
              <a:buNone/>
            </a:pPr>
            <a:r>
              <a:rPr lang="en-US" sz="1600" dirty="0">
                <a:solidFill>
                  <a:srgbClr val="18202D"/>
                </a:solidFill>
                <a:latin typeface="Calibri" pitchFamily="34" charset="0"/>
                <a:ea typeface="Calibri" pitchFamily="34" charset="-122"/>
                <a:cs typeface="Calibri" pitchFamily="34" charset="-120"/>
              </a:rPr>
              <a:t>12 × 20 = 240 trips/day</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Chargers: </a:t>
            </a:r>
            <a:pPr indent="0" marL="0">
              <a:buNone/>
            </a:pPr>
            <a:r>
              <a:rPr lang="en-US" sz="1600" dirty="0">
                <a:solidFill>
                  <a:srgbClr val="18202D"/>
                </a:solidFill>
                <a:latin typeface="Calibri" pitchFamily="34" charset="0"/>
                <a:ea typeface="Calibri" pitchFamily="34" charset="-122"/>
                <a:cs typeface="Calibri" pitchFamily="34" charset="-120"/>
              </a:rPr>
              <a:t>6 × 48 = 288 charges/day</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Trajectory: </a:t>
            </a:r>
            <a:pPr indent="0" marL="0">
              <a:buNone/>
            </a:pPr>
            <a:r>
              <a:rPr lang="en-US" sz="1600" dirty="0">
                <a:solidFill>
                  <a:srgbClr val="18202D"/>
                </a:solidFill>
                <a:latin typeface="Calibri" pitchFamily="34" charset="0"/>
                <a:ea typeface="Calibri" pitchFamily="34" charset="-122"/>
                <a:cs typeface="Calibri" pitchFamily="34" charset="-120"/>
              </a:rPr>
              <a:t>240 at entry; 320 by month 24, committed</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committed step, hub first, then aircraft: capacity climbs 20 trips per aircraft and reaches 300 with aircraft 15; aircraft first would stall at 288.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R26 p.682; R46 p.126; R108 p.392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the committed Year-2 step and its transition order</a:t>
            </a:r>
            <a:endParaRPr lang="en-US" sz="3000" dirty="0"/>
          </a:p>
        </p:txBody>
      </p:sp>
      <p:pic>
        <p:nvPicPr>
          <p:cNvPr id="4" name="Image 0" descr="Left: two condition diamonds, labeled A-003 test report and U-002 utility. Right: a step chart of trips per day against aircraft in service after the hub conversion: 12 aircraft 240, 13 aircraft 260, 14 aircraft 280, 15 aircraft 300, 16 aircraft 320, with a solid line labeled 300 needed and a dashed line labeled aircraft first: 288.">    </p:cNvPr>
          <p:cNvPicPr>
            <a:picLocks noChangeAspect="1"/>
          </p:cNvPicPr>
          <p:nvPr/>
        </p:nvPicPr>
        <p:blipFill>
          <a:blip r:embed="rId1"/>
          <a:stretch>
            <a:fillRect/>
          </a:stretch>
        </p:blipFill>
        <p:spPr>
          <a:xfrm>
            <a:off x="762420" y="1280160"/>
            <a:ext cx="10666856" cy="2624385"/>
          </a:xfrm>
          <a:prstGeom prst="rect">
            <a:avLst/>
          </a:prstGeom>
        </p:spPr>
      </p:pic>
      <p:sp>
        <p:nvSpPr>
          <p:cNvPr id="5" name="Text 2"/>
          <p:cNvSpPr/>
          <p:nvPr/>
        </p:nvSpPr>
        <p:spPr>
          <a:xfrm>
            <a:off x="548640" y="4041705"/>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Content: </a:t>
            </a:r>
            <a:pPr indent="0" marL="0">
              <a:buNone/>
            </a:pPr>
            <a:r>
              <a:rPr lang="en-US" sz="1600" dirty="0">
                <a:solidFill>
                  <a:srgbClr val="18202D"/>
                </a:solidFill>
                <a:latin typeface="Calibri" pitchFamily="34" charset="0"/>
                <a:ea typeface="Calibri" pitchFamily="34" charset="-122"/>
                <a:cs typeface="Calibri" pitchFamily="34" charset="-120"/>
              </a:rPr>
              <a:t>+4 aircraft; a fourth hub (committed)</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Conditions: </a:t>
            </a:r>
            <a:pPr indent="0" marL="0">
              <a:buNone/>
            </a:pPr>
            <a:r>
              <a:rPr lang="en-US" sz="1600" dirty="0">
                <a:solidFill>
                  <a:srgbClr val="18202D"/>
                </a:solidFill>
                <a:latin typeface="Calibri" pitchFamily="34" charset="0"/>
                <a:ea typeface="Calibri" pitchFamily="34" charset="-122"/>
                <a:cs typeface="Calibri" pitchFamily="34" charset="-120"/>
              </a:rPr>
              <a:t>charger test report (A-003); utility agreement (U-002)</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Off-ramp: </a:t>
            </a:r>
            <a:pPr indent="0" marL="0">
              <a:buNone/>
            </a:pPr>
            <a:r>
              <a:rPr lang="en-US" sz="1600" dirty="0">
                <a:solidFill>
                  <a:srgbClr val="18202D"/>
                </a:solidFill>
                <a:latin typeface="Calibri" pitchFamily="34" charset="0"/>
                <a:ea typeface="Calibri" pitchFamily="34" charset="-122"/>
                <a:cs typeface="Calibri" pitchFamily="34" charset="-120"/>
              </a:rPr>
              <a:t>refused spoke: a new hub vertiport</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Transition: </a:t>
            </a:r>
            <a:pPr indent="0" marL="0">
              <a:buNone/>
            </a:pPr>
            <a:r>
              <a:rPr lang="en-US" sz="1600" dirty="0">
                <a:solidFill>
                  <a:srgbClr val="18202D"/>
                </a:solidFill>
                <a:latin typeface="Calibri" pitchFamily="34" charset="0"/>
                <a:ea typeface="Calibri" pitchFamily="34" charset="-122"/>
                <a:cs typeface="Calibri" pitchFamily="34" charset="-120"/>
              </a:rPr>
              <a:t>hub first; 300 with aircraft 15</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Increments 1 and 2 start on their triggers in the mid term; Increment 3 stays dashed until detect-and-avoid reaches TRL 6, with an off-ramp to stay piloted. (FICTIONAL;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R106 p.583; R106 p.584; R108 p.393; R46 p.126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Increments 1 to 3, toward resilience and autonomy</a:t>
            </a:r>
            <a:endParaRPr lang="en-US" sz="3000" dirty="0"/>
          </a:p>
        </p:txBody>
      </p:sp>
      <p:pic>
        <p:nvPicPr>
          <p:cNvPr id="4" name="Image 0" descr="Two columns, mid term and far term. In the mid term two solid bars. Increment 1, storage and leasing, with a trigger diamond labeled storage demo. Increment 2, data, workload, ticketing and capacity, with a trigger diamond labeled re-forecast &gt; 256. In the far term a dashed bar, Increment 3, with a trigger diamond labeled TRL 6 + certification, and a dashed arrow below it labeled off-ramp: stay piloted.">    </p:cNvPr>
          <p:cNvPicPr>
            <a:picLocks noChangeAspect="1"/>
          </p:cNvPicPr>
          <p:nvPr/>
        </p:nvPicPr>
        <p:blipFill>
          <a:blip r:embed="rId1"/>
          <a:stretch>
            <a:fillRect/>
          </a:stretch>
        </p:blipFill>
        <p:spPr>
          <a:xfrm>
            <a:off x="762420" y="1280160"/>
            <a:ext cx="10666856" cy="2624385"/>
          </a:xfrm>
          <a:prstGeom prst="rect">
            <a:avLst/>
          </a:prstGeom>
        </p:spPr>
      </p:pic>
      <p:sp>
        <p:nvSpPr>
          <p:cNvPr id="5" name="Text 2"/>
          <p:cNvSpPr/>
          <p:nvPr/>
        </p:nvSpPr>
        <p:spPr>
          <a:xfrm>
            <a:off x="548640" y="4041705"/>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Increment 1: </a:t>
            </a:r>
            <a:pPr indent="0" marL="0">
              <a:buNone/>
            </a:pPr>
            <a:r>
              <a:rPr lang="en-US" sz="1600" dirty="0">
                <a:solidFill>
                  <a:srgbClr val="18202D"/>
                </a:solidFill>
                <a:latin typeface="Calibri" pitchFamily="34" charset="0"/>
                <a:ea typeface="Calibri" pitchFamily="34" charset="-122"/>
                <a:cs typeface="Calibri" pitchFamily="34" charset="-120"/>
              </a:rPr>
              <a:t>storage at the hubs, one first; overnight leasing</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Increment 2: </a:t>
            </a:r>
            <a:pPr indent="0" marL="0">
              <a:buNone/>
            </a:pPr>
            <a:r>
              <a:rPr lang="en-US" sz="1600" dirty="0">
                <a:solidFill>
                  <a:srgbClr val="18202D"/>
                </a:solidFill>
                <a:latin typeface="Calibri" pitchFamily="34" charset="0"/>
                <a:ea typeface="Calibri" pitchFamily="34" charset="-122"/>
                <a:cs typeface="Calibri" pitchFamily="34" charset="-120"/>
              </a:rPr>
              <a:t>data, workload evidence, ticketing; capacity above 256/day</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Increment 3: </a:t>
            </a:r>
            <a:pPr indent="0" marL="0">
              <a:buNone/>
            </a:pPr>
            <a:r>
              <a:rPr lang="en-US" sz="1600" dirty="0">
                <a:solidFill>
                  <a:srgbClr val="18202D"/>
                </a:solidFill>
                <a:latin typeface="Calibri" pitchFamily="34" charset="0"/>
                <a:ea typeface="Calibri" pitchFamily="34" charset="-122"/>
                <a:cs typeface="Calibri" pitchFamily="34" charset="-120"/>
              </a:rPr>
              <a:t>remote operation at TRL 6+, with certification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Approaches: </a:t>
            </a:r>
            <a:pPr indent="0" marL="0">
              <a:buNone/>
            </a:pPr>
            <a:r>
              <a:rPr lang="en-US" sz="1600" dirty="0">
                <a:solidFill>
                  <a:srgbClr val="18202D"/>
                </a:solidFill>
                <a:latin typeface="Calibri" pitchFamily="34" charset="0"/>
                <a:ea typeface="Calibri" pitchFamily="34" charset="-122"/>
                <a:cs typeface="Calibri" pitchFamily="34" charset="-120"/>
              </a:rPr>
              <a:t>incremental, incremental, evolutionary</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roadmap: the baseline trajectory and three increments, each starting at its trigger, with the dependencies drawn. (FICTIONAL; Increments 1 to 3 proposed)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R106 p.584; R105 p.530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IV: triggers, dependencies, and the answer to the board</a:t>
            </a:r>
            <a:endParaRPr lang="en-US" sz="3000" dirty="0"/>
          </a:p>
        </p:txBody>
      </p:sp>
      <p:pic>
        <p:nvPicPr>
          <p:cNvPr id="4" name="Image 0" descr="Four columns, as is, near, mid and far. Increment 0, the baseline trajectory, spans the as-is and near columns. Increments 1 and 2 sit in the mid column, each starting at a trigger diamond; Increment 3 sits in the far column, dashed, starting at a trigger diamond. Arrows run from Increment 0 to Increment 1, from Increment 0 to Increment 2, and from Increment 2 to Increment 3.">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Triggers: a demonstration, demand above a computed line, TRL evidence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Dependencies point back in time; autonomy needs Increment 2’s evidence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board’s answer: none of the three first; resilience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Autonomy is prepared for, not scheduled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Increment 3 fans out to the earlier IDs it changes, grouped by week: 22 of the 34 candidates the links found.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p.565; R106 p.583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V: an increment’s impact across the package</a:t>
            </a:r>
            <a:endParaRPr lang="en-US" sz="3000" dirty="0"/>
          </a:p>
        </p:txBody>
      </p:sp>
      <p:pic>
        <p:nvPicPr>
          <p:cNvPr id="4" name="Image 0" descr="A tree from a root labeled Increment 3 to five branches, one per earlier week, each with its count of changed IDs: Week 1, 8; Week 2, 4; Week 3, 2; Week 4, 6; Week 5, 2.">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List the IDs an increment changes, from every earlier week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Links propose candidates; you judge which are reached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AeroLink: 22 of 34 candidates reached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list is the checklist for the Week 14 model change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p.529; R105 p.531; R106 p.584; R12 p.863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roadmap as a decision instrument, and its limits</a:t>
            </a:r>
            <a:endParaRPr lang="en-US" sz="3000" dirty="0"/>
          </a:p>
        </p:txBody>
      </p:sp>
      <p:sp>
        <p:nvSpPr>
          <p:cNvPr id="4" name="Text 2"/>
          <p:cNvSpPr/>
          <p:nvPr/>
        </p:nvSpPr>
        <p:spPr>
          <a:xfrm>
            <a:off x="548640" y="1280160"/>
            <a:ext cx="6379289"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Use it to decide: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to start, and on what evidence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waits, and for which unknown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would change the plan</a:t>
            </a:r>
            <a:endParaRPr lang="en-US" sz="2000" dirty="0"/>
          </a:p>
        </p:txBody>
      </p:sp>
      <p:sp>
        <p:nvSpPr>
          <p:cNvPr id="5" name="Text 3"/>
          <p:cNvSpPr/>
          <p:nvPr/>
        </p:nvSpPr>
        <p:spPr>
          <a:xfrm>
            <a:off x="7293689" y="1280160"/>
            <a:ext cx="4349366" cy="22981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 cannot: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predict demand or technology progress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prove maturity or architecture fit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stay right without review</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roadmap and the baseline review enter the Week 7 package; triggers feed Week 13 and one increment becomes the Week 14 model change.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p.531; 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Preparing the Phase I baseline for Week 7, and what comes after</a:t>
            </a:r>
            <a:endParaRPr lang="en-US" sz="3000" dirty="0"/>
          </a:p>
        </p:txBody>
      </p:sp>
      <p:pic>
        <p:nvPicPr>
          <p:cNvPr id="4" name="Image 0" descr="Three boxes left to right joined by arrows: Week 7 package and review, Week 13 analysis cases, Week 14 model change. Above the first box, a list labeled open items with owner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week, state ready or name each open item and its owner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IDs are the keys Week 7 imports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13 may reuse your triggers as analysis cases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14 models one increment as a change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Lab L6 brief: your enterprise evolution roadmap</a:t>
            </a:r>
            <a:endParaRPr lang="en-US" sz="3000" dirty="0"/>
          </a:p>
        </p:txBody>
      </p:sp>
      <p:sp>
        <p:nvSpPr>
          <p:cNvPr id="3" name="Text 1"/>
          <p:cNvSpPr/>
          <p:nvPr/>
        </p:nvSpPr>
        <p:spPr>
          <a:xfrm>
            <a:off x="548640" y="1280160"/>
            <a:ext cx="11094415" cy="20706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4 gaps over three horizons; 3 technologies with insertion points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4 increments counting the baseline; 4 known unknowns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impact list for one increment; a baseline review for Week 7</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Team of three: 3 gaps, 2 technologies, 3 increments, 3 unknowns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enterprise, never AeroLink; due before Week 7</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in-class worksheet: the as-is in five lines, then three gaps with a horizon and the need behind each.</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Team work: baseline and gaps</a:t>
            </a:r>
            <a:endParaRPr lang="en-US" sz="3000" dirty="0"/>
          </a:p>
        </p:txBody>
      </p:sp>
      <p:pic>
        <p:nvPicPr>
          <p:cNvPr id="4" name="Image 0" descr="A worksheet with two parts. Top: five lines headed as is. Bottom: three rows headed gap, horizon and need, each with blank cell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Write your as-is in five lines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List your top three gaps, each with a horizon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the need, objective or requirement behind each</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Choose your bucket lengths, and say why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Instructor check: the first increment and its trigger</a:t>
            </a:r>
            <a:endParaRPr lang="en-US" sz="3000" dirty="0"/>
          </a:p>
        </p:txBody>
      </p:sp>
      <p:sp>
        <p:nvSpPr>
          <p:cNvPr id="3" name="Text 1"/>
          <p:cNvSpPr/>
          <p:nvPr/>
        </p:nvSpPr>
        <p:spPr>
          <a:xfrm>
            <a:off x="548640" y="128016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State your first increment after the baseline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Its entry trigger: what evidence starts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unknown that gates it, and who closes it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seven-day plan for Lab L6; the notes name the lead role for each step.</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Close: the next seven days</a:t>
            </a:r>
            <a:endParaRPr lang="en-US" sz="3000" dirty="0"/>
          </a:p>
        </p:txBody>
      </p:sp>
      <p:pic>
        <p:nvPicPr>
          <p:cNvPr id="4" name="Image 0" descr="Four rows of days: days 1–3, gaps, technology plan; days 3–5, increments, unknowns, AROU; days 5–6, impact, review, graphic; day 7, integrate and upload.">    </p:cNvPr>
          <p:cNvPicPr>
            <a:picLocks noChangeAspect="1"/>
          </p:cNvPicPr>
          <p:nvPr/>
        </p:nvPicPr>
        <p:blipFill>
          <a:blip r:embed="rId1"/>
          <a:stretch>
            <a:fillRect/>
          </a:stretch>
        </p:blipFill>
        <p:spPr>
          <a:xfrm>
            <a:off x="548640" y="1702805"/>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Days 1–3: gaps and the technology plan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Days 3–5: increments, unknowns, AROU update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Days 5–6: impact list, baseline review, graphic</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Day 7: integration and upload; quiz Q6 opens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R12 · SEBoK v2.14 (2026), “Enterprise Capability Management”, p.860–863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p.565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R24 · SEBoK v2.14 (2026), “System Resilience”, p.1203, 1205, 1208–1210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R25 · SEBoK v2.14 (2026), “System Security”, p.1231, 1234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R26 · SEBoK v2.14 (2026), “Capability Updates, Upgrades, and Modernization”, p.681–684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R46 · OUSD(R&amp;E) Systems Engineering Guidebook (2021/2022), “Risk Management Process”, p.126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R47 · OUSD(R&amp;E) Systems Engineering Guidebook (2021/2022), “Interface Management Process”, p.139</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R60 · The MITRE Systems Engineering Guide (2014), “Assessing Technical Maturity”, p.525–526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R105 · The MITRE Systems Engineering Guide (2014), “Technology Planning”, p.528–531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R106 · The MITRE Systems Engineering Guide (2014), “Evolutionary Acquisition”, p.582–585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R107 · The MITRE Systems Engineering Guide (2014), “Implementation, O&amp;M, and Transition”, p.447–449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R108 · SEBoK v2.14 (2026), “Development Approach Concepts”, p.391–393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R109 · The MITRE Systems Engineering Guide (2014), “Architectures Federation”, p.131–132</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Session 2: Evolution Roadmap</dc:title>
  <dc:subject>Systems Thinking and MBSE with SysML v2</dc:subject>
  <dc:creator>SysML Learning Studio (generated)</dc:creator>
  <cp:lastModifiedBy>SysML Learning Studio (generated)</cp:lastModifiedBy>
  <cp:revision>1</cp:revision>
  <dcterms:created xsi:type="dcterms:W3CDTF">2026-10-27T14:48:08Z</dcterms:created>
  <dcterms:modified xsi:type="dcterms:W3CDTF">2026-10-27T14:48:08Z</dcterms:modified>
</cp:coreProperties>
</file>