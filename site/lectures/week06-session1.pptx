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6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6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 y="1234440"/>
            <a:ext cx="9144000" cy="365760"/>
          </a:xfrm>
          <a:prstGeom prst="rect">
            <a:avLst/>
          </a:prstGeom>
          <a:noFill/>
          <a:ln/>
        </p:spPr>
        <p:txBody>
          <a:bodyPr wrap="square" lIns="0" tIns="0" rIns="0" bIns="0" rtlCol="0" anchor="ctr"/>
          <a:lstStyle/>
          <a:p>
            <a:pPr indent="0" marL="0">
              <a:buNone/>
            </a:pPr>
            <a:r>
              <a:rPr lang="en-US" sz="1600" b="1" spc="200" kern="0" dirty="0">
                <a:solidFill>
                  <a:srgbClr val="0F6E8C"/>
                </a:solidFill>
                <a:latin typeface="Calibri" pitchFamily="34" charset="0"/>
                <a:ea typeface="Calibri" pitchFamily="34" charset="-122"/>
                <a:cs typeface="Calibri" pitchFamily="34" charset="-120"/>
              </a:rPr>
              <a:t>WEEK 6 · SESSION 1</a:t>
            </a:r>
            <a:endParaRPr lang="en-US" sz="1600" dirty="0"/>
          </a:p>
        </p:txBody>
      </p:sp>
      <p:sp>
        <p:nvSpPr>
          <p:cNvPr id="3" name="Text 1"/>
          <p:cNvSpPr/>
          <p:nvPr/>
        </p:nvSpPr>
        <p:spPr>
          <a:xfrm>
            <a:off x="1005840" y="1645920"/>
            <a:ext cx="10058400" cy="1463040"/>
          </a:xfrm>
          <a:prstGeom prst="rect">
            <a:avLst/>
          </a:prstGeom>
          <a:noFill/>
          <a:ln/>
        </p:spPr>
        <p:txBody>
          <a:bodyPr wrap="square" lIns="0" tIns="0" rIns="0" bIns="0" rtlCol="0" anchor="t"/>
          <a:lstStyle/>
          <a:p>
            <a:pPr indent="0" marL="0">
              <a:buNone/>
            </a:pPr>
            <a:r>
              <a:rPr lang="en-US" sz="4400" b="1" dirty="0">
                <a:solidFill>
                  <a:srgbClr val="18202D"/>
                </a:solidFill>
                <a:latin typeface="Calibri" pitchFamily="34" charset="0"/>
                <a:ea typeface="Calibri" pitchFamily="34" charset="-122"/>
                <a:cs typeface="Calibri" pitchFamily="34" charset="-120"/>
              </a:rPr>
              <a:t>Evolution Roadmap</a:t>
            </a:r>
            <a:endParaRPr lang="en-US" sz="4400" dirty="0"/>
          </a:p>
        </p:txBody>
      </p:sp>
      <p:sp>
        <p:nvSpPr>
          <p:cNvPr id="4" name="Text 2"/>
          <p:cNvSpPr/>
          <p:nvPr/>
        </p:nvSpPr>
        <p:spPr>
          <a:xfrm>
            <a:off x="1005840" y="3200400"/>
            <a:ext cx="10058400" cy="548640"/>
          </a:xfrm>
          <a:prstGeom prst="rect">
            <a:avLst/>
          </a:prstGeom>
          <a:noFill/>
          <a:ln/>
        </p:spPr>
        <p:txBody>
          <a:bodyPr wrap="square" lIns="0" tIns="0" rIns="0" bIns="0" rtlCol="0" anchor="ctr"/>
          <a:lstStyle/>
          <a:p>
            <a:pPr indent="0" marL="0">
              <a:buNone/>
            </a:pPr>
            <a:r>
              <a:rPr lang="en-US" sz="2200" dirty="0">
                <a:solidFill>
                  <a:srgbClr val="566071"/>
                </a:solidFill>
                <a:latin typeface="Calibri" pitchFamily="34" charset="0"/>
                <a:ea typeface="Calibri" pitchFamily="34" charset="-122"/>
                <a:cs typeface="Calibri" pitchFamily="34" charset="-120"/>
              </a:rPr>
              <a:t>Session 1: From capability gaps to a technology plan</a:t>
            </a:r>
            <a:endParaRPr lang="en-US" sz="2200" dirty="0"/>
          </a:p>
        </p:txBody>
      </p:sp>
      <p:sp>
        <p:nvSpPr>
          <p:cNvPr id="5" name="Text 3"/>
          <p:cNvSpPr/>
          <p:nvPr/>
        </p:nvSpPr>
        <p:spPr>
          <a:xfrm>
            <a:off x="1005840" y="3931920"/>
            <a:ext cx="7772400" cy="2029968"/>
          </a:xfrm>
          <a:prstGeom prst="rect">
            <a:avLst/>
          </a:prstGeom>
          <a:noFill/>
          <a:ln/>
        </p:spPr>
        <p:txBody>
          <a:bodyPr wrap="square" lIns="25400" tIns="25400" rIns="25400" bIns="25400" rtlCol="0" anchor="t"/>
          <a:lstStyle/>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Today: capability gaps over three horizons, increments, the technology plan</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Session 2: transition, the AeroLink roadmap and the Lab L6 launch</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Your Team Record grows: roadmap, technology plan, known unknowns, baseline review</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After the Year-2 decision the board sees three branches and asks which comes first.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after the Year-2 decision, what comes next?</a:t>
            </a:r>
            <a:endParaRPr lang="en-US" sz="3000" dirty="0"/>
          </a:p>
        </p:txBody>
      </p:sp>
      <p:pic>
        <p:nvPicPr>
          <p:cNvPr id="4" name="Image 0" descr="A road runs from the left, labeled Year 2: 16 aircraft, four hubs. At a fork with a question mark it splits into three branches to the right, labeled autonomy, more capacity and integrated ticketing.">    </p:cNvPr>
          <p:cNvPicPr>
            <a:picLocks noChangeAspect="1"/>
          </p:cNvPicPr>
          <p:nvPr/>
        </p:nvPicPr>
        <p:blipFill>
          <a:blip r:embed="rId1"/>
          <a:stretch>
            <a:fillRect/>
          </a:stretch>
        </p:blipFill>
        <p:spPr>
          <a:xfrm>
            <a:off x="548640" y="1702805"/>
            <a:ext cx="6379289" cy="3728615"/>
          </a:xfrm>
          <a:prstGeom prst="rect">
            <a:avLst/>
          </a:prstGeom>
        </p:spPr>
      </p:pic>
      <p:sp>
        <p:nvSpPr>
          <p:cNvPr id="5" name="Shape 2"/>
          <p:cNvSpPr/>
          <p:nvPr/>
        </p:nvSpPr>
        <p:spPr>
          <a:xfrm>
            <a:off x="7293689" y="1280160"/>
            <a:ext cx="4349366" cy="1320546"/>
          </a:xfrm>
          <a:prstGeom prst="roundRect">
            <a:avLst>
              <a:gd name="adj" fmla="val 4155"/>
            </a:avLst>
          </a:prstGeom>
          <a:solidFill>
            <a:srgbClr val="ECEFF3"/>
          </a:solidFill>
          <a:ln w="12700">
            <a:solidFill>
              <a:srgbClr val="D3D9E1"/>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SCENARIO (FICTIONAL)</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Week 3 decided AeroLink’s Year-2 plan: four more aircraft and a fourth hub. The board asks what comes next.</a:t>
            </a:r>
            <a:endParaRPr lang="en-US" sz="1200" dirty="0"/>
          </a:p>
        </p:txBody>
      </p:sp>
      <p:sp>
        <p:nvSpPr>
          <p:cNvPr id="7" name="Text 4"/>
          <p:cNvSpPr/>
          <p:nvPr/>
        </p:nvSpPr>
        <p:spPr>
          <a:xfrm>
            <a:off x="7293689" y="2765298"/>
            <a:ext cx="4349366"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autonomous operations first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 more capacity first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 integrated ticketing first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 none of the three first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Weeks 1 to 5 say why, what and where; the roadmap adds when and in what order, and feeds Weeks 7, 13 and 14.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Where Week 6 sits: the roadmap reads every earlier artifact</a:t>
            </a:r>
            <a:endParaRPr lang="en-US" sz="3000" dirty="0"/>
          </a:p>
        </p:txBody>
      </p:sp>
      <p:pic>
        <p:nvPicPr>
          <p:cNvPr id="4" name="Image 0" descr="Five input boxes on the left, one per earlier week: Week 1 needs, Week 2 requirements, Week 3 readiness, Week 4 architecture, Week 5 interfaces. Arrows converge on a central box, Week 6 roadmap. Three arrows leave it to the right: Week 7 package, Week 13 analysis, Week 14 model change.">    </p:cNvPr>
          <p:cNvPicPr>
            <a:picLocks noChangeAspect="1"/>
          </p:cNvPicPr>
          <p:nvPr/>
        </p:nvPicPr>
        <p:blipFill>
          <a:blip r:embed="rId1"/>
          <a:stretch>
            <a:fillRect/>
          </a:stretch>
        </p:blipFill>
        <p:spPr>
          <a:xfrm>
            <a:off x="548640" y="1702805"/>
            <a:ext cx="6379289" cy="3728615"/>
          </a:xfrm>
          <a:prstGeom prst="rect">
            <a:avLst/>
          </a:prstGeom>
        </p:spPr>
      </p:pic>
      <p:sp>
        <p:nvSpPr>
          <p:cNvPr id="5" name="Text 2"/>
          <p:cNvSpPr/>
          <p:nvPr/>
        </p:nvSpPr>
        <p:spPr>
          <a:xfrm>
            <a:off x="7293689" y="1280160"/>
            <a:ext cx="4349366" cy="300024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Weeks 1–2: why change, for whom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3: what is ready, what was decided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Weeks 4–5: where change lands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6 adds when, and in what order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Out: Week 7 package, Week 13 analysis, Week 14 model change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R39t p.1445; R109 p.131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Architecture includes the principles of its evolution</a:t>
            </a:r>
            <a:endParaRPr lang="en-US" sz="3000" dirty="0"/>
          </a:p>
        </p:txBody>
      </p:sp>
      <p:sp>
        <p:nvSpPr>
          <p:cNvPr id="4" name="Shape 2"/>
          <p:cNvSpPr/>
          <p:nvPr/>
        </p:nvSpPr>
        <p:spPr>
          <a:xfrm>
            <a:off x="548640" y="1280160"/>
            <a:ext cx="11094415" cy="1872996"/>
          </a:xfrm>
          <a:prstGeom prst="rect">
            <a:avLst/>
          </a:prstGeom>
          <a:solidFill>
            <a:srgbClr val="E1EFF4"/>
          </a:solidFill>
          <a:ln w="12700">
            <a:solidFill>
              <a:srgbClr val="E1EFF4"/>
            </a:solidFill>
            <a:prstDash val="solid"/>
          </a:ln>
        </p:spPr>
      </p:sp>
      <p:sp>
        <p:nvSpPr>
          <p:cNvPr id="5" name="Shape 3"/>
          <p:cNvSpPr/>
          <p:nvPr/>
        </p:nvSpPr>
        <p:spPr>
          <a:xfrm>
            <a:off x="548640" y="1280160"/>
            <a:ext cx="73152" cy="1872996"/>
          </a:xfrm>
          <a:prstGeom prst="rect">
            <a:avLst/>
          </a:prstGeom>
          <a:solidFill>
            <a:srgbClr val="0F6E8C"/>
          </a:solidFill>
          <a:ln w="12700">
            <a:solidFill>
              <a:srgbClr val="0F6E8C"/>
            </a:solidFill>
            <a:prstDash val="solid"/>
          </a:ln>
        </p:spPr>
      </p:sp>
      <p:sp>
        <p:nvSpPr>
          <p:cNvPr id="6" name="Text 4"/>
          <p:cNvSpPr/>
          <p:nvPr/>
        </p:nvSpPr>
        <p:spPr>
          <a:xfrm>
            <a:off x="777240" y="1280160"/>
            <a:ext cx="10728655" cy="1872996"/>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ARCHITECTURE</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Fundamental concepts or properties of a system in its environment embodied in its elements, relationships, and in the principles of its design and evolution</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R39t · SEBoK v2.14 (2026), "Architecture (glossary)", p.1445</a:t>
            </a:r>
            <a:endParaRPr lang="en-US" sz="1300" dirty="0"/>
          </a:p>
        </p:txBody>
      </p:sp>
      <p:sp>
        <p:nvSpPr>
          <p:cNvPr id="7" name="Text 5"/>
          <p:cNvSpPr/>
          <p:nvPr/>
        </p:nvSpPr>
        <p:spPr>
          <a:xfrm>
            <a:off x="548640" y="3317748"/>
            <a:ext cx="11094415" cy="89408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Evolution is part of the architecture, not an appendix</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4 described the architecture; Week 6 plans its evolution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baseline trajectory is where current plans lead; capability management vectors the enterprise toward a better one.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 p.860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Three kinds of capability, and the baseline trajectory</a:t>
            </a:r>
            <a:endParaRPr lang="en-US" sz="3000" dirty="0"/>
          </a:p>
        </p:txBody>
      </p:sp>
      <p:pic>
        <p:nvPicPr>
          <p:cNvPr id="4" name="Image 0" descr="A chart with time running right from now through near, mid and far, and capability rising upward. A dashed line labeled baseline trajectory rises slowly. A solid line above it, labeled desired trajectory, rises faster. A curved arrow from the dashed line to the solid line is labeled vectoring.">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Three kinds: organizational, system and operational capability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baseline: current capability plus what is already planned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Capability management vectors the enterprise toward its goals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within its resources and other limits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desired levels and baseline trajectory in three horizons; compare the near-term levels before reading 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 p.861; R12 p.862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Operational needs, capability gaps and excesses over horizons</a:t>
            </a:r>
            <a:endParaRPr lang="en-US" sz="3000" dirty="0"/>
          </a:p>
        </p:txBody>
      </p:sp>
      <p:pic>
        <p:nvPicPr>
          <p:cNvPr id="4" name="Image 0" descr="Three columns, near term, mid term and far term. In the near column two bars labeled 300 (desired) and 320 (baseline at month 24); the difference between them is not labeled. In the mid column two boxes: desired, service in a grid outage; baseline, none. In the far column: desired, remote supervision; baseline, pilot aboard.">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671316"/>
          </a:xfrm>
          <a:prstGeom prst="rect">
            <a:avLst/>
          </a:prstGeom>
          <a:noFill/>
          <a:ln/>
        </p:spPr>
        <p:txBody>
          <a:bodyPr wrap="square" lIns="25400" tIns="25400" rIns="25400" bIns="25400" rtlCol="0" anchor="t"/>
          <a:lstStyle/>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Desired levels come from the needs</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Compare the desired capability with the baseline</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The comparison finds gaps and excesses</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Gap: baseline below desired; excess: baseline above it</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Map them to near-, mid- and far-term buckets</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Choose bucket lengths that fit how fast your enterprise changes</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gap becomes candidate changes to the architecture; the candidates depend on each other, so they are judged as a portfolio.</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 p.862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From gaps to changes: architecture, opportunities, portfolio</a:t>
            </a:r>
            <a:endParaRPr lang="en-US" sz="3000" dirty="0"/>
          </a:p>
        </p:txBody>
      </p:sp>
      <p:pic>
        <p:nvPicPr>
          <p:cNvPr id="4" name="Image 0" descr="On the left a box labeled gap. Arrows lead to three cards in the middle, labeled add, change and drop. On the right the cards sit inside a portfolio box, joined by dependency lines to each other and to boxes labeled operations and partner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5377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Architecture shows where elements are added, dropped or changed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change has benefits, costs and risks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Opportunities depend on each other, on operations and on partners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So assess them as a portfolio, each with a business case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 p.863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enterprise plan and managing change</a:t>
            </a:r>
            <a:endParaRPr lang="en-US" sz="3000" dirty="0"/>
          </a:p>
        </p:txBody>
      </p:sp>
      <p:sp>
        <p:nvSpPr>
          <p:cNvPr id="4" name="Shape 2"/>
          <p:cNvSpPr/>
          <p:nvPr/>
        </p:nvSpPr>
        <p:spPr>
          <a:xfrm>
            <a:off x="548640" y="1280160"/>
            <a:ext cx="6379289" cy="1583944"/>
          </a:xfrm>
          <a:prstGeom prst="roundRect">
            <a:avLst>
              <a:gd name="adj" fmla="val 3464"/>
            </a:avLst>
          </a:prstGeom>
          <a:solidFill>
            <a:srgbClr val="E1EFF4"/>
          </a:solidFill>
          <a:ln w="12700">
            <a:solidFill>
              <a:srgbClr val="0F6E8C"/>
            </a:solidFill>
            <a:prstDash val="solid"/>
          </a:ln>
        </p:spPr>
      </p:sp>
      <p:sp>
        <p:nvSpPr>
          <p:cNvPr id="5" name="Text 3"/>
          <p:cNvSpPr/>
          <p:nvPr/>
        </p:nvSpPr>
        <p:spPr>
          <a:xfrm>
            <a:off x="685800" y="1280160"/>
            <a:ext cx="6104969" cy="1583944"/>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THE ENTERPRISE PLAN</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Opportunities laid out over a long horizon, aligned with strategic goals; each planned change has a performance target that is monitored, and the plan is adjusted as needed.</a:t>
            </a:r>
            <a:endParaRPr lang="en-US" sz="1200" dirty="0"/>
          </a:p>
        </p:txBody>
      </p:sp>
      <p:sp>
        <p:nvSpPr>
          <p:cNvPr id="6" name="Text 4"/>
          <p:cNvSpPr/>
          <p:nvPr/>
        </p:nvSpPr>
        <p:spPr>
          <a:xfrm>
            <a:off x="7293689" y="1280160"/>
            <a:ext cx="4349366" cy="238048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Seven lenses for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strategic objectives, stakeholders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processes, performance metrics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current state alignment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resources, maturity assessment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snapshots and a path of increments between them; other paths are possible, and views help compare them.</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R109 p.131; R109 p.132; R62 p.345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As is, to be, and the roadmap between them</a:t>
            </a:r>
            <a:endParaRPr lang="en-US" sz="3000" dirty="0"/>
          </a:p>
        </p:txBody>
      </p:sp>
      <p:pic>
        <p:nvPicPr>
          <p:cNvPr id="4" name="Image 0" descr="On the left a small box labeled as is; on the right a larger box labeled to be. Between them a staircase of three steps labeled Inc 1, Inc 2 and Inc 3. A thinner dashed staircase below is labeled another path.">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Enterprise architecture: a snapshot of the current environment and of the target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plus an investment roadmap from “as is” to “to be”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As-is and to-be views show migration paths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Architectures help assess different evolutionary paths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development approaches under a bracket “development stage only”; the enterprise roadmap runs above them, through operation.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R108 p.391; R108 p.392; R108 p.393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Development approaches: sequential, incremental, evolutionary</a:t>
            </a:r>
            <a:endParaRPr lang="en-US" sz="3000" dirty="0"/>
          </a:p>
        </p:txBody>
      </p:sp>
      <p:pic>
        <p:nvPicPr>
          <p:cNvPr id="4" name="Image 0" descr="Three small strips side by side. Sequential: one long block. Incremental: blocks of growing size in a row. Evolutionary: a chain of loops. A bracket under all three reads development stage only. Above them a long arrow reads enterprise roadmap, through operation.">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Sequential, incremental and evolutionary; the groups overlap</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Grouped by how well requirements are known and what increments are for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adjectives apply to the development stage only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 each increment, say which development approach fits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Above, the end state is known and maturing technology fills it; below, the end state emerges with each increment.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R106 p.582; R106 p.583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Evolutionary acquisition: two ways to define increments</a:t>
            </a:r>
            <a:endParaRPr lang="en-US" sz="3000" dirty="0"/>
          </a:p>
        </p:txBody>
      </p:sp>
      <p:pic>
        <p:nvPicPr>
          <p:cNvPr id="4" name="Image 0" descr="Two timelines, each with three numbered increments. The upper one ends in a solid box labeled end state defined. The lower one ends in a dashed cloud labeled end state emerge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8475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Deliver capability in increments, planning for future improvement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Insert new technology when it is sufficiently mature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Approach 1: end state known; maturing technology sets each increment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Approach 2: end state unknown; technology matched with evolving needs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R106 p.583; R106 p.584; R106 p.585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Five lessons for planning increments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On AeroLink</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Architecture first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Every increment builds on the platform (DEC-002)</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Expect change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Increments 1 to 3 are revised each review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Users drive content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Operator workload sets the autonomy limit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No technology before its time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Autonomy waits for TRL 6 evidence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Parallel developments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Increments 1 and 2 run in parallel under configuration management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886200"/>
            <a:ext cx="11094415" cy="274320"/>
          </a:xfrm>
          <a:prstGeom prst="rect">
            <a:avLst/>
          </a:prstGeom>
          <a:noFill/>
          <a:ln/>
        </p:spPr>
        <p:txBody>
          <a:bodyPr wrap="square" lIns="0" tIns="0" rIns="0" bIns="0" rtlCol="0" anchor="ctr"/>
          <a:lstStyle/>
          <a:p>
            <a:pPr indent="0" marL="0">
              <a:buNone/>
            </a:pPr>
            <a:r>
              <a:rPr lang="en-US" sz="1100" i="1" dirty="0">
                <a:solidFill>
                  <a:srgbClr val="566071"/>
                </a:solidFill>
                <a:latin typeface="Calibri" pitchFamily="34" charset="0"/>
                <a:ea typeface="Calibri" pitchFamily="34" charset="-122"/>
                <a:cs typeface="Calibri" pitchFamily="34" charset="-120"/>
              </a:rPr>
              <a:t>Lessons from MITRE’s evolutionary acquisition article.</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planned path relies on a maturing technology; the off-ramp uses mature technology and rejoins the roadmap.</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R46 p.126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Deferral and off-ramps as risk control</a:t>
            </a:r>
            <a:endParaRPr lang="en-US" sz="3000" dirty="0"/>
          </a:p>
        </p:txBody>
      </p:sp>
      <p:pic>
        <p:nvPicPr>
          <p:cNvPr id="4" name="Image 0" descr="A timeline from left to right labeled planned technology. At a junction a dashed path branches below, labeled off-ramp: mature technology, and rejoins the timeline further right.">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Defer capability to a follow-on increment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Limit the number of critical technologies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Off-ramp: a contingency to use mature technology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rule: an increment that inserts an immature technology needs an off-ramp</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Mission objectives and gaps drive the technology plan; technology evaluations inform it.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R105 p.528; R105 p.529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technology planning is</a:t>
            </a:r>
            <a:endParaRPr lang="en-US" sz="3000" dirty="0"/>
          </a:p>
        </p:txBody>
      </p:sp>
      <p:pic>
        <p:nvPicPr>
          <p:cNvPr id="4" name="Image 0" descr="Three boxes. On the left, objectives and gaps, with an arrow labeled drives pointing to the box below, technology plan. On the right, technology evaluations, with an arrow labeled informs pointing to the same box.">    </p:cNvPr>
          <p:cNvPicPr>
            <a:picLocks noChangeAspect="1"/>
          </p:cNvPicPr>
          <p:nvPr/>
        </p:nvPicPr>
        <p:blipFill>
          <a:blip r:embed="rId1"/>
          <a:stretch>
            <a:fillRect/>
          </a:stretch>
        </p:blipFill>
        <p:spPr>
          <a:xfrm>
            <a:off x="548640" y="1621462"/>
            <a:ext cx="6379289" cy="3728615"/>
          </a:xfrm>
          <a:prstGeom prst="rect">
            <a:avLst/>
          </a:prstGeom>
        </p:spPr>
      </p:pic>
      <p:sp>
        <p:nvSpPr>
          <p:cNvPr id="5" name="Shape 2"/>
          <p:cNvSpPr/>
          <p:nvPr/>
        </p:nvSpPr>
        <p:spPr>
          <a:xfrm>
            <a:off x="7293689" y="1280160"/>
            <a:ext cx="4349366" cy="2027936"/>
          </a:xfrm>
          <a:prstGeom prst="rect">
            <a:avLst/>
          </a:prstGeom>
          <a:solidFill>
            <a:srgbClr val="E1EFF4"/>
          </a:solidFill>
          <a:ln w="12700">
            <a:solidFill>
              <a:srgbClr val="E1EFF4"/>
            </a:solidFill>
            <a:prstDash val="solid"/>
          </a:ln>
        </p:spPr>
      </p:sp>
      <p:sp>
        <p:nvSpPr>
          <p:cNvPr id="6" name="Shape 3"/>
          <p:cNvSpPr/>
          <p:nvPr/>
        </p:nvSpPr>
        <p:spPr>
          <a:xfrm>
            <a:off x="7293689" y="1280160"/>
            <a:ext cx="73152" cy="2027936"/>
          </a:xfrm>
          <a:prstGeom prst="rect">
            <a:avLst/>
          </a:prstGeom>
          <a:solidFill>
            <a:srgbClr val="0F6E8C"/>
          </a:solidFill>
          <a:ln w="12700">
            <a:solidFill>
              <a:srgbClr val="0F6E8C"/>
            </a:solidFill>
            <a:prstDash val="solid"/>
          </a:ln>
        </p:spPr>
      </p:sp>
      <p:sp>
        <p:nvSpPr>
          <p:cNvPr id="7" name="Text 4"/>
          <p:cNvSpPr/>
          <p:nvPr/>
        </p:nvSpPr>
        <p:spPr>
          <a:xfrm>
            <a:off x="7522289" y="1280160"/>
            <a:ext cx="3983606" cy="2027936"/>
          </a:xfrm>
          <a:prstGeom prst="rect">
            <a:avLst/>
          </a:prstGeom>
          <a:noFill/>
          <a:ln/>
        </p:spPr>
        <p:txBody>
          <a:bodyPr wrap="square" lIns="50800" tIns="50800" rIns="50800" bIns="50800" rtlCol="0" anchor="ctr"/>
          <a:lstStyle/>
          <a:p>
            <a:pPr indent="0" marL="0">
              <a:buNone/>
            </a:pPr>
            <a:r>
              <a:rPr lang="en-US" sz="1100" b="1" spc="100" kern="0" dirty="0">
                <a:solidFill>
                  <a:srgbClr val="18202D"/>
                </a:solidFill>
                <a:latin typeface="Calibri" pitchFamily="34" charset="0"/>
                <a:ea typeface="Calibri" pitchFamily="34" charset="-122"/>
                <a:cs typeface="Calibri" pitchFamily="34" charset="-120"/>
              </a:rPr>
              <a:t>TECHNOLOGY PLANNING</a:t>
            </a:r>
            <a:endParaRPr lang="en-US" sz="1100" dirty="0"/>
          </a:p>
          <a:p>
            <a:pPr indent="0" marL="0">
              <a:buNone/>
            </a:pPr>
            <a:r>
              <a:rPr lang="en-US" sz="1900" dirty="0">
                <a:solidFill>
                  <a:srgbClr val="18202D"/>
                </a:solidFill>
                <a:latin typeface="Calibri" pitchFamily="34" charset="0"/>
                <a:ea typeface="Calibri" pitchFamily="34" charset="-122"/>
                <a:cs typeface="Calibri" pitchFamily="34" charset="-120"/>
              </a:rPr>
              <a:t>The process of planning the technical evolution of a program or system to achieve its future vision or end-state</a:t>
            </a:r>
            <a:endParaRPr lang="en-US" sz="1100" dirty="0"/>
          </a:p>
          <a:p>
            <a:pPr indent="0" marL="0">
              <a:spcBef>
                <a:spcPts val="600"/>
              </a:spcBef>
              <a:buNone/>
            </a:pPr>
            <a:r>
              <a:rPr lang="en-US" sz="1000" dirty="0">
                <a:solidFill>
                  <a:srgbClr val="0F6E8C"/>
                </a:solidFill>
                <a:latin typeface="Calibri" pitchFamily="34" charset="0"/>
                <a:ea typeface="Calibri" pitchFamily="34" charset="-122"/>
                <a:cs typeface="Calibri" pitchFamily="34" charset="-120"/>
              </a:rPr>
              <a:t>R105 · The MITRE Systems Engineering Guide (2014), "Technology Planning", p.528</a:t>
            </a:r>
            <a:endParaRPr lang="en-US" sz="1100" dirty="0"/>
          </a:p>
        </p:txBody>
      </p:sp>
      <p:sp>
        <p:nvSpPr>
          <p:cNvPr id="8" name="Text 5"/>
          <p:cNvSpPr/>
          <p:nvPr/>
        </p:nvSpPr>
        <p:spPr>
          <a:xfrm>
            <a:off x="7293689" y="3472688"/>
            <a:ext cx="4349366" cy="1937004"/>
          </a:xfrm>
          <a:prstGeom prst="rect">
            <a:avLst/>
          </a:prstGeom>
          <a:noFill/>
          <a:ln/>
        </p:spPr>
        <p:txBody>
          <a:bodyPr wrap="square" lIns="25400" tIns="25400" rIns="25400" bIns="25400" rtlCol="0" anchor="t"/>
          <a:lstStyle/>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Needs and gaps drive the technology needs</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Technology evaluations inform the plan</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The plan is the roadmap for closing the gaps</a:t>
            </a:r>
            <a:endParaRPr lang="en-US" sz="17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columns for every technology brought to bear, and a fourth for its insertion point.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R105 p.529; R105 p.530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contents of a technology plan</a:t>
            </a:r>
            <a:endParaRPr lang="en-US" sz="3000" dirty="0"/>
          </a:p>
        </p:txBody>
      </p:sp>
      <p:pic>
        <p:nvPicPr>
          <p:cNvPr id="4" name="Image 0" descr="A table outline with three columns, available now, in development and not yet existing, and a fourth column, insertion point. Each row has a dot in one category column and an arrow to a diamond labeled INC.">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plan lists every technology brought to bear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Is each available now, in development, or not yet existing?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Those in development are listed with their maturity levels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Insertion point: the increment that brings it in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Immature technologies carry a risk and a mitigation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Define the end state within the horizon, then plan backward to today, with feedback points to measure progress.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R105 p.530; R105 p.531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Forming the roadmap: the practice steps</a:t>
            </a:r>
            <a:endParaRPr lang="en-US" sz="3000" dirty="0"/>
          </a:p>
        </p:txBody>
      </p:sp>
      <p:pic>
        <p:nvPicPr>
          <p:cNvPr id="4" name="Image 0" descr="A long arrow pointing left, from a box labeled end state, year 5–10, back to a box labeled today. Along it four numbered markers, counted back from the end state: 1 core technologies, 2 feedback measures, 3 insertion points, 4 review.">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92988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Define results within a horizon, usually 5–10 years, then work back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Core technologies first; assess their maturation risk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Set a quantifiable feedback system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Form the roadmap: phasing, insertion points, investments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Review it annually or at an agreed period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TRL climbs from laboratory to operation; it does not rate how well a technology fits the architecture absorbing it.</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R60 p.525; R60 p.526; R16 p.767; R16 p.768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maturity evidence can and cannot tell you</a:t>
            </a:r>
            <a:endParaRPr lang="en-US" sz="3000" dirty="0"/>
          </a:p>
        </p:txBody>
      </p:sp>
      <p:pic>
        <p:nvPicPr>
          <p:cNvPr id="4" name="Image 0" descr="A ladder of nine rungs numbered 1 to 9, grouped as laboratory (1 to 4), relevant environment (5 and 6) and operational (7 to 9). A line at rung 6 is labeled DoD threshold practice. Beside the ladder, a separate gauge labeled architecture fit is marked not rated by TRL.">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36200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TRL rates development and testing, from lab to operation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Agree what “relevant environment” means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TRL does not rate fit with the architecture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Integration and system readiness are separate measures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TRL rests on evidence or a labeled assumption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Five candidates with their status, TRL and insertion point left blank for you to fill.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Your turn: classify AeroLink’s technology candidates</a:t>
            </a:r>
            <a:endParaRPr lang="en-US" sz="3000" dirty="0"/>
          </a:p>
        </p:txBody>
      </p:sp>
      <p:pic>
        <p:nvPicPr>
          <p:cNvPr id="4" name="Image 0" descr="A table with four columns, candidate, status, TRL and insertion, and five rows: high-power charging, battery cells, detect-and-avoid, on-site storage and 15-min charger. The status, TRL and insertion columns are blank in every row.">    </p:cNvPr>
          <p:cNvPicPr>
            <a:picLocks noChangeAspect="1"/>
          </p:cNvPicPr>
          <p:nvPr/>
        </p:nvPicPr>
        <p:blipFill>
          <a:blip r:embed="rId1"/>
          <a:stretch>
            <a:fillRect/>
          </a:stretch>
        </p:blipFill>
        <p:spPr>
          <a:xfrm>
            <a:off x="548640" y="1702805"/>
            <a:ext cx="6379289" cy="3728615"/>
          </a:xfrm>
          <a:prstGeom prst="rect">
            <a:avLst/>
          </a:prstGeom>
        </p:spPr>
      </p:pic>
      <p:sp>
        <p:nvSpPr>
          <p:cNvPr id="5" name="Shape 2"/>
          <p:cNvSpPr/>
          <p:nvPr/>
        </p:nvSpPr>
        <p:spPr>
          <a:xfrm>
            <a:off x="7293689" y="1280160"/>
            <a:ext cx="4349366" cy="1057148"/>
          </a:xfrm>
          <a:prstGeom prst="roundRect">
            <a:avLst>
              <a:gd name="adj" fmla="val 5190"/>
            </a:avLst>
          </a:prstGeom>
          <a:solidFill>
            <a:srgbClr val="ECEFF3"/>
          </a:solidFill>
          <a:ln w="12700">
            <a:solidFill>
              <a:srgbClr val="D3D9E1"/>
            </a:solidFill>
            <a:prstDash val="solid"/>
          </a:ln>
        </p:spPr>
      </p:sp>
      <p:sp>
        <p:nvSpPr>
          <p:cNvPr id="6" name="Text 3"/>
          <p:cNvSpPr/>
          <p:nvPr/>
        </p:nvSpPr>
        <p:spPr>
          <a:xfrm>
            <a:off x="7430849" y="1280160"/>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PAIRS, 90 SECONDS</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Use the Week 3 TRLs from your handout.</a:t>
            </a:r>
            <a:endParaRPr lang="en-US" sz="1200" dirty="0"/>
          </a:p>
        </p:txBody>
      </p:sp>
      <p:sp>
        <p:nvSpPr>
          <p:cNvPr id="7" name="Text 4"/>
          <p:cNvSpPr/>
          <p:nvPr/>
        </p:nvSpPr>
        <p:spPr>
          <a:xfrm>
            <a:off x="7293689" y="2501900"/>
            <a:ext cx="4349366" cy="151384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 each: available now, in development, or not yet existing?</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Which increment, if any, inserts it?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technology plan: status, assumed TRL and insertion point for each candidate. (FICTIONAL; TRLs are assumptions)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R105 p.529; R105 p.530; R60 p.525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AeroLink’s technology plan</a:t>
            </a:r>
            <a:endParaRPr lang="en-US" sz="3000" dirty="0"/>
          </a:p>
        </p:txBody>
      </p:sp>
      <p:pic>
        <p:nvPicPr>
          <p:cNvPr id="4" name="Image 0" descr="A table with the columns technology, status, TRL and insertion point. High-power charging: available now, 6 assumed, Year-2 step (baseline). Battery cells: in development, 5 assumed, in service (baseline). Detect-and-avoid: in development, 4 assumed, Increment 3. On-site storage: available now, 8 assumed, Increment 1. 15-min charger: does not yet exist, none, not inserted.">    </p:cNvPr>
          <p:cNvPicPr>
            <a:picLocks noChangeAspect="1"/>
          </p:cNvPicPr>
          <p:nvPr/>
        </p:nvPicPr>
        <p:blipFill>
          <a:blip r:embed="rId1"/>
          <a:stretch>
            <a:fillRect/>
          </a:stretch>
        </p:blipFill>
        <p:spPr>
          <a:xfrm>
            <a:off x="548640" y="1280437"/>
            <a:ext cx="11094415" cy="2729578"/>
          </a:xfrm>
          <a:prstGeom prst="rect">
            <a:avLst/>
          </a:prstGeom>
        </p:spPr>
      </p:pic>
      <p:sp>
        <p:nvSpPr>
          <p:cNvPr id="5" name="Text 2"/>
          <p:cNvSpPr/>
          <p:nvPr/>
        </p:nvSpPr>
        <p:spPr>
          <a:xfrm>
            <a:off x="548640" y="4147452"/>
            <a:ext cx="11094415" cy="160578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Charging: </a:t>
            </a:r>
            <a:pPr indent="0" marL="0">
              <a:buNone/>
            </a:pPr>
            <a:r>
              <a:rPr lang="en-US" sz="1400" dirty="0">
                <a:solidFill>
                  <a:srgbClr val="18202D"/>
                </a:solidFill>
                <a:latin typeface="Calibri" pitchFamily="34" charset="0"/>
                <a:ea typeface="Calibri" pitchFamily="34" charset="-122"/>
                <a:cs typeface="Calibri" pitchFamily="34" charset="-120"/>
              </a:rPr>
              <a:t>Available, TRL 6 assumed: the committed Year-2 step</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Cells: </a:t>
            </a:r>
            <a:pPr indent="0" marL="0">
              <a:buNone/>
            </a:pPr>
            <a:r>
              <a:rPr lang="en-US" sz="1400" dirty="0">
                <a:solidFill>
                  <a:srgbClr val="18202D"/>
                </a:solidFill>
                <a:latin typeface="Calibri" pitchFamily="34" charset="0"/>
                <a:ea typeface="Calibri" pitchFamily="34" charset="-122"/>
                <a:cs typeface="Calibri" pitchFamily="34" charset="-120"/>
              </a:rPr>
              <a:t>TRL 5, already in service: risk tracked</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Autonomy: </a:t>
            </a:r>
            <a:pPr indent="0" marL="0">
              <a:buNone/>
            </a:pPr>
            <a:r>
              <a:rPr lang="en-US" sz="1400" dirty="0">
                <a:solidFill>
                  <a:srgbClr val="18202D"/>
                </a:solidFill>
                <a:latin typeface="Calibri" pitchFamily="34" charset="0"/>
                <a:ea typeface="Calibri" pitchFamily="34" charset="-122"/>
                <a:cs typeface="Calibri" pitchFamily="34" charset="-120"/>
              </a:rPr>
              <a:t>TRL 4: Increment 3, with an off-ramp</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Storage: </a:t>
            </a:r>
            <a:pPr indent="0" marL="0">
              <a:buNone/>
            </a:pPr>
            <a:r>
              <a:rPr lang="en-US" sz="1400" dirty="0">
                <a:solidFill>
                  <a:srgbClr val="18202D"/>
                </a:solidFill>
                <a:latin typeface="Calibri" pitchFamily="34" charset="0"/>
                <a:ea typeface="Calibri" pitchFamily="34" charset="-122"/>
                <a:cs typeface="Calibri" pitchFamily="34" charset="-120"/>
              </a:rPr>
              <a:t>Product mature, integration unproven: Increment 1</a:t>
            </a:r>
            <a:endParaRPr lang="en-US" sz="1400" dirty="0"/>
          </a:p>
          <a:p>
            <a:pPr marL="342900" indent="-342900">
              <a:spcBef>
                <a:spcPts val="600"/>
              </a:spcBef>
              <a:buSzPct val="100000"/>
              <a:buFont typeface="+mj-lt"/>
              <a:buAutoNum type="arabicPeriod" startAt="1"/>
            </a:pPr>
            <a:r>
              <a:rPr lang="en-US" sz="1400" b="1" dirty="0">
                <a:solidFill>
                  <a:srgbClr val="18202D"/>
                </a:solidFill>
                <a:latin typeface="Calibri" pitchFamily="34" charset="0"/>
                <a:ea typeface="Calibri" pitchFamily="34" charset="-122"/>
                <a:cs typeface="Calibri" pitchFamily="34" charset="-120"/>
              </a:rPr>
              <a:t>15-min charger: </a:t>
            </a:r>
            <a:pPr indent="0" marL="0">
              <a:buNone/>
            </a:pPr>
            <a:r>
              <a:rPr lang="en-US" sz="1400" dirty="0">
                <a:solidFill>
                  <a:srgbClr val="18202D"/>
                </a:solidFill>
                <a:latin typeface="Calibri" pitchFamily="34" charset="0"/>
                <a:ea typeface="Calibri" pitchFamily="34" charset="-122"/>
                <a:cs typeface="Calibri" pitchFamily="34" charset="-120"/>
              </a:rPr>
              <a:t>No evidence; adds no trips now: not inserted</a:t>
            </a:r>
            <a:endParaRPr lang="en-US" sz="14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AeroLink known unknowns in the course record, each gating an increment.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p.565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Known unknowns: a managed input to the roadmap</a:t>
            </a:r>
            <a:endParaRPr lang="en-US" sz="3000" dirty="0"/>
          </a:p>
        </p:txBody>
      </p:sp>
      <p:pic>
        <p:nvPicPr>
          <p:cNvPr id="4" name="Image 0" descr="A record with five columns: unknown, impact, information needed, mitigation and gates. Row one: U-009 storage fit (TBD-07); outage service not assured; a one-hub demonstration; keep staggered recharge; Increment 1. Row two: U-004 flights per operator; autonomy cannot be scheduled; a workload analysis; collect the evidence first; Increment 3.">    </p:cNvPr>
          <p:cNvPicPr>
            <a:picLocks noChangeAspect="1"/>
          </p:cNvPicPr>
          <p:nvPr/>
        </p:nvPicPr>
        <p:blipFill>
          <a:blip r:embed="rId1"/>
          <a:stretch>
            <a:fillRect/>
          </a:stretch>
        </p:blipFill>
        <p:spPr>
          <a:xfrm>
            <a:off x="548640" y="1280437"/>
            <a:ext cx="11094415" cy="2729578"/>
          </a:xfrm>
          <a:prstGeom prst="rect">
            <a:avLst/>
          </a:prstGeom>
        </p:spPr>
      </p:pic>
      <p:sp>
        <p:nvSpPr>
          <p:cNvPr id="5" name="Text 2"/>
          <p:cNvSpPr/>
          <p:nvPr/>
        </p:nvSpPr>
        <p:spPr>
          <a:xfrm>
            <a:off x="548640" y="4147452"/>
            <a:ext cx="11094415" cy="1492504"/>
          </a:xfrm>
          <a:prstGeom prst="rect">
            <a:avLst/>
          </a:prstGeom>
          <a:noFill/>
          <a:ln/>
        </p:spPr>
        <p:txBody>
          <a:bodyPr wrap="square" lIns="25400" tIns="25400" rIns="25400" bIns="25400" rtlCol="0" anchor="t"/>
          <a:lstStyle/>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A TBD has no value yet; a TBR has a value held with low confidence</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TBX management names the work, the owner and the closure</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Each known unknown: impact, information needed and mitigation</a:t>
            </a:r>
            <a:endParaRPr lang="en-US" sz="1700" dirty="0"/>
          </a:p>
          <a:p>
            <a:pPr marL="228600" indent="-228600">
              <a:spcBef>
                <a:spcPts val="600"/>
              </a:spcBef>
              <a:buSzPct val="100000"/>
              <a:buChar char="■"/>
            </a:pPr>
            <a:r>
              <a:rPr lang="en-US" sz="1700" dirty="0">
                <a:solidFill>
                  <a:srgbClr val="18202D"/>
                </a:solidFill>
                <a:latin typeface="Calibri" pitchFamily="34" charset="0"/>
                <a:ea typeface="Calibri" pitchFamily="34" charset="-122"/>
                <a:cs typeface="Calibri" pitchFamily="34" charset="-120"/>
              </a:rPr>
              <a:t>Each record names the increment it gates</a:t>
            </a:r>
            <a:endParaRPr lang="en-US" sz="17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horizon lanes and six change cards, not yet placed: Session 2 places them with reasons.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Think, pair, share: place six AeroLink changes on the horizons</a:t>
            </a:r>
            <a:endParaRPr lang="en-US" sz="3000" dirty="0"/>
          </a:p>
        </p:txBody>
      </p:sp>
      <p:pic>
        <p:nvPicPr>
          <p:cNvPr id="4" name="Image 0" descr="Three empty lanes labeled near term, mid term and far term across the top. Below, six unplaced cards: on-site storage, integrated ticketing, charger leasing, predictive maintenance, demand re-forecast and autonomy.">    </p:cNvPr>
          <p:cNvPicPr>
            <a:picLocks noChangeAspect="1"/>
          </p:cNvPicPr>
          <p:nvPr/>
        </p:nvPicPr>
        <p:blipFill>
          <a:blip r:embed="rId1"/>
          <a:stretch>
            <a:fillRect/>
          </a:stretch>
        </p:blipFill>
        <p:spPr>
          <a:xfrm>
            <a:off x="548640" y="1702805"/>
            <a:ext cx="6379289" cy="3728615"/>
          </a:xfrm>
          <a:prstGeom prst="rect">
            <a:avLst/>
          </a:prstGeom>
        </p:spPr>
      </p:pic>
      <p:sp>
        <p:nvSpPr>
          <p:cNvPr id="5" name="Shape 2"/>
          <p:cNvSpPr/>
          <p:nvPr/>
        </p:nvSpPr>
        <p:spPr>
          <a:xfrm>
            <a:off x="7293689" y="1280160"/>
            <a:ext cx="4349366" cy="1057148"/>
          </a:xfrm>
          <a:prstGeom prst="roundRect">
            <a:avLst>
              <a:gd name="adj" fmla="val 5190"/>
            </a:avLst>
          </a:prstGeom>
          <a:solidFill>
            <a:srgbClr val="ECEFF3"/>
          </a:solidFill>
          <a:ln w="12700">
            <a:solidFill>
              <a:srgbClr val="D3D9E1"/>
            </a:solidFill>
            <a:prstDash val="solid"/>
          </a:ln>
        </p:spPr>
      </p:sp>
      <p:sp>
        <p:nvSpPr>
          <p:cNvPr id="6" name="Text 3"/>
          <p:cNvSpPr/>
          <p:nvPr/>
        </p:nvSpPr>
        <p:spPr>
          <a:xfrm>
            <a:off x="7430849" y="1280160"/>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PAIRS, TWO MINUTES</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Place each card, then name what sets it.</a:t>
            </a:r>
            <a:endParaRPr lang="en-US" sz="1200" dirty="0"/>
          </a:p>
        </p:txBody>
      </p:sp>
      <p:sp>
        <p:nvSpPr>
          <p:cNvPr id="7" name="Text 4"/>
          <p:cNvSpPr/>
          <p:nvPr/>
        </p:nvSpPr>
        <p:spPr>
          <a:xfrm>
            <a:off x="7293689" y="2501900"/>
            <a:ext cx="4349366" cy="151384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Place six AeroLink changes on near, mid or far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 each, name the evidence or the unknown that sets it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one change you would not make yet; preparation for Session 2</a:t>
            </a:r>
            <a:endParaRPr lang="en-US" sz="3000" dirty="0"/>
          </a:p>
        </p:txBody>
      </p:sp>
      <p:sp>
        <p:nvSpPr>
          <p:cNvPr id="3" name="Shape 1"/>
          <p:cNvSpPr/>
          <p:nvPr/>
        </p:nvSpPr>
        <p:spPr>
          <a:xfrm>
            <a:off x="548640" y="1280160"/>
            <a:ext cx="6379289" cy="1320546"/>
          </a:xfrm>
          <a:prstGeom prst="roundRect">
            <a:avLst>
              <a:gd name="adj" fmla="val 4155"/>
            </a:avLst>
          </a:prstGeom>
          <a:solidFill>
            <a:srgbClr val="E1EFF4"/>
          </a:solidFill>
          <a:ln w="12700">
            <a:solidFill>
              <a:srgbClr val="0F6E8C"/>
            </a:solidFill>
            <a:prstDash val="solid"/>
          </a:ln>
        </p:spPr>
      </p:sp>
      <p:sp>
        <p:nvSpPr>
          <p:cNvPr id="4" name="Text 2"/>
          <p:cNvSpPr/>
          <p:nvPr/>
        </p:nvSpPr>
        <p:spPr>
          <a:xfrm>
            <a:off x="685800" y="1280160"/>
            <a:ext cx="6104969"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ONE-MINUTE PAPER</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Name one change to your enterprise you would not make in the near term, and the evidence that would change your mind.</a:t>
            </a:r>
            <a:endParaRPr lang="en-US" sz="1200" dirty="0"/>
          </a:p>
        </p:txBody>
      </p:sp>
      <p:sp>
        <p:nvSpPr>
          <p:cNvPr id="5" name="Text 3"/>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Before Session 2 (about 20 min):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member brings one candidate change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with its gap, and the maturity or unknown that sets its timing</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R12 · SEBoK v2.14 (2026), “Enterprise Capability Management”, p.860–863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p.565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R16 · SEBoK v2.14 (2026), “Product Systems Engineering Special Activities”, p.767–768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R39t · SEBoK v2.14 (2026), “Architecture (glossary)”, p.1445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R46 · OUSD(R&amp;E) Systems Engineering Guidebook (2021/2022), “Risk Management Process”, p.126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R60 · The MITRE Systems Engineering Guide (2014), “Assessing Technical Maturity”, p.525–526</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R62 · The MITRE Systems Engineering Guide (2014), “Architectural Frameworks, Models, and Views”, p.345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R105 · The MITRE Systems Engineering Guide (2014), “Technology Planning”, p.528–531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R106 · The MITRE Systems Engineering Guide (2014), “Evolutionary Acquisition”, p.582–585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R108 · SEBoK v2.14 (2026), “Development Approach Concepts”, p.391–393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R109 · The MITRE Systems Engineering Guide (2014), “Architectures Federation”, p.131–132</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6, Session 1: Evolution Roadmap</dc:title>
  <dc:subject>Systems Thinking and MBSE with SysML v2</dc:subject>
  <dc:creator>SysML Learning Studio (generated)</dc:creator>
  <cp:lastModifiedBy>SysML Learning Studio (generated)</cp:lastModifiedBy>
  <cp:revision>1</cp:revision>
  <dcterms:created xsi:type="dcterms:W3CDTF">2026-10-29T03:16:56Z</dcterms:created>
  <dcterms:modified xsi:type="dcterms:W3CDTF">2026-10-29T03:16:56Z</dcterms:modified>
</cp:coreProperties>
</file>