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fills the Physical package of your model from the Week 4 physical view and the Week 5 components and interfaces; Logical and Behavior were filled in Week 10.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Physical architecture, allocation and ports</a:t>
            </a:r>
            <a:endParaRPr lang="en-US" sz="1600" dirty="0"/>
          </a:p>
        </p:txBody>
      </p:sp>
      <p:pic>
        <p:nvPicPr>
          <p:cNvPr id="5" name="Image 0" descr="Two document cards at the top: Week 4 physical view and Week 5 interfaces. Thick arrows run down from both to one package box drawn strong, Physical; beside it two faint boxes, Logical and Behavior, labeled Week 10. Below, a row labeled Phase II with the week numbers 8 to 14, number 11 highlighted, and the line: model v0.4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physical architecture, its allocation and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interfaces, connections, flows, interface requirements, satisfy claims, the Lab L11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v0.4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hospital oxygen supply: a port definition, an interface definition and the interface that connects a manifold to a ward outlet.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interface connects two typed ports. Does the oxygen arrive?</a:t>
            </a:r>
            <a:endParaRPr lang="en-US" sz="3000" dirty="0"/>
          </a:p>
        </p:txBody>
      </p:sp>
      <p:pic>
        <p:nvPicPr>
          <p:cNvPr id="4" name="Image 0" descr="A code card with these lines: port def OxygenPort { / out item oxygen : Oxygen; / } / interface def OxygenLine { / end port supply : OxygenPort; / end port outlet : OxygenPort; / flow supply.oxygen to outlet.oxygen; / } / port toWard : OxygenPort; / port fromManifold : OxygenPort; / interface line : OxygenLine connect manifold.toWard to wardOutlet.fromManifol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manifold sends oxygen.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oxygen reaches the ward outlet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No port here can receive the oxygen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PHY from the physical view, CMP, IF and EXT from the components and interfaces, and the logical parts and placeholders of model v0.3.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Physical view, Interfaces, Model v0.3. Bottom row, titled Model packages: one wide Physical box, and a narrower Requirements box. Arrows run down labeled PHY, placements from Physical view; CMP, IF, EXT from Interfaces into Physical, and interface requirements into Requirements; and LOG, FN, items, dashed and grey, from Model v0.3 into Phys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physical elements; each function placed on one; information items with producers and consumers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components, interfaces with their ends and crossings, interface requirements,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logical parts, functions, items; Week 9 placeholders in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physical elements, one external, and the interfaces that bind them, read from the Week 5 interfaces of model v0.4.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p.596; R20c p.597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elements and physical interfaces</a:t>
            </a:r>
            <a:endParaRPr lang="en-US" sz="3000" dirty="0"/>
          </a:p>
        </p:txBody>
      </p:sp>
      <p:pic>
        <p:nvPicPr>
          <p:cNvPr id="4" name="Image 0" descr="Four element cards: Aircraft, Chargers, Ops center, Booking, and a dashed external card, Electric grid. Lines labeled with interface IDs join them: IF-005 between Aircraft and Chargers; IF-002 between Aircraft and Ops center; IF-010 between Chargers and Ops center; IF-008 between Booking and Ops center; IF-006 between Chargers and Electric gr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4200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4200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42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 MODEL (SEBOK)</a:t>
            </a:r>
            <a:endParaRPr lang="en-US" sz="10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arrangement of physical elements, (system elements and physical interfaces) that provides the solution for a product, service, or enterprise”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"Physical Architecture", p.596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286760"/>
            <a:ext cx="4349366" cy="175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interface binds two system elements together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accommodates the logical architecture and trades off the system requirements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are allocated to both architectures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operations center and its four Week 5 components, one level down.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elements and their components</a:t>
            </a:r>
            <a:endParaRPr lang="en-US" sz="3000" dirty="0"/>
          </a:p>
        </p:txBody>
      </p:sp>
      <p:pic>
        <p:nvPicPr>
          <p:cNvPr id="4" name="Image 0" descr="A wide card labeled PHY-004 Ops center. Below it, joined by lines, 4 smaller cards: CMP-010 Scheduling and dispatch platform, CMP-011 Hot-standby platform, CMP-012 Duty managers and remote operators, CMP-013 Planning and evidence services. A note at the bottom: one level at a time, five plus or minus tw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element may itself be a system: layers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Guideline: five plus or minus two elements in one level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components sit one level below their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8 physical elements, 15 components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LOG-001 Flight Operations in AeroLink: the functions it performs land on two physical elements, so the logical element has two physical homes.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p.598; R20c p.599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logical elements to physical elements</a:t>
            </a:r>
            <a:endParaRPr lang="en-US" sz="3000" dirty="0"/>
          </a:p>
        </p:txBody>
      </p:sp>
      <p:pic>
        <p:nvPicPr>
          <p:cNvPr id="4" name="Image 0" descr="A logical card at the top, Flight Operations, listing FN-003, FN-005, FN-012. Arrows run down to 2 physical cards: Ops center with FN-003, FN-012; and Aircraft with FN-00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elements that can perform the functions, and interfaces that can carry the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same kind of flow (information, energy, material), central or distributed control, environment, dependability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element may land on several physical ones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SEBoK’s three pitfalls and two proven practices for physical architecture, in short form, and the two matrices the process outputs.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R20c p.602; 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proven practices and the outputs</a:t>
            </a:r>
            <a:endParaRPr lang="en-US" sz="3000" dirty="0"/>
          </a:p>
        </p:txBody>
      </p:sp>
      <p:pic>
        <p:nvPicPr>
          <p:cNvPr id="4" name="Image 0" descr="Two columns. Left, headed Pitfalls: too many levels; no logical model; straight to technology. Right, headed Practices: modularity; focus on interfaces. Across the bottom: outputs, function to element matrix and requirement tr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too many levels in one block; no logical architecture; allocating straight onto technologies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modularity; focus on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an allocation matrix of functions to elements; a trace to the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 in AeroLink model v0.4: a part definition that specializes the Week 9 placeholder, a component definition, and the element’s usage with its components nested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elements and components as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def 'eVTOL Aircraft' :&gt; 'Aircraft' { doc /* Four-seat … */ } / part def 'Airframe and rotors' { doc /* Turns battery energy … */ } / part physicalArchitecture { / part &lt;'PHY-001'&gt; eVTOLAircraft : 'eVTOL Aircraft' { / part &lt;'CMP-001'&gt; airframeAndRotors : 'Airframe and rotors'; / part &lt;'CMP-002'&gt; batteryPackAndBatteryManagement : 'Battery pack and battery management'; / part &lt;'CMP-003'&gt; flightManagementAndHealthMonitoring : 'Flight management and health monitoring'; / … / }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13787"/>
            <a:ext cx="6379289" cy="21812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PHY and CMP IDs on usages, inside one part physicalArchitecture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linked to an element is specialized: its requirements still conform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 in AeroLink model v0.4 perform the two functions Week 4 placed on them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performed by physical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… / perform Logical::'FN-006'; / perform Logical::'FN-007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29698"/>
            <a:ext cx="6379289" cy="13121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4 placement says which element performs each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performed at level 1; a component’s Week 5 functions are noted in its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Operations allocated to both its physical homes in AeroLink model v0.4, each allocation refined by the functions performed there.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sl.106; R81 p.110; R81 p.111; R81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logical-to-physical allocation, with nested allocations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Logical::logicalArchitecture.flightOperations to physicalArchitecture.operationsCenter { / allocate Logical::logicalArchitecture.flightOperations.'FN-003' to physicalArchitecture.operationsCenter.'FN-003'; / allocate Logical::logicalArchitecture.flightOperations.'FN-012' to physicalArchitecture.operationsCenter.'FN-012'; / } / allocate Logical::logicalArchitecture.flightOperations to physicalArchitecture.eVTOLAircraft { / allocate Logical::logicalArchitecture.flightOperations.'FN-005' to physicalArchitecture.eVTOLAircraft.'FN-005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2306"/>
            <a:ext cx="6379289" cy="208423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logical part to the physical part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allocations: function to function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read from the functions each element performs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logical elements by physical elements: an X where model v0.4 allocates one to the other.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allocation matrix</a:t>
            </a:r>
            <a:endParaRPr lang="en-US" sz="3000" dirty="0"/>
          </a:p>
        </p:txBody>
      </p:sp>
      <p:pic>
        <p:nvPicPr>
          <p:cNvPr id="4" name="Image 0" descr="A matrix with the logical elements LOG-001, LOG-002, LOG-003, LOG-004, LOG-005, LOG-006, LOG-007 as rows and the physical elements PHY-001, PHY-002, PHY-003, PHY-004, PHY-005, PHY-007, PHY-008 as columns; an X marks each allocation: LOG-001 to PHY-001 and PHY-004; LOG-002 to PHY-003 and PHY-004; LOG-003 to PHY-005; LOG-004 to PHY-007; LOG-005 to PHY-004; LOG-006 to PHY-004; LOG-007 to PHY-002 and PHY-00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elements, 7 physical homes, 10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performed by one physical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placements;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has the most X, and what does that tell an interface designer?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constrains an attribute; the physical element gives it a design value; the two are compared. AeroLink charging, from the Week 3 performance measure.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properties: what the physical element will be</a:t>
            </a:r>
            <a:endParaRPr lang="en-US" sz="3000" dirty="0"/>
          </a:p>
        </p:txBody>
      </p:sp>
      <p:pic>
        <p:nvPicPr>
          <p:cNvPr id="4" name="Image 0" descr="Three cards in a row: required, at most 20 min to the dispatch threshold; design value, the TPM-001 current estimate of 18 min; compared, 18 min at most 20 min. Arrows join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property: assigned from requirements, estimates, analyses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model: an attribute value on the physical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requirement: a claim to verify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with its directed items, and a part that carries a port of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definitions and port usages</a:t>
            </a:r>
            <a:endParaRPr lang="en-US" sz="3000" dirty="0"/>
          </a:p>
        </p:txBody>
      </p:sp>
      <p:pic>
        <p:nvPicPr>
          <p:cNvPr id="4" name="Image 0" descr="Left, a card headed port def with two lines: out item, in item. Right, a part card with a small square on its edge labeled port, and an arrow from the square to the port def card labeled typed b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defines a connection point to enable interactions between occurrences (most commonly parts)”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p.93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usage puts the connection point on a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features say what can be exchanged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ports face each other: the top pair both offer oxygen out and nothing matches; the bottom pair offer out and in, and they match.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features, and when two ports match</a:t>
            </a:r>
            <a:endParaRPr lang="en-US" sz="3000" dirty="0"/>
          </a:p>
        </p:txBody>
      </p:sp>
      <p:pic>
        <p:nvPicPr>
          <p:cNvPr id="4" name="Image 0" descr="Top row: two port cards facing each other, both reading out oxygen, with a red cross between them labeled no match. Bottom row: the left card reads out oxygen, the right card reads in oxygen, with a solid arrow between them labeled match: out to 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Directions: in, out, inout; directed features are referential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features match: conforming types and conjugate directions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transfer: from an out feature to the matching in feature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and its conjugate: the same features, every in and out reversed.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Conjugation: one port definition, both ends</a:t>
            </a:r>
            <a:endParaRPr lang="en-US" sz="3000" dirty="0"/>
          </a:p>
        </p:txBody>
      </p:sp>
      <p:pic>
        <p:nvPicPr>
          <p:cNvPr id="4" name="Image 0" descr="Two cards side by side. Left, OxygenPort: out item oxygen; in item pressureAlarm. Right, ~OxygenPort: in item oxygen; out item pressureAlarm. A double arrow between them labeled revers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port definition has a conjugate: directions reversed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p : ~P; uses it without writing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conjugated port conforms to the original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port definition per interface; end B uses ~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oxygen supply: the outlet end of the interface and the outlet’s port use the conjugate.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both ports offer the oxygen, neither takes it</a:t>
            </a:r>
            <a:endParaRPr lang="en-US" sz="3000" dirty="0"/>
          </a:p>
        </p:txBody>
      </p:sp>
      <p:pic>
        <p:nvPicPr>
          <p:cNvPr id="4" name="Image 0" descr="Listing (course file sysml/lectures/week11/driving_question_two_ports.sysml, checked: PASS): interface def OxygenLine { / end port supply : OxygenPort; / end port outlet : ~OxygenPort; / flow supply.oxygen to outlet.oxygen; / } / part def Manifold { / port toWard : OxygenPort; / } / part def WardOutlet { / port fromManifold : ~OxygenPor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2776"/>
            <a:ext cx="6379289" cy="24259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both ends offer oxygen out; nothing can receive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end B and the outlet’s port typed by ~OxygenPort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both versions: matching is yours to check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interface: one end typed by the port definition, the other by its conjugate.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AeroLink charging interface (IF-005): each Week 5 crossing, the item it becomes in model v0.4 and its direction.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sl.17; 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an interface: information, energy, material</a:t>
            </a:r>
            <a:endParaRPr lang="en-US" sz="3000" dirty="0"/>
          </a:p>
        </p:txBody>
      </p:sp>
      <p:pic>
        <p:nvPicPr>
          <p:cNvPr id="4" name="Image 0" descr="A table with three rows: Electrical energy (an item of the model), from Chargers to Aircraft; Battery state and cell limits (INFO-017), from Aircraft to Chargers; Charger readiness and session control (INFO-018), from Chargers to Aircraf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anything that exists in space and time and may flow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Week 4 information items and the Week 10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crossing with no item: add one; an information item takes the next ID (INFO-017 here)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crossing gets a direction from end A or to end 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definition of IF-005 in AeroLink model v0.4, written from the aircraft’s side: energy in, the battery state out, the charger’s readiness in.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sl.20; R71 sl.21; R81 p.95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II: the charging interface’s ports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ort def 'Aircraft to charger power and handshake port' { / doc /* The port of eVTOL Aircraft on IF-005; Charging Systems … */ / in item electricalEnergy : Logical::'Electrical energy'; / out item batteryStateAndCellLimits : 'Battery state and cell limits'; / in item chargerReadinessAndSessionControl : 'Charger readiness and session control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10383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written from end A (the aircraft)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port: the definition; charger port: its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13 port definitions, 26 ports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charger’s port, which of the three items are out?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information service in AeroLink model v0.4: added to the context from the Week 4 record, and referenced in physicalArchitecture with the port of its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p.90; R70 sl.15–16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Externals: ports on the systems outside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EXT-007'&gt; weatherInformationService : 'Weather information service'; / ref part weatherInformationService :&gt; Context::context.weatherInformationService { / port toOperationsCenter : 'Weather information service to operations center port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40767"/>
            <a:ext cx="6379289" cy="15273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is in the Week 8 context; it is not part of your system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physicalArchitecture: a ref part that subsets it, carrying the 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added in Weeks 4 or 5 joins the context first (AeroLink: one)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from the oxygen supply,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item def Oxygen; / port def OxygenPort { / item oxygen : Oxygen; / } / part def Manifold { / port toWard : OxygenPort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course files about ports and interfaces: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p.95; R71 sl.20;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about ports,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rejected; a port’s features must be referential, and an undirected item is not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names that do not resolve, ends that are not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ports that cannot match, flows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interface of your team’s Week 5 table,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interface from your Week 5 table</a:t>
            </a:r>
            <a:endParaRPr lang="en-US" sz="3000" dirty="0"/>
          </a:p>
        </p:txBody>
      </p:sp>
      <p:pic>
        <p:nvPicPr>
          <p:cNvPr id="4" name="Image 0" descr="A card with four labeled boxes: ends A and B, crossings, port definition, conjugate end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physical or information interface from your Week 5 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its two ends, each crossing as an item and a direction, the port definition from end 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crossing has no item in your model yet?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end takes the conjugate?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sl.41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p.136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1: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2026-10-27T14:48:09Z</dcterms:created>
  <dcterms:modified xsi:type="dcterms:W3CDTF">2026-10-27T14:48:09Z</dcterms:modified>
</cp:coreProperties>
</file>