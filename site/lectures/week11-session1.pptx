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Session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Session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fills the Physical package of your model from the Week 4 physical view and the Week 5 components and interfaces; Logical and Behavior were filled in Week 10.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Interfaces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1: Physical architecture, allocation and ports</a:t>
            </a:r>
            <a:endParaRPr lang="en-US" sz="1600" dirty="0"/>
          </a:p>
        </p:txBody>
      </p:sp>
      <p:pic>
        <p:nvPicPr>
          <p:cNvPr id="5" name="Image 0" descr="Two document cards at the top: Week 4 physical view and Week 5 interfaces. Thick arrows run down from both to one package box drawn strong, Physical; beside it two faint boxes, Logical and Behavior, labeled Week 10. Below, a row labeled Phase II with the week numbers 8 to 14, number 11 highlighted, and the line: model v0.4 of your enterpris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8622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28356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the physical architecture, its allocation and ports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2: interfaces, connections, flows, interface requirements, satisfy claims, the Lab L11 launch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output: model v0.4 of your own enterprise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oxygen supply: a port definition, an interface definition and the interface that connects a manifold to a ward outlet.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question: the interface connects two typed ports. Does the oxygen arrive?</a:t>
            </a:r>
            <a:endParaRPr lang="en-US" sz="3000" dirty="0"/>
          </a:p>
        </p:txBody>
      </p:sp>
      <p:pic>
        <p:nvPicPr>
          <p:cNvPr id="4" name="Image 0" descr="A code card with these lines: port def OxygenPort { / out item oxygen : Oxygen; / } / interface def OxygenLine { / end port supply : OxygenPort; / end port outlet : OxygenPort; / flow supply.oxygen to outlet.oxygen; / } / port toWard : OxygenPort; / port fromManifold : OxygenPort; / interface line : OxygenLine connect manifold.toWard to wardOutlet.fromManifold;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057148"/>
          </a:xfrm>
          <a:prstGeom prst="roundRect">
            <a:avLst>
              <a:gd name="adj" fmla="val 5190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30849" y="1280160"/>
            <a:ext cx="4075046" cy="10571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manifold sends oxygen. Which is true?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93689" y="250190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The oxygen reaches the ward outlet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No port here can receive the oxygen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The checker rejects this file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It cannot be told from the text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sources of this week and the model packages they enter, with the ID prefixes that cross: PHY from the physical view, CMP, IF and EXT from the components and interfaces, and the logical parts and placeholders of model v0.3.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Week 11 imports from Phase I</a:t>
            </a:r>
            <a:endParaRPr lang="en-US" sz="3000" dirty="0"/>
          </a:p>
        </p:txBody>
      </p:sp>
      <p:pic>
        <p:nvPicPr>
          <p:cNvPr id="4" name="Image 0" descr="Top row, titled What enters the model: three cards, Physical view, Interfaces, Model v0.3. Bottom row, titled Model packages: one wide Physical box, and a narrower Requirements box. Arrows run down labeled PHY, placements from Physical view; CMP, IF, EXT from Interfaces into Physical, and interface requirements into Requirements; and LOG, FN, items, dashed and grey, from Model v0.3 into Physica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415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physical elements; each function placed on one; information items with producers and consumers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components, interfaces with their ends and crossings, interface requirements, externals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10: logical parts, functions, items; Week 9 placeholders in Physical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IDs throughout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AeroLink physical elements, one external, and the interfaces that bind them, read from the Week 5 interfaces of model v0.4.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p.596; R20c p.597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architecture: elements and physical interfaces</a:t>
            </a:r>
            <a:endParaRPr lang="en-US" sz="3000" dirty="0"/>
          </a:p>
        </p:txBody>
      </p:sp>
      <p:pic>
        <p:nvPicPr>
          <p:cNvPr id="4" name="Image 0" descr="Four element cards: Aircraft, Chargers, Ops center, Booking, and a dashed external card, Electric grid. Lines labeled with interface IDs join them: IF-005 between Aircraft and Chargers; IF-002 between Aircraft and Ops center; IF-010 between Chargers and Ops center; IF-008 between Booking and Ops center; IF-006 between Chargers and Electric gri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842008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842008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8420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ARCHITECTURE MODEL (SEBOK)</a:t>
            </a:r>
            <a:endParaRPr lang="en-US" sz="1000" dirty="0"/>
          </a:p>
          <a:p>
            <a:pPr indent="0" marL="0">
              <a:buNone/>
            </a:pPr>
            <a:r>
              <a:rPr lang="en-US" sz="16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arrangement of physical elements, (system elements and physical interfaces) that provides the solution for a product, service, or enterprise”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8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· SEBoK v2.14 (2026), "Physical Architecture", p.596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293689" y="3286760"/>
            <a:ext cx="4349366" cy="1751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5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interface binds two system elements together</a:t>
            </a:r>
            <a:endParaRPr lang="en-US" sz="15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5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accommodates the logical architecture and trades off the system requirements</a:t>
            </a:r>
            <a:endParaRPr lang="en-US" sz="15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5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are allocated to both architectures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AeroLink operations center and its four Week 5 components, one level down.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p.597; R81 p.90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Layers: elements and their components</a:t>
            </a:r>
            <a:endParaRPr lang="en-US" sz="3000" dirty="0"/>
          </a:p>
        </p:txBody>
      </p:sp>
      <p:pic>
        <p:nvPicPr>
          <p:cNvPr id="4" name="Image 0" descr="A wide card labeled PHY-004 Ops center. Below it, joined by lines, 4 smaller cards: CMP-010 Scheduling and dispatch platform, CMP-011 Hot-standby platform, CMP-012 Duty managers and remote operators, CMP-013 Planning and evidence services. A note at the bottom: one level at a time, five plus or minus tw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element may itself be a system: layers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Guideline: five plus or minus two elements in one level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components sit one level below their element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AeroLink: 8 physical elements, 15 components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LOG-001 Flight Operations in AeroLink: the functions it performs land on two physical elements, so the logical element has two physical homes.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p.598; R20c p.599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Allocating logical elements to physical elements</a:t>
            </a:r>
            <a:endParaRPr lang="en-US" sz="3000" dirty="0"/>
          </a:p>
        </p:txBody>
      </p:sp>
      <p:pic>
        <p:nvPicPr>
          <p:cNvPr id="4" name="Image 0" descr="A logical card at the top, Flight Operations, listing FN-003, FN-005, FN-012. Arrows run down to 2 physical cards: Ops center with FN-003, FN-012; and Aircraft with FN-00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elements that can perform the functions, and interfaces that can carry the flows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Criteria: same kind of flow (information, energy, material), central or distributed control, environment, dependability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element may land on several physical ones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SEBoK’s three pitfalls and two proven practices for physical architecture, in short form, and the two matrices the process outputs.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p.600; R20c p.602; R20c p.603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Pitfalls, proven practices and the outputs</a:t>
            </a:r>
            <a:endParaRPr lang="en-US" sz="3000" dirty="0"/>
          </a:p>
        </p:txBody>
      </p:sp>
      <p:pic>
        <p:nvPicPr>
          <p:cNvPr id="4" name="Image 0" descr="Two columns. Left, headed Pitfalls: too many levels; no logical model; straight to technology. Right, headed Practices: modularity; focus on interfaces. Across the bottom: outputs, function to element matrix and requirement trac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 too many levels in one block; no logical architecture; allocating straight onto technologies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Practices: modularity; focus on interfaces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an allocation matrix of functions to elements; a trace to the system requirements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aircraft in AeroLink model v0.4: a part definition that specializes the Week 9 placeholder, a component definition, and the element’s usage with its components nested (excerpt).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R70 sl.15–16; R81 p.90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elements and components as parts</a:t>
            </a:r>
            <a:endParaRPr lang="en-US" sz="3000" dirty="0"/>
          </a:p>
        </p:txBody>
      </p:sp>
      <p:pic>
        <p:nvPicPr>
          <p:cNvPr id="4" name="Image 0" descr="Listing (course file sysml/lectures/week11/aerolink_physical_interfaces_v04.sysml, checked: PASS): part def 'eVTOL Aircraft' :&gt; 'Aircraft' { doc /* Four-seat … */ } / part def 'Airframe and rotors' { doc /* Turns battery energy … */ } / part physicalArchitecture { / part &lt;'PHY-001'&gt; eVTOLAircraft : 'eVTOL Aircraft' { / part &lt;'CMP-001'&gt; airframeAndRotors : 'Airframe and rotors'; / part &lt;'CMP-002'&gt; batteryPackAndBatteryManagement : 'Battery pack and battery management'; / part &lt;'CMP-003'&gt; flightManagementAndHealthMonitoring : 'Flight management and health monitoring'; / … / } / …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13787"/>
            <a:ext cx="6379289" cy="21812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definition: the kind of element; part usage: the element in this architecture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PHY and CMP IDs on usages, inside one part physicalArchitecture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9 placeholder linked to an element is specialized: its requirements still conform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charging systems in AeroLink model v0.4 perform the two functions Week 4 placed on them (excerpt).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sl.41; R82 p.136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performed by physical parts</a:t>
            </a:r>
            <a:endParaRPr lang="en-US" sz="3000" dirty="0"/>
          </a:p>
        </p:txBody>
      </p:sp>
      <p:pic>
        <p:nvPicPr>
          <p:cNvPr id="4" name="Image 0" descr="Listing (course file sysml/lectures/week11/aerolink_physical_interfaces_v04.sysml, checked: PASS): part &lt;'PHY-003'&gt; chargingSystems : 'Charging Systems' { / … / perform Logical::'FN-006'; / perform Logical::'FN-007'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29698"/>
            <a:ext cx="6379289" cy="13121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in a part: that part is the performer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4 placement says which element performs each function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performed at level 1; a component’s Week 5 functions are noted in its doc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Operations allocated to both its physical homes in AeroLink model v0.4, each allocation refined by the functions performed there.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R76 sl.106; R81 p.110; R81 p.111; R81 p.112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logical-to-physical allocation, with nested allocations</a:t>
            </a:r>
            <a:endParaRPr lang="en-US" sz="3000" dirty="0"/>
          </a:p>
        </p:txBody>
      </p:sp>
      <p:pic>
        <p:nvPicPr>
          <p:cNvPr id="4" name="Image 0" descr="Listing (course file sysml/lectures/week11/aerolink_physical_interfaces_v04.sysml, checked: PASS): allocate Logical::logicalArchitecture.flightOperations to physicalArchitecture.operationsCenter { / allocate Logical::logicalArchitecture.flightOperations.'FN-003' to physicalArchitecture.operationsCenter.'FN-003'; / allocate Logical::logicalArchitecture.flightOperations.'FN-012' to physicalArchitecture.operationsCenter.'FN-012'; / } / allocate Logical::logicalArchitecture.flightOperations to physicalArchitecture.eVTOLAircraft { / allocate Logical::logicalArchitecture.flightOperations.'FN-005' to physicalArchitecture.eVTOLAircraft.'FN-005'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62306"/>
            <a:ext cx="6379289" cy="208423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1687068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1687068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16870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(SYSML V2.1 BETA 2)</a:t>
            </a:r>
            <a:endParaRPr lang="en-US" sz="1100" dirty="0"/>
          </a:p>
          <a:p>
            <a:pPr indent="0" marL="0">
              <a:buNone/>
            </a:pPr>
            <a:r>
              <a:rPr lang="en-US" sz="18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target element is responsible for realizing some or all of the intent of the source element”</a:t>
            </a:r>
            <a:endParaRPr lang="en-US" sz="11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· OMG SysML v2.1 Beta 2, Part 1 (Release 2026-07), "7.11 Parts", p.110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93689" y="3131820"/>
            <a:ext cx="4349366" cy="1937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the logical part to the physical part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allocations: function to function</a:t>
            </a:r>
            <a:endParaRPr lang="en-US" sz="17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read from the functions each element performs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logical elements by physical elements: an X where model v0.4 allocates one to the other.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p.600; R76 sl.106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worked example I: the allocation matrix</a:t>
            </a:r>
            <a:endParaRPr lang="en-US" sz="3000" dirty="0"/>
          </a:p>
        </p:txBody>
      </p:sp>
      <p:pic>
        <p:nvPicPr>
          <p:cNvPr id="4" name="Image 0" descr="A matrix with the logical elements LOG-001, LOG-002, LOG-003, LOG-004, LOG-005, LOG-006, LOG-007 as rows and the physical elements PHY-001, PHY-002, PHY-003, PHY-004, PHY-005, PHY-007, PHY-008 as columns; an X marks each allocation: LOG-001 to PHY-001 and PHY-004; LOG-002 to PHY-003 and PHY-004; LOG-003 to PHY-005; LOG-004 to PHY-007; LOG-005 to PHY-004; LOG-006 to PHY-004; LOG-007 to PHY-002 and PHY-008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logical elements, 7 physical homes, 10 allocations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performed by one physical element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the Week 4 placements; nothing retyped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293689" y="3660648"/>
            <a:ext cx="4349366" cy="1320546"/>
          </a:xfrm>
          <a:prstGeom prst="roundRect">
            <a:avLst>
              <a:gd name="adj" fmla="val 4155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3660648"/>
            <a:ext cx="4075046" cy="132054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PAIR, 1 MIN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has the most X, and what does that tell an interface designer?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requirement constrains an attribute; the physical element gives it a design value; the two are compared. AeroLink charging, from the Week 3 performance measure.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p.598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properties: what the physical element will be</a:t>
            </a:r>
            <a:endParaRPr lang="en-US" sz="3000" dirty="0"/>
          </a:p>
        </p:txBody>
      </p:sp>
      <p:pic>
        <p:nvPicPr>
          <p:cNvPr id="4" name="Image 0" descr="Three cards in a row: required, at most 20 min to the dispatch threshold; design value, the TPM-001 current estimate of 18 min; compared, 18 min at most 20 min. Arrows join the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property: assigned from requirements, estimates, analyses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model: an attribute value on the physical part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the requirement: a claim to verify later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 definition with its directed items, and a part that carries a port of it.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p.93; R71 sl.20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definitions and port usages</a:t>
            </a:r>
            <a:endParaRPr lang="en-US" sz="3000" dirty="0"/>
          </a:p>
        </p:txBody>
      </p:sp>
      <p:pic>
        <p:nvPicPr>
          <p:cNvPr id="4" name="Image 0" descr="Left, a card headed port def with two lines: out item, in item. Right, a part card with a small square on its edge labeled port, and an arrow from the square to the port def card labeled typed by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2554732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2554732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25547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DEFINITION (SYSML V2.1 BETA 2)</a:t>
            </a:r>
            <a:endParaRPr lang="en-US" sz="1300" dirty="0"/>
          </a:p>
          <a:p>
            <a:pPr indent="0" marL="0">
              <a:buNone/>
            </a:pPr>
            <a:r>
              <a:rPr lang="en-US" sz="2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kind of occurrence definition … that defines a connection point to enable interactions between occurrences (most commonly parts)”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· OMG SysML v2.1 Beta 2, Part 1 (Release 2026-07), "7.11 Parts", p.93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93689" y="3999484"/>
            <a:ext cx="4349366" cy="151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 usage puts the connection point on a part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features say what can be exchanged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ports face each other: the top pair both offer oxygen out and nothing matches; the bottom pair offer out and in, and they match.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p.93; R81 p.95; R71 sl.20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features, and when two ports match</a:t>
            </a:r>
            <a:endParaRPr lang="en-US" sz="3000" dirty="0"/>
          </a:p>
        </p:txBody>
      </p:sp>
      <p:pic>
        <p:nvPicPr>
          <p:cNvPr id="4" name="Image 0" descr="Top row: two port cards facing each other, both reading out oxygen, with a red cross between them labeled no match. Bottom row: the left card reads out oxygen, the right card reads in oxygen, with a solid arrow between them labeled match: out to i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Directions: in, out, inout; directed features are referential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features match: conforming types and conjugate directions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transfer: from an out feature to the matching in feature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 definition and its conjugate: the same features, every in and out reversed.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p.93; R81 p.95; R71 sl.21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Conjugation: one port definition, both ends</a:t>
            </a:r>
            <a:endParaRPr lang="en-US" sz="3000" dirty="0"/>
          </a:p>
        </p:txBody>
      </p:sp>
      <p:pic>
        <p:nvPicPr>
          <p:cNvPr id="4" name="Image 0" descr="Two cards side by side. Left, OxygenPort: out item oxygen; in item pressureAlarm. Right, ~OxygenPort: in item oxygen; out item pressureAlarm. A double arrow between them labeled revers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port definition has a conjugate: directions reversed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p : ~P; uses it without writing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conjugated port conforms to the original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one port definition per interface; end B uses ~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oxygen supply: the outlet end of the interface and the outlet’s port use the conjugate.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p.93; R71 sl.20; R71 sl.21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Reveal: both ports offer the oxygen, neither takes it</a:t>
            </a:r>
            <a:endParaRPr lang="en-US" sz="3000" dirty="0"/>
          </a:p>
        </p:txBody>
      </p:sp>
      <p:pic>
        <p:nvPicPr>
          <p:cNvPr id="4" name="Image 0" descr="Listing (course file sysml/lectures/week11/driving_question_two_ports.sysml, checked: PASS): interface def OxygenLine { / end port supply : OxygenPort; / end port outlet : ~OxygenPort; / flow supply.oxygen to outlet.oxygen; / } / part def Manifold { / port toWard : OxygenPort; / } / part def WardOutlet { / port fromManifold : ~OxygenPort;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72776"/>
            <a:ext cx="6379289" cy="24259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B: both ends offer oxygen out; nothing can receive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end B and the outlet’s port typed by ~OxygenPort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checker accepts both versions: matching is yours to check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293689" y="3660648"/>
            <a:ext cx="4349366" cy="1320546"/>
          </a:xfrm>
          <a:prstGeom prst="roundRect">
            <a:avLst>
              <a:gd name="adj" fmla="val 4155"/>
            </a:avLst>
          </a:prstGeom>
          <a:solidFill>
            <a:srgbClr val="E1EFF4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3660648"/>
            <a:ext cx="4075046" cy="132054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interface: one end typed by the port definition, the other by its conjugate.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crosses the AeroLink charging interface (IF-005): each Week 5 crossing, the item it becomes in model v0.4 and its direction. Course illustration, not SysML v2 graphical notation.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R70 sl.17; R20c p.598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crosses an interface: information, energy, material</a:t>
            </a:r>
            <a:endParaRPr lang="en-US" sz="3000" dirty="0"/>
          </a:p>
        </p:txBody>
      </p:sp>
      <p:pic>
        <p:nvPicPr>
          <p:cNvPr id="4" name="Image 0" descr="A table with three rows: Electrical energy (an item of the model), from Chargers to Aircraft; Battery state and cell limits (INFO-017), from Aircraft to Chargers; Charger readiness and session control (INFO-018), from Chargers to Aircraf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Items: anything that exists in space and time and may flow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Week 4 information items and the Week 10 items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crossing with no item: add one; an information item takes the next ID (INFO-017 here)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crossing gets a direction from end A or to end 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 definition of IF-005 in AeroLink model v0.4, written from the aircraft’s side: energy in, the battery state out, the charger’s readiness in.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 sl.20; R71 sl.21; R81 p.95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worked example II: the charging interface’s ports</a:t>
            </a:r>
            <a:endParaRPr lang="en-US" sz="3000" dirty="0"/>
          </a:p>
        </p:txBody>
      </p:sp>
      <p:pic>
        <p:nvPicPr>
          <p:cNvPr id="4" name="Image 0" descr="Listing (course file sysml/lectures/week11/aerolink_physical_interfaces_v04.sysml, checked: PASS): port def 'Aircraft to charger power and handshake port' { / doc /* The port of eVTOL Aircraft on IF-005; Charging Systems … */ / in item electricalEnergy : Logical::'Electrical energy'; / out item batteryStateAndCellLimits : 'Battery state and cell limits'; / in item chargerReadinessAndSessionControl : 'Charger readiness and session control'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10383"/>
            <a:ext cx="6379289" cy="13880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convention: written from end A (the aircraft)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port: the definition; charger port: its conjugate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AeroLink: 13 port definitions, 26 ports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293689" y="3660648"/>
            <a:ext cx="4349366" cy="1057148"/>
          </a:xfrm>
          <a:prstGeom prst="roundRect">
            <a:avLst>
              <a:gd name="adj" fmla="val 5190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30849" y="3660648"/>
            <a:ext cx="4075046" cy="10571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PAIR, 1 MIN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charger’s port, which of the three items are out?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weather information service in AeroLink model v0.4: added to the context from the Week 4 record, and referenced in physicalArchitecture with the port of its interface. Checked: PASS.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p.90; R70 sl.15–16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Externals: ports on the systems outside</a:t>
            </a:r>
            <a:endParaRPr lang="en-US" sz="3000" dirty="0"/>
          </a:p>
        </p:txBody>
      </p:sp>
      <p:pic>
        <p:nvPicPr>
          <p:cNvPr id="4" name="Image 0" descr="Listing (course file sysml/lectures/week11/aerolink_physical_interfaces_v04.sysml, checked: PASS): part &lt;'EXT-007'&gt; weatherInformationService : 'Weather information service'; / ref part weatherInformationService :&gt; Context::context.weatherInformationService { / port toOperationsCenter : 'Weather information service to operations center port'; / }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40767"/>
            <a:ext cx="6379289" cy="15273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145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is in the Week 8 context; it is not part of your system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physicalArchitecture: a ref part that subsets it, carrying the port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external added in Weeks 4 or 5 joins the context first (AeroLink: one)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 definition from the oxygen supply, shown without its checker result. Course illustration, not SysML v2 graphical notation. (FICTIONAL)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accepted or rejected?</a:t>
            </a:r>
            <a:endParaRPr lang="en-US" sz="3000" dirty="0"/>
          </a:p>
        </p:txBody>
      </p:sp>
      <p:pic>
        <p:nvPicPr>
          <p:cNvPr id="4" name="Image 0" descr="A code card titled Accepted or rejected? Why? with these lines: item def Oxygen; / port def OxygenPort { / item oxygen : Oxygen; / } / part def Manifold { / port toWard : OxygenPort;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2805"/>
            <a:ext cx="6379289" cy="3728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793750"/>
          </a:xfrm>
          <a:prstGeom prst="roundRect">
            <a:avLst>
              <a:gd name="adj" fmla="val 6912"/>
            </a:avLst>
          </a:prstGeom>
          <a:solidFill>
            <a:srgbClr val="ECEFF3"/>
          </a:solidFill>
          <a:ln w="12700">
            <a:solidFill>
              <a:srgbClr val="D3D9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30849" y="1280160"/>
            <a:ext cx="4075046" cy="79375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PREDICT, 1 MIN</a:t>
            </a:r>
            <a:endParaRPr lang="en-US" sz="1200" dirty="0"/>
          </a:p>
          <a:p>
            <a:pPr indent="0" marL="0">
              <a:buNone/>
            </a:pPr>
            <a:r>
              <a:rPr lang="en-US" sz="17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checker accept this file?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293689" y="2238502"/>
            <a:ext cx="4349366" cy="1203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accepted or rejected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rejected: the line, and the reason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results of the course checker (release 2026-08) on 7 course files about ports and interfaces: what it rejects, and what it accepts without complaint.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p.95; R71 sl.20; R81 p.106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checker checks about ports, and what it cannot</a:t>
            </a:r>
            <a:endParaRPr lang="en-US" sz="3000" dirty="0"/>
          </a:p>
        </p:txBody>
      </p:sp>
      <p:pic>
        <p:nvPicPr>
          <p:cNvPr id="4" name="Image 0" descr="Two columns. Left, headed checker rejects: composite port item; part ends on interface; interface joins parts; :: instead of dots; unqualified '~P' name. Right, headed checker accepts: same port type twice; flow against ports. The messages the checker recorded are in the notes and the less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84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 card: rejected; a port’s features must be referential, and an undirected item is not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names that do not resolve, ends that are not ports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silently: ports that cannot match, flows the wrong way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errors is necessary, never sufficient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card: four fields to fill for one interface of your team’s Week 5 table, and two questions. Course illustration, not SysML v2 graphical notation.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one interface from your Week 5 table</a:t>
            </a:r>
            <a:endParaRPr lang="en-US" sz="3000" dirty="0"/>
          </a:p>
        </p:txBody>
      </p:sp>
      <p:pic>
        <p:nvPicPr>
          <p:cNvPr id="4" name="Image 0" descr="A card with four labeled boxes: ends A and B, crossings, port definition, conjugate end. Below them a tag: and two questions (the questions are listed on the slide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02805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3227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physical or information interface from your Week 5 table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 its two ends, each crossing as an item and a direction, the port definition from end A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crossing has no item in your model yet?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end takes the conjugate?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· SEBoK v2.14 (2026), “Physical Architecture”, p.596–603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R70 · Seidewitz, Intro to the SysML v2 Language: Textual Notation (Release 2026-08), “Introduction to the SysML v2 Language”, sl.15–17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R71 · Seidewitz, Intro to the SysML v2 Language: Textual Notation (Release 2026-08), “Connections”, sl.18–22, 24–28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· Seidewitz, Intro to the SysML v2 Language: Textual Notation (Release 2026-08), “Action Definition”, sl.41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R76 · Seidewitz, Intro to the SysML v2 Language: Textual Notation (Release 2026-08), “Use Case Definition”, sl.106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R81 · OMG SysML v2.1 Beta 2, Part 1 (Release 2026-07), “7.11 Parts”, p.90, 93, 95–96, 106, 109–112, 116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R82 · OMG SysML v2.1 Beta 2, Part 1 (Release 2026-07), “7.17 Actions”, p.136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11, Session 1: Physical / Interfaces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2026-10-29T03:16:58Z</dcterms:created>
  <dcterms:modified xsi:type="dcterms:W3CDTF">2026-10-29T03:16:58Z</dcterms:modified>
</cp:coreProperties>
</file>