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verification cases written for one requirement of a school-bus tracker: the subject and the method of each, read from the checked file, and its pass condition in short.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which case verifies the requirement?</a:t>
            </a:r>
            <a:endParaRPr lang="en-US" sz="3000" dirty="0"/>
          </a:p>
        </p:txBody>
      </p:sp>
      <p:pic>
        <p:nvPicPr>
          <p:cNvPr id="4" name="Image 0" descr="A table under the line “position no older than 30 s; method recorded: test”. Columns: case, subject, method, pass when. Case A: tracker : Tracker; demo; the position looks current to two parents. Case B: app : ParentApp; test; 200 sampled positions each at most 30 s old. Case C: tracker : Tracker; test; 200 sampled positions each at most 30 s old, inconclusive if fewer than 200 are log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7872"/>
            <a:ext cx="11094415" cy="42557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p.173; R84 p.176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right subject, recorded method, measurable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demo instead of the recorded test; “looks current” cannot be measured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B: the subject is ParentApp, not the tracker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C: right subject, recorded method, a pass and an inconclusive condition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31008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31008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the checker.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 p.1394; R19 p.570; R19 p.576; R112 p.1666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thread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4415" cy="153212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53212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728655" cy="1532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(SEBOK)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thread would be the authoritative source of truth concerning the system data.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 · SEBoK v2.14 (2026), "Digital Engineering", p.1394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68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sense: end-to-end simulation linking tools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authoritative, traceable links from need to evidence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→ requirement → function → element → case → verdict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thread of REQ-SYS-001, top to bottom, read from the generated thread table: each stop and the model element at it.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 p.1394; R84 p.176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the thread of one requirement</a:t>
            </a:r>
            <a:endParaRPr lang="en-US" sz="3000" dirty="0"/>
          </a:p>
        </p:txBody>
      </p:sp>
      <p:pic>
        <p:nvPicPr>
          <p:cNvPr id="4" name="Image 0" descr="A vertical chain of nine stops: need NEED-004; parent REQ-STK-005; requirement REQ-SYS-001; function FN-006; logical LOG-002; physical PHY-003; satisfy claim by PHY-003; case VER-001; status plann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Up: need and parent (Week 9)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Down: function, logical, physical (Weeks 10 and 11)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satisfy (Week 11); check: the case (Week 12)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written once, read by every week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p.640; R23b p.654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 the thread: defect or right?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REQ-STK-013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function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right: site selection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REQ-STK-014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function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right: site selection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REQ-STK-015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deferred, owner named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REQ-STK-017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function; no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deferred, owner named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REQ-STK-021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function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reviewer’s 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42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breaks in the AeroLink thread table (FICTIONAL)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R118 p.491; R30 p.1394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thread authoritative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source: each link written once, read by every view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IDs: never reused, never renumbered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change: through a baseline and an approval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integrity and traceability over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23184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23184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tool writes from your model and refuses another team’s file.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 of the AeroLink verification matrix: the first system requirements with their case, method, element and status, read from model v0.5.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p.638; R49 p.149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the verification matrix</a:t>
            </a:r>
            <a:endParaRPr lang="en-US" sz="3000" dirty="0"/>
          </a:p>
        </p:txBody>
      </p:sp>
      <p:pic>
        <p:nvPicPr>
          <p:cNvPr id="4" name="Image 0" descr="A table with columns requirement, method recorded in Week 9, case, method, element, status. REQ-SYS-001: test; VER-001; test; PHY-003; planned. REQ-SYS-002: test; VER-002; test; PHY-001; planned. REQ-SYS-003: analysis; VER-003; analysis; LOG-001; inconclusive. REQ-SYS-004: demonstration; VER-004; demonstration; PHY-004; planned. REQ-SYS-005: test; VER-005; test; LOG-005; plann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7" y="1280160"/>
            <a:ext cx="11075481" cy="424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verification coverage in model v0.5, computed: requirements with a case, by kind, and interfaces a case touches.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p.581; R23a p.640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what the numbers say, and what they do not</a:t>
            </a:r>
            <a:endParaRPr lang="en-US" sz="3000" dirty="0"/>
          </a:p>
        </p:txBody>
      </p:sp>
      <p:pic>
        <p:nvPicPr>
          <p:cNvPr id="4" name="Image 0" descr="Four bars, each filled to its fraction: all requirements 34 of 36; stakeholder 19 of 21; system 15 of 15; interfaces touched 3 of 1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of 36 requirements have a case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still name an open value: a pass must wait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counts cases, not evidence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verified do not verify the parent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allocation of REQ-SYS-013 to an interface (Week 11) and VER-014, the case that verifies it on its subject, excerpted from model v0.5.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to an interface, verified on its subject</a:t>
            </a:r>
            <a:endParaRPr lang="en-US" sz="3000" dirty="0"/>
          </a:p>
        </p:txBody>
      </p:sp>
      <p:pic>
        <p:nvPicPr>
          <p:cNvPr id="4" name="Image 0" descr="Listing (course file sysml/lectures/week12/aerolink_verification_v05.sysml, checked: PASS): allocate Requirements::'REQ-SYS-013' to physicalArchitecture.operationsCenterToAirTrafficService; / verification def &lt;'VER-014'&gt; 'Flight intent filed before departure demonstration' { / doc /* Verifies REQ-SYS-013 (Flight intent filed before … */ / subject opsCenter : Physical::'Ops center'; / objective { / doc /* Pass when: Intent received by the air … */ / verify Requirements::'REQ-SYS-013'; / } / return verdict : VerdictKind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58938"/>
            <a:ext cx="6379289" cy="22909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Allocation: the interface carries the requirement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what the requirement is about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binds the subject, not the allocation target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p.651; R23b p.652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activities: the stakeholders judge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NEED-001 Short, predictable wait to board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Passengers, with the Head of Customer Experience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NEED-003 Noise exposure within the local agreement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noise officer and the residents’ association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NEED-008 Unassisted step-free travel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 with reduced mobility and the accessibility advocate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59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validation activities written in model v0.5 (course convention; FICTIONAL)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 p.150; R118 p.493; R118 p.494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travels along the thread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every change for its impact on the baseline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verification it invalidates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decides before the change is made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method: follow the model’s links, not memory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ICR-001, traced from IF-005 along AeroLink model v0.5: the requirements, physical elements, interfaces and cases it reaches, the neighbours Week 5 judged unaffected, and the gap the trace exposes.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 p.150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tracing a change request</a:t>
            </a:r>
            <a:endParaRPr lang="en-US" sz="3000" dirty="0"/>
          </a:p>
        </p:txBody>
      </p:sp>
      <p:pic>
        <p:nvPicPr>
          <p:cNvPr id="4" name="Image 0" descr="A title: ICR-001 changes IF-005. Rows: requirements REQ-STK-020, REQ-SYS-001, REQ-SYS-002, REQ-SYS-007, REQ-SYS-010; physical CMP-005, PHY-001, PHY-003; interfaces IF-001, IF-002, IF-005, IF-006, IF-010, IF-013; cases to re-run VER-001, VER-002, VER-003, VER-006, VER-007, VER-010, VER-033. A card: Week 5 judged IF-001, IF-002, IF-013 unaffected, so the reviewer prunes them with the reason. A dashed card: no case is bound to IF-005, and REQ-SYS-001 is not allocated to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7" y="1280160"/>
            <a:ext cx="11075481" cy="424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formal configuration baselines SEBoK names, in the order they are usually generated, with what each fixes.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R36 p.498; R36 p.499; R36 p.502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baselines</a:t>
            </a:r>
            <a:endParaRPr lang="en-US" sz="3000" dirty="0"/>
          </a:p>
        </p:txBody>
      </p:sp>
      <p:pic>
        <p:nvPicPr>
          <p:cNvPr id="4" name="Image 0" descr="Three cards stacked top to bottom, joined by arrows: functional baseline, the requirements and the verification required; allocated baseline, requirements allocated to the elements; product baseline, the approved design defini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formally approved snapshot at a point in development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allocated, product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Immutable: the starting point for further change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Week 6 “baseline” increment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and baseline comments of AeroLink model v0.5 (course convention), excerpted.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R88 p.35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in SysML v2: outside the language</a:t>
            </a:r>
            <a:endParaRPr lang="en-US" sz="3000" dirty="0"/>
          </a:p>
        </p:txBody>
      </p:sp>
      <p:pic>
        <p:nvPicPr>
          <p:cNvPr id="4" name="Image 0" descr="Listing (course file sysml/lectures/week12/aerolink_verification_v05.sysml, checked: PASS): // Validation activities (course convention; SysML v2 has no validation construct): the need, … / // NEED-003 Noise exposure within the local agreement: Residents near the first hub take part … / // Configuration baseline BL-001 'Verification baseline, model v0.5': approved by the … / // Content: model v0.5 of AeroLink Urban Mobility: 36 requirements, 34 verification cases (1 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28439"/>
            <a:ext cx="6379289" cy="1514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 v2 API: commits, and tags for baselines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immutable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BL-001, its approval, and the file’s SHA-256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p.176; R115 p.581; R23a p.640; R49 p.150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verification models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on the wrong element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subject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changed silently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method, or a reason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“Works” as 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Value, limit, samples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without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the report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while a value is open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until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verify parent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as subject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the subject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from memory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the links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V&amp;V review checklist (course convention): the eight checks your team records in the lab, each met or a finding.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p.640; R23b p.652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V&amp;V review checklist</a:t>
            </a:r>
            <a:endParaRPr lang="en-US" sz="3000" dirty="0"/>
          </a:p>
        </p:txBody>
      </p:sp>
      <p:pic>
        <p:nvPicPr>
          <p:cNvPr id="4" name="Image 0" descr="A card with 8 lines, each with an empty checkbox: every requirement has a case; methods fit, changes justified; measurable pass, inconclusive; the claimed element, conforming; no verdict without evidence; thread unbroken, need to case; needs judged by stakeholders; impact listed, approver nam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90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eight checks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met, or a finding with a note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gives evidence; the judgment is yours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mapping for Week 12, short form: each element of model v0.4 and what it becomes in model v0.5.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v0.4 to model v0.5</a:t>
            </a:r>
            <a:endParaRPr lang="en-US" sz="3000" dirty="0"/>
          </a:p>
        </p:txBody>
      </p:sp>
      <p:pic>
        <p:nvPicPr>
          <p:cNvPr id="4" name="Image 0" descr="A two-column table, model v0.4 and model v0.5: requirement, verification def with a VER ID; method attribute, VerificationMethod; criterion, objective doc and record; design element, usage binds the subject; a run, verdict and evidence; risk, record; need, validation comment; approval, BL record and SHA-256; change, impact tab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drafted from your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decide: element, conditions, verdicts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continue after the highest; none reused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 to 11 kept exactly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Weeks 13 and 14 do with the verification model built this week.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Week 13, analysis and the trade study</a:t>
            </a:r>
            <a:endParaRPr lang="en-US" sz="3000" dirty="0"/>
          </a:p>
        </p:txBody>
      </p:sp>
      <p:pic>
        <p:nvPicPr>
          <p:cNvPr id="4" name="Image 0" descr="Four bars stacked top to bottom, joined by arrows: analysis cases as evidence; the trade study in the model; change impact across the model; the final model and its baseli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51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13: analysis cases, the trade study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14: the final model and its baseline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L12 deliverables: three files, one upload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L12: model v0.5 of your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13, Session 1, on the LMS; your own enterprise, never AeroLink</a:t>
            </a:r>
            <a:endParaRPr lang="en-US" sz="1600" dirty="0"/>
          </a:p>
        </p:txBody>
      </p:sp>
      <p:pic>
        <p:nvPicPr>
          <p:cNvPr id="5" name="Image 0" descr="Four bars stacked top to bottom: team-NN-model-v05.sysml; team-NN-vv-audit.md; team-NN-checker-log.txt; one upload, before Week 13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team-NN-model-v05.sysml, team-NN-vv-audit.md, team-NN-checker-log.txt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checker errors; every warning explained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feedback before Week 13, Session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import, draft the cases, write two cases’ conditions, read the audit in the lab tool.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draft your verification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minutes, in teams, in the Week 12 lab tool</a:t>
            </a:r>
            <a:endParaRPr lang="en-US" sz="1600" dirty="0"/>
          </a:p>
        </p:txBody>
      </p:sp>
      <p:pic>
        <p:nvPicPr>
          <p:cNvPr id="5" name="Image 0" descr="Four bars stacked top to bottom, joined by arrows: 2 min · import model v0.4; 6 min · draft a case per requirement; 3 min · conditions for two system cases; 1 min · read the aud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Week 11 model (and your Week 6 file)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case for each requirement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method and element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cases’ pass and inconclusive conditions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team: two cases, one element, one condition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two cases and the element each verifies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aloud: one pass condition and its inconclusive condition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the exit card from Session 1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fix to make before day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L12, with the lead role for each task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Q12 and the applied exercise open today. Log your hours.</a:t>
            </a:r>
            <a:endParaRPr lang="en-US" sz="1600" dirty="0"/>
          </a:p>
        </p:txBody>
      </p:sp>
      <p:pic>
        <p:nvPicPr>
          <p:cNvPr id="5" name="Image 0" descr="A plan of days 1 to 7, one bar per task across the days it takes: checkpoint fix, day 1, led by Verification &amp; Validation; verification cases, days 1 to 3, led by Verification &amp; Validation; validation activities, day 3, led by Requirements &amp; Compliance; coverage audit, day 4, led by Requirements &amp; Compliance; change impact, days 4 to 5, led by Architecture; checker runs, day 5, led by AI &amp; Data Management; baseline and review, day 6, led by Verification &amp; Validation; upload, day 7, led by Verification &amp; Valid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3063"/>
            <a:ext cx="11094415" cy="41824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R19 · SEBoK v2.14 (2026), “System Architecture Design Definition”, p.570, 576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· SEBoK v2.14 (2026), “System Verification”, p.634–640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· SEBoK v2.14 (2026), “System Validation”, p.646, 648–649, 651–652, 654–655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 · SEBoK v2.14 (2026), “Digital Engineering”, p.1394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R36 · SEBoK v2.14 (2026), “Configuration Baselines”, p.498–499, 502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 · OUSD(R&amp;E) Systems Engineering Guidebook (2021/2022), “Verification Process”, p.149–150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p.173–176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R88 · OMG Systems Modeling API and Services v1.1 Beta 2, “7.1 API Model”, p.35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R112 · SEBoK v2.14 (2026), “Traceability (glossary)”, p.1666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· OMG SysML v2.1 Beta 2, Part 1 (Release 2026-07), “9.6 Requirement Derivation Domain Library”, p.581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R118 · SEBoK v2.14 (2026), “Configuration Management”, p.491, 493–494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12, Session 2: Digital Thread / V&amp;V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2026-10-29T03:16:58Z</dcterms:created>
  <dcterms:modified xsi:type="dcterms:W3CDTF">2026-10-29T03:16:58Z</dcterms:modified>
</cp:coreProperties>
</file>