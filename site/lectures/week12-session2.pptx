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CTUR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E8C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1097280"/>
            <a:ext cx="11094415" cy="0"/>
          </a:xfrm>
          <a:prstGeom prst="line">
            <a:avLst/>
          </a:prstGeom>
          <a:noFill/>
          <a:ln w="31750">
            <a:solidFill>
              <a:srgbClr val="0F6E8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D3D9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Thinking and MBSE with SysML v2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24248" y="6400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12 · Session 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CTURE_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F6E8C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D3D9E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Thinking and MBSE with SysML v2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724248" y="6400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12 · Session 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verification cases written for one requirement of a school-bus tracker: the subject and the method of each, read from the checked file, and its pass condition in short. Course illustration, not SysML v2 graphical notation. (FICTIONAL)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Warm-up: which case verifies the requirement?</a:t>
            </a:r>
            <a:endParaRPr lang="en-US" sz="3000" dirty="0"/>
          </a:p>
        </p:txBody>
      </p:sp>
      <p:pic>
        <p:nvPicPr>
          <p:cNvPr id="4" name="Image 0" descr="A table under the line “position no older than 30 s; method recorded: test”. Columns: case, subject, method, pass when. Case A: tracker : Tracker; demo; the position looks current to two parents. Case B: app : ParentApp; test; 200 sampled positions each at most 30 s old. Case C: tracker : Tracker; test; 200 sampled positions each at most 30 s old, inconclusive if fewer than 200 are logged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57872"/>
            <a:ext cx="11094415" cy="425579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R84 p.173; R84 p.176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Reveal: right subject, recorded method, measurable pass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11094415" cy="12862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A: demo instead of the recorded test; “looks current” cannot be measured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B: the subject is ParentApp, not the tracker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C: right subject, recorded method, a pass and an inconclusive condition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731008"/>
            <a:ext cx="11094415" cy="793750"/>
          </a:xfrm>
          <a:prstGeom prst="roundRect">
            <a:avLst>
              <a:gd name="adj" fmla="val 6912"/>
            </a:avLst>
          </a:prstGeom>
          <a:solidFill>
            <a:srgbClr val="E1EFF4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2731008"/>
            <a:ext cx="10820095" cy="79375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</a:t>
            </a:r>
            <a:endParaRPr lang="en-US" sz="1200" dirty="0"/>
          </a:p>
          <a:p>
            <a:pPr indent="0" marL="0">
              <a:buNone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pass the checker.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R30 p.1394; R19 p.570; R19 p.576; R112 p.1666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digital thread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94415" cy="1532128"/>
          </a:xfrm>
          <a:prstGeom prst="rect">
            <a:avLst/>
          </a:prstGeom>
          <a:solidFill>
            <a:srgbClr val="E1EFF4"/>
          </a:solidFill>
          <a:ln w="12700">
            <a:solidFill>
              <a:srgbClr val="E1EFF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280160"/>
            <a:ext cx="73152" cy="1532128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280160"/>
            <a:ext cx="10728655" cy="153212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THREAD (SEBOK)</a:t>
            </a:r>
            <a:endParaRPr lang="en-US" sz="1300" dirty="0"/>
          </a:p>
          <a:p>
            <a:pPr indent="0" marL="0">
              <a:buNone/>
            </a:pPr>
            <a:r>
              <a:rPr lang="en-US" sz="2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digital thread would be the authoritative source of truth concerning the system data.</a:t>
            </a:r>
            <a:endParaRPr lang="en-US" sz="13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1100" dirty="0">
                <a:solidFill>
                  <a:srgbClr val="0F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R30 · SEBoK v2.14 (2026), "Digital Engineering", p.1394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976880"/>
            <a:ext cx="11094415" cy="12862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second sense: end-to-end simulation linking tools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convention: authoritative, traceable links from need to evidence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→ requirement → function → element → case → verdict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AeroLink thread of REQ-SYS-001, top to bottom, read from the generated thread table: each stop and the model element at it.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R30 p.1394; R84 p.176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example: the thread of one requirement</a:t>
            </a:r>
            <a:endParaRPr lang="en-US" sz="3000" dirty="0"/>
          </a:p>
        </p:txBody>
      </p:sp>
      <p:pic>
        <p:nvPicPr>
          <p:cNvPr id="4" name="Image 0" descr="A vertical chain of nine stops: need NEED-004; parent REQ-STK-005; requirement REQ-SYS-001; function FN-006; logical LOG-002; physical PHY-003; satisfy claim by PHY-003; case VER-001; status planned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608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Up: need and parent (Week 9)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Down: function, logical, physical (Weeks 10 and 11)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Claim: satisfy (Week 11); check: the case (Week 12)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link written once, read by every week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R23a p.640; R23b p.654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Breaks in the thread: defect or right?</a:t>
            </a:r>
            <a:endParaRPr lang="en-US" sz="3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4415" cy="914400"/>
        </p:xfrm>
        <a:graphic>
          <a:graphicData uri="http://schemas.openxmlformats.org/drawingml/2006/table">
            <a:tbl>
              <a:tblPr/>
              <a:tblGrid>
                <a:gridCol w="3698138"/>
                <a:gridCol w="3698138"/>
                <a:gridCol w="369813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Requirement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Break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Reading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REQ-STK-013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function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right: site selection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REQ-STK-014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function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right: site selection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REQ-STK-015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case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deferred, owner named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REQ-STK-017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function; no case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deferred, owner named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REQ-STK-021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function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reviewer’s question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36423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breaks in the AeroLink thread table (FICTIONAL)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R118 p.491; R30 p.1394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makes the thread authoritative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11094415" cy="16784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source: each link written once, read by every view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IDs: never reused, never renumbered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Controlled change: through a baseline and an approval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Consistency, integrity and traceability over time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3123184"/>
            <a:ext cx="11094415" cy="793750"/>
          </a:xfrm>
          <a:prstGeom prst="roundRect">
            <a:avLst>
              <a:gd name="adj" fmla="val 6912"/>
            </a:avLst>
          </a:prstGeom>
          <a:solidFill>
            <a:srgbClr val="ECEFF3"/>
          </a:solidFill>
          <a:ln w="12700">
            <a:solidFill>
              <a:srgbClr val="D3D9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3123184"/>
            <a:ext cx="10820095" cy="79375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CONVENTION</a:t>
            </a:r>
            <a:endParaRPr lang="en-US" sz="1200" dirty="0"/>
          </a:p>
          <a:p>
            <a:pPr indent="0" marL="0">
              <a:buNone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lab tool writes from your model and refuses another team’s file.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fragment of the AeroLink verification matrix: the first system requirements with their case, method, element and status, read from model v0.5.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R23a p.638; R49 p.149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example: the verification matrix</a:t>
            </a:r>
            <a:endParaRPr lang="en-US" sz="3000" dirty="0"/>
          </a:p>
        </p:txBody>
      </p:sp>
      <p:pic>
        <p:nvPicPr>
          <p:cNvPr id="4" name="Image 0" descr="A table with columns requirement, method recorded in Week 9, case, method, element, status. REQ-SYS-001: test; VER-001; test; PHY-003; planned. REQ-SYS-002: test; VER-002; test; PHY-001; planned. REQ-SYS-003: analysis; VER-003; analysis; LOG-001; inconclusive. REQ-SYS-004: demonstration; VER-004; demonstration; PHY-004; planned. REQ-SYS-005: test; VER-005; test; LOG-005; planned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8107" y="1280160"/>
            <a:ext cx="11075481" cy="4248531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 verification coverage in model v0.5, computed: requirements with a case, by kind, and interfaces a case touches.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R115 p.581; R23a p.640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Coverage: what the numbers say, and what they do not</a:t>
            </a:r>
            <a:endParaRPr lang="en-US" sz="3000" dirty="0"/>
          </a:p>
        </p:txBody>
      </p:sp>
      <p:pic>
        <p:nvPicPr>
          <p:cNvPr id="4" name="Image 0" descr="Four bars, each filled to its fraction: all requirements 34 of 36; stakeholder 19 of 21; system 15 of 15; interfaces touched 3 of 16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 of 36 requirements have a case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still name an open value: a pass must wait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counts cases, not evidence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Children verified do not verify the parent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AeroLink allocation of REQ-SYS-013 to an interface (Week 11) and VER-014, the case that verifies it on its subject, excerpted from model v0.5.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R84 p.176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Allocated to an interface, verified on its subject</a:t>
            </a:r>
            <a:endParaRPr lang="en-US" sz="3000" dirty="0"/>
          </a:p>
        </p:txBody>
      </p:sp>
      <p:pic>
        <p:nvPicPr>
          <p:cNvPr id="4" name="Image 0" descr="Listing (course file sysml/lectures/week12/aerolink_verification_v05.sysml, checked: PASS): allocate Requirements::'REQ-SYS-013' to physicalArchitecture.operationsCenterToAirTrafficService; / verification def &lt;'VER-014'&gt; 'Flight intent filed before departure demonstration' { / doc /* Verifies REQ-SYS-013 (Flight intent filed before … */ / subject opsCenter : Physical::'Ops center'; / objective { / doc /* Pass when: Intent received by the air … */ / verify Requirements::'REQ-SYS-013'; / } / return verdict : VerdictKind; / }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258938"/>
            <a:ext cx="6379289" cy="229097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215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Allocation: the interface carries the requirement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Subject: what the requirement is about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case binds the subject, not the allocation target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R23b p.651; R23b p.652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activities: the stakeholders judge</a:t>
            </a:r>
            <a:endParaRPr lang="en-US" sz="3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4415" cy="914400"/>
        </p:xfrm>
        <a:graphic>
          <a:graphicData uri="http://schemas.openxmlformats.org/drawingml/2006/table">
            <a:tbl>
              <a:tblPr/>
              <a:tblGrid>
                <a:gridCol w="5547208"/>
                <a:gridCol w="554720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Judged by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NEED-001 Short, predictable wait to board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Passengers, with the Head of Customer Experience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NEED-003 Noise exposure within the local agreement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City noise officer and the residents’ association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NEED-008 Unassisted step-free travel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Passengers with reduced mobility and the accessibility advocate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310591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AeroLink validation activities written in model v0.5 (course convention; FICTIONAL)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R49 p.150; R118 p.493; R118 p.494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change travels along the thread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11094415" cy="16784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 every change for its impact on the baseline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the verification it invalidates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board decides before the change is made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method: follow the model’s links, not memory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impact of ICR-001, traced from IF-005 along AeroLink model v0.5: the requirements, physical elements, interfaces and cases it reaches, the neighbours Week 5 judged unaffected, and the gap the trace exposes.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R49 p.150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example: tracing a change request</a:t>
            </a:r>
            <a:endParaRPr lang="en-US" sz="3000" dirty="0"/>
          </a:p>
        </p:txBody>
      </p:sp>
      <p:pic>
        <p:nvPicPr>
          <p:cNvPr id="4" name="Image 0" descr="A title: ICR-001 changes IF-005. Rows: requirements REQ-STK-020, REQ-SYS-001, REQ-SYS-002, REQ-SYS-007, REQ-SYS-010; physical CMP-005, PHY-001, PHY-003; interfaces IF-001, IF-002, IF-005, IF-006, IF-010, IF-013; cases to re-run VER-001, VER-002, VER-003, VER-006, VER-007, VER-010, VER-033. A card: Week 5 judged IF-001, IF-002, IF-013 unaffected, so the reviewer prunes them with the reason. A dashed card: no case is bound to IF-005, and REQ-SYS-001 is not allocated to it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8107" y="1280160"/>
            <a:ext cx="11075481" cy="4248531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three formal configuration baselines SEBoK names, in the order they are usually generated, with what each fixes.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R36 p.498; R36 p.499; R36 p.502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 baselines</a:t>
            </a:r>
            <a:endParaRPr lang="en-US" sz="3000" dirty="0"/>
          </a:p>
        </p:txBody>
      </p:sp>
      <p:pic>
        <p:nvPicPr>
          <p:cNvPr id="4" name="Image 0" descr="Three cards stacked top to bottom, joined by arrows: functional baseline, the requirements and the verification required; allocated baseline, requirements allocated to the elements; product baseline, the approved design definition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608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formally approved snapshot at a point in development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Functional, allocated, product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Immutable: the starting point for further change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the Week 6 “baseline” increment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validation and baseline comments of AeroLink model v0.5 (course convention), excerpted.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R88 p.35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Baselines in SysML v2: outside the language</a:t>
            </a:r>
            <a:endParaRPr lang="en-US" sz="3000" dirty="0"/>
          </a:p>
        </p:txBody>
      </p:sp>
      <p:pic>
        <p:nvPicPr>
          <p:cNvPr id="4" name="Image 0" descr="Listing (course file sysml/lectures/week12/aerolink_verification_v05.sysml, checked: PASS): // Validation activities (course convention; SysML v2 has no validation construct): the need, … / // NEED-003 Noise exposure within the local agreement: Residents near the first hub take part … / // Configuration baseline BL-001 'Verification baseline, model v0.5': approved by the … / // Content: model v0.5 of AeroLink Urban Mobility: 36 requirements, 34 verification cases (1 …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728439"/>
            <a:ext cx="6379289" cy="151465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215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SysML v2 API: commits, and tags for baselines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Tags are immutable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convention: BL-001, its approval, and the file’s SHA-256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R84 p.176; R115 p.581; R23a p.640; R49 p.150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errors in verification models</a:t>
            </a:r>
            <a:endParaRPr lang="en-US" sz="30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4415" cy="914400"/>
        </p:xfrm>
        <a:graphic>
          <a:graphicData uri="http://schemas.openxmlformats.org/drawingml/2006/table">
            <a:tbl>
              <a:tblPr/>
              <a:tblGrid>
                <a:gridCol w="5547208"/>
                <a:gridCol w="554720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Error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Instead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Case on the wrong element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Its subject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 changed silently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Recorded method, or a reason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“Works” as pass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Value, limit, samples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Verdict without evidence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 the report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 while a value is open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Inconclusive until set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Children verify parent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Its own case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Allocation as subject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Bind the subject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Impact from memory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Follow the links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V&amp;V review checklist (course convention): the eight checks your team records in the lab, each met or a finding.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R23a p.640; R23b p.652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V&amp;V review checklist</a:t>
            </a:r>
            <a:endParaRPr lang="en-US" sz="3000" dirty="0"/>
          </a:p>
        </p:txBody>
      </p:sp>
      <p:pic>
        <p:nvPicPr>
          <p:cNvPr id="4" name="Image 0" descr="A card with 8 lines, each with an empty checkbox: every requirement has a case; methods fit, changes justified; measurable pass, inconclusive; the claimed element, conforming; no verdict without evidence; thread unbroken, need to case; needs judged by stakeholders; impact listed, approver named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19060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convention: eight checks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Each: met, or a finding with a note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tool gives evidence; the judgment is yours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course mapping for Week 12, short form: each element of model v0.4 and what it becomes in model v0.5.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model v0.4 to model v0.5</a:t>
            </a:r>
            <a:endParaRPr lang="en-US" sz="3000" dirty="0"/>
          </a:p>
        </p:txBody>
      </p:sp>
      <p:pic>
        <p:nvPicPr>
          <p:cNvPr id="4" name="Image 0" descr="A two-column table, model v0.4 and model v0.5: requirement, verification def with a VER ID; method attribute, VerificationMethod; criterion, objective doc and record; design element, usage binds the subject; a run, verdict and evidence; risk, record; need, validation comment; approval, BL record and SHA-256; change, impact tabl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608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convention: drafted from your model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decide: element, conditions, verdicts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IDs continue after the highest; none reused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8 to 11 kept exactly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Weeks 13 and 14 do with the verification model built this week.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Bridge: Week 13, analysis and the trade study</a:t>
            </a:r>
            <a:endParaRPr lang="en-US" sz="3000" dirty="0"/>
          </a:p>
        </p:txBody>
      </p:sp>
      <p:pic>
        <p:nvPicPr>
          <p:cNvPr id="4" name="Image 0" descr="Four bars stacked top to bottom, joined by arrows: analysis cases as evidence; the trade study in the model; change impact across the model; the final model and its baselin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02805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1513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13: analysis cases, the trade study in the model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14: the final model and its baseline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L12 deliverables: three files, one upload (course convention).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L12: model v0.5 of your enterprise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before Week 13, Session 1, on the LMS; your own enterprise, never AeroLink</a:t>
            </a:r>
            <a:endParaRPr lang="en-US" sz="1600" dirty="0"/>
          </a:p>
        </p:txBody>
      </p:sp>
      <p:pic>
        <p:nvPicPr>
          <p:cNvPr id="5" name="Image 0" descr="Four bars stacked top to bottom: team-NN-model-v05.sysml; team-NN-vv-audit.md; team-NN-checker-log.txt; one upload, before Week 13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39965"/>
            <a:ext cx="6379289" cy="372861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293689" y="1554480"/>
            <a:ext cx="4349366" cy="32278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enterprise, never AeroLink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files: team-NN-model-v05.sysml, team-NN-vv-audit.md, team-NN-checker-log.txt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checker errors; every warning explained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feedback before Week 13, Session 2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class: import, draft the cases, write two cases’ conditions, read the audit in the lab tool.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work: draft your verification cases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minutes, in teams, in the Week 12 lab tool</a:t>
            </a:r>
            <a:endParaRPr lang="en-US" sz="1600" dirty="0"/>
          </a:p>
        </p:txBody>
      </p:sp>
      <p:pic>
        <p:nvPicPr>
          <p:cNvPr id="5" name="Image 0" descr="Four bars stacked top to bottom, joined by arrows: 2 min · import model v0.4; 6 min · draft a case per requirement; 3 min · conditions for two system cases; 1 min · read the audit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39965"/>
            <a:ext cx="6379289" cy="372861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293689" y="1554480"/>
            <a:ext cx="4349366" cy="2608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your Week 11 model (and your Week 6 file)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a case for each requirement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each method and element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two cases’ pass and inconclusive conditions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 checkpoint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133856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team: two cases, one element, one condition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1094415" cy="16784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Show: two cases and the element each verifies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aloud: one pass condition and its inconclusive condition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Show: the exit card from Session 1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one fix to make before day 2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suggested seven-day plan for Lab L12, with the lead role for each task (course convention).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Close: the next seven days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Q12 and the applied exercise open today. Log your hours.</a:t>
            </a:r>
            <a:endParaRPr lang="en-US" sz="1600" dirty="0"/>
          </a:p>
        </p:txBody>
      </p:sp>
      <p:pic>
        <p:nvPicPr>
          <p:cNvPr id="5" name="Image 0" descr="A plan of days 1 to 7, one bar per task across the days it takes: checkpoint fix, day 1, led by Verification &amp; Validation; verification cases, days 1 to 3, led by Verification &amp; Validation; validation activities, day 3, led by Requirements &amp; Compliance; coverage audit, day 4, led by Requirements &amp; Compliance; change impact, days 4 to 5, led by Architecture; checker runs, day 5, led by AI &amp; Data Management; baseline and review, day 6, led by Verification &amp; Validation; upload, day 7, led by Verification &amp; Validation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13063"/>
            <a:ext cx="11094415" cy="418241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 and credits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3413053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R19 · SEBoK v2.14 (2026), “System Architecture Design Definition”, p.570, 576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R23a · SEBoK v2.14 (2026), “System Verification”, p.634–640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R23b · SEBoK v2.14 (2026), “System Validation”, p.646, 648–649, 651–652, 654–655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R30 · SEBoK v2.14 (2026), “Digital Engineering”, p.1394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R36 · SEBoK v2.14 (2026), “Configuration Baselines”, p.498–499, 502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R49 · OUSD(R&amp;E) Systems Engineering Guidebook (2021/2022), “Verification Process”, p.149–150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236013" y="1280160"/>
            <a:ext cx="3413053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R84 · OMG SysML v2.1 Beta 2, Part 1 (Release 2026-07), “7.23 Analysis Cases”, p.173–176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R88 · OMG Systems Modeling API and Services v1.1 Beta 2, “7.1 API Model”, p.35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R112 · SEBoK v2.14 (2026), “Traceability (glossary)”, p.1666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R115 · OMG SysML v2.1 Beta 2, Part 1 (Release 2026-07), “9.6 Requirement Derivation Domain Library”, p.581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R118 · SEBoK v2.14 (2026), “Configuration Management”, p.491, 493–494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923386" y="1280160"/>
            <a:ext cx="54864" cy="4846320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60546" y="1280160"/>
            <a:ext cx="3582509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CREDITS AND LICENSES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SEBoK v2.14: “This material is used under a Creative Commons Attribution-NonCommercial ShareAlike 3.0 Unported License from The Trustees of the Stevens Institute of Technology.” (SEBoK, “Bkcase Wiki:Copyright”, PDF p.31). Quotations are short and cited; no SEBoK figure or table is reproduced.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OUSD(R&amp;E) Systems Engineering Guidebook: Distribution Statement A. Approved for public release. Distribution is unlimited.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are original drawings for this course; none redraws a figure from the sources.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 Urban Mobility is a fictional teaching case: every number, name and statement about it is a teaching value.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Wright State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12, Session 2: Digital Thread / V&amp;V</dc:title>
  <dc:subject>Systems Thinking and MBSE with SysML v2</dc:subject>
  <dc:creator>SysML Learning Studio (generated)</dc:creator>
  <cp:lastModifiedBy>SysML Learning Studio (generated)</cp:lastModifiedBy>
  <cp:revision>1</cp:revision>
  <dcterms:created xsi:type="dcterms:W3CDTF">2026-10-29T01:56:45Z</dcterms:created>
  <dcterms:modified xsi:type="dcterms:W3CDTF">2026-10-29T01:56:45Z</dcterms:modified>
</cp:coreProperties>
</file>