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SCN-005 from Session 1, as a memory aid for the warm-up.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three questions on Session 1</a:t>
            </a:r>
            <a:endParaRPr lang="en-US" sz="3000" dirty="0"/>
          </a:p>
        </p:txBody>
      </p:sp>
      <p:pic>
        <p:nvPicPr>
          <p:cNvPr id="4" name="Image 0" descr="The SCN-005 Weather Disruption swimlane from Session 1: lanes for the duty manager, the system, the pilot, the air traffic service and the passenger under a shaded weather band, with seven numbered steps and three alternate flow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8267"/>
            <a:ext cx="6379289" cy="29176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Is the weather an actor in SCN-005?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Name one thing writing SCN-005 exposed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Which capability does SCN-003 exercise?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R59 p.453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the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No: it has no goal and cannot be asked for help; it is the environment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NEED-011, assumption A-008, or unknown U-001 (TBD-01)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CAP-003, fleet charging management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REQ-STK-001 dissected into its parts, with the attribute record that travels with it (FICTIONAL).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p.558–559; R54 p.330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requirement and its attributes</a:t>
            </a:r>
            <a:endParaRPr lang="en-US" sz="3000" dirty="0"/>
          </a:p>
        </p:txBody>
      </p:sp>
      <p:pic>
        <p:nvPicPr>
          <p:cNvPr id="4" name="Image 0" descr="The statement of REQ-STK-001 split into labeled segments: subject, The AeroLink service; shall; action, board; object, at least 90 % of passengers; condition, in each calendar month; criterion, within 15 min of their ride confirmation. Beside it an attribute card: ID REQ-STK-001; type performance; method analysis; criterion 90th-percentile confirmation-to-boarding time at most 15 min per calendar month; rationale, attraction halves at a 15 min wait (A-001); parents NEED-001 and CAP-001; owner Requirements &amp; Compliance lea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4753"/>
            <a:ext cx="6379289" cy="4342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971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obligation to perform a function or have a quality, within constraints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“Shall” binds; “should” and “may” do not; “will” declares purpose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rationale, parent, verification criteria, owner, priority …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minimum record:</a:t>
            </a:r>
            <a:pPr indent="0" marL="0">
              <a:buNone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ID, name, statement, type, criterion or TBD, rationale, parent, method, owner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DoD and MITRE lists of good-requirement characteristics: what both name, and what only one does.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R48b p.144; R54 p.329–330; R13 p.566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good requirements</a:t>
            </a:r>
            <a:endParaRPr lang="en-US" sz="3000" dirty="0"/>
          </a:p>
        </p:txBody>
      </p:sp>
      <p:pic>
        <p:nvPicPr>
          <p:cNvPr id="4" name="Image 0" descr="Three columns. DoD only: necessary; clear and concise; complete; able to be validated; operationally effective and survivable. Both lists: unambiguous; traceable; measurable; verifiable or testable; consistent; feasible; singular (MITRE: specific and singular); unique (MITRE: uniquely identified). MITRE only: performance specified; design-free; uses shall. A side tab reads set-level: complete, consistent. The footer names the DoD Guidebook and the MITRE SE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114"/>
            <a:ext cx="6379289" cy="42833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DoD and MITRE lists share eight characteristics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consistent are judged on the set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against them is requirement verification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INCOSE’s guide, which SEBoK cites, is not in our collection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 AeroLink requirements by course type, reference and proposed, and SEBoK’s five categories read for the set (instructor’s reading).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p.560; R55 p.368–369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categories: organizing a set so gaps show</a:t>
            </a:r>
            <a:endParaRPr lang="en-US" sz="3000" dirty="0"/>
          </a:p>
        </p:txBody>
      </p:sp>
      <p:pic>
        <p:nvPicPr>
          <p:cNvPr id="4" name="Image 0" descr="Horizontal bars by course type with counts split into reference and proposed: functional 7, performance 12, interface 2, constraint 8. On the right, SEBoK’s five categories read for AeroLink: Function/Performance addressed; Fit/Operational addressed (interfaces, operating environment); Form none yet, dashed amber, a gap to discuss; Quality addressed (fleet availability); Compliance addressed (noise, land use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4753"/>
            <a:ext cx="6379289" cy="4342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categories: function/performance, fit/operational, form, quality, compliance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set addresses every category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MITRE: a function, a performance, a design constraint or an interface reference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types:</a:t>
            </a:r>
            <a:pPr indent="0" marL="0">
              <a:buNone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functional, performance, interface, constraint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the same turnaround: the service, the charging system, and the charger rating that is derived later (FICTIONAL).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R55 p.367; R55 p.371; R48 p.146; R13 p.558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Level, white space and derived requirements</a:t>
            </a:r>
            <a:endParaRPr lang="en-US" sz="3000" dirty="0"/>
          </a:p>
        </p:txBody>
      </p:sp>
      <p:pic>
        <p:nvPicPr>
          <p:cNvPr id="4" name="Image 0" descr="Three nested levels joined by zoom lines. The service level box: REQ-STK-005, dispatch-ready within 25 min of arrival. Inside it the charging-system box: REQ-SYS-001, charge from 20 % to the threshold within 20 min. Inside that a greyed dashed box: charger rating and count, derived later, after the Week 3 trade. A label reads white space left for the designe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9009"/>
            <a:ext cx="6379289" cy="397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designers what they must know; leave white space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high: the designer guesses; too low: the design is constrained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requirements come from solution decisions: keep them traceable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the level of the system of interest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stakeholder requirement with a TBD, the unknown that tracks it, and the positive system requirement that answers it (FICTIONAL).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R55 p.370; R13 p.565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Negatives, ranges, thresholds and TBDs</a:t>
            </a:r>
            <a:endParaRPr lang="en-US" sz="3000" dirty="0"/>
          </a:p>
        </p:txBody>
      </p:sp>
      <p:pic>
        <p:nvPicPr>
          <p:cNvPr id="4" name="Image 0" descr="A card with REQ-STK-003, The AeroLink service shall not dispatch a flight when the forecast at its departure or arrival vertiport exceeds the approved aircraft weather limits (TBD-01), with shall not and TBD-01 outlined in amber. An arrow from TBD-01 leads to a card U-001, aircraft weather limits not published, owner Director of Flight Operations, close by the requirements baseline. A second card, REQ-SYS-004, The operations system shall place a dispatch hold on any vertiport whose forecast wind or gust within the next 30 min exceeds the aircraft limit (TBD-01), with its TBD-01 also linked to U-001. A caption line: a negative is hard to prove; the positive hold can be demonstrat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3855"/>
            <a:ext cx="6379289" cy="36038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“shall not”: a negative is hard to prove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“maximize” and “minimize”; use ranges, not single points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must be met; objective: better has value up to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TBD: value unknown; TBR: known, low confidence; each with an owner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verification methods, each with one AeroLink requirement, and certification as a fifth method (FICTIONAL).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R55 p.370; R49 p.149–150; R16 p.769; R13 p.566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 method for every requirement</a:t>
            </a:r>
            <a:endParaRPr lang="en-US" sz="3000" dirty="0"/>
          </a:p>
        </p:txBody>
      </p:sp>
      <p:pic>
        <p:nvPicPr>
          <p:cNvPr id="4" name="Image 0" descr="Four method cards with icons. Inspection: REQ-STK-007, a step-free route at every vertiport. Analysis: REQ-STK-004, capacity of at least 300 trips per day. Demonstration: REQ-STK-006, dispatch blocked with an open no-go fault. Test: REQ-SYS-001, charge time at most 20 min. A fifth dashed card: Certification, by an outside authority (SEBoK), for example airworthiness. A note: inspection is the DoD’s examina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7357"/>
            <a:ext cx="6379289" cy="30968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needs a verification method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Inspection, analysis, demonstration, test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Certification: a fifth method, by an outside authority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success criteria while writing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chains from need to system requirement. The rationale beside each arrow says why the requirement exists and where its value comes from (FICTIONAL).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p.559; R13 p.565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IV: two chains and the reasoning in the rationale</a:t>
            </a:r>
            <a:endParaRPr lang="en-US" sz="3000" dirty="0"/>
          </a:p>
        </p:txBody>
      </p:sp>
      <p:pic>
        <p:nvPicPr>
          <p:cNvPr id="4" name="Image 0" descr="Two vertical chains. Left: NEED-001, CAP-001, REQ-STK-001, REQ-SYS-005, with call-outs: A-001, attraction halves at 15 min, beside REQ-STK-001; a negligible part of the 15 min budget, beside REQ-SYS-005. Right: NEED-010, CAP-010, REQ-STK-010, REQ-SYS-010, with call-outs: exceeding trips protection or incurs penalties, beside REQ-STK-010; enforced in the system, not by procedure, beside REQ-SYS-010. REQ-STK-010 and REQ-SYS-010 carry TBD-02 linked to a small U-002 card. Each requirement shows its verification metho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673" y="1280160"/>
            <a:ext cx="10036350" cy="44112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NEED-003 has two bounds; each needs its own requirements and measure. The second column is proposed (FICTIONAL).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p.558–559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V: a Week 1 correction reaches the requirements</a:t>
            </a:r>
            <a:endParaRPr lang="en-US" sz="3000" dirty="0"/>
          </a:p>
        </p:txBody>
      </p:sp>
      <p:pic>
        <p:nvPicPr>
          <p:cNvPr id="4" name="Image 0" descr="A NEED-003 card at the top splits into two bars: level of each event, 65 dBA at the pad edge; and number of events before 07:00 and after 20:00, the agreed cap. Under the first bar REQ-STK-002 leads to REQ-SYS-002, measured by MOE-003. Under the second bar REQ-STK-011 (proposed, TBD-03 linked to U-003) leads to REQ-SYS-011 (proposed), measured by MOE-007 (proposed). A ghost label reads the reference set had an empty box he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4753"/>
            <a:ext cx="6379289" cy="4342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NEED-003: the loudness of each event and the number of evening and early-morning events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REQ-STK-002 covers loudness only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REQ-STK-011: the event cap (TBD-03)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flows down: REQ-SYS-011, MOE-007, MOP-010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flawed drafts, the defect in each with its source, what finds it, and the rewrite (FICTIONAL).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R48b p.144; R54 p.329–330; R55 p.367; R55 p.370; R13 p.565–566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VI: critique and rewrite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diagnose two drafts each; then the reveal (FICTIONAL)</a:t>
            </a:r>
            <a:endParaRPr lang="en-US" sz="1600" dirty="0"/>
          </a:p>
        </p:txBody>
      </p:sp>
      <p:pic>
        <p:nvPicPr>
          <p:cNvPr id="5" name="Image 0" descr="A table with columns Draft, Defect (characteristic), Caught by and Rewrite. F1: The aircraft shall be quiet and shall be safe to operate near homes. Defect: Two obligations in one statement; “quiet” and “safe” have no measurable criterion. Caught by engineering judgment. Rewrite REQ-SYS-002. F2: The booking app should respond quickly to ride requests. Defect: “Should” is not binding; “quickly” has no value, unit or start event; “the booking app” names one implementation. Caught by word-level check. Rewrite REQ-SYS-005. F3: The charging system shall charge each aircraft using two 350 kW DC fast chargers per hub pad. Defect: States how (charger type, rating and count), not what the turnaround needs: the number dictates the design. Caught by engineering judgment. Rewrite REQ-SYS-001. F4: The fleet shall maximize availability. Defect: “Maximize” leaves the engineer to judge when it is good enough; no threshold, no period. Caught by word-level check. Rewrite REQ-SYS-006. F5: The operations system shall not dispatch flights in unsafe weather. Defect: A negative is hard to prove; “unsafe” hides an unknown value (the weather limits). Caught by word-level check. Rewrite REQ-SYS-004. F6: The vertiport fire detection system shall send a battery-fire alarm to the emergency services dispatch center in 30 s. Defect: A single point value, and no start event: 30 s from what? Caught by word-level check. Rewrite REQ-SYS-009. The engineering-judgment rows are outlin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308" y="1554480"/>
            <a:ext cx="8853079" cy="41368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trace graph with one orphan requirement and one childless parent.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R45 p.118–119; R13 p.565; R14 p.478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traceability: orphans and childless parents</a:t>
            </a:r>
            <a:endParaRPr lang="en-US" sz="3000" dirty="0"/>
          </a:p>
        </p:txBody>
      </p:sp>
      <p:pic>
        <p:nvPicPr>
          <p:cNvPr id="4" name="Image 0" descr="Three rows of small boxes with trace arrows: needs N-1, N-2, N-3; stakeholder requirements S-1, S-2, S-3; system requirements Y-1 to Y-4. Y-4 has no upward arrow and is circled orphan (no source). N-3 has no downward arrow and is circled childless paren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6414"/>
            <a:ext cx="6379289" cy="38987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every derived requirement traces to its source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Bidirectional: no orphans below, no childless parents above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traceability matrix records decomposition, derivation, allocation and rationale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supports the impact analysis of changes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by stakeholder requirements, and stakeholder requirements by the number of system requirements under them. NEED-011 is the one deliberate gap; childless stakeholder requirements carry their disposition, record why not: O, an open item, or R, no child needed. Proposed columns are marked †. FICTIONAL.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R45 p.118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VII: auditing the AeroLink trace</a:t>
            </a:r>
            <a:endParaRPr lang="en-US" sz="3000" dirty="0"/>
          </a:p>
        </p:txBody>
      </p:sp>
      <p:pic>
        <p:nvPicPr>
          <p:cNvPr id="4" name="Image 0" descr="An upper matrix with NEED-001 to NEED-017 as rows and REQ-STK-001 to REQ-STK-017 as columns, proposed columns 011 to 017 marked with a dagger; a filled cell marks each requirement’s parent need. 001 under NEED-001; 002 under NEED-003; 003 under NEED-002; 004 under NEED-005; 005 under NEED-004; 006 under NEED-007; 007 under NEED-008; 008 under NEED-006; 009 under NEED-009; 010 under NEED-010; 011 under NEED-003; 012 under NEED-015; 013 under NEED-012; 014 under NEED-016; 015 under NEED-013; 016 under NEED-014; 017 under NEED-017. The NEED-011 row is empty and highlighted amber, labeled deliberate gap (exposed by SCN-005). A lower strip shows, for each stakeholder requirement, the number of system requirements under it; the childless ones are marked 007 O, 009 O, 013 O, 014 O, 015 O, 016 O, 017 O. A legend explains filled cells, the dagger, O and 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376" y="1280160"/>
            <a:ext cx="8358943" cy="42485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and validation applied to the requirements this week, and to the system in Week 12.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p.566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verification versus requirement validation</a:t>
            </a:r>
            <a:endParaRPr lang="en-US" sz="3000" dirty="0"/>
          </a:p>
        </p:txBody>
      </p:sp>
      <p:pic>
        <p:nvPicPr>
          <p:cNvPr id="4" name="Image 0" descr="A two-by-two grid. Rows: the requirements, the system. Columns: verification, validation. Top row, highlighted this week: are they well formed?; are they the right requirements, faithful to the needs and achievable? Bottom row, dimmed: Week 12, system verification; Week 12, system validation. A note reads SEBoK: requirement verification and validation are not system verification and valida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3855"/>
            <a:ext cx="6379289" cy="36038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verification: are they well formed?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validation: are they the right ones, faithful to the needs and achievable?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system verification or validation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peer review; comparison with the characteristics and the needs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objective to measure: MOEs in the users’ terms, MOPs in the system’s, with TPMs left for Week 3.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R54 p.330–331; R10 p.544; R15 p.532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effectiveness and measures of performance</a:t>
            </a:r>
            <a:endParaRPr lang="en-US" sz="3000" dirty="0"/>
          </a:p>
        </p:txBody>
      </p:sp>
      <p:pic>
        <p:nvPicPr>
          <p:cNvPr id="4" name="Image 0" descr="A pyramid with levels from top to bottom: Objective (MGO); MOE, mission success in the users’ view; MOP, a system characteristic measured under specified conditions; TPM, greyed and dashed, Week 3. On the right an example: MGO-005, then MOE-001, then MOP-001 and MOP-00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769"/>
            <a:ext cx="6379289" cy="375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MOE: mission success under stated conditions, from the users’ viewpoint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MOP: a physical or functional characteristic, measured under stated conditions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KPP: a stakeholder-defined, minimal and critical measure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TPMs: Week 3, with technology and risk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AeroLink measures link objectives, needs and capabilities to requirements, with their data sources. Dashed items are proposed (FICTIONAL).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VIII: the AeroLink measures</a:t>
            </a:r>
            <a:endParaRPr lang="en-US" sz="3000" dirty="0"/>
          </a:p>
        </p:txBody>
      </p:sp>
      <p:pic>
        <p:nvPicPr>
          <p:cNvPr id="4" name="Image 0" descr="Two clusters of linked boxes. First: MGO-005, NEED-001 and CAP-001 are measured by MOE-001 (booking and boarding timestamps); MOP-001 (scheduling event log) and MOP-002 (charger session records) measure MOE-001 and also REQ-SYS-005, REQ-SYS-001 and REQ-STK-005. Second: NEED-003 is measured by MOE-003 (per event, reference) and MOE-007 (event cap, proposed, dashed); MOP-004 measures MOE-003 and MOP-010 (proposed) measures MOE-007. Arrows are labeled measur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260" y="1280160"/>
            <a:ext cx="10729176" cy="45739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artifacts and where each goes next. Phase II items are named only; no SysML syntax is taught this week.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 sl.86–91; R76 sl.100–107; R72 sl.30–47; R75 sl.96–97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goes: Weeks 3, 9, 10 and 12</a:t>
            </a:r>
            <a:endParaRPr lang="en-US" sz="3000" dirty="0"/>
          </a:p>
        </p:txBody>
      </p:sp>
      <p:pic>
        <p:nvPicPr>
          <p:cNvPr id="4" name="Image 0" descr="A left column of this week’s artifacts: scenarios, requirements, verification methods, measures, TBDs. Arrows lead to four boxes: Week 3, TBDs become unknowns and risks, TPMs attach to risky requirements, trade criteria come from MOEs; Week 9, requirement definitions and usages; Week 10, use cases and actions; Week 12, verification cases. The Week 9, 10 and 12 boxes are labeled SysML v2 (named only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008" y="1280160"/>
            <a:ext cx="10757680" cy="44112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2 additions to the Team Record and their minimums for a team of four (course convention).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L2: what you deliver, and by when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Week 3 Session 1, on the LMS; your own enterprise, never AeroLink</a:t>
            </a:r>
            <a:endParaRPr lang="en-US" sz="1600" dirty="0"/>
          </a:p>
        </p:txBody>
      </p:sp>
      <p:pic>
        <p:nvPicPr>
          <p:cNvPr id="5" name="Image 0" descr="Five boxes. Part 7 ConOps narrative. Part 8 scenarios: at least 3, nominal, off-nominal and support, at least 1 alternate each, both end states. Part 9 capabilities: at least 5, with the needs by scenarios coverage. Part 10 requirements: at least 10, at least 6 stakeholder and 4 system, at least 3 types. Part 11 trace audit and measures: at least 3 MOEs and 3 MOPs. A small box: Parts 5–6 updated, needs from discoveries, AI statement. A panel: team-NN-week2-record.md plus team-NN-week2-model-inputs.json, one upload, before Week 3 Session 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4548"/>
            <a:ext cx="6379289" cy="41194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enterprise, never AeroLink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Week 1 record; the lab tool extends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files, one upload, before Week 3 Session 1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Formative; feedback before Week 3 Session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 template from Session 1: teams fill the header, trigger, primary actor and failure end state for the clinic.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R59 p.453–454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choose scenarios and owners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minutes, in teams; the off-nominal skeleton is needed for the clinic</a:t>
            </a:r>
            <a:endParaRPr lang="en-US" sz="1600" dirty="0"/>
          </a:p>
        </p:txBody>
      </p:sp>
      <p:pic>
        <p:nvPicPr>
          <p:cNvPr id="5" name="Image 0" descr="The annotated blank scenario card from Session 1: a header line for the scenario system of interest, then actors, trigger, preconditions, main flow, alternate flows, success end state and failure end sta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346" y="1554480"/>
            <a:ext cx="5979876" cy="413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members’ skeletons; choose at least three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nominal, one off-nominal, one support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for each scenario and each ID prefix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off-nominal skeleton for the clinic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 card: three lines from the team, three checks and the instructor’s decision.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R59 p.453–455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checkpoint: the scenario clinic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80 seconds per team; up to five teams in class, the rest decided within 48 h</a:t>
            </a:r>
            <a:endParaRPr lang="en-US" sz="1600" dirty="0"/>
          </a:p>
        </p:txBody>
      </p:sp>
      <p:pic>
        <p:nvPicPr>
          <p:cNvPr id="5" name="Image 0" descr="A form titled Scenario clinic, about 80 s per team, with three fill-in lines: 1 scenario system of interest; 2 off-nominal scenario, trigger and failure end state; 3 one actor outside the boundary. Below, a check box for each criterion: the named actor is outside the scenario system of interest; the trigger is an event; the failure end state is observable. Then two decision boxes: proceed; revise (reason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98824"/>
            <a:ext cx="6379289" cy="40482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3620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scenario system of interest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off-nominal trigger and failure end state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actor outside the boundary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proceed, or revise with the reason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five teams: card on the LMS, decided within 48 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seven-day plan for Lab L2, with the lead role for each task (course convention).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next seven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Q2 and the applied exercise open today. Log your hours.</a:t>
            </a:r>
            <a:endParaRPr lang="en-US" sz="1600" dirty="0"/>
          </a:p>
        </p:txBody>
      </p:sp>
      <p:pic>
        <p:nvPicPr>
          <p:cNvPr id="5" name="Image 0" descr="A timeline of days 1 to 7 with bars. Days 1–2: ConOps narrative and environment, Architecture. Days 1–3: scenarios, one owner each, reviewed by V&amp;V. Day 3: discovery log and needs update, Requirements &amp; Compliance. Days 3–4: capabilities and coverage matrix, Architecture. Days 4–5: requirements, each member writes at least 3 (at least 2 each in a team of three), Requirements &amp; Compliance merges. Day 6: trace audit (V&amp;V) and measures (AI &amp; Data). Day 6: AI usage statement, AI &amp; Data. Day 7: integration review, export and upload, V&amp;V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47" y="1554480"/>
            <a:ext cx="10889401" cy="42995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 · SEBoK v2.14 (2026), “Business or Mission Analysis”, p.544, 546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 · SEBoK v2.14 (2026), “System Requirements Definition”, p.557–562, 565–566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 · SEBoK v2.14 (2026), “Requirements Management”, p.478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 · SEBoK v2.14 (2026), “Measurement”, p.532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 · SEBoK v2.14 (2026), “Product Systems Engineering Special Activities”, p.769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R45 · OUSD(R&amp;E) Systems Engineering Guidebook (2021/2022), “Requirements Management Process”, p.118–119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R48 · OUSD(R&amp;E) Systems Engineering Guidebook (2021/2022), “Stakeholder Requirements Definition Process”, p.146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R48b · OUSD(R&amp;E) Systems Engineering Guidebook (2021/2022), “Requirements Analysis Process”, p.142, 144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R49 · OUSD(R&amp;E) Systems Engineering Guidebook (2021/2022), “Verification Process”, p.149–150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R54 · The MITRE Systems Engineering Guide (2014), “Analyzing and Defining Requirements”, p.329–331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R55 · The MITRE Systems Engineering Guide (2014), “Develop System-Level Technical Requirements”, p.367–371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R59 · The MITRE Systems Engineering Guide (2014), “Use Cases and Mission Threads”, p.452–456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· Seidewitz, Intro to the SysML v2 Language: Textual Notation (Release 2026-08), “Action Definition”, sl.30–47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 · Seidewitz, Intro to the SysML v2 Language: Textual Notation (Release 2026-08), “Requirement Definitions”, sl.86–91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 · Seidewitz, Intro to the SysML v2 Language: Textual Notation (Release 2026-08), “Analysis Case Definitions”, sl.96–97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· Seidewitz, Intro to the SysML v2 Language: Textual Notation (Release 2026-08), “Use Case Definition”, sl.100–107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MITRE Systems Engineering Guide: © 2014 by The MITRE Corporation. All rights reserved. Approved for public release; distribution unlimited (Case Numbers 10-4072 and 12-1089). Quoted briefly with attribution.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2, Session 2: ConOps / Requirements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2026-10-28T17:28:22Z</dcterms:created>
  <dcterms:modified xsi:type="dcterms:W3CDTF">2026-10-28T17:28:22Z</dcterms:modified>
</cp:coreProperties>
</file>