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2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ConOps / Requirements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needs to operations: ConOps, scenarios and capabilities</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the concept of operations, scenarios and capabilities, then the two levels of requirement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writing, checking and tracing requirements; measures; the Lab L2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ConOps, scenarios, capabilities, requirements, measures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ends Week 1 with 17 needs in the recommended form. Can the team go straight to “shall”?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can we write requirements now?</a:t>
            </a:r>
            <a:endParaRPr lang="en-US" sz="3000" dirty="0"/>
          </a:p>
        </p:txBody>
      </p:sp>
      <p:pic>
        <p:nvPicPr>
          <p:cNvPr id="4" name="Image 0" descr="A stack of need cards on the left labeled 17 needs, recommended form (Week 1), the top card reading NEED-004 Pads not limited by turnaround. On the right an empty requirements table with columns ID, Statement and Parent. A solid arrow labeled shall? jumps from the stack to the table. Below it a dashed detour passes through a small three-panel storyboard frame marked with a large question mark.">    </p:cNvPr>
          <p:cNvPicPr>
            <a:picLocks noChangeAspect="1"/>
          </p:cNvPicPr>
          <p:nvPr/>
        </p:nvPicPr>
        <p:blipFill>
          <a:blip r:embed="rId1"/>
          <a:stretch>
            <a:fillRect/>
          </a:stretch>
        </p:blipFill>
        <p:spPr>
          <a:xfrm>
            <a:off x="548640" y="1543007"/>
            <a:ext cx="6379289" cy="4048210"/>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 has 17 well-formed needs. A team member proposes to write the “shall” statements now.</a:t>
            </a:r>
            <a:endParaRPr lang="en-US" sz="1200" dirty="0"/>
          </a:p>
        </p:txBody>
      </p:sp>
      <p:sp>
        <p:nvSpPr>
          <p:cNvPr id="7" name="Text 4"/>
          <p:cNvSpPr/>
          <p:nvPr/>
        </p:nvSpPr>
        <p:spPr>
          <a:xfrm>
            <a:off x="7293689" y="2765298"/>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the needs are complete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First describe how the service will be operated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First choose the technology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ISO/IEC/IEEE 15288:2015 technical processes as SEBoK lists them. Week 2 works in the third, System Requirements Definition, which takes two inputs.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R98 p.1001; R13 p.557; R13 p.561; R10 p.546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2 sits in the process frame</a:t>
            </a:r>
            <a:endParaRPr lang="en-US" sz="3000" dirty="0"/>
          </a:p>
        </p:txBody>
      </p:sp>
      <p:pic>
        <p:nvPicPr>
          <p:cNvPr id="4" name="Image 0" descr="Fourteen process cells in two rows of seven: Business or Mission Analysis; Stakeholder Needs and Requirements Definition; System Requirements Definition; Architecture Definition; Design Definition; System Analysis; Implementation; Integration; Verification; Transition; Validation; Operation; Maintenance; Disposal. The first two cells are tagged Week 1 and the third, highlighted, Week 2. Two arrows enter the third cell: integrated set of needs (Week 1), and life-cycle concepts, including the operational concept (this week).">    </p:cNvPr>
          <p:cNvPicPr>
            <a:picLocks noChangeAspect="1"/>
          </p:cNvPicPr>
          <p:nvPr/>
        </p:nvPicPr>
        <p:blipFill>
          <a:blip r:embed="rId1"/>
          <a:stretch>
            <a:fillRect/>
          </a:stretch>
        </p:blipFill>
        <p:spPr>
          <a:xfrm>
            <a:off x="548640" y="1513564"/>
            <a:ext cx="6379289" cy="39444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Definition: the third technical process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turns the stakeholder view into a technical, developer 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Inputs: life-cycle concepts and the integrated set of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operational concept is one of those life-cycle concepts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concern from two sides: the residents’ need (Week 1) and the requirement this week will write.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Retrieval: needs are the black box, requirements the white box</a:t>
            </a:r>
            <a:endParaRPr lang="en-US" sz="3000" dirty="0"/>
          </a:p>
        </p:txBody>
      </p:sp>
      <p:pic>
        <p:nvPicPr>
          <p:cNvPr id="4" name="Image 0" descr="Two panels. On the left, Need: stakeholder’s view, black box, outside, containing NEED-003: Communities near vertiports need the air-taxi service to keep take-off and landing noise exposure at nearby homes within the agreed limits on the loudness of each event and on the number of events in the evening and early morning. On the right, Requirement: developer’s view, white box, inside, a dashed empty card reading written this week: The AeroLink service shall … An arrow between them is labeled transformation = analysis.">    </p:cNvPr>
          <p:cNvPicPr>
            <a:picLocks noChangeAspect="1"/>
          </p:cNvPicPr>
          <p:nvPr/>
        </p:nvPicPr>
        <p:blipFill>
          <a:blip r:embed="rId1"/>
          <a:stretch>
            <a:fillRect/>
          </a:stretch>
        </p:blipFill>
        <p:spPr>
          <a:xfrm>
            <a:off x="548640" y="1683855"/>
            <a:ext cx="6379289" cy="3603828"/>
          </a:xfrm>
          <a:prstGeom prst="rect">
            <a:avLst/>
          </a:prstGeom>
        </p:spPr>
      </p:pic>
      <p:sp>
        <p:nvSpPr>
          <p:cNvPr id="5" name="Text 2"/>
          <p:cNvSpPr/>
          <p:nvPr/>
        </p:nvSpPr>
        <p:spPr>
          <a:xfrm>
            <a:off x="7293689" y="1280160"/>
            <a:ext cx="4349366" cy="182372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Needs: what stakeholders expect, from the outside (black box)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what the system must do, from the inside (white box)</a:t>
            </a:r>
            <a:endParaRPr lang="en-US" sz="2000" dirty="0"/>
          </a:p>
        </p:txBody>
      </p:sp>
      <p:sp>
        <p:nvSpPr>
          <p:cNvPr id="6" name="Shape 3"/>
          <p:cNvSpPr/>
          <p:nvPr/>
        </p:nvSpPr>
        <p:spPr>
          <a:xfrm>
            <a:off x="7293689" y="3268472"/>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268472"/>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CARD QUESTION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air-taxi service shall keep pad-edge noise at or below 65 dBA.” Need or requirement? Who is speaking?</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ConOps is drafted at concept and revised after developmental and operational testing; it feeds the requirements and the test planning.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p.298–299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ConOps is, and why it comes before requirements</a:t>
            </a:r>
            <a:endParaRPr lang="en-US" sz="3000" dirty="0"/>
          </a:p>
        </p:txBody>
      </p:sp>
      <p:pic>
        <p:nvPicPr>
          <p:cNvPr id="4" name="Image 0" descr="A life-cycle line from Concept through Development, developmental testing and operational testing to Operation. Document icons mark ConOps v1 at Concept, v2 after developmental testing and v3 after operational testing, with the words a living document along the line. Two arrows lead down from v1 to boxes labeled requirements and test planning.">    </p:cNvPr>
          <p:cNvPicPr>
            <a:picLocks noChangeAspect="1"/>
          </p:cNvPicPr>
          <p:nvPr/>
        </p:nvPicPr>
        <p:blipFill>
          <a:blip r:embed="rId1"/>
          <a:stretch>
            <a:fillRect/>
          </a:stretch>
        </p:blipFill>
        <p:spPr>
          <a:xfrm>
            <a:off x="548640" y="1755935"/>
            <a:ext cx="6379289" cy="3459667"/>
          </a:xfrm>
          <a:prstGeom prst="rect">
            <a:avLst/>
          </a:prstGeom>
        </p:spPr>
      </p:pic>
      <p:sp>
        <p:nvSpPr>
          <p:cNvPr id="5" name="Text 2"/>
          <p:cNvSpPr/>
          <p:nvPr/>
        </p:nvSpPr>
        <p:spPr>
          <a:xfrm>
            <a:off x="7293689" y="1280160"/>
            <a:ext cx="4349366" cy="405384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user-oriented document: the proposed system from the user’s perspective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Operational needs, desires and expectations, without the technical solution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Often a first step toward system requirements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States critical top-level performance objectives, with rationale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Updated after developmental and operational testing</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levels of statement in the SEBoK glossary, and where MITRE’s CONOPS and the team’s Week 2 ConOps sit.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R39m p.1469; R39g p.1579; R52 p.298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names: concept of operations, operational concept, CONOPS</a:t>
            </a:r>
            <a:endParaRPr lang="en-US" sz="3000" dirty="0"/>
          </a:p>
        </p:txBody>
      </p:sp>
      <p:pic>
        <p:nvPicPr>
          <p:cNvPr id="4" name="Image 0" descr="A wide upper band labeled Concept of operations: an organization’s assumptions or intent for an operation or series of operations (enterprise level). Inside it a box labeled Operational concept: the operation of a system or related set of systems, from the users’ and operators’ view (system level). The lower box carries a tag MITRE’s CONOPS sits here and a star badge Your Week 2 ConOps (course convention). A note at the bottom reads SEBoK: the two are slightly different.">    </p:cNvPr>
          <p:cNvPicPr>
            <a:picLocks noChangeAspect="1"/>
          </p:cNvPicPr>
          <p:nvPr/>
        </p:nvPicPr>
        <p:blipFill>
          <a:blip r:embed="rId1"/>
          <a:stretch>
            <a:fillRect/>
          </a:stretch>
        </p:blipFill>
        <p:spPr>
          <a:xfrm>
            <a:off x="548640" y="1717963"/>
            <a:ext cx="6379289" cy="353561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Concept of operations: an organization’s intent for an operation or series of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Operational concept: the same, for a system or related set of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MITRE’s CONOPS: user-oriented, about a proposed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your ConOps is the operational concept of your system of interest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ConOps table of contents. Each part serves an objective MITRE names; parts 4–5 are the course’s additions to the critical components.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p.300–301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every ConOps must contain</a:t>
            </a:r>
            <a:endParaRPr lang="en-US" sz="3000" dirty="0"/>
          </a:p>
        </p:txBody>
      </p:sp>
      <p:pic>
        <p:nvPicPr>
          <p:cNvPr id="4" name="Image 0" descr="A document card titled ConOps: contents, with six items: 1 Existing situation; 2 Justification and restrictions; 3 Proposed system; 4 Operational environment and constraints; 5 User interactions; 6 Operational scenarios. A bracket marks items 1, 2, 3 and 6 as critical components (MITRE, from IEEE 1362) and items 4 and 5 as course deliverable contents. Tags on the right are linked to the document: traceability, needs to source requirements; basis for requirements; basis for test planning; system capacity; discover implicit requirements.">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34822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Critical components (MITRE, from IEEE 1362):</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existing system; the justification and restrictions</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proposed system; scenarios in the user’s environment</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Objectives: traceability, a basis for requirements and test planning, system capacity, implicit requirements</a:t>
            </a:r>
            <a:endParaRPr lang="en-US" sz="1900" dirty="0"/>
          </a:p>
          <a:p>
            <a:pPr marL="228600" indent="-228600">
              <a:spcBef>
                <a:spcPts val="600"/>
              </a:spcBef>
              <a:buSzPct val="100000"/>
              <a:buChar char="■"/>
            </a:pPr>
            <a:r>
              <a:rPr lang="en-US" sz="1900" b="1" dirty="0">
                <a:solidFill>
                  <a:srgbClr val="18202D"/>
                </a:solidFill>
                <a:latin typeface="Calibri" pitchFamily="34" charset="0"/>
                <a:ea typeface="Calibri" pitchFamily="34" charset="-122"/>
                <a:cs typeface="Calibri" pitchFamily="34" charset="-120"/>
              </a:rPr>
              <a:t>Course deliverable:</a:t>
            </a:r>
            <a:pPr indent="0" marL="0">
              <a:buNone/>
            </a:pPr>
            <a:r>
              <a:rPr lang="en-US" sz="1900" dirty="0">
                <a:solidFill>
                  <a:srgbClr val="18202D"/>
                </a:solidFill>
                <a:latin typeface="Calibri" pitchFamily="34" charset="0"/>
                <a:ea typeface="Calibri" pitchFamily="34" charset="-122"/>
                <a:cs typeface="Calibri" pitchFamily="34" charset="-120"/>
              </a:rPr>
              <a:t> mission, environment, scenarios, user interactions, constraints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dispatch step in an engineer’s jargon and in the passenger’s and operator’s words, with a glossary entry (instructor-written,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it well: the user’s language, environment, constraints</a:t>
            </a:r>
            <a:endParaRPr lang="en-US" sz="3000" dirty="0"/>
          </a:p>
        </p:txBody>
      </p:sp>
      <p:pic>
        <p:nvPicPr>
          <p:cNvPr id="4" name="Image 0" descr="Two cards. Before, engineer’s jargon: On REQ trigger the dispatcher service runs the assignment heuristic over the SOC-qualified pool and pushes a slot to the client. After, the passenger’s and operator’s words: When you confirm a ride, we assign an aircraft with enough charge and send you your pad and boarding time within a minute. A glossary call-out: dispatch-ready means charged to the dispatch threshold, with no open no-go fault. Both cards are labeled instructor-written example (FICTIONAL).">    </p:cNvPr>
          <p:cNvPicPr>
            <a:picLocks noChangeAspect="1"/>
          </p:cNvPicPr>
          <p:nvPr/>
        </p:nvPicPr>
        <p:blipFill>
          <a:blip r:embed="rId1"/>
          <a:stretch>
            <a:fillRect/>
          </a:stretch>
        </p:blipFill>
        <p:spPr>
          <a:xfrm>
            <a:off x="548640" y="1499009"/>
            <a:ext cx="6379289" cy="3973520"/>
          </a:xfrm>
          <a:prstGeom prst="rect">
            <a:avLst/>
          </a:prstGeom>
        </p:spPr>
      </p:pic>
      <p:sp>
        <p:nvSpPr>
          <p:cNvPr id="5" name="Text 2"/>
          <p:cNvSpPr/>
          <p:nvPr/>
        </p:nvSpPr>
        <p:spPr>
          <a:xfrm>
            <a:off x="7293689" y="1280160"/>
            <a:ext cx="4349366" cy="375945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user’s perspective and language; a glossary for jargon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Simple, clear and graphic: use cases, storyboards, sequence charts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operational environment in detail: assumptions, constraints, numbers, capacity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Physical environment, safety, security and privacy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“Highly reliable” is acceptable here; quantifying it comes later</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operational concept as one picture: the network, the operations center, the external systems and where each scenario occurs. Original drawing in the style of an OV-1 overview; all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ConOps at a glance</a:t>
            </a:r>
            <a:endParaRPr lang="en-US" sz="3000" dirty="0"/>
          </a:p>
        </p:txBody>
      </p:sp>
      <p:pic>
        <p:nvPicPr>
          <p:cNvPr id="4" name="Image 0" descr="An original overview picture in the style of an OV-1. Under a dashed dome labeled Controlled airspace, six vertiports V1 to V6 are joined by thin lines; V1, V3 and V5 are boxes marked hub, the others circles. A highlighted V1–V2 leg carries an aircraft and the label 25 km, about 10 min. Around the network: a Weather cloud near V3; an Electric grid power line along the bottom with drops to the three hubs; a Public transport network rail track at lower left; an Operations center building; an Emergency response service building; a Maintenance hangar fed by a box Aircraft and spares supply. Numbered badges: SCN-001 at a passenger with a phone near V1; SCN-002 on the V1–V2 leg; SCN-003 at a charger under the V3 hub; SCN-004 at the maintenance hangar; SCN-005 at the weather cloud near V3. A corner panel reads 12 aircraft × 4 seats, 16 h day, 20 % energy reserve, 65 dBA per event (FICTIONAL).">    </p:cNvPr>
          <p:cNvPicPr>
            <a:picLocks noChangeAspect="1"/>
          </p:cNvPicPr>
          <p:nvPr/>
        </p:nvPicPr>
        <p:blipFill>
          <a:blip r:embed="rId1"/>
          <a:stretch>
            <a:fillRect/>
          </a:stretch>
        </p:blipFill>
        <p:spPr>
          <a:xfrm>
            <a:off x="1112881" y="1280160"/>
            <a:ext cx="996593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use case inside the system boundary, its actors outside, and three threads through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p.452–453; R39o p.1669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Use cases, actors and threads</a:t>
            </a:r>
            <a:endParaRPr lang="en-US" sz="3000" dirty="0"/>
          </a:p>
        </p:txBody>
      </p:sp>
      <p:pic>
        <p:nvPicPr>
          <p:cNvPr id="4" name="Image 0" descr="A boundary rectangle labeled system of interest. Outside on the left a stick figure labeled primary actor (has a goal that needs the system’s help). Outside on the right a box labeled secondary actor (the system needs its help). Inside, one use-case oval. Three thread lines run through the oval from a trigger marker: main thread to goal, alternate thread to goal, failure thread falls short.">    </p:cNvPr>
          <p:cNvPicPr>
            <a:picLocks noChangeAspect="1"/>
          </p:cNvPicPr>
          <p:nvPr/>
        </p:nvPicPr>
        <p:blipFill>
          <a:blip r:embed="rId1"/>
          <a:stretch>
            <a:fillRect/>
          </a:stretch>
        </p:blipFill>
        <p:spPr>
          <a:xfrm>
            <a:off x="548640" y="1609769"/>
            <a:ext cx="6379289" cy="3752000"/>
          </a:xfrm>
          <a:prstGeom prst="rect">
            <a:avLst/>
          </a:prstGeom>
        </p:spPr>
      </p:pic>
      <p:sp>
        <p:nvSpPr>
          <p:cNvPr id="5" name="Text 2"/>
          <p:cNvSpPr/>
          <p:nvPr/>
        </p:nvSpPr>
        <p:spPr>
          <a:xfrm>
            <a:off x="7293689" y="1280160"/>
            <a:ext cx="4349366" cy="1957324"/>
          </a:xfrm>
          <a:prstGeom prst="rect">
            <a:avLst/>
          </a:prstGeom>
          <a:noFill/>
          <a:ln/>
        </p:spPr>
        <p:txBody>
          <a:bodyPr wrap="square" lIns="25400" tIns="25400" rIns="25400" bIns="25400" rtlCol="0" anchor="t"/>
          <a:lstStyle/>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Use case: goal-oriented interactions between actors and the system</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Actors are outside the system: users, roles, other systems</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Primary: has a goal; secondary: the system needs its help</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Thread: one path through a use case</a:t>
            </a:r>
            <a:endParaRPr lang="en-US" sz="1400" dirty="0"/>
          </a:p>
        </p:txBody>
      </p:sp>
      <p:sp>
        <p:nvSpPr>
          <p:cNvPr id="6" name="Shape 3"/>
          <p:cNvSpPr/>
          <p:nvPr/>
        </p:nvSpPr>
        <p:spPr>
          <a:xfrm>
            <a:off x="7293689" y="3402076"/>
            <a:ext cx="4349366" cy="1842008"/>
          </a:xfrm>
          <a:prstGeom prst="rect">
            <a:avLst/>
          </a:prstGeom>
          <a:solidFill>
            <a:srgbClr val="E1EFF4"/>
          </a:solidFill>
          <a:ln w="12700">
            <a:solidFill>
              <a:srgbClr val="E1EFF4"/>
            </a:solidFill>
            <a:prstDash val="solid"/>
          </a:ln>
        </p:spPr>
      </p:sp>
      <p:sp>
        <p:nvSpPr>
          <p:cNvPr id="7" name="Shape 4"/>
          <p:cNvSpPr/>
          <p:nvPr/>
        </p:nvSpPr>
        <p:spPr>
          <a:xfrm>
            <a:off x="7293689" y="3402076"/>
            <a:ext cx="73152" cy="1842008"/>
          </a:xfrm>
          <a:prstGeom prst="rect">
            <a:avLst/>
          </a:prstGeom>
          <a:solidFill>
            <a:srgbClr val="0F6E8C"/>
          </a:solidFill>
          <a:ln w="12700">
            <a:solidFill>
              <a:srgbClr val="0F6E8C"/>
            </a:solidFill>
            <a:prstDash val="solid"/>
          </a:ln>
        </p:spPr>
      </p:sp>
      <p:sp>
        <p:nvSpPr>
          <p:cNvPr id="8" name="Text 5"/>
          <p:cNvSpPr/>
          <p:nvPr/>
        </p:nvSpPr>
        <p:spPr>
          <a:xfrm>
            <a:off x="7522289" y="3402076"/>
            <a:ext cx="3983606" cy="1842008"/>
          </a:xfrm>
          <a:prstGeom prst="rect">
            <a:avLst/>
          </a:prstGeom>
          <a:noFill/>
          <a:ln/>
        </p:spPr>
        <p:txBody>
          <a:bodyPr wrap="square" lIns="50800" tIns="50800" rIns="50800" bIns="508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OPERATIONAL SCENARIO (SEBOK GLOSSARY)</a:t>
            </a:r>
            <a:endParaRPr lang="en-US" sz="900" dirty="0"/>
          </a:p>
          <a:p>
            <a:pPr indent="0" marL="0">
              <a:buNone/>
            </a:pPr>
            <a:r>
              <a:rPr lang="en-US" sz="1600" dirty="0">
                <a:solidFill>
                  <a:srgbClr val="18202D"/>
                </a:solidFill>
                <a:latin typeface="Calibri" pitchFamily="34" charset="0"/>
                <a:ea typeface="Calibri" pitchFamily="34" charset="-122"/>
                <a:cs typeface="Calibri" pitchFamily="34" charset="-120"/>
              </a:rPr>
              <a:t>“Description of an imagined sequence of events that includes the interaction of the product or service with its environment and users …”</a:t>
            </a:r>
            <a:endParaRPr lang="en-US" sz="900" dirty="0"/>
          </a:p>
          <a:p>
            <a:pPr indent="0" marL="0">
              <a:spcBef>
                <a:spcPts val="600"/>
              </a:spcBef>
              <a:buNone/>
            </a:pPr>
            <a:r>
              <a:rPr lang="en-US" sz="800" dirty="0">
                <a:solidFill>
                  <a:srgbClr val="0F6E8C"/>
                </a:solidFill>
                <a:latin typeface="Calibri" pitchFamily="34" charset="0"/>
                <a:ea typeface="Calibri" pitchFamily="34" charset="-122"/>
                <a:cs typeface="Calibri" pitchFamily="34" charset="-120"/>
              </a:rPr>
              <a:t>R39n · SEBoK v2.14 (2026), "Operational Scenario (glossary)", p.1581</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scenario template: seven fields under a stated scenario system of interest (course convention, built on MITRE’s description of use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scenario: the course template</a:t>
            </a:r>
            <a:endParaRPr lang="en-US" sz="3000" dirty="0"/>
          </a:p>
        </p:txBody>
      </p:sp>
      <p:pic>
        <p:nvPicPr>
          <p:cNvPr id="4" name="Image 0" descr="An annotated blank scenario card. A header line reads Scenario system of interest. Fields in order: Actors, with markers for the primary actor and for an environmental factor; Trigger; Preconditions; Main flow, five numbered lines of the form actor: action; Alternate flows, A1 from step 3 rejoining at step 5 and A2 from step 2 that ends; Success end state; Failure end state. Margin arrows point to branch from step 3, rejoin at step 5, and to separate success and failure end states.">    </p:cNvPr>
          <p:cNvPicPr>
            <a:picLocks noChangeAspect="1"/>
          </p:cNvPicPr>
          <p:nvPr/>
        </p:nvPicPr>
        <p:blipFill>
          <a:blip r:embed="rId1"/>
          <a:stretch>
            <a:fillRect/>
          </a:stretch>
        </p:blipFill>
        <p:spPr>
          <a:xfrm>
            <a:off x="550082" y="1280160"/>
            <a:ext cx="6376405" cy="4411218"/>
          </a:xfrm>
          <a:prstGeom prst="rect">
            <a:avLst/>
          </a:prstGeom>
        </p:spPr>
      </p:pic>
      <p:sp>
        <p:nvSpPr>
          <p:cNvPr id="5" name="Text 2"/>
          <p:cNvSpPr/>
          <p:nvPr/>
        </p:nvSpPr>
        <p:spPr>
          <a:xfrm>
            <a:off x="7293689" y="1280160"/>
            <a:ext cx="4349366" cy="41574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Paths run from a trigger to the goal, or fall short of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Simple steps in the user’s language: intent, not screens or implementation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template:</a:t>
            </a:r>
            <a:pPr indent="0" marL="0">
              <a:buNone/>
            </a:pPr>
            <a:r>
              <a:rPr lang="en-US" sz="2000" dirty="0">
                <a:solidFill>
                  <a:srgbClr val="18202D"/>
                </a:solidFill>
                <a:latin typeface="Calibri" pitchFamily="34" charset="0"/>
                <a:ea typeface="Calibri" pitchFamily="34" charset="-122"/>
                <a:cs typeface="Calibri" pitchFamily="34" charset="-120"/>
              </a:rPr>
              <a:t> actors, trigger, preconditions, main flow, alternate flows, success end state, failure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scenario system of interest: it decides who is an actor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coverage grid for the AeroLink scenarios: kind by part of the life cycle. Dashed cards are candidate scenarios not yet written (instructor synthesis).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 p.546; R11 p.553; R59 p.453; 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Which scenarios? Coverage and the off-nominal case</a:t>
            </a:r>
            <a:endParaRPr lang="en-US" sz="3000" dirty="0"/>
          </a:p>
        </p:txBody>
      </p:sp>
      <p:pic>
        <p:nvPicPr>
          <p:cNvPr id="4" name="Image 0" descr="A three-by-three grid with rows Nominal, Off-nominal and Support and columns Operation, Logistics and maintenance, and Exceptional. SCN-001 and SCN-002 sit in Nominal, Operation. SCN-003 and SCN-004 sit in Support, Logistics and maintenance. SCN-005 sits in Off-nominal, Exceptional, beside a dashed candidate card Region-wide power cut. A dashed candidate card A passenger who books and cancels repeatedly sits in Off-nominal, Operation. The other cells show a dash.">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off-nominal use cases, misuse cases and loss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Threads cover support, maintenance, training and test, not only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Vary the actors, inputs and modes; good actors doing bad things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Enough when stakeholders can think of no more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minimum:</a:t>
            </a:r>
            <a:pPr indent="0" marL="0">
              <a:buNone/>
            </a:pPr>
            <a:r>
              <a:rPr lang="en-US" sz="2000" dirty="0">
                <a:solidFill>
                  <a:srgbClr val="18202D"/>
                </a:solidFill>
                <a:latin typeface="Calibri" pitchFamily="34" charset="0"/>
                <a:ea typeface="Calibri" pitchFamily="34" charset="-122"/>
                <a:cs typeface="Calibri" pitchFamily="34" charset="-120"/>
              </a:rPr>
              <a:t> one nominal, one off-nominal, one support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SCN-001 under review: MITRE’s questions beside the main flow, and two margin comments, one valid and one a false alarm (FICTIONAL case).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Reviewing a scenario</a:t>
            </a:r>
            <a:endParaRPr lang="en-US" sz="3000" dirty="0"/>
          </a:p>
        </p:txBody>
      </p:sp>
      <p:pic>
        <p:nvPicPr>
          <p:cNvPr id="4" name="Image 0" descr="On the left the main flow of SCN-001: 1 Passenger: Enters the origin and destination vertiports and the party size (1–4). 2 System: Checks weather status and capacity at both vertiports. 3 System: Quotes the fare and an estimated boarding time. 4 Passenger: Confirms the booking. 5 System: Assigns a dispatch-ready aircraft within 60 s of confirmation. 6 System: Issues a boarding pass with the pad and the boarding time. On the right a checklist headed Review questions (MITRE): complete?; actor’s goal met?; simpler by a procedure or requirement change?; missing goals?; missing actors? Two margin comments with leader lines: on step 3, interface detail? No: it states what the passenger learns, not a screen, tagged false alarm; on step 5, within 60 s is a performance value: it belongs in a requirement, tagged valid.">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Will the actor’s goal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Could a procedure or requirement change simplify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Missing goals? Missing actors?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vague goals, ambiguous scope, interface detail, wishful thinking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Pairs:</a:t>
            </a:r>
            <a:pPr indent="0" marL="0">
              <a:buNone/>
            </a:pPr>
            <a:r>
              <a:rPr lang="en-US" sz="2000" dirty="0">
                <a:solidFill>
                  <a:srgbClr val="18202D"/>
                </a:solidFill>
                <a:latin typeface="Calibri" pitchFamily="34" charset="0"/>
                <a:ea typeface="Calibri" pitchFamily="34" charset="-122"/>
                <a:cs typeface="Calibri" pitchFamily="34" charset="-120"/>
              </a:rPr>
              <a:t> SCN-001 steps 3 and 5</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SCN-005 Weather Disruption as a swimlane: five lanes, weather as the environment, seven steps and three alternate flows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SCN-005 Weather Disruption, step by step</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Students propose four fields; the rest is revealed (FICTIONAL)</a:t>
            </a:r>
            <a:endParaRPr lang="en-US" sz="1600" dirty="0"/>
          </a:p>
        </p:txBody>
      </p:sp>
      <p:pic>
        <p:nvPicPr>
          <p:cNvPr id="5" name="Image 0" descr="A swimlane headed Scenario system of interest: AeroLink operational system, and SCN-005 Weather Disruption. A shaded top band, Weather (environment), holds the trigger: forecast crosses a limit within 30 min (TBD-01), with an arrow into step 1. Five lanes from top to bottom: Duty manager, System, Pilot, Air traffic service, Passenger. Seven numbered boxes run left to right in their lanes: 1 flag V3 (System); 2 declare hold (Duty manager); 3 divert to alternate (Pilot); 4 accept revised intents (Air traffic service); 5 notify passengers (System); 6 accept new time or refund (Passenger); 7 lift hold after 30 min inside limits (Duty manager), then a success end state tag. A dashed alternates strip below holds A2 from step 2, region-wide: suspend, offer public transport, ending at an end marker; A1 from step 3, alternate degrading, nearest open vertiport or priority landing, with a dashed arrow up to step 5 labeled rejoin 5; and A3 from step 7, hold over 2 h: cancel and refund, ending at a failure end state tag.">    </p:cNvPr>
          <p:cNvPicPr>
            <a:picLocks noChangeAspect="1"/>
          </p:cNvPicPr>
          <p:nvPr/>
        </p:nvPicPr>
        <p:blipFill>
          <a:blip r:embed="rId1"/>
          <a:stretch>
            <a:fillRect/>
          </a:stretch>
        </p:blipFill>
        <p:spPr>
          <a:xfrm>
            <a:off x="1573357" y="1554480"/>
            <a:ext cx="9044981" cy="413689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discoveries from writing SCN-005: a need, an assumption and an unknown, each sent to where it is tracked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what writing the scenario exposed</a:t>
            </a:r>
            <a:endParaRPr lang="en-US" sz="3000" dirty="0"/>
          </a:p>
        </p:txBody>
      </p:sp>
      <p:pic>
        <p:nvPicPr>
          <p:cNvPr id="4" name="Image 0" descr="Titled SCN-005 Weather Disruption (simplified): a strip from a trigger diamond through seven numbered step dots, step 5 highlighted, with a dashed branch from step 2 ending at A2. Three arrows pull out to cards: from the trigger, U-001, carried as TBD-01 (unknown), to the uncertainty register; from alternate A2, A-008 (assumption), to the uncertainty register; from step 5, NEED-011 (need), to the needs set. Footer: a scenario is an analysis instrument.">    </p:cNvPr>
          <p:cNvPicPr>
            <a:picLocks noChangeAspect="1"/>
          </p:cNvPicPr>
          <p:nvPr/>
        </p:nvPicPr>
        <p:blipFill>
          <a:blip r:embed="rId1"/>
          <a:stretch>
            <a:fillRect/>
          </a:stretch>
        </p:blipFill>
        <p:spPr>
          <a:xfrm>
            <a:off x="2373989" y="1280160"/>
            <a:ext cx="7443717" cy="3052318"/>
          </a:xfrm>
          <a:prstGeom prst="rect">
            <a:avLst/>
          </a:prstGeom>
        </p:spPr>
      </p:pic>
      <p:sp>
        <p:nvSpPr>
          <p:cNvPr id="5" name="Shape 2"/>
          <p:cNvSpPr/>
          <p:nvPr/>
        </p:nvSpPr>
        <p:spPr>
          <a:xfrm>
            <a:off x="548640" y="446963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446963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scenario is an analysis instrument: every discovery goes into the needs set or the uncertainty register.</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Needs by scenarios, from the instructor’s reading of the reference flows. Filled: exercised; outlined: weakly exercised; shaded rows: not exercised, with a recorded reason; amber: a finding.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do the scenarios exercise the needs?</a:t>
            </a:r>
            <a:endParaRPr lang="en-US" sz="3000" dirty="0"/>
          </a:p>
        </p:txBody>
      </p:sp>
      <p:pic>
        <p:nvPicPr>
          <p:cNvPr id="4" name="Image 0" descr="A matrix of the seventeen needs, NEED-001 to NEED-017 with short names, against SCN-001 to SCN-005. Filled squares mark the scenarios that exercise each need and outlined squares mark weak coverage. NEED-001: SCN-001; NEED-002: SCN-002 and SCN-005; NEED-003: SCN-002 (weak); NEED-004: SCN-003; NEED-005: none; NEED-006: SCN-003 (weak); NEED-007: SCN-004; NEED-008: SCN-001 and SCN-002; NEED-009: SCN-002 and SCN-005; NEED-010: SCN-003; NEED-011: SCN-005; NEED-012: none; NEED-013: SCN-005 (finding); NEED-014: SCN-002 (weak); NEED-015: SCN-001; NEED-016: none; NEED-017: SCN-001 (weak). Shaded rows NEED-005, NEED-012 and NEED-016 carry their reasons; the NEED-013 row is outlined amber as a finding. A legend explains the marks.">    </p:cNvPr>
          <p:cNvPicPr>
            <a:picLocks noChangeAspect="1"/>
          </p:cNvPicPr>
          <p:nvPr/>
        </p:nvPicPr>
        <p:blipFill>
          <a:blip r:embed="rId1"/>
          <a:stretch>
            <a:fillRect/>
          </a:stretch>
        </p:blipFill>
        <p:spPr>
          <a:xfrm>
            <a:off x="2123126" y="1280160"/>
            <a:ext cx="7945444"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Feature, capability, benefit: SEBoK’s illustration and an AeroLink reading.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R39p p.1457–1458;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capability is</a:t>
            </a:r>
            <a:endParaRPr lang="en-US" sz="3000" dirty="0"/>
          </a:p>
        </p:txBody>
      </p:sp>
      <p:pic>
        <p:nvPicPr>
          <p:cNvPr id="4" name="Image 0" descr="A three-rung ladder: Feature, Capability, Benefit. Left column, SEBoK’s example: fingerprint scanner, storing passwords, saving time and adding security. Right column, AeroLink: high-power hub chargers, return arriving aircraft to dispatch-ready within the turnaround (CAP-003), short and predictable waits (MGO-002).">    </p:cNvPr>
          <p:cNvPicPr>
            <a:picLocks noChangeAspect="1"/>
          </p:cNvPicPr>
          <p:nvPr/>
        </p:nvPicPr>
        <p:blipFill>
          <a:blip r:embed="rId1"/>
          <a:stretch>
            <a:fillRect/>
          </a:stretch>
        </p:blipFill>
        <p:spPr>
          <a:xfrm>
            <a:off x="548640" y="1536414"/>
            <a:ext cx="6379289" cy="3898711"/>
          </a:xfrm>
          <a:prstGeom prst="rect">
            <a:avLst/>
          </a:prstGeom>
        </p:spPr>
      </p:pic>
      <p:sp>
        <p:nvSpPr>
          <p:cNvPr id="5" name="Shape 2"/>
          <p:cNvSpPr/>
          <p:nvPr/>
        </p:nvSpPr>
        <p:spPr>
          <a:xfrm>
            <a:off x="7293689" y="1280160"/>
            <a:ext cx="4349366" cy="2244852"/>
          </a:xfrm>
          <a:prstGeom prst="rect">
            <a:avLst/>
          </a:prstGeom>
          <a:solidFill>
            <a:srgbClr val="E1EFF4"/>
          </a:solidFill>
          <a:ln w="12700">
            <a:solidFill>
              <a:srgbClr val="E1EFF4"/>
            </a:solidFill>
            <a:prstDash val="solid"/>
          </a:ln>
        </p:spPr>
      </p:sp>
      <p:sp>
        <p:nvSpPr>
          <p:cNvPr id="6" name="Shape 3"/>
          <p:cNvSpPr/>
          <p:nvPr/>
        </p:nvSpPr>
        <p:spPr>
          <a:xfrm>
            <a:off x="7293689" y="1280160"/>
            <a:ext cx="73152" cy="224485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44852"/>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CAPABILITY (SEBOK GLOSSARY)</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“An outcome or effect which can be achieved through use of features of a system of interest and which contributes to a desired benefit or goal”</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R39p · SEBoK v2.14 (2026), "Capability (glossary)", p.1457</a:t>
            </a:r>
            <a:endParaRPr lang="en-US" sz="1100" dirty="0"/>
          </a:p>
        </p:txBody>
      </p:sp>
      <p:sp>
        <p:nvSpPr>
          <p:cNvPr id="8" name="Text 5"/>
          <p:cNvSpPr/>
          <p:nvPr/>
        </p:nvSpPr>
        <p:spPr>
          <a:xfrm>
            <a:off x="7293689" y="3689604"/>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Feature → capability → benefit</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Enterprise capabilities exist to meet mission and enterprise needs</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Desired minus baseline capability: the capability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ten reference capabilities: each traces to needs; three refine a parent; scenario badges show every scenario that exercises each capability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capability tree</a:t>
            </a:r>
            <a:endParaRPr lang="en-US" sz="3000" dirty="0"/>
          </a:p>
        </p:txBody>
      </p:sp>
      <p:pic>
        <p:nvPicPr>
          <p:cNvPr id="4" name="Image 0" descr="A tree under a root AeroLink enterprise capabilities. CAP-001 On-demand passenger transport, needs NEED-001 and NEED-008; CAP-002 Ride booking and dispatch, under CAP-001, needs NEED-001; CAP-003 Fleet charging management, needs NEED-004; CAP-004 Flight operations within safety limits, needs NEED-002 and NEED-009; CAP-005 Weather-aware operations, under CAP-004, needs NEED-002; CAP-006 Fleet health management, needs NEED-007 and NEED-002; CAP-007 Noise-managed vertiport operations, needs NEED-003; CAP-008 Capacity planning, needs NEED-005; CAP-009 Incident response support, needs NEED-006; CAP-010 Charging power control, under CAP-003, needs NEED-010 and NEED-004. Scenario badges: SCN-001 on CAP-002; SCN-002 on CAP-001 and CAP-004 and CAP-007; SCN-003 on CAP-003 and CAP-010 and CAP-009; SCN-004 on CAP-006; SCN-005 on CAP-005. CAP-008 has no badge.">    </p:cNvPr>
          <p:cNvPicPr>
            <a:picLocks noChangeAspect="1"/>
          </p:cNvPicPr>
          <p:nvPr/>
        </p:nvPicPr>
        <p:blipFill>
          <a:blip r:embed="rId1"/>
          <a:stretch>
            <a:fillRect/>
          </a:stretch>
        </p:blipFill>
        <p:spPr>
          <a:xfrm>
            <a:off x="892601" y="1280160"/>
            <a:ext cx="10406494" cy="4573905"/>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capability tree after the corrections: CAP-007 corrected to both noise limits; NEED-011 moved from CAP-005 to a proposed CAP-015; and four proposed capabilities for the needs added in Week 1 (proposed, instructor to confirm).</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tree does not yet cover</a:t>
            </a:r>
            <a:endParaRPr lang="en-US" sz="3000" dirty="0"/>
          </a:p>
        </p:txBody>
      </p:sp>
      <p:pic>
        <p:nvPicPr>
          <p:cNvPr id="4" name="Image 0" descr="A compact tree of the ten reference capabilities by ID and short name. CAP-007 is outlined amber and labeled corrected: both agreed limits; CAP-005 is outlined amber and labeled corrected: NEED-011 to CAP-015. 5 dashed proposed nodes: CAP-011 Site compliance, needs NEED-012 and NEED-016; CAP-012 Workload-managed operations, needs NEED-013; CAP-013 Operational risk evidence, needs NEED-014; CAP-014 Fare transparency and competitiveness, needs NEED-015 and NEED-017; CAP-015 Disruption notice and re-accommodation, needs NEED-011.">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reference capabilities trace to NEED-001 … NEED-010; NEED-011 gets its own: CAP-015</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NEED-012 … NEED-017 need capabilities: 4 proposed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CAP-007 covered loudness only; corrected to both agreed limits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an ability, not an implementation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tiers: the stakeholder’s words, the service’s obligation, an element’s obligation, each step labeled with its source.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R39a p.1632; R39l p.1652; R48a p.141; R48b p.142; 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levels: stakeholder and system requirements</a:t>
            </a:r>
            <a:endParaRPr lang="en-US" sz="3000" dirty="0"/>
          </a:p>
        </p:txBody>
      </p:sp>
      <p:pic>
        <p:nvPicPr>
          <p:cNvPr id="4" name="Image 0" descr="A staircase of three steps rising left to right. Step 1, NEED: stakeholder’s words, Vertiport operators need the air-taxi service to … Step 2, REQ-STK: service level, The AeroLink service shall … Step 3, REQ-SYS: element level, The charging system shall … Between steps 1 and 2: transformed from needs into more formal statements (ISO/IEC/IEEE 29148, via SEBoK). Between steps 2 and 3: a technical view of a solution (ISO/IEC/IEEE 15288, via SEBoK).">    </p:cNvPr>
          <p:cNvPicPr>
            <a:picLocks noChangeAspect="1"/>
          </p:cNvPicPr>
          <p:nvPr/>
        </p:nvPicPr>
        <p:blipFill>
          <a:blip r:embed="rId1"/>
          <a:stretch>
            <a:fillRect/>
          </a:stretch>
        </p:blipFill>
        <p:spPr>
          <a:xfrm>
            <a:off x="548640" y="1426045"/>
            <a:ext cx="6379289" cy="4119449"/>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Stakeholder requirements: needs transformed into more formal statements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a technical view of a solution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the level of the system of interest: what, not how</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REQ-STK names the service; REQ-SYS names an element or function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vertiport operators’ need to a charging-system requirement, with the 25-minute budget that links the two requirement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p.558–559; R13 p.562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end to end: NEED-004 to REQ-SYS-001</a:t>
            </a:r>
            <a:endParaRPr lang="en-US" sz="3000" dirty="0"/>
          </a:p>
        </p:txBody>
      </p:sp>
      <p:pic>
        <p:nvPicPr>
          <p:cNvPr id="4" name="Image 0" descr="Linked cards: NEED-004, then CAP-003 with an SCN-003 badge, then REQ-STK-005 dispatch-ready within 25 min, then REQ-SYS-001 charge 20 % to threshold within 20 min. Below, a stacked bar reads 25 min = 5 min pad work + 20 min charge; the charge segment is shaded and labeled REQ-SYS-001, with the note deplaning and boarding overlap the charge. Small text: a budget: change one value and the other must change.">    </p:cNvPr>
          <p:cNvPicPr>
            <a:picLocks noChangeAspect="1"/>
          </p:cNvPicPr>
          <p:nvPr/>
        </p:nvPicPr>
        <p:blipFill>
          <a:blip r:embed="rId1"/>
          <a:stretch>
            <a:fillRect/>
          </a:stretch>
        </p:blipFill>
        <p:spPr>
          <a:xfrm>
            <a:off x="548640" y="1461664"/>
            <a:ext cx="6379289" cy="40482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NEED-004 + CAP-003 + SCN-003 → REQ-STK-005 → REQ-SYS-001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25 min = 5 min pad work + 20 min charge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budget: change one value and the other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transformation is analysis, not rewording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driving question answered: the route from needs to requirements passes through the description of operation, and three discoveries drop out on the way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A banner reads Answer: B — first describe how the service will be operated. The driving-question drawing completed: the needs stack, top card NEED-004, leads by a solid arrow through the highlighted storyboard frame to a requirements table with columns ID, Statement and Parent and three rows: REQ-STK-001 under NEED-001, REQ-STK-002 under NEED-003, REQ-STK-003 under NEED-002, the statements drawn as sketch lines. Three cards drop from the storyboard: NEED-011, with an arrow back into the needs stack, and A-008 and U-001 / TBD-01, each with an arrow into a box labeled uncertainty register.">    </p:cNvPr>
          <p:cNvPicPr>
            <a:picLocks noChangeAspect="1"/>
          </p:cNvPicPr>
          <p:nvPr/>
        </p:nvPicPr>
        <p:blipFill>
          <a:blip r:embed="rId1"/>
          <a:stretch>
            <a:fillRect/>
          </a:stretch>
        </p:blipFill>
        <p:spPr>
          <a:xfrm>
            <a:off x="548640" y="1307806"/>
            <a:ext cx="6379289" cy="4193240"/>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Answer: B</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SCN-005 exposed a need, an assumption and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ConOps fixed the environment the values depend 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coverage check separated operations from constraints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 for Session 2</a:t>
            </a:r>
            <a:endParaRPr lang="en-US" sz="3000" dirty="0"/>
          </a:p>
        </p:txBody>
      </p:sp>
      <p:sp>
        <p:nvSpPr>
          <p:cNvPr id="3" name="Text 1"/>
          <p:cNvSpPr/>
          <p:nvPr/>
        </p:nvSpPr>
        <p:spPr>
          <a:xfrm>
            <a:off x="548640" y="1280160"/>
            <a:ext cx="11094415"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One-minute paper:</a:t>
            </a:r>
            <a:pPr indent="0" marL="0">
              <a:buNone/>
            </a:pPr>
            <a:r>
              <a:rPr lang="en-US" sz="2000" dirty="0">
                <a:solidFill>
                  <a:srgbClr val="18202D"/>
                </a:solidFill>
                <a:latin typeface="Calibri" pitchFamily="34" charset="0"/>
                <a:ea typeface="Calibri" pitchFamily="34" charset="-122"/>
                <a:cs typeface="Calibri" pitchFamily="34" charset="-120"/>
              </a:rPr>
              <a:t> one off-nominal scenario for your enterprise, and one need it might expose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each member drafts one candidate scenario:</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trigger, primary actor, failure end state</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its scenario system of interest, in one sentence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R13 pp.557–559 and 565–566</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 · SEBoK v2.14 (2026), “Business or Mission Analysis”, p.544, 546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R11 · SEBoK v2.14 (2026), “Stakeholder Needs Definition”, p.553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p.557–562, 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R39a · SEBoK v2.14 (2026), “Stakeholder (glossary)”, p.1632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R39g · SEBoK v2.14 (2026), “Operational Concept (glossary)”, p.1579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R39l · SEBoK v2.14 (2026), “System Requirement (glossary)”, p.1652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R39m · SEBoK v2.14 (2026), “Concept of Operations (ConOps) (glossary)”, p.1469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R39n · SEBoK v2.14 (2026), “Operational Scenario (glossary)”, p.1581</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R39o · SEBoK v2.14 (2026), “Use Case (glossary)”, p.1669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R39p · SEBoK v2.14 (2026), “Capability (glossary)”, p.1457–1458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R48a · OUSD(R&amp;E) Systems Engineering Guidebook (2021/2022), “Stakeholder Requirements Definition Process”, p.141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R48b · OUSD(R&amp;E) Systems Engineering Guidebook (2021/2022), “Requirements Analysis Process”, p.142, 144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R52 · The MITRE Systems Engineering Guide (2014), “Concept of Operations”, p.298–302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p.329–331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R59 · The MITRE Systems Engineering Guide (2014), “Use Cases and Mission Threads”, p.452–456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R98 · SEBoK v2.14 (2026), “Diversity, Equity, and Inclusion”, p.1001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Session 1: ConOps / Requirements</dc:title>
  <dc:subject>Systems Thinking and MBSE with SysML v2</dc:subject>
  <dc:creator>SysML Learning Studio (generated)</dc:creator>
  <cp:lastModifiedBy>SysML Learning Studio (generated)</cp:lastModifiedBy>
  <cp:revision>1</cp:revision>
  <dcterms:created xsi:type="dcterms:W3CDTF">2026-10-27T14:48:06Z</dcterms:created>
  <dcterms:modified xsi:type="dcterms:W3CDTF">2026-10-27T14:48:06Z</dcterms:modified>
</cp:coreProperties>
</file>