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7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Final Presentation</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The Phase I engineering package and its design review</a:t>
            </a:r>
            <a:endParaRPr lang="en-US" sz="2200" dirty="0"/>
          </a:p>
        </p:txBody>
      </p:sp>
      <p:sp>
        <p:nvSpPr>
          <p:cNvPr id="5" name="Text 3"/>
          <p:cNvSpPr/>
          <p:nvPr/>
        </p:nvSpPr>
        <p:spPr>
          <a:xfrm>
            <a:off x="1005840" y="3931920"/>
            <a:ext cx="7772400"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package, its audit and the design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presenting and defending your decisions; the review itself</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output: the Systems Thinking Engineering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is the package ready to become a model?</a:t>
            </a:r>
            <a:endParaRPr lang="en-US" sz="3000" dirty="0"/>
          </a:p>
        </p:txBody>
      </p:sp>
      <p:sp>
        <p:nvSpPr>
          <p:cNvPr id="3" name="Shape 1"/>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4" name="Text 2"/>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AeroLink’s six weekly records are done. The package holds 265 IDs and some items are still open. The board asks: is it ready to become the baseline of a SysML v2 model?</a:t>
            </a:r>
            <a:endParaRPr lang="en-US" sz="1200" dirty="0"/>
          </a:p>
        </p:txBody>
      </p:sp>
      <p:sp>
        <p:nvSpPr>
          <p:cNvPr id="5" name="Text 3"/>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Not ready: items are still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Ready: every week was submitted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 if every gap is dispositioned and owned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weekly exports become one package; the review decides whether it is the baseline Week 8 starts from.</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7 sits: six weeks in, one model out</a:t>
            </a:r>
            <a:endParaRPr lang="en-US" sz="3000" dirty="0"/>
          </a:p>
        </p:txBody>
      </p:sp>
      <p:pic>
        <p:nvPicPr>
          <p:cNvPr id="4" name="Image 0" descr="Six small boxes on the left, labeled Week 1 to Week 6, feed arrows into one box labeled package. An arrow leads from the package through a gate labeled review to a box on the right labeled Week 8 model.">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1–6: six records, six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7: one package, audited and reviewed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the package becomes model v0.1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inconsistency left now becomes a modeling defect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R36 p.498; R36 p.499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package is a baseline: the reference point for every later change</a:t>
            </a:r>
            <a:endParaRPr lang="en-US" sz="3000" dirty="0"/>
          </a:p>
        </p:txBody>
      </p:sp>
      <p:sp>
        <p:nvSpPr>
          <p:cNvPr id="4" name="Shape 2"/>
          <p:cNvSpPr/>
          <p:nvPr/>
        </p:nvSpPr>
        <p:spPr>
          <a:xfrm>
            <a:off x="548640" y="1280160"/>
            <a:ext cx="11094415" cy="1532128"/>
          </a:xfrm>
          <a:prstGeom prst="rect">
            <a:avLst/>
          </a:prstGeom>
          <a:solidFill>
            <a:srgbClr val="E1EFF4"/>
          </a:solidFill>
          <a:ln w="12700">
            <a:solidFill>
              <a:srgbClr val="E1EFF4"/>
            </a:solidFill>
            <a:prstDash val="solid"/>
          </a:ln>
        </p:spPr>
      </p:sp>
      <p:sp>
        <p:nvSpPr>
          <p:cNvPr id="5" name="Shape 3"/>
          <p:cNvSpPr/>
          <p:nvPr/>
        </p:nvSpPr>
        <p:spPr>
          <a:xfrm>
            <a:off x="548640" y="1280160"/>
            <a:ext cx="73152" cy="1532128"/>
          </a:xfrm>
          <a:prstGeom prst="rect">
            <a:avLst/>
          </a:prstGeom>
          <a:solidFill>
            <a:srgbClr val="0F6E8C"/>
          </a:solidFill>
          <a:ln w="12700">
            <a:solidFill>
              <a:srgbClr val="0F6E8C"/>
            </a:solidFill>
            <a:prstDash val="solid"/>
          </a:ln>
        </p:spPr>
      </p:sp>
      <p:sp>
        <p:nvSpPr>
          <p:cNvPr id="6" name="Text 4"/>
          <p:cNvSpPr/>
          <p:nvPr/>
        </p:nvSpPr>
        <p:spPr>
          <a:xfrm>
            <a:off x="777240" y="1280160"/>
            <a:ext cx="10728655" cy="1532128"/>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CONFIGURATION BASELINE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formally approved snapshot of a system’s attributes at a specific point in its development</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R36 · SEBoK v2.14 (2026), "Configuration Baselines", p.498</a:t>
            </a:r>
            <a:endParaRPr lang="en-US" sz="1300" dirty="0"/>
          </a:p>
        </p:txBody>
      </p:sp>
      <p:sp>
        <p:nvSpPr>
          <p:cNvPr id="7" name="Text 5"/>
          <p:cNvSpPr/>
          <p:nvPr/>
        </p:nvSpPr>
        <p:spPr>
          <a:xfrm>
            <a:off x="548640" y="297688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reference point that guides and controls later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content can be digital: models, databases,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package: the Phase I baseline Week 8 changes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eleven sections of the package, each marked with the week that supplies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package contains</a:t>
            </a:r>
            <a:endParaRPr lang="en-US" sz="3000" dirty="0"/>
          </a:p>
        </p:txBody>
      </p:sp>
      <p:pic>
        <p:nvPicPr>
          <p:cNvPr id="4" name="Image 0" descr="A stack of eleven tabs, top to bottom: 1 Executive summary; 2 Enterprise, problem and mission; 3 Stakeholders and needs; 4 ConOps, scenarios and requirements; 5 Technology, risk and the trade study; 6 Architecture and information view; 7 Components and interfaces; 8 Evolution roadmap; 9 Consistency and trace audit; 10 Open items and lessons learned; 11 AI usage summary. Each tab carries a small label naming its week: Weeks 1 to 6 for the earlier records, Week 7 for the summary, the audit, the lessons and the AI summary.">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from all six weekly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executive summary, consistency and trace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open items, lessons learned and an AI usage summary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no source defines this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R56 p.389; R45 p.119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baseline records what is open, with its history</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requirements baseline includes what could not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Approved changes are incorporated, with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traceability matrix keeps allocation history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is acceptable; silent is not</a:t>
            </a:r>
            <a:endParaRPr lang="en-US" sz="2000" dirty="0"/>
          </a:p>
        </p:txBody>
      </p:sp>
      <p:sp>
        <p:nvSpPr>
          <p:cNvPr id="5" name="Shape 3"/>
          <p:cNvSpPr/>
          <p:nvPr/>
        </p:nvSpPr>
        <p:spPr>
          <a:xfrm>
            <a:off x="548640" y="3123184"/>
            <a:ext cx="11094415" cy="793750"/>
          </a:xfrm>
          <a:prstGeom prst="roundRect">
            <a:avLst>
              <a:gd name="adj" fmla="val 6912"/>
            </a:avLst>
          </a:prstGeom>
          <a:solidFill>
            <a:srgbClr val="E1EFF4"/>
          </a:solidFill>
          <a:ln w="12700">
            <a:solidFill>
              <a:srgbClr val="0F6E8C"/>
            </a:solidFill>
            <a:prstDash val="solid"/>
          </a:ln>
        </p:spPr>
      </p:sp>
      <p:sp>
        <p:nvSpPr>
          <p:cNvPr id="6" name="Text 4"/>
          <p:cNvSpPr/>
          <p:nvPr/>
        </p:nvSpPr>
        <p:spPr>
          <a:xfrm>
            <a:off x="685800" y="3123184"/>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owned open item is a decision. An unrecorded gap is a defect.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executive summary skeleton: six fields, each one a gate in the package tool.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executive summary: six fields a decision maker reads first</a:t>
            </a:r>
            <a:endParaRPr lang="en-US" sz="3000" dirty="0"/>
          </a:p>
        </p:txBody>
      </p:sp>
      <p:pic>
        <p:nvPicPr>
          <p:cNvPr id="4" name="Image 0" descr="A one-page form with six labeled boxes, top to bottom: recommendation, why, conditions, residual risk, decisions needed, next increment. The why box holds three small ID tags; the residual risk box holds R tag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70230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Recommendation: what you ask the decision maker to approve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Why: the evidence, cited by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what must stay true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Residual risk: what remains, by R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needed from the reviewer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Next: the roadmap increment that comes next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enterprise, one ID, one meaning</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enterprise, one ID, one meaning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Stale export: a later week built from an older file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 no longer defined: deleted or renumbered upstream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Collision: two elements share one ID; never a rename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no longer true: a later week closed the gap</a:t>
            </a:r>
            <a:endParaRPr lang="en-US" sz="2000" dirty="0"/>
          </a:p>
        </p:txBody>
      </p:sp>
      <p:sp>
        <p:nvSpPr>
          <p:cNvPr id="5" name="Shape 3"/>
          <p:cNvSpPr/>
          <p:nvPr/>
        </p:nvSpPr>
        <p:spPr>
          <a:xfrm>
            <a:off x="548640" y="3515360"/>
            <a:ext cx="11094415" cy="793750"/>
          </a:xfrm>
          <a:prstGeom prst="roundRect">
            <a:avLst>
              <a:gd name="adj" fmla="val 6912"/>
            </a:avLst>
          </a:prstGeom>
          <a:solidFill>
            <a:srgbClr val="ECEFF3"/>
          </a:solidFill>
          <a:ln w="12700">
            <a:solidFill>
              <a:srgbClr val="D3D9E1"/>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IDENTITY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Same element only if the names match or one contains the other whole.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audit’s trace ladder from needs to the roadmap, with an orphan and a childless parent marked.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Bidirectional traceability: no orphans, no childless parents</a:t>
            </a:r>
            <a:endParaRPr lang="en-US" sz="3000" dirty="0"/>
          </a:p>
        </p:txBody>
      </p:sp>
      <p:pic>
        <p:nvPicPr>
          <p:cNvPr id="4" name="Image 0" descr="Six rungs, top to bottom: needs, stakeholder requirements, system requirements, functions and physical elements, interfaces, roadmap increments. Lines join items on adjacent rungs. One need has no line down to it from below and is marked childless parent; one system requirement has no line up and is marked orpha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Orphan: a lower item with no valid parent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Childless parent: a higher item nothing addresses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Layers: need, requirement, architecture, interface,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Count both directions at every layer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p.566; 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Well formed and right: requirement verification and validation</a:t>
            </a:r>
            <a:endParaRPr lang="en-US" sz="3000" dirty="0"/>
          </a:p>
        </p:txBody>
      </p:sp>
      <p:sp>
        <p:nvSpPr>
          <p:cNvPr id="4" name="Shape 2"/>
          <p:cNvSpPr/>
          <p:nvPr/>
        </p:nvSpPr>
        <p:spPr>
          <a:xfrm>
            <a:off x="548640" y="1280160"/>
            <a:ext cx="6379289"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6013529"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VERIFICATION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Are the requirements well formed: do they follow the rules for well-formed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7" name="Shape 5"/>
          <p:cNvSpPr/>
          <p:nvPr/>
        </p:nvSpPr>
        <p:spPr>
          <a:xfrm>
            <a:off x="7293689" y="1280160"/>
            <a:ext cx="4349366" cy="2213864"/>
          </a:xfrm>
          <a:prstGeom prst="rect">
            <a:avLst/>
          </a:prstGeom>
          <a:solidFill>
            <a:srgbClr val="E1EFF4"/>
          </a:solidFill>
          <a:ln w="12700">
            <a:solidFill>
              <a:srgbClr val="E1EFF4"/>
            </a:solidFill>
            <a:prstDash val="solid"/>
          </a:ln>
        </p:spPr>
      </p:sp>
      <p:sp>
        <p:nvSpPr>
          <p:cNvPr id="8" name="Shape 6"/>
          <p:cNvSpPr/>
          <p:nvPr/>
        </p:nvSpPr>
        <p:spPr>
          <a:xfrm>
            <a:off x="7293689" y="1280160"/>
            <a:ext cx="73152" cy="2213864"/>
          </a:xfrm>
          <a:prstGeom prst="rect">
            <a:avLst/>
          </a:prstGeom>
          <a:solidFill>
            <a:srgbClr val="0F6E8C"/>
          </a:solidFill>
          <a:ln w="12700">
            <a:solidFill>
              <a:srgbClr val="0F6E8C"/>
            </a:solidFill>
            <a:prstDash val="solid"/>
          </a:ln>
        </p:spPr>
      </p:sp>
      <p:sp>
        <p:nvSpPr>
          <p:cNvPr id="9" name="Text 7"/>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VALIDATION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Do we have the right requirements: do they carry the intent of the needs and sources they came from?</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10" name="Shape 8"/>
          <p:cNvSpPr/>
          <p:nvPr/>
        </p:nvSpPr>
        <p:spPr>
          <a:xfrm>
            <a:off x="7293689" y="3658616"/>
            <a:ext cx="4349366" cy="1320546"/>
          </a:xfrm>
          <a:prstGeom prst="roundRect">
            <a:avLst>
              <a:gd name="adj" fmla="val 4155"/>
            </a:avLst>
          </a:prstGeom>
          <a:solidFill>
            <a:srgbClr val="ECEFF3"/>
          </a:solidFill>
          <a:ln w="12700">
            <a:solidFill>
              <a:srgbClr val="D3D9E1"/>
            </a:solidFill>
            <a:prstDash val="solid"/>
          </a:ln>
        </p:spPr>
      </p:sp>
      <p:sp>
        <p:nvSpPr>
          <p:cNvPr id="11" name="Text 9"/>
          <p:cNvSpPr/>
          <p:nvPr/>
        </p:nvSpPr>
        <p:spPr>
          <a:xfrm>
            <a:off x="7430849" y="3658616"/>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trace link can exist and still carry only part of a need. The tool counts links; a reviewer reads them.</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finding leaves the audit one of three ways: corrected and re-imported, accepted with a rationale and its evidence, or deferred to a week with an owner.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Coverage, findings and dispositions</a:t>
            </a:r>
            <a:endParaRPr lang="en-US" sz="3000" dirty="0"/>
          </a:p>
        </p:txBody>
      </p:sp>
      <p:pic>
        <p:nvPicPr>
          <p:cNvPr id="4" name="Image 0" descr="A box labeled finding on the left with three arrows to the right. The top arrow, labeled correct the week and export again, ends at a box labeled finding gone. The middle arrow ends at a box labeled accept, with rationale and evidence. The bottom arrow ends at a box labeled defer, with an owner and a wee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3220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Coverage per layer: covered of total, as a percentage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accept with rationale,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 a rationale with its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name who closes it, and the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Correct: fix the week and import it again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claim of “fixed” is not a rationale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thread followed through the package from NEED-010: 11 linked items across six weeks.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one AeroLink thread, end to end</a:t>
            </a:r>
            <a:endParaRPr lang="en-US" sz="3000" dirty="0"/>
          </a:p>
        </p:txBody>
      </p:sp>
      <p:pic>
        <p:nvPicPr>
          <p:cNvPr id="4" name="Image 0" descr="A chain of 11 linked chips, left to right and wrapping onto a second row: NEED-010 (Week 1), CAP-010 (Week 2), REQ-STK-010 (Week 2), REQ-SYS-010 (Week 2), FN-007 (Week 4), PHY-003 (Week 4), IF-006 (Week 5), MOP-009 (Week 2), U-002 (Week 2), INC-000 (Week 6), DEC-001 (Week 3). Each chip carries its week number.">    </p:cNvPr>
          <p:cNvPicPr>
            <a:picLocks noChangeAspect="1"/>
          </p:cNvPicPr>
          <p:nvPr/>
        </p:nvPicPr>
        <p:blipFill>
          <a:blip r:embed="rId1"/>
          <a:stretch>
            <a:fillRect/>
          </a:stretch>
        </p:blipFill>
        <p:spPr>
          <a:xfrm>
            <a:off x="548640" y="1280437"/>
            <a:ext cx="11094415" cy="2729578"/>
          </a:xfrm>
          <a:prstGeom prst="rect">
            <a:avLst/>
          </a:prstGeom>
        </p:spPr>
      </p:pic>
      <p:sp>
        <p:nvSpPr>
          <p:cNvPr id="5" name="Shape 2"/>
          <p:cNvSpPr/>
          <p:nvPr/>
        </p:nvSpPr>
        <p:spPr>
          <a:xfrm>
            <a:off x="548640" y="4147452"/>
            <a:ext cx="11094415" cy="731774"/>
          </a:xfrm>
          <a:prstGeom prst="roundRect">
            <a:avLst>
              <a:gd name="adj" fmla="val 7497"/>
            </a:avLst>
          </a:prstGeom>
          <a:solidFill>
            <a:srgbClr val="ECEFF3"/>
          </a:solidFill>
          <a:ln w="12700">
            <a:solidFill>
              <a:srgbClr val="D3D9E1"/>
            </a:solidFill>
            <a:prstDash val="solid"/>
          </a:ln>
        </p:spPr>
      </p:sp>
      <p:sp>
        <p:nvSpPr>
          <p:cNvPr id="6" name="Text 3"/>
          <p:cNvSpPr/>
          <p:nvPr/>
        </p:nvSpPr>
        <p:spPr>
          <a:xfrm>
            <a:off x="685800" y="4147452"/>
            <a:ext cx="10820095" cy="731774"/>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300" dirty="0">
                <a:solidFill>
                  <a:srgbClr val="18202D"/>
                </a:solidFill>
                <a:latin typeface="Calibri" pitchFamily="34" charset="0"/>
                <a:ea typeface="Calibri" pitchFamily="34" charset="-122"/>
                <a:cs typeface="Calibri" pitchFamily="34" charset="-120"/>
              </a:rPr>
              <a:t>Walk one thread from a need to the architecture, then on to the interface and the roadmap.</a:t>
            </a:r>
            <a:endParaRPr lang="en-US" sz="900" dirty="0"/>
          </a:p>
        </p:txBody>
      </p:sp>
      <p:sp>
        <p:nvSpPr>
          <p:cNvPr id="7" name="Text 4"/>
          <p:cNvSpPr/>
          <p:nvPr/>
        </p:nvSpPr>
        <p:spPr>
          <a:xfrm>
            <a:off x="548640" y="5043818"/>
            <a:ext cx="11094415" cy="739140"/>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Down: </a:t>
            </a:r>
            <a:pPr indent="0" marL="0">
              <a:buNone/>
            </a:pPr>
            <a:r>
              <a:rPr lang="en-US" sz="1500" dirty="0">
                <a:solidFill>
                  <a:srgbClr val="18202D"/>
                </a:solidFill>
                <a:latin typeface="Calibri" pitchFamily="34" charset="0"/>
                <a:ea typeface="Calibri" pitchFamily="34" charset="-122"/>
                <a:cs typeface="Calibri" pitchFamily="34" charset="-120"/>
              </a:rPr>
              <a:t>NEED-010 → CAP-010 → REQ-STK-010 → REQ-SYS-010 → FN-007 → PHY-003</a:t>
            </a:r>
            <a:endParaRPr lang="en-US" sz="1500" dirty="0"/>
          </a:p>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Out: </a:t>
            </a:r>
            <a:pPr indent="0" marL="0">
              <a:buNone/>
            </a:pPr>
            <a:r>
              <a:rPr lang="en-US" sz="1500" dirty="0">
                <a:solidFill>
                  <a:srgbClr val="18202D"/>
                </a:solidFill>
                <a:latin typeface="Calibri" pitchFamily="34" charset="0"/>
                <a:ea typeface="Calibri" pitchFamily="34" charset="-122"/>
                <a:cs typeface="Calibri" pitchFamily="34" charset="-120"/>
              </a:rPr>
              <a:t>IF-006 → MOP-009 → U-002 → INC-000 → DEC-001</a:t>
            </a:r>
            <a:endParaRPr lang="en-US" sz="15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coverage per layer, and how its 30 findings were dispositioned.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 R56 p.389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package audit</a:t>
            </a:r>
            <a:endParaRPr lang="en-US" sz="3000" dirty="0"/>
          </a:p>
        </p:txBody>
      </p:sp>
      <p:pic>
        <p:nvPicPr>
          <p:cNvPr id="4" name="Image 0" descr="Five horizontal bars, one per layer, each filled to its coverage: needs → stakeholder requirements: 17 of 17 (100 %); stakeholder → system requirements: 16 of 19 (84 %); system requirements → architecture: 15 of 15 (100 %); architecture → interfaces: 7 of 8 (88 %); roadmap → package: 3 of 3 (100 %). Beside them a tally: 13 accepted (5 of them earlier dispositions no longer true), 17 deferr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30 findings: 13 accepted, 17 deferred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5 Week 2 dispositions made false by later weeks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2 open items dropped by Week 6: 2 deferred (NEED-008, NEED-006) and NEED-017 carried through U-006</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stakeholder requirements with no child, by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PHY-006: an element no interface ends 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TECHNICAL REVIEWS AND AUDITS</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mechanism by which sufficiently independent and knowledgeable stakeholders analyze the current state of a system or work products using pre-established criteria</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R06c · SEBoK v2.14 (2026), "Technical Reviews and Audits", p.386</a:t>
            </a:r>
            <a:endParaRPr lang="en-US" sz="1300" dirty="0"/>
          </a:p>
        </p:txBody>
      </p:sp>
      <p:sp>
        <p:nvSpPr>
          <p:cNvPr id="7" name="Text 5"/>
          <p:cNvSpPr/>
          <p:nvPr/>
        </p:nvSpPr>
        <p:spPr>
          <a:xfrm>
            <a:off x="548640" y="3317748"/>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Results support programmatic and technical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help establish readiness for the next stage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support baselines and early validation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stages of a technical review, with the course’s criteria under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 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Prepare, conduct, complete</a:t>
            </a:r>
            <a:endParaRPr lang="en-US" sz="3000" dirty="0"/>
          </a:p>
        </p:txBody>
      </p:sp>
      <p:pic>
        <p:nvPicPr>
          <p:cNvPr id="4" name="Image 0" descr="Three boxes left to right joined by arrows: prepare, conduct, complete. Under prepare: criteria defined, entry confirmed, items sent in advance. Under conduct: analysis from different perspectives, findings recorded. Under complete: exit criteria met, results communicated, actions impleme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Prepare: entry and exit criteria defined; entry confirmed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Items to be assessed sent in advance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Conduct: analysis from different perspectives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exit met, results communicated, actions done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p.70; R44 p.111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Phase I review’s entry and exit criteria</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package sent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every finding dispositioned, none silent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summary, owners, thread prepared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key decision, with its alternatives</a:t>
            </a:r>
            <a:endParaRPr lang="en-US" sz="20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RID dispositioned, with a response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accepted or deferred RID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the closed package exported again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roles in the course design review, with what each brings to the room.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 roles: owners, reviewers, chair, recorder</a:t>
            </a:r>
            <a:endParaRPr lang="en-US" sz="3000" dirty="0"/>
          </a:p>
        </p:txBody>
      </p:sp>
      <p:pic>
        <p:nvPicPr>
          <p:cNvPr id="4" name="Image 0" descr="A grid of five role cards: owning team, which presents and answers; peer reviewers, who raise findings; chair, the instructor, who decides; recorder, who writes findings and actions; timekeeper, who holds the slots. A bracket marks the peer reviewers and the chair as far enough removed to be independ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member presents and answers for the sections they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reviewers: far enough removed to see what you miss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Chair (instructor) decides; recorder writes actions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Independent review counters bias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p.69; R40 p.70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closest professional analogy: the SRR</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consistent with technology maturation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Clearly stated, measurable and testable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Traceable in both directions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Verification methods for all; risks with mitigation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All interfaces documented</a:t>
            </a:r>
            <a:endParaRPr lang="en-US" sz="2000" dirty="0"/>
          </a:p>
        </p:txBody>
      </p:sp>
      <p:sp>
        <p:nvSpPr>
          <p:cNvPr id="5" name="Shape 3"/>
          <p:cNvSpPr/>
          <p:nvPr/>
        </p:nvSpPr>
        <p:spPr>
          <a:xfrm>
            <a:off x="548640" y="3515360"/>
            <a:ext cx="11094415" cy="793750"/>
          </a:xfrm>
          <a:prstGeom prst="roundRect">
            <a:avLst>
              <a:gd name="adj" fmla="val 6912"/>
            </a:avLst>
          </a:prstGeom>
          <a:solidFill>
            <a:srgbClr val="FBEFD9"/>
          </a:solidFill>
          <a:ln w="12700">
            <a:solidFill>
              <a:srgbClr val="8A5200"/>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ANALOGY</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Phase I review borrows these questions. It sets no contractual baseline.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Ready for Week 8? The answer for AeroLink</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dispositioned; every open item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needs stable IDs, one name per ID, typed links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Deferred items become the first modeling tasks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Studio: load your six exports and read your audit</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Load your six exports into the package tool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coverage and every finding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Re-export any stale week now if you can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three findings: record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owner of each package section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Before Session 2</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Package index and readiness report: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pairings and review order: posted today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reviewer: read your sections, write at least two RIDs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how to defend, then the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p.473–474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R36 · SEBoK v2.14 (2026), “Configuration Baselines”, p.498–499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R40 · OUSD(R&amp;E) Systems Engineering Guidebook (2021/2022), “3.2 System Requirements Review”, p.69–70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p.109–110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R45 · OUSD(R&amp;E) Systems Engineering Guidebook (2021/2022), “Requirements Management Process”, p.118–119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R56 · The MITRE Systems Engineering Guide (2014), “Assess the Design”, p.387, 389</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Session 1: Final Presentation</dc:title>
  <dc:subject>Systems Thinking and MBSE with SysML v2</dc:subject>
  <dc:creator>SysML Learning Studio (generated)</dc:creator>
  <cp:lastModifiedBy>SysML Learning Studio (generated)</cp:lastModifiedBy>
  <cp:revision>1</cp:revision>
  <dcterms:created xsi:type="dcterms:W3CDTF">2026-10-28T17:28:24Z</dcterms:created>
  <dcterms:modified xsi:type="dcterms:W3CDTF">2026-10-28T17:28:24Z</dcterms:modified>
</cp:coreProperties>
</file>