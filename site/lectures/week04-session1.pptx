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4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Architecture / Information View</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Views, functions and allocation</a:t>
            </a:r>
            <a:endParaRPr lang="en-US" sz="2200" dirty="0"/>
          </a:p>
        </p:txBody>
      </p:sp>
      <p:sp>
        <p:nvSpPr>
          <p:cNvPr id="5" name="Text 3"/>
          <p:cNvSpPr/>
          <p:nvPr/>
        </p:nvSpPr>
        <p:spPr>
          <a:xfrm>
            <a:off x="1005840" y="3931920"/>
            <a:ext cx="7772400" cy="1751076"/>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architecture and its description, functions, allocation</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the information view, evaluation and the Lab L4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views, functions, allocation, information view</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pieces of information an AeroLink dispatch decision needs, each produced somewhere else.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who decides that an aircraft may fly?</a:t>
            </a:r>
            <a:endParaRPr lang="en-US" sz="3000" dirty="0"/>
          </a:p>
        </p:txBody>
      </p:sp>
      <p:pic>
        <p:nvPicPr>
          <p:cNvPr id="4" name="Image 0" descr="An aircraft on a vertiport pad at the left. Three labels with question marks float from different places toward an operations-center console at the right: fault status, from a maintenance hangar; charge state, from a charger; and the forecast, from a weather source above. The console carries a release button.">    </p:cNvPr>
          <p:cNvPicPr>
            <a:picLocks noChangeAspect="1"/>
          </p:cNvPicPr>
          <p:nvPr/>
        </p:nvPicPr>
        <p:blipFill>
          <a:blip r:embed="rId1"/>
          <a:stretch>
            <a:fillRect/>
          </a:stretch>
        </p:blipFill>
        <p:spPr>
          <a:xfrm>
            <a:off x="548640" y="1772406"/>
            <a:ext cx="6379289" cy="3589413"/>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An AeroLink aircraft is ready on a hub pad. A passenger party is boarding.</a:t>
            </a:r>
            <a:endParaRPr lang="en-US" sz="1200" dirty="0"/>
          </a:p>
        </p:txBody>
      </p:sp>
      <p:sp>
        <p:nvSpPr>
          <p:cNvPr id="7" name="Text 4"/>
          <p:cNvSpPr/>
          <p:nvPr/>
        </p:nvSpPr>
        <p:spPr>
          <a:xfrm>
            <a:off x="7293689" y="2765298"/>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Who makes the release decision?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Where is the fault status, the charge state and the forecast produced?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carries each one to the decision?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4 takes the needs, requirements, scenarios and the trade decision, and feeds the interfaces, the roadmap and the Phase II models.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p.557; R13 p.561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4 sits: from requirements to the first how</a:t>
            </a:r>
            <a:endParaRPr lang="en-US" sz="3000" dirty="0"/>
          </a:p>
        </p:txBody>
      </p:sp>
      <p:pic>
        <p:nvPicPr>
          <p:cNvPr id="4" name="Image 0" descr="A band of weekly boxes from left to right: Week 1 needs and concerns, Week 2 scenarios, capabilities and requirements, Week 3 decision, risks and TPMs, then a highlighted Week 4 architecture and information view. Arrows leave Week 4 to Week 5 components and interfaces, Week 6 evolution roadmap, Week 10 logical and behavioral model and Week 11 physical model.">    </p:cNvPr>
          <p:cNvPicPr>
            <a:picLocks noChangeAspect="1"/>
          </p:cNvPicPr>
          <p:nvPr/>
        </p:nvPicPr>
        <p:blipFill>
          <a:blip r:embed="rId1"/>
          <a:stretch>
            <a:fillRect/>
          </a:stretch>
        </p:blipFill>
        <p:spPr>
          <a:xfrm>
            <a:off x="548640" y="1585938"/>
            <a:ext cx="6379289" cy="3799661"/>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 concerns, needs, scenarios, capabilities, requirements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 the Week 3 decision, risks and TPMs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form the basis of architecture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Out: Week 5 interfaces, Week 6 roadmap, Weeks 10–11 models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description is what can be seen and reviewed; the architecture is the conception it describes.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R39t p.1445; R19 p.569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an architecture is</a:t>
            </a:r>
            <a:endParaRPr lang="en-US" sz="3000" dirty="0"/>
          </a:p>
        </p:txBody>
      </p:sp>
      <p:pic>
        <p:nvPicPr>
          <p:cNvPr id="4" name="Image 0" descr="An iceberg. Above the waterline: architecture description, with three small items labeled views, tables, diagrams. Below the waterline, the larger part: architecture, with four labels: concepts, elements, relationships, principles of design and evolution.">    </p:cNvPr>
          <p:cNvPicPr>
            <a:picLocks noChangeAspect="1"/>
          </p:cNvPicPr>
          <p:nvPr/>
        </p:nvPicPr>
        <p:blipFill>
          <a:blip r:embed="rId1"/>
          <a:stretch>
            <a:fillRect/>
          </a:stretch>
        </p:blipFill>
        <p:spPr>
          <a:xfrm>
            <a:off x="548640" y="1621462"/>
            <a:ext cx="6379289" cy="3728615"/>
          </a:xfrm>
          <a:prstGeom prst="rect">
            <a:avLst/>
          </a:prstGeom>
        </p:spPr>
      </p:pic>
      <p:sp>
        <p:nvSpPr>
          <p:cNvPr id="5" name="Shape 2"/>
          <p:cNvSpPr/>
          <p:nvPr/>
        </p:nvSpPr>
        <p:spPr>
          <a:xfrm>
            <a:off x="7293689" y="1280160"/>
            <a:ext cx="4349366" cy="2709672"/>
          </a:xfrm>
          <a:prstGeom prst="rect">
            <a:avLst/>
          </a:prstGeom>
          <a:solidFill>
            <a:srgbClr val="E1EFF4"/>
          </a:solidFill>
          <a:ln w="12700">
            <a:solidFill>
              <a:srgbClr val="E1EFF4"/>
            </a:solidFill>
            <a:prstDash val="solid"/>
          </a:ln>
        </p:spPr>
      </p:sp>
      <p:sp>
        <p:nvSpPr>
          <p:cNvPr id="6" name="Shape 3"/>
          <p:cNvSpPr/>
          <p:nvPr/>
        </p:nvSpPr>
        <p:spPr>
          <a:xfrm>
            <a:off x="7293689" y="1280160"/>
            <a:ext cx="73152" cy="2709672"/>
          </a:xfrm>
          <a:prstGeom prst="rect">
            <a:avLst/>
          </a:prstGeom>
          <a:solidFill>
            <a:srgbClr val="0F6E8C"/>
          </a:solidFill>
          <a:ln w="12700">
            <a:solidFill>
              <a:srgbClr val="0F6E8C"/>
            </a:solidFill>
            <a:prstDash val="solid"/>
          </a:ln>
        </p:spPr>
      </p:sp>
      <p:sp>
        <p:nvSpPr>
          <p:cNvPr id="7" name="Text 4"/>
          <p:cNvSpPr/>
          <p:nvPr/>
        </p:nvSpPr>
        <p:spPr>
          <a:xfrm>
            <a:off x="7522289" y="1280160"/>
            <a:ext cx="3983606" cy="2709672"/>
          </a:xfrm>
          <a:prstGeom prst="rect">
            <a:avLst/>
          </a:prstGeom>
          <a:noFill/>
          <a:ln/>
        </p:spPr>
        <p:txBody>
          <a:bodyPr wrap="square" lIns="50800" tIns="50800" rIns="50800" bIns="508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ARCHITECTURE</a:t>
            </a:r>
            <a:endParaRPr lang="en-US" sz="1200" dirty="0"/>
          </a:p>
          <a:p>
            <a:pPr indent="0" marL="0">
              <a:buNone/>
            </a:pPr>
            <a:r>
              <a:rPr lang="en-US" sz="2000" dirty="0">
                <a:solidFill>
                  <a:srgbClr val="18202D"/>
                </a:solidFill>
                <a:latin typeface="Calibri" pitchFamily="34" charset="0"/>
                <a:ea typeface="Calibri" pitchFamily="34" charset="-122"/>
                <a:cs typeface="Calibri" pitchFamily="34" charset="-120"/>
              </a:rPr>
              <a:t>Fundamental concepts or properties of a system in its environment embodied in its elements, relationships, and in the principles of its design and evolution</a:t>
            </a:r>
            <a:endParaRPr lang="en-US" sz="1200" dirty="0"/>
          </a:p>
          <a:p>
            <a:pPr indent="0" marL="0">
              <a:spcBef>
                <a:spcPts val="600"/>
              </a:spcBef>
              <a:buNone/>
            </a:pPr>
            <a:r>
              <a:rPr lang="en-US" sz="1000" dirty="0">
                <a:solidFill>
                  <a:srgbClr val="0F6E8C"/>
                </a:solidFill>
                <a:latin typeface="Calibri" pitchFamily="34" charset="0"/>
                <a:ea typeface="Calibri" pitchFamily="34" charset="-122"/>
                <a:cs typeface="Calibri" pitchFamily="34" charset="-120"/>
              </a:rPr>
              <a:t>R39t · SEBoK v2.14 (2026), "Architecture (glossary)", p.1445</a:t>
            </a:r>
            <a:endParaRPr lang="en-US" sz="1200" dirty="0"/>
          </a:p>
        </p:txBody>
      </p:sp>
      <p:sp>
        <p:nvSpPr>
          <p:cNvPr id="8" name="Text 5"/>
          <p:cNvSpPr/>
          <p:nvPr/>
        </p:nvSpPr>
        <p:spPr>
          <a:xfrm>
            <a:off x="7293689" y="4154424"/>
            <a:ext cx="4349366" cy="1451864"/>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Conceptual; realized through a description</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A description justifies what it includes and excludes</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system has an architecture; a description communicates it through views and models; a framework sets requirements for the description.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p.342; R19 p.569; R19 p.570; R20a p.582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How a description is organized, and why documents drift</a:t>
            </a:r>
            <a:endParaRPr lang="en-US" sz="3000" dirty="0"/>
          </a:p>
        </p:txBody>
      </p:sp>
      <p:pic>
        <p:nvPicPr>
          <p:cNvPr id="4" name="Image 0" descr="Five boxes linked by labeled arrows. System has an architecture. Architecture is communicated by an architecture description. The description consists of views and of models. An architecture framework provides requirements for the description. A side panel shows three documents drawing one shared element three different ways, marked out of sync, beside one model feeding three view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description consists of views and models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framework sets requirements for the description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Separate documents need manual synchronization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model can be one authoritative source of truth</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p.341; R39u p.1446; R39v p.1677; R39w p.1678; R20b p.593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Framework, model, view, viewpoint: the words, and a gap</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698138"/>
                <a:gridCol w="3698138"/>
                <a:gridCol w="369813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Term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MITRE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SEBoK glossary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Framework</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Minimum practices and requirements for artifacts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Conventions and practices for describing architectures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Partial expression from a perspective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Representation from a viewpoint’s perspective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Viewpoint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Representations covering a stakeholder’s issues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Rules for constructing a view for stakeholder concerns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593592"/>
            <a:ext cx="11094415" cy="274320"/>
          </a:xfrm>
          <a:prstGeom prst="rect">
            <a:avLst/>
          </a:prstGeom>
          <a:noFill/>
          <a:ln/>
        </p:spPr>
        <p:txBody>
          <a:bodyPr wrap="square" lIns="0" tIns="0" rIns="0" bIns="0" rtlCol="0" anchor="ctr"/>
          <a:lstStyle/>
          <a:p>
            <a:pPr indent="0" marL="0">
              <a:buNone/>
            </a:pPr>
            <a:r>
              <a:rPr lang="en-US" sz="1100" i="1" dirty="0">
                <a:solidFill>
                  <a:srgbClr val="566071"/>
                </a:solidFill>
                <a:latin typeface="Calibri" pitchFamily="34" charset="0"/>
                <a:ea typeface="Calibri" pitchFamily="34" charset="-122"/>
                <a:cs typeface="Calibri" pitchFamily="34" charset="-120"/>
              </a:rPr>
              <a:t>Paraphrased; the source wording is in the notes and the lesson.</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a stakeholder to the model elements a view shows, with one AeroLink example at every 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p.342; R62 p.344; R04 p.275; R19 p.573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Choosing views: purpose is paramount</a:t>
            </a:r>
            <a:endParaRPr lang="en-US" sz="3000" dirty="0"/>
          </a:p>
        </p:txBody>
      </p:sp>
      <p:pic>
        <p:nvPicPr>
          <p:cNvPr id="4" name="Image 0" descr="A chain of five boxes: stakeholder, concern, viewpoint, view, model elements. Under each box an AeroLink example: communities; community noise; physical viewpoint; the vertiport and aircraft view; the pads and aircraft elements.">    </p:cNvPr>
          <p:cNvPicPr>
            <a:picLocks noChangeAspect="1"/>
          </p:cNvPicPr>
          <p:nvPr/>
        </p:nvPicPr>
        <p:blipFill>
          <a:blip r:embed="rId1"/>
          <a:stretch>
            <a:fillRect/>
          </a:stretch>
        </p:blipFill>
        <p:spPr>
          <a:xfrm>
            <a:off x="548640" y="1969000"/>
            <a:ext cx="6379289" cy="3033537"/>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Views directly relevant to stakeholders’ concerns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Generate only the views the purpose needs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view helps a stakeholder conclude objectives will be met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minimum: operational, functional, physical, information, enterprise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Six viewpoints answer all 17 Week 1 concerns; each states its purpose as a question.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AeroLink’s view set, chosen from concerns</a:t>
            </a:r>
            <a:endParaRPr lang="en-US" sz="3000" dirty="0"/>
          </a:p>
        </p:txBody>
      </p:sp>
      <p:pic>
        <p:nvPicPr>
          <p:cNvPr id="4" name="Image 0" descr="Six cards in two rows, one per AeroLink viewpoint: Operational viewpoint, answering CON-001, CON-008, CON-009, CON-013, CON-017; Functional viewpoint, answering CON-002, CON-003, CON-004, CON-007, CON-010, CON-011; Logical viewpoint, answering CON-005; Physical viewpoint, answering CON-006, CON-012, CON-016; Information viewpoint, answering CON-009, CON-010, CON-014; Enterprise viewpoint, answering CON-005, CON-006, CON-011, CON-015, CON-016. A bar at the bottom reads 17 of 17 concerns answer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6 viewpoints, each with a question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17 of 17 Week 1 concerns answered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Logical view added: supplier choice stays open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Drop the information view: one concern left without 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FN-006 Charge aircraft: inputs on the left, outputs on the right, each tagged information, energy or material.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R39x p.1510; R20b p.587; R20a p.580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function is</a:t>
            </a:r>
            <a:endParaRPr lang="en-US" sz="3000" dirty="0"/>
          </a:p>
        </p:txBody>
      </p:sp>
      <p:pic>
        <p:nvPicPr>
          <p:cNvPr id="4" name="Image 0" descr="One box labeled FN-006 Charge aircraft. Arrows enter from the left: arrived aircraft at the reserve (material); grid power within the connection limit (energy). Arrows leave on the right: battery at the dispatch threshold (energy); charge-session record (information).">    </p:cNvPr>
          <p:cNvPicPr>
            <a:picLocks noChangeAspect="1"/>
          </p:cNvPicPr>
          <p:nvPr/>
        </p:nvPicPr>
        <p:blipFill>
          <a:blip r:embed="rId1"/>
          <a:stretch>
            <a:fillRect/>
          </a:stretch>
        </p:blipFill>
        <p:spPr>
          <a:xfrm>
            <a:off x="548640" y="1829770"/>
            <a:ext cx="6379289" cy="3311998"/>
          </a:xfrm>
          <a:prstGeom prst="rect">
            <a:avLst/>
          </a:prstGeom>
        </p:spPr>
      </p:pic>
      <p:sp>
        <p:nvSpPr>
          <p:cNvPr id="5" name="Shape 2"/>
          <p:cNvSpPr/>
          <p:nvPr/>
        </p:nvSpPr>
        <p:spPr>
          <a:xfrm>
            <a:off x="7293689" y="1280160"/>
            <a:ext cx="4349366" cy="2213864"/>
          </a:xfrm>
          <a:prstGeom prst="rect">
            <a:avLst/>
          </a:prstGeom>
          <a:solidFill>
            <a:srgbClr val="E1EFF4"/>
          </a:solidFill>
          <a:ln w="12700">
            <a:solidFill>
              <a:srgbClr val="E1EFF4"/>
            </a:solidFill>
            <a:prstDash val="solid"/>
          </a:ln>
        </p:spPr>
      </p:sp>
      <p:sp>
        <p:nvSpPr>
          <p:cNvPr id="6" name="Shape 3"/>
          <p:cNvSpPr/>
          <p:nvPr/>
        </p:nvSpPr>
        <p:spPr>
          <a:xfrm>
            <a:off x="7293689" y="1280160"/>
            <a:ext cx="73152" cy="2213864"/>
          </a:xfrm>
          <a:prstGeom prst="rect">
            <a:avLst/>
          </a:prstGeom>
          <a:solidFill>
            <a:srgbClr val="0F6E8C"/>
          </a:solidFill>
          <a:ln w="12700">
            <a:solidFill>
              <a:srgbClr val="0F6E8C"/>
            </a:solidFill>
            <a:prstDash val="solid"/>
          </a:ln>
        </p:spPr>
      </p:sp>
      <p:sp>
        <p:nvSpPr>
          <p:cNvPr id="7" name="Text 4"/>
          <p:cNvSpPr/>
          <p:nvPr/>
        </p:nvSpPr>
        <p:spPr>
          <a:xfrm>
            <a:off x="7522289" y="1280160"/>
            <a:ext cx="3983606" cy="221386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FUNCTION</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 function is defined by the transformation of input flows to output flows, with defined performance</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R39x · SEBoK v2.14 (2026), "Function (glossary)", p.1510</a:t>
            </a:r>
            <a:endParaRPr lang="en-US" sz="1300" dirty="0"/>
          </a:p>
        </p:txBody>
      </p:sp>
      <p:sp>
        <p:nvSpPr>
          <p:cNvPr id="8" name="Text 5"/>
          <p:cNvSpPr/>
          <p:nvPr/>
        </p:nvSpPr>
        <p:spPr>
          <a:xfrm>
            <a:off x="7293689" y="3658616"/>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Flows: data, materials or energy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verb + object, never an element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SEBoK’s six minimum contents of a functional view, with the AeroLink item that meets each; modes are an open row.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R20a p.581; R20b p.587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functional view must contain</a:t>
            </a:r>
            <a:endParaRPr lang="en-US" sz="3000" dirty="0"/>
          </a:p>
        </p:txBody>
      </p:sp>
      <p:pic>
        <p:nvPicPr>
          <p:cNvPr id="4" name="Image 0" descr="A six-row checklist. Capabilities that meet objectives: capability to function table, ticked. Inputs and outputs: on every function, ticked. Transformation steps: scenario walks, ticked. Grouping into sub-functions: seven first-level functions, ticked. Variations per mode: open, no modes defined yet. Interfaces carrying the flows: routes checked, defined in Week 5.">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Capabilities; inputs and outputs; transformation steps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Grouping into sub-functions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Variations per mode; interfaces carrying the flows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Functional: input–output; behavioral: sequence and control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three-level decomposition: the mission function, 7 first-level functions, 17 leaves; a fourth level is marked too deep.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R20b p.587; R20b p.594;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Decomposition: how deep, and in which order</a:t>
            </a:r>
            <a:endParaRPr lang="en-US" sz="3000" dirty="0"/>
          </a:p>
        </p:txBody>
      </p:sp>
      <p:pic>
        <p:nvPicPr>
          <p:cNvPr id="4" name="Image 0" descr="A tree. At the top, F0: Provide on-demand air trips between the six vertiports. Below it 7 boxes: FG-1 Serve passengers with 3 functions; FG-2 Assign and dispatch with 3 functions; FG-3 Conduct flights with 4 functions; FG-4 Manage energy with 2 functions; FG-5 Keep the fleet fit with 3 functions; FG-6 Protect the vertiports with 1 functions; FG-7 Plan capacity with 1 functions. Under one leaf, a crossed-out fourth level labeled press confirm button, too deep.">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From the mission (one black box) down to leaves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Stop where a physical solution is known or imaginable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Built over iterations, not one top-down pass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Pitfalls: too deep; no scenarios; no inputs and outputs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two scenarios as a worksheet: each step with an empty box for the function the class names; a person marks a step where a human decides. The answers are in the notes and the lesson.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R20b p.594; R48c p.145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walking two scenarios to find functions</a:t>
            </a:r>
            <a:endParaRPr lang="en-US" sz="3000" dirty="0"/>
          </a:p>
        </p:txBody>
      </p:sp>
      <p:pic>
        <p:nvPicPr>
          <p:cNvPr id="4" name="Image 0" descr="Two columns of scenario steps, each step with its short text and an empty function box. Left, SCN-001: step 1, enter the request; step 2, check weather, capacity; step 3, quote fare, boarding time; step 4, confirm the booking; step 5, assign aircraft in 60 s; step 6, issue the boarding pass; alternate A3, wheelchair help by agent. Right, SCN-005: step 1, flag V3 near its limits; step 2, declare the hold; step 3, divert airborne flights; step 4, revised flight intents; step 5, notify passengers; step 6, passenger chooses; step 7, lift hold, re-time backlog. A person icon marks SCN-001 alternate A3, SCN-005 step 2, SCN-005 step 7. No function is filled in.">    </p:cNvPr>
          <p:cNvPicPr>
            <a:picLocks noChangeAspect="1"/>
          </p:cNvPicPr>
          <p:nvPr/>
        </p:nvPicPr>
        <p:blipFill>
          <a:blip r:embed="rId1"/>
          <a:stretch>
            <a:fillRect/>
          </a:stretch>
        </p:blipFill>
        <p:spPr>
          <a:xfrm>
            <a:off x="2352385" y="1280160"/>
            <a:ext cx="7486925"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Walk: </a:t>
            </a:r>
            <a:pPr indent="0" marL="0">
              <a:buNone/>
            </a:pPr>
            <a:r>
              <a:rPr lang="en-US" sz="1600" dirty="0">
                <a:solidFill>
                  <a:srgbClr val="18202D"/>
                </a:solidFill>
                <a:latin typeface="Calibri" pitchFamily="34" charset="0"/>
                <a:ea typeface="Calibri" pitchFamily="34" charset="-122"/>
                <a:cs typeface="Calibri" pitchFamily="34" charset="-120"/>
              </a:rPr>
              <a:t>Read each step; ask which transformation it needs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Name: </a:t>
            </a:r>
            <a:pPr indent="0" marL="0">
              <a:buNone/>
            </a:pPr>
            <a:r>
              <a:rPr lang="en-US" sz="1600" dirty="0">
                <a:solidFill>
                  <a:srgbClr val="18202D"/>
                </a:solidFill>
                <a:latin typeface="Calibri" pitchFamily="34" charset="0"/>
                <a:ea typeface="Calibri" pitchFamily="34" charset="-122"/>
                <a:cs typeface="Calibri" pitchFamily="34" charset="-120"/>
              </a:rPr>
              <a:t>Verb + object, with inputs and outputs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Reuse: </a:t>
            </a:r>
            <a:pPr indent="0" marL="0">
              <a:buNone/>
            </a:pPr>
            <a:r>
              <a:rPr lang="en-US" sz="1600" dirty="0">
                <a:solidFill>
                  <a:srgbClr val="18202D"/>
                </a:solidFill>
                <a:latin typeface="Calibri" pitchFamily="34" charset="0"/>
                <a:ea typeface="Calibri" pitchFamily="34" charset="-122"/>
                <a:cs typeface="Calibri" pitchFamily="34" charset="-120"/>
              </a:rPr>
              <a:t>A step served by an existing function adds no function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Expose: </a:t>
            </a:r>
            <a:pPr indent="0" marL="0">
              <a:buNone/>
            </a:pPr>
            <a:r>
              <a:rPr lang="en-US" sz="1600" dirty="0">
                <a:solidFill>
                  <a:srgbClr val="18202D"/>
                </a:solidFill>
                <a:latin typeface="Calibri" pitchFamily="34" charset="0"/>
                <a:ea typeface="Calibri" pitchFamily="34" charset="-122"/>
                <a:cs typeface="Calibri" pitchFamily="34" charset="-120"/>
              </a:rPr>
              <a:t>A step no function serves is a new function or a gap</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15 capabilities on the left, 17 functions on the right; one capability has a disposition instead of a function.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R20b p.592; R20c p.598; R48c p.146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Functions from capabilities: the coverage check</a:t>
            </a:r>
            <a:endParaRPr lang="en-US" sz="3000" dirty="0"/>
          </a:p>
        </p:txBody>
      </p:sp>
      <p:pic>
        <p:nvPicPr>
          <p:cNvPr id="4" name="Image 0" descr="A two-column graph. Left: CAP-001 to CAP-015. Right: FN-001 to FN-017. Lines join each capability to the functions derived from it. CAP-011 has no line and carries a tag: constraint, no function. A footer reads 12 of 12 system requirements allocat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14 of 15 capabilities served by a function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CAP-011 is a constraint: a disposition, not a function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12 of 12 system requirements allocated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FN-013 serves planning: no requirement, by reason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planes: FN-006 is performed by LOG-002 and allocated to PHY-003; requirements are allocated to both structural planes.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R19 p.571; R20b p.587; R20c p.596;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Logical and physical: two structural views</a:t>
            </a:r>
            <a:endParaRPr lang="en-US" sz="3000" dirty="0"/>
          </a:p>
        </p:txBody>
      </p:sp>
      <p:pic>
        <p:nvPicPr>
          <p:cNvPr id="4" name="Image 0" descr="Three stacked planes labeled functional, logical and physical. In the top plane the box FN-006 Charge aircraft; an arrow down to LOG-002 Fleet Management in the middle plane; another down to PHY-003 Charging Systems in the bottom plane. A side label reads REQ-SYS-001 allocat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Logical: allocated functions, no specific implementation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Physical: the specific implementation of each logical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are allocated to both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Elements include people, procedures and facilities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Eight affinity criteria for grouping and allocating functions; one card is laid on an AeroLink allocation.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p.598; R20c p.599; R20c p.600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Allocation needs a reason: SEBoK’s criteria</a:t>
            </a:r>
            <a:endParaRPr lang="en-US" sz="3000" dirty="0"/>
          </a:p>
        </p:txBody>
      </p:sp>
      <p:pic>
        <p:nvPicPr>
          <p:cNvPr id="4" name="Image 0" descr="A fan of eight cards: similar transformations within the same technology; similar levels of efficiency; exchange of the same type of flow (information, energy or materials); centralized or distributed control; execution at a close frequency level; dependability conditions; environment resistance level; other enterprise constraints. The card for the same type of flow lies face up on an arrow from FN-006 to PHY-003.">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Same transformation, efficiency, flow type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Central or distributed control; frequency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Dependability, environment, enterprise constraints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rule: one sentence per allocation, resting on an ID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wrong paths, requirement straight to a product and function straight to a technology, against the right path through a logical plane.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p.602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Two allocation pitfalls</a:t>
            </a:r>
            <a:endParaRPr lang="en-US" sz="3000" dirty="0"/>
          </a:p>
        </p:txBody>
      </p:sp>
      <p:pic>
        <p:nvPicPr>
          <p:cNvPr id="4" name="Image 0" descr="Left, a red arrow from a requirement box directly to a product box, labeled no logical architecture. Middle, a red arrow from a high-level function directly to a software module box, labeled direct allocation on technologies. Right, a green zig-zag from function to logical element to physical element to technology, labeled alternate logical and physical level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straight to a product: no logical architecture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High-level functions straight onto technologies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Right: alternate logical and physical levels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Four AeroLink allocations in three lanes, each arrow labeled with its criterion; the physical lane carries the Week 3 configuration.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p.598; R20c p.599; R48c p.145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function → logical → physical, with the reason</a:t>
            </a:r>
            <a:endParaRPr lang="en-US" sz="3000" dirty="0"/>
          </a:p>
        </p:txBody>
      </p:sp>
      <p:pic>
        <p:nvPicPr>
          <p:cNvPr id="4" name="Image 0" descr="Three lanes: function, logical element, physical element. Four rows: FN-006 Charge aircraft to LOG-002 to PHY-003, criterion exchange of the same type of flow (information, energy or materials); FN-008 Assess aircraft health to LOG-003 to PHY-005, criterion other enterprise constraints; FN-002 Match request to aircraft to LOG-005 to PHY-004, criterion centralized or distributed control; FN-015 Notify disrupted passengers to LOG-004 to PHY-007, criterion exchange of the same type of flow (information, energy or materials). Under the physical lane header a line reads 16 aircraft, 4 hubs, 8 turnaround chargers.">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Logical: </a:t>
            </a:r>
            <a:pPr indent="0" marL="0">
              <a:buNone/>
            </a:pPr>
            <a:r>
              <a:rPr lang="en-US" sz="1600" dirty="0">
                <a:solidFill>
                  <a:srgbClr val="18202D"/>
                </a:solidFill>
                <a:latin typeface="Calibri" pitchFamily="34" charset="0"/>
                <a:ea typeface="Calibri" pitchFamily="34" charset="-122"/>
                <a:cs typeface="Calibri" pitchFamily="34" charset="-120"/>
              </a:rPr>
              <a:t>Which technology-independent element performs it?</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Physical: </a:t>
            </a:r>
            <a:pPr indent="0" marL="0">
              <a:buNone/>
            </a:pPr>
            <a:r>
              <a:rPr lang="en-US" sz="1600" dirty="0">
                <a:solidFill>
                  <a:srgbClr val="18202D"/>
                </a:solidFill>
                <a:latin typeface="Calibri" pitchFamily="34" charset="0"/>
                <a:ea typeface="Calibri" pitchFamily="34" charset="-122"/>
                <a:cs typeface="Calibri" pitchFamily="34" charset="-120"/>
              </a:rPr>
              <a:t>Which element implements that, in the Week 3 configuration?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Criterion: </a:t>
            </a:r>
            <a:pPr indent="0" marL="0">
              <a:buNone/>
            </a:pPr>
            <a:r>
              <a:rPr lang="en-US" sz="1600" dirty="0">
                <a:solidFill>
                  <a:srgbClr val="18202D"/>
                </a:solidFill>
                <a:latin typeface="Calibri" pitchFamily="34" charset="0"/>
                <a:ea typeface="Calibri" pitchFamily="34" charset="-122"/>
                <a:cs typeface="Calibri" pitchFamily="34" charset="-120"/>
              </a:rPr>
              <a:t>Name the affinity and the ID it rests 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Check: </a:t>
            </a:r>
            <a:pPr indent="0" marL="0">
              <a:buNone/>
            </a:pPr>
            <a:r>
              <a:rPr lang="en-US" sz="1600" dirty="0">
                <a:solidFill>
                  <a:srgbClr val="18202D"/>
                </a:solidFill>
                <a:latin typeface="Calibri" pitchFamily="34" charset="0"/>
                <a:ea typeface="Calibri" pitchFamily="34" charset="-122"/>
                <a:cs typeface="Calibri" pitchFamily="34" charset="-120"/>
              </a:rPr>
              <a:t>The physical element is one the logical element reaches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DEC-002: the question, three alternatives with the chosen one ticked, the rationale and the three tests.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R48c p.146; R20b p.591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Recording an architecture decision</a:t>
            </a:r>
            <a:endParaRPr lang="en-US" sz="3000" dirty="0"/>
          </a:p>
        </p:txBody>
      </p:sp>
      <p:pic>
        <p:nvPicPr>
          <p:cNvPr id="4" name="Image 0" descr="A decision card headed DEC-002. Question: Where should scheduling and dispatch run, at each vertiport or on one operations platform, and how is that platform kept running and protected? Three alternatives: Distributed dispatch at each vertiport; One operations platform without standby; One operations platform with a hot standby, the last ticked. Rationale strip. Three test rows: NEED-001, supports; R-007, mitigated by the hot standby and the manual procedure; R-009, condition: the booking front end stays separated from dispatch, and every assignment is integrity-check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Question, alternatives, choice, rationale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Tested against the needs and risks it touches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Conditions and what would reverse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Decisions create derived requirements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physical elements tinted by owner, with the organizational agreements between owners.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p.345;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enterprise view: owners and agreements</a:t>
            </a:r>
            <a:endParaRPr lang="en-US" sz="3000" dirty="0"/>
          </a:p>
        </p:txBody>
      </p:sp>
      <p:pic>
        <p:nvPicPr>
          <p:cNvPr id="4" name="Image 0" descr="Physical element boxes in two tinted panels. AeroLink owns PHY-001, PHY-004, PHY-005, PHY-006, PHY-007. Vertiport operators own PHY-002, PHY-003, PHY-008. Three outside parties stand below: electric utility, aircraft manufacturer, insurers. Dashed double lines, each labeled, show the agreements: AG-1 Pad-slot and ground-handling agreement between AeroLink and Vertiport operators; AG-2 Work-order handover procedure between Operations Center and Maintenance Facility; AG-3 Grid connection agreement between Vertiport operators and Electric utility; AG-4 Aircraft purchase agreement between AeroLink and Aircraft manufacturer; AG-5 Insurance evidence agreement between AeroLink and Insurer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owns 5; vertiport operators own 3</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Agreements record duties; they carry no data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As-is and to-be views show migration paths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Enterprise elements: organizations, departments, teams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Stakeholder requirements and requirements analysis feed architecture design; its output is the allocated baseline, with derived requirements fed back.</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R48c p.144; R48c p.145; R48c p.146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process frame: the DoD Architecture Design process</a:t>
            </a:r>
            <a:endParaRPr lang="en-US" sz="3000" dirty="0"/>
          </a:p>
        </p:txBody>
      </p:sp>
      <p:pic>
        <p:nvPicPr>
          <p:cNvPr id="4" name="Image 0" descr="A left-to-right flow: stakeholder requirements definition, requirements analysis, architecture design, allocated baseline. A side arrow from architecture design back to requirements labeled derived requirements. Under architecture design two tags: functional architecture in the functional baseline; physical architecture in the allocated and product baselines.">    </p:cNvPr>
          <p:cNvPicPr>
            <a:picLocks noChangeAspect="1"/>
          </p:cNvPicPr>
          <p:nvPr/>
        </p:nvPicPr>
        <p:blipFill>
          <a:blip r:embed="rId1"/>
          <a:stretch>
            <a:fillRect/>
          </a:stretch>
        </p:blipFill>
        <p:spPr>
          <a:xfrm>
            <a:off x="548640" y="1760155"/>
            <a:ext cx="6379289" cy="3451229"/>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Translates requirements into alternative design solutions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Functions allocated to hardware, software, facilities and people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Derived requirements come from solution decisions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Output: the allocated baseline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one function, one reason; preparation for Session 2</a:t>
            </a:r>
            <a:endParaRPr lang="en-US" sz="3000" dirty="0"/>
          </a:p>
        </p:txBody>
      </p:sp>
      <p:sp>
        <p:nvSpPr>
          <p:cNvPr id="3" name="Shape 1"/>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4" name="Text 2"/>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Name one function of your enterprise, verb and object, and the criterion you would use to allocate it.</a:t>
            </a:r>
            <a:endParaRPr lang="en-US" sz="1200" dirty="0"/>
          </a:p>
        </p:txBody>
      </p:sp>
      <p:sp>
        <p:nvSpPr>
          <p:cNvPr id="5" name="Text 3"/>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(about 15 min):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List three decisions your enterprise makes every day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the information it needs, and where it comes from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R04 · SEBoK v2.14 (2026), “Principles of Systems Thinking”, p.275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p.557, 561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R19 · SEBoK v2.14 (2026), “System Architecture Design Definition”, p.569–571, 573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R20a · SEBoK v2.14 (2026), “Functional Architecture”, p.580–582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R20b · SEBoK v2.14 (2026), “Logical Architecture”, p.587, 591–594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R20c · SEBoK v2.14 (2026), “Physical Architecture”, p.596–600, 602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R39t · SEBoK v2.14 (2026), “Architecture (glossary)”, p.1445</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R39u · SEBoK v2.14 (2026), “Architecture Framework (glossary)”, p.1446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R39v · SEBoK v2.14 (2026), “View (glossary)”, p.1677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R39w · SEBoK v2.14 (2026), “Viewpoint (glossary)”, p.1678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R39x · SEBoK v2.14 (2026), “Function (glossary)”, p.1510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R48c · OUSD(R&amp;E) Systems Engineering Guidebook (2021/2022), “Architecture Design Process”, p.144–146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R62 · The MITRE Systems Engineering Guide (2014), “Architectural Frameworks, Models, and Views”, p.341–342, 344–346</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4, Session 1: Architecture / Information View</dc:title>
  <dc:subject>Systems Thinking and MBSE with SysML v2</dc:subject>
  <dc:creator>SysML Learning Studio (generated)</dc:creator>
  <cp:lastModifiedBy>SysML Learning Studio (generated)</cp:lastModifiedBy>
  <cp:revision>1</cp:revision>
  <dcterms:created xsi:type="dcterms:W3CDTF">2026-10-29T03:16:55Z</dcterms:created>
  <dcterms:modified xsi:type="dcterms:W3CDTF">2026-10-29T03:16:55Z</dcterms:modified>
</cp:coreProperties>
</file>