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notesMasterIdLst>
    <p:notesMasterId r:id="rId2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notesMaster" Target="notesMasters/notesMaster1.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p>
          <a:p>
            <a:r>
              <a:rPr lang="en-US" dirty="0"/>
              <a:t/>
            </a:r>
          </a:p>
          <a:p>
            <a:r>
              <a:rPr lang="en-US" dirty="0"/>
              <a:t/>
            </a:r>
          </a:p>
          <a:p>
            <a:endParaRPr lang="en-US" dirty="0"/>
          </a:p>
          <a:p>
            <a:r>
              <a:rPr lang="en-US" dirty="0" b="1"/>
              <a:t/>
            </a:r>
          </a:p>
          <a:p>
            <a:r>
              <a:rPr lang="en-US" dirty="0"/>
              <a:t/>
            </a:r>
          </a:p>
          <a:p>
            <a:r>
              <a:rPr lang="en-US" dirty="0"/>
              <a:t/>
            </a:r>
          </a:p>
          <a:p>
            <a:endParaRPr lang="en-US" dirty="0"/>
          </a:p>
          <a:p>
            <a:r>
              <a:rPr lang="en-US" dirty="0" b="1"/>
              <a:t/>
            </a:r>
            <a:r>
              <a:rPr lang="en-US" dirty="0"/>
              <a:t/>
            </a:r>
          </a:p>
          <a:p>
            <a:endParaRPr lang="en-US" dirty="0"/>
          </a:p>
          <a:p>
            <a:r>
              <a:rPr lang="en-US" dirty="0" b="1"/>
              <a:t/>
            </a:r>
          </a:p>
          <a:p>
            <a:r>
              <a:rPr lang="en-US" dirty="0"/>
              <a:t/>
            </a:r>
          </a:p>
          <a:p>
            <a:r>
              <a:rPr lang="en-US" dirty="0"/>
              <a:t/>
            </a:r>
          </a:p>
          <a:p>
            <a:endParaRPr lang="en-US" dirty="0"/>
          </a:p>
          <a:p>
            <a:r>
              <a:rPr lang="en-US" dirty="0" b="1"/>
              <a:t/>
            </a:r>
          </a:p>
          <a:p>
            <a:r>
              <a:rPr lang="en-US" dirty="0"/>
              <a:t/>
            </a:r>
          </a:p>
          <a:p>
            <a:endParaRPr lang="en-US" dirty="0"/>
          </a:p>
          <a:p>
            <a:r>
              <a:rPr lang="en-US" dirty="0" b="1"/>
              <a:t/>
            </a:r>
            <a:r>
              <a:rPr lang="en-US" dirty="0"/>
              <a:t/>
            </a:r>
          </a:p>
        </p:txBody>
      </p:sp>
      <p:sp>
        <p:nvSpPr>
          <p:cNvPr id="4" name="Slide Number Placeholder 3"/>
          <p:cNvSpPr>
            <a:spLocks noGrp="1"/>
          </p:cNvSpPr>
          <p:nvPr>
            <p:ph type="sldNum" sz="quarter" idx="10"/>
          </p:nvPr>
        </p:nvSpPr>
        <p:spPr/>
        <p:txBody>
          <a:bodyPr/>
          <a:lstStyle/>
          <a:p>
            <a:fld id="{F7021451-1387-4CA6-816F-3879F97B5CBC}" type="slidenum">
              <a:rPr lang="en-US"/>
              <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p>
          <a:p>
            <a:r>
              <a:rPr lang="en-US" dirty="0"/>
              <a:t/>
            </a:r>
          </a:p>
          <a:p>
            <a:r>
              <a:rPr lang="en-US" dirty="0"/>
              <a:t/>
            </a:r>
          </a:p>
          <a:p>
            <a:endParaRPr lang="en-US" dirty="0"/>
          </a:p>
          <a:p>
            <a:r>
              <a:rPr lang="en-US" dirty="0" b="1"/>
              <a:t/>
            </a:r>
          </a:p>
          <a:p>
            <a:r>
              <a:rPr lang="en-US" dirty="0"/>
              <a:t/>
            </a:r>
          </a:p>
          <a:p>
            <a:r>
              <a:rPr lang="en-US" dirty="0"/>
              <a:t/>
            </a:r>
          </a:p>
          <a:p>
            <a:r>
              <a:rPr lang="en-US" dirty="0"/>
              <a:t/>
            </a:r>
          </a:p>
          <a:p>
            <a:endParaRPr lang="en-US" dirty="0"/>
          </a:p>
          <a:p>
            <a:r>
              <a:rPr lang="en-US" dirty="0" b="1"/>
              <a:t/>
            </a:r>
            <a:r>
              <a:rPr lang="en-US" dirty="0"/>
              <a:t/>
            </a:r>
          </a:p>
          <a:p>
            <a:endParaRPr lang="en-US" dirty="0"/>
          </a:p>
          <a:p>
            <a:r>
              <a:rPr lang="en-US" dirty="0" b="1"/>
              <a:t/>
            </a:r>
            <a:r>
              <a:rPr lang="en-US" dirty="0"/>
              <a:t/>
            </a:r>
          </a:p>
          <a:p>
            <a:endParaRPr lang="en-US" dirty="0"/>
          </a:p>
          <a:p>
            <a:r>
              <a:rPr lang="en-US" dirty="0" b="1"/>
              <a:t/>
            </a:r>
          </a:p>
          <a:p>
            <a:r>
              <a:rPr lang="en-US" dirty="0"/>
              <a:t/>
            </a:r>
          </a:p>
          <a:p>
            <a:endParaRPr lang="en-US" dirty="0"/>
          </a:p>
          <a:p>
            <a:r>
              <a:rPr lang="en-US" dirty="0" b="1"/>
              <a:t/>
            </a:r>
          </a:p>
          <a:p>
            <a:r>
              <a:rPr lang="en-US" dirty="0"/>
              <a:t/>
            </a:r>
          </a:p>
          <a:p>
            <a:endParaRPr lang="en-US" dirty="0"/>
          </a:p>
          <a:p>
            <a:r>
              <a:rPr lang="en-US" dirty="0" b="1"/>
              <a:t/>
            </a:r>
            <a:r>
              <a:rPr lang="en-US" dirty="0"/>
              <a:t/>
            </a:r>
          </a:p>
        </p:txBody>
      </p:sp>
      <p:sp>
        <p:nvSpPr>
          <p:cNvPr id="4" name="Slide Number Placeholder 3"/>
          <p:cNvSpPr>
            <a:spLocks noGrp="1"/>
          </p:cNvSpPr>
          <p:nvPr>
            <p:ph type="sldNum" sz="quarter" idx="10"/>
          </p:nvPr>
        </p:nvSpPr>
        <p:spPr/>
        <p:txBody>
          <a:bodyPr/>
          <a:lstStyle/>
          <a:p>
            <a:fld id="{F7021451-1387-4CA6-816F-3879F97B5CBC}" type="slidenum">
              <a:rPr lang="en-US"/>
              <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p>
          <a:p>
            <a:r>
              <a:rPr lang="en-US" dirty="0"/>
              <a:t/>
            </a:r>
          </a:p>
          <a:p>
            <a:r>
              <a:rPr lang="en-US" dirty="0"/>
              <a:t/>
            </a:r>
          </a:p>
          <a:p>
            <a:endParaRPr lang="en-US" dirty="0"/>
          </a:p>
          <a:p>
            <a:r>
              <a:rPr lang="en-US" dirty="0" b="1"/>
              <a:t/>
            </a:r>
          </a:p>
          <a:p>
            <a:r>
              <a:rPr lang="en-US" dirty="0"/>
              <a:t/>
            </a:r>
          </a:p>
          <a:p>
            <a:r>
              <a:rPr lang="en-US" dirty="0"/>
              <a:t/>
            </a:r>
          </a:p>
          <a:p>
            <a:r>
              <a:rPr lang="en-US" dirty="0"/>
              <a:t/>
            </a:r>
          </a:p>
          <a:p>
            <a:endParaRPr lang="en-US" dirty="0"/>
          </a:p>
          <a:p>
            <a:r>
              <a:rPr lang="en-US" dirty="0" b="1"/>
              <a:t/>
            </a:r>
            <a:r>
              <a:rPr lang="en-US" dirty="0"/>
              <a:t/>
            </a:r>
          </a:p>
          <a:p>
            <a:endParaRPr lang="en-US" dirty="0"/>
          </a:p>
          <a:p>
            <a:r>
              <a:rPr lang="en-US" dirty="0" b="1"/>
              <a:t/>
            </a:r>
            <a:r>
              <a:rPr lang="en-US" dirty="0"/>
              <a:t/>
            </a:r>
          </a:p>
          <a:p>
            <a:endParaRPr lang="en-US" dirty="0"/>
          </a:p>
          <a:p>
            <a:r>
              <a:rPr lang="en-US" dirty="0" b="1"/>
              <a:t/>
            </a:r>
          </a:p>
          <a:p>
            <a:r>
              <a:rPr lang="en-US" dirty="0"/>
              <a:t/>
            </a:r>
          </a:p>
          <a:p>
            <a:endParaRPr lang="en-US" dirty="0"/>
          </a:p>
          <a:p>
            <a:r>
              <a:rPr lang="en-US" dirty="0" b="1"/>
              <a:t/>
            </a:r>
            <a:r>
              <a:rPr lang="en-US" dirty="0"/>
              <a:t/>
            </a:r>
          </a:p>
          <a:p>
            <a:endParaRPr lang="en-US" dirty="0"/>
          </a:p>
          <a:p>
            <a:r>
              <a:rPr lang="en-US" dirty="0" b="1"/>
              <a:t/>
            </a:r>
          </a:p>
          <a:p>
            <a:r>
              <a:rPr lang="en-US" dirty="0"/>
              <a:t/>
            </a:r>
          </a:p>
          <a:p>
            <a:r>
              <a:rPr lang="en-US" dirty="0"/>
              <a:t/>
            </a:r>
          </a:p>
        </p:txBody>
      </p:sp>
      <p:sp>
        <p:nvSpPr>
          <p:cNvPr id="4" name="Slide Number Placeholder 3"/>
          <p:cNvSpPr>
            <a:spLocks noGrp="1"/>
          </p:cNvSpPr>
          <p:nvPr>
            <p:ph type="sldNum" sz="quarter" idx="10"/>
          </p:nvPr>
        </p:nvSpPr>
        <p:spPr/>
        <p:txBody>
          <a:bodyPr/>
          <a:lstStyle/>
          <a:p>
            <a:fld id="{F7021451-1387-4CA6-816F-3879F97B5CBC}" type="slidenum">
              <a:rPr lang="en-US"/>
              <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p>
          <a:p>
            <a:r>
              <a:rPr lang="en-US" dirty="0"/>
              <a:t/>
            </a:r>
          </a:p>
          <a:p>
            <a:r>
              <a:rPr lang="en-US" dirty="0"/>
              <a:t/>
            </a:r>
          </a:p>
          <a:p>
            <a:endParaRPr lang="en-US" dirty="0"/>
          </a:p>
          <a:p>
            <a:r>
              <a:rPr lang="en-US" dirty="0" b="1"/>
              <a:t/>
            </a:r>
          </a:p>
          <a:p>
            <a:r>
              <a:rPr lang="en-US" dirty="0"/>
              <a:t/>
            </a:r>
          </a:p>
          <a:p>
            <a:r>
              <a:rPr lang="en-US" dirty="0"/>
              <a:t/>
            </a:r>
          </a:p>
          <a:p>
            <a:r>
              <a:rPr lang="en-US" dirty="0"/>
              <a:t/>
            </a:r>
          </a:p>
          <a:p>
            <a:endParaRPr lang="en-US" dirty="0"/>
          </a:p>
          <a:p>
            <a:r>
              <a:rPr lang="en-US" dirty="0" b="1"/>
              <a:t/>
            </a:r>
            <a:r>
              <a:rPr lang="en-US" dirty="0"/>
              <a:t/>
            </a:r>
          </a:p>
          <a:p>
            <a:endParaRPr lang="en-US" dirty="0"/>
          </a:p>
          <a:p>
            <a:r>
              <a:rPr lang="en-US" dirty="0" b="1"/>
              <a:t/>
            </a:r>
            <a:r>
              <a:rPr lang="en-US" dirty="0"/>
              <a:t/>
            </a:r>
          </a:p>
          <a:p>
            <a:endParaRPr lang="en-US" dirty="0"/>
          </a:p>
          <a:p>
            <a:r>
              <a:rPr lang="en-US" dirty="0" b="1"/>
              <a:t/>
            </a:r>
          </a:p>
          <a:p>
            <a:r>
              <a:rPr lang="en-US" dirty="0"/>
              <a:t/>
            </a:r>
          </a:p>
          <a:p>
            <a:endParaRPr lang="en-US" dirty="0"/>
          </a:p>
          <a:p>
            <a:r>
              <a:rPr lang="en-US" dirty="0" b="1"/>
              <a:t/>
            </a:r>
            <a:r>
              <a:rPr lang="en-US" dirty="0"/>
              <a:t/>
            </a:r>
          </a:p>
          <a:p>
            <a:endParaRPr lang="en-US" dirty="0"/>
          </a:p>
          <a:p>
            <a:r>
              <a:rPr lang="en-US" dirty="0" b="1"/>
              <a:t/>
            </a:r>
          </a:p>
          <a:p>
            <a:r>
              <a:rPr lang="en-US" dirty="0"/>
              <a:t/>
            </a:r>
          </a:p>
          <a:p>
            <a:r>
              <a:rPr lang="en-US" dirty="0"/>
              <a:t/>
            </a:r>
          </a:p>
        </p:txBody>
      </p:sp>
      <p:sp>
        <p:nvSpPr>
          <p:cNvPr id="4" name="Slide Number Placeholder 3"/>
          <p:cNvSpPr>
            <a:spLocks noGrp="1"/>
          </p:cNvSpPr>
          <p:nvPr>
            <p:ph type="sldNum" sz="quarter" idx="10"/>
          </p:nvPr>
        </p:nvSpPr>
        <p:spPr/>
        <p:txBody>
          <a:bodyPr/>
          <a:lstStyle/>
          <a:p>
            <a:fld id="{F7021451-1387-4CA6-816F-3879F97B5CBC}" type="slidenum">
              <a:rPr lang="en-US"/>
              <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p>
          <a:p>
            <a:r>
              <a:rPr lang="en-US" dirty="0"/>
              <a:t/>
            </a:r>
          </a:p>
          <a:p>
            <a:r>
              <a:rPr lang="en-US" dirty="0"/>
              <a:t/>
            </a:r>
          </a:p>
          <a:p>
            <a:endParaRPr lang="en-US" dirty="0"/>
          </a:p>
          <a:p>
            <a:r>
              <a:rPr lang="en-US" dirty="0" b="1"/>
              <a:t/>
            </a:r>
          </a:p>
          <a:p>
            <a:r>
              <a:rPr lang="en-US" dirty="0"/>
              <a:t/>
            </a:r>
          </a:p>
          <a:p>
            <a:r>
              <a:rPr lang="en-US" dirty="0"/>
              <a:t/>
            </a:r>
          </a:p>
          <a:p>
            <a:r>
              <a:rPr lang="en-US" dirty="0"/>
              <a:t/>
            </a:r>
          </a:p>
          <a:p>
            <a:endParaRPr lang="en-US" dirty="0"/>
          </a:p>
          <a:p>
            <a:r>
              <a:rPr lang="en-US" dirty="0" b="1"/>
              <a:t/>
            </a:r>
            <a:r>
              <a:rPr lang="en-US" dirty="0"/>
              <a:t/>
            </a:r>
          </a:p>
          <a:p>
            <a:endParaRPr lang="en-US" dirty="0"/>
          </a:p>
          <a:p>
            <a:r>
              <a:rPr lang="en-US" dirty="0" b="1"/>
              <a:t/>
            </a:r>
            <a:r>
              <a:rPr lang="en-US" dirty="0"/>
              <a:t/>
            </a:r>
          </a:p>
          <a:p>
            <a:endParaRPr lang="en-US" dirty="0"/>
          </a:p>
          <a:p>
            <a:r>
              <a:rPr lang="en-US" dirty="0" b="1"/>
              <a:t/>
            </a:r>
          </a:p>
          <a:p>
            <a:r>
              <a:rPr lang="en-US" dirty="0"/>
              <a:t/>
            </a:r>
          </a:p>
          <a:p>
            <a:endParaRPr lang="en-US" dirty="0"/>
          </a:p>
          <a:p>
            <a:r>
              <a:rPr lang="en-US" dirty="0" b="1"/>
              <a:t/>
            </a:r>
            <a:r>
              <a:rPr lang="en-US" dirty="0"/>
              <a:t/>
            </a:r>
          </a:p>
          <a:p>
            <a:endParaRPr lang="en-US" dirty="0"/>
          </a:p>
          <a:p>
            <a:r>
              <a:rPr lang="en-US" dirty="0" b="1"/>
              <a:t/>
            </a:r>
          </a:p>
          <a:p>
            <a:r>
              <a:rPr lang="en-US" dirty="0"/>
              <a:t/>
            </a:r>
          </a:p>
          <a:p>
            <a:r>
              <a:rPr lang="en-US" dirty="0"/>
              <a:t/>
            </a:r>
          </a:p>
          <a:p>
            <a:r>
              <a:rPr lang="en-US" dirty="0"/>
              <a:t/>
            </a:r>
          </a:p>
          <a:p>
            <a:r>
              <a:rPr lang="en-US" dirty="0"/>
              <a:t/>
            </a:r>
          </a:p>
        </p:txBody>
      </p:sp>
      <p:sp>
        <p:nvSpPr>
          <p:cNvPr id="4" name="Slide Number Placeholder 3"/>
          <p:cNvSpPr>
            <a:spLocks noGrp="1"/>
          </p:cNvSpPr>
          <p:nvPr>
            <p:ph type="sldNum" sz="quarter" idx="10"/>
          </p:nvPr>
        </p:nvSpPr>
        <p:spPr/>
        <p:txBody>
          <a:bodyPr/>
          <a:lstStyle/>
          <a:p>
            <a:fld id="{F7021451-1387-4CA6-816F-3879F97B5CBC}" type="slidenum">
              <a:rPr lang="en-US"/>
              <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p>
          <a:p>
            <a:r>
              <a:rPr lang="en-US" dirty="0"/>
              <a:t/>
            </a:r>
          </a:p>
          <a:p>
            <a:r>
              <a:rPr lang="en-US" dirty="0"/>
              <a:t/>
            </a:r>
          </a:p>
          <a:p>
            <a:endParaRPr lang="en-US" dirty="0"/>
          </a:p>
          <a:p>
            <a:r>
              <a:rPr lang="en-US" dirty="0" b="1"/>
              <a:t/>
            </a:r>
          </a:p>
          <a:p>
            <a:r>
              <a:rPr lang="en-US" dirty="0"/>
              <a:t/>
            </a:r>
          </a:p>
          <a:p>
            <a:r>
              <a:rPr lang="en-US" dirty="0"/>
              <a:t/>
            </a:r>
          </a:p>
          <a:p>
            <a:r>
              <a:rPr lang="en-US" dirty="0"/>
              <a:t/>
            </a:r>
          </a:p>
          <a:p>
            <a:endParaRPr lang="en-US" dirty="0"/>
          </a:p>
          <a:p>
            <a:r>
              <a:rPr lang="en-US" dirty="0" b="1"/>
              <a:t/>
            </a:r>
            <a:r>
              <a:rPr lang="en-US" dirty="0"/>
              <a:t/>
            </a:r>
          </a:p>
          <a:p>
            <a:endParaRPr lang="en-US" dirty="0"/>
          </a:p>
          <a:p>
            <a:r>
              <a:rPr lang="en-US" dirty="0" b="1"/>
              <a:t/>
            </a:r>
          </a:p>
          <a:p>
            <a:r>
              <a:rPr lang="en-US" dirty="0"/>
              <a:t/>
            </a:r>
          </a:p>
          <a:p>
            <a:r>
              <a:rPr lang="en-US" dirty="0"/>
              <a:t/>
            </a:r>
          </a:p>
          <a:p>
            <a:endParaRPr lang="en-US" dirty="0"/>
          </a:p>
          <a:p>
            <a:r>
              <a:rPr lang="en-US" dirty="0" b="1"/>
              <a:t/>
            </a:r>
            <a:r>
              <a:rPr lang="en-US" dirty="0"/>
              <a:t/>
            </a:r>
          </a:p>
          <a:p>
            <a:endParaRPr lang="en-US" dirty="0"/>
          </a:p>
          <a:p>
            <a:r>
              <a:rPr lang="en-US" dirty="0" b="1"/>
              <a:t/>
            </a:r>
          </a:p>
          <a:p>
            <a:r>
              <a:rPr lang="en-US" dirty="0"/>
              <a:t/>
            </a:r>
          </a:p>
          <a:p>
            <a:r>
              <a:rPr lang="en-US" dirty="0"/>
              <a:t/>
            </a:r>
          </a:p>
          <a:p>
            <a:r>
              <a:rPr lang="en-US" dirty="0"/>
              <a:t/>
            </a:r>
          </a:p>
          <a:p>
            <a:r>
              <a:rPr lang="en-US" dirty="0"/>
              <a:t/>
            </a:r>
          </a:p>
          <a:p>
            <a:r>
              <a:rPr lang="en-US" dirty="0"/>
              <a:t/>
            </a:r>
          </a:p>
        </p:txBody>
      </p:sp>
      <p:sp>
        <p:nvSpPr>
          <p:cNvPr id="4" name="Slide Number Placeholder 3"/>
          <p:cNvSpPr>
            <a:spLocks noGrp="1"/>
          </p:cNvSpPr>
          <p:nvPr>
            <p:ph type="sldNum" sz="quarter" idx="10"/>
          </p:nvPr>
        </p:nvSpPr>
        <p:spPr/>
        <p:txBody>
          <a:bodyPr/>
          <a:lstStyle/>
          <a:p>
            <a:fld id="{F7021451-1387-4CA6-816F-3879F97B5CBC}" type="slidenum">
              <a:rPr lang="en-US"/>
              <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p>
          <a:p>
            <a:r>
              <a:rPr lang="en-US" dirty="0"/>
              <a:t/>
            </a:r>
          </a:p>
          <a:p>
            <a:r>
              <a:rPr lang="en-US" dirty="0"/>
              <a:t/>
            </a:r>
          </a:p>
          <a:p>
            <a:endParaRPr lang="en-US" dirty="0"/>
          </a:p>
          <a:p>
            <a:r>
              <a:rPr lang="en-US" dirty="0" b="1"/>
              <a:t/>
            </a:r>
          </a:p>
          <a:p>
            <a:r>
              <a:rPr lang="en-US" dirty="0"/>
              <a:t/>
            </a:r>
          </a:p>
          <a:p>
            <a:r>
              <a:rPr lang="en-US" dirty="0"/>
              <a:t/>
            </a:r>
          </a:p>
          <a:p>
            <a:r>
              <a:rPr lang="en-US" dirty="0"/>
              <a:t/>
            </a:r>
          </a:p>
          <a:p>
            <a:endParaRPr lang="en-US" dirty="0"/>
          </a:p>
          <a:p>
            <a:r>
              <a:rPr lang="en-US" dirty="0" b="1"/>
              <a:t/>
            </a:r>
            <a:r>
              <a:rPr lang="en-US" dirty="0"/>
              <a:t/>
            </a:r>
          </a:p>
          <a:p>
            <a:endParaRPr lang="en-US" dirty="0"/>
          </a:p>
          <a:p>
            <a:r>
              <a:rPr lang="en-US" dirty="0" b="1"/>
              <a:t/>
            </a:r>
            <a:r>
              <a:rPr lang="en-US" dirty="0"/>
              <a:t/>
            </a:r>
          </a:p>
          <a:p>
            <a:endParaRPr lang="en-US" dirty="0"/>
          </a:p>
          <a:p>
            <a:r>
              <a:rPr lang="en-US" dirty="0" b="1"/>
              <a:t/>
            </a:r>
          </a:p>
          <a:p>
            <a:r>
              <a:rPr lang="en-US" dirty="0"/>
              <a:t/>
            </a:r>
          </a:p>
          <a:p>
            <a:endParaRPr lang="en-US" dirty="0"/>
          </a:p>
          <a:p>
            <a:r>
              <a:rPr lang="en-US" dirty="0" b="1"/>
              <a:t/>
            </a:r>
            <a:r>
              <a:rPr lang="en-US" dirty="0"/>
              <a:t/>
            </a:r>
          </a:p>
          <a:p>
            <a:endParaRPr lang="en-US" dirty="0"/>
          </a:p>
          <a:p>
            <a:r>
              <a:rPr lang="en-US" dirty="0" b="1"/>
              <a:t/>
            </a:r>
          </a:p>
          <a:p>
            <a:r>
              <a:rPr lang="en-US" dirty="0"/>
              <a:t/>
            </a:r>
          </a:p>
          <a:p>
            <a:r>
              <a:rPr lang="en-US" dirty="0"/>
              <a:t/>
            </a:r>
          </a:p>
          <a:p>
            <a:r>
              <a:rPr lang="en-US" dirty="0"/>
              <a:t/>
            </a:r>
          </a:p>
          <a:p>
            <a:r>
              <a:rPr lang="en-US" dirty="0"/>
              <a:t/>
            </a:r>
          </a:p>
        </p:txBody>
      </p:sp>
      <p:sp>
        <p:nvSpPr>
          <p:cNvPr id="4" name="Slide Number Placeholder 3"/>
          <p:cNvSpPr>
            <a:spLocks noGrp="1"/>
          </p:cNvSpPr>
          <p:nvPr>
            <p:ph type="sldNum" sz="quarter" idx="10"/>
          </p:nvPr>
        </p:nvSpPr>
        <p:spPr/>
        <p:txBody>
          <a:bodyPr/>
          <a:lstStyle/>
          <a:p>
            <a:fld id="{F7021451-1387-4CA6-816F-3879F97B5CBC}" type="slidenum">
              <a:rPr lang="en-US"/>
              <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p>
          <a:p>
            <a:r>
              <a:rPr lang="en-US" dirty="0"/>
              <a:t/>
            </a:r>
          </a:p>
          <a:p>
            <a:r>
              <a:rPr lang="en-US" dirty="0"/>
              <a:t/>
            </a:r>
          </a:p>
          <a:p>
            <a:endParaRPr lang="en-US" dirty="0"/>
          </a:p>
          <a:p>
            <a:r>
              <a:rPr lang="en-US" dirty="0" b="1"/>
              <a:t/>
            </a:r>
          </a:p>
          <a:p>
            <a:r>
              <a:rPr lang="en-US" dirty="0"/>
              <a:t/>
            </a:r>
          </a:p>
          <a:p>
            <a:r>
              <a:rPr lang="en-US" dirty="0"/>
              <a:t/>
            </a:r>
          </a:p>
          <a:p>
            <a:r>
              <a:rPr lang="en-US" dirty="0"/>
              <a:t/>
            </a:r>
          </a:p>
          <a:p>
            <a:endParaRPr lang="en-US" dirty="0"/>
          </a:p>
          <a:p>
            <a:r>
              <a:rPr lang="en-US" dirty="0" b="1"/>
              <a:t/>
            </a:r>
            <a:r>
              <a:rPr lang="en-US" dirty="0"/>
              <a:t/>
            </a:r>
          </a:p>
          <a:p>
            <a:endParaRPr lang="en-US" dirty="0"/>
          </a:p>
          <a:p>
            <a:r>
              <a:rPr lang="en-US" dirty="0" b="1"/>
              <a:t/>
            </a:r>
            <a:r>
              <a:rPr lang="en-US" dirty="0"/>
              <a:t/>
            </a:r>
          </a:p>
          <a:p>
            <a:endParaRPr lang="en-US" dirty="0"/>
          </a:p>
          <a:p>
            <a:r>
              <a:rPr lang="en-US" dirty="0" b="1"/>
              <a:t/>
            </a:r>
          </a:p>
          <a:p>
            <a:r>
              <a:rPr lang="en-US" dirty="0"/>
              <a:t/>
            </a:r>
          </a:p>
          <a:p>
            <a:endParaRPr lang="en-US" dirty="0"/>
          </a:p>
          <a:p>
            <a:r>
              <a:rPr lang="en-US" dirty="0" b="1"/>
              <a:t/>
            </a:r>
            <a:r>
              <a:rPr lang="en-US" dirty="0"/>
              <a:t/>
            </a:r>
          </a:p>
          <a:p>
            <a:endParaRPr lang="en-US" dirty="0"/>
          </a:p>
          <a:p>
            <a:r>
              <a:rPr lang="en-US" dirty="0" b="1"/>
              <a:t/>
            </a:r>
          </a:p>
          <a:p>
            <a:r>
              <a:rPr lang="en-US" dirty="0"/>
              <a:t/>
            </a:r>
          </a:p>
        </p:txBody>
      </p:sp>
      <p:sp>
        <p:nvSpPr>
          <p:cNvPr id="4" name="Slide Number Placeholder 3"/>
          <p:cNvSpPr>
            <a:spLocks noGrp="1"/>
          </p:cNvSpPr>
          <p:nvPr>
            <p:ph type="sldNum" sz="quarter" idx="10"/>
          </p:nvPr>
        </p:nvSpPr>
        <p:spPr/>
        <p:txBody>
          <a:bodyPr/>
          <a:lstStyle/>
          <a:p>
            <a:fld id="{F7021451-1387-4CA6-816F-3879F97B5CBC}" type="slidenum">
              <a:rPr lang="en-US"/>
              <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p>
          <a:p>
            <a:r>
              <a:rPr lang="en-US" dirty="0"/>
              <a:t/>
            </a:r>
          </a:p>
          <a:p>
            <a:r>
              <a:rPr lang="en-US" dirty="0"/>
              <a:t/>
            </a:r>
          </a:p>
          <a:p>
            <a:endParaRPr lang="en-US" dirty="0"/>
          </a:p>
          <a:p>
            <a:r>
              <a:rPr lang="en-US" dirty="0" b="1"/>
              <a:t/>
            </a:r>
          </a:p>
          <a:p>
            <a:r>
              <a:rPr lang="en-US" dirty="0"/>
              <a:t/>
            </a:r>
          </a:p>
          <a:p>
            <a:r>
              <a:rPr lang="en-US" dirty="0"/>
              <a:t/>
            </a:r>
          </a:p>
          <a:p>
            <a:r>
              <a:rPr lang="en-US" dirty="0"/>
              <a:t/>
            </a:r>
          </a:p>
          <a:p>
            <a:endParaRPr lang="en-US" dirty="0"/>
          </a:p>
          <a:p>
            <a:r>
              <a:rPr lang="en-US" dirty="0" b="1"/>
              <a:t/>
            </a:r>
            <a:r>
              <a:rPr lang="en-US" dirty="0"/>
              <a:t/>
            </a:r>
          </a:p>
          <a:p>
            <a:endParaRPr lang="en-US" dirty="0"/>
          </a:p>
          <a:p>
            <a:r>
              <a:rPr lang="en-US" dirty="0" b="1"/>
              <a:t/>
            </a:r>
            <a:r>
              <a:rPr lang="en-US" dirty="0"/>
              <a:t/>
            </a:r>
          </a:p>
          <a:p>
            <a:endParaRPr lang="en-US" dirty="0"/>
          </a:p>
          <a:p>
            <a:r>
              <a:rPr lang="en-US" dirty="0" b="1"/>
              <a:t/>
            </a:r>
          </a:p>
          <a:p>
            <a:r>
              <a:rPr lang="en-US" dirty="0"/>
              <a:t/>
            </a:r>
          </a:p>
          <a:p>
            <a:endParaRPr lang="en-US" dirty="0"/>
          </a:p>
          <a:p>
            <a:r>
              <a:rPr lang="en-US" dirty="0" b="1"/>
              <a:t/>
            </a:r>
            <a:r>
              <a:rPr lang="en-US" dirty="0"/>
              <a:t/>
            </a:r>
          </a:p>
          <a:p>
            <a:endParaRPr lang="en-US" dirty="0"/>
          </a:p>
          <a:p>
            <a:r>
              <a:rPr lang="en-US" dirty="0" b="1"/>
              <a:t/>
            </a:r>
          </a:p>
          <a:p>
            <a:r>
              <a:rPr lang="en-US" dirty="0"/>
              <a:t/>
            </a:r>
          </a:p>
          <a:p>
            <a:r>
              <a:rPr lang="en-US" dirty="0"/>
              <a:t/>
            </a:r>
          </a:p>
          <a:p>
            <a:r>
              <a:rPr lang="en-US" dirty="0"/>
              <a:t/>
            </a:r>
          </a:p>
        </p:txBody>
      </p:sp>
      <p:sp>
        <p:nvSpPr>
          <p:cNvPr id="4" name="Slide Number Placeholder 3"/>
          <p:cNvSpPr>
            <a:spLocks noGrp="1"/>
          </p:cNvSpPr>
          <p:nvPr>
            <p:ph type="sldNum" sz="quarter" idx="10"/>
          </p:nvPr>
        </p:nvSpPr>
        <p:spPr/>
        <p:txBody>
          <a:bodyPr/>
          <a:lstStyle/>
          <a:p>
            <a:fld id="{F7021451-1387-4CA6-816F-3879F97B5CBC}" type="slidenum">
              <a:rPr lang="en-US"/>
              <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p>
          <a:p>
            <a:r>
              <a:rPr lang="en-US" dirty="0"/>
              <a:t/>
            </a:r>
          </a:p>
          <a:p>
            <a:r>
              <a:rPr lang="en-US" dirty="0"/>
              <a:t/>
            </a:r>
          </a:p>
          <a:p>
            <a:endParaRPr lang="en-US" dirty="0"/>
          </a:p>
          <a:p>
            <a:r>
              <a:rPr lang="en-US" dirty="0" b="1"/>
              <a:t/>
            </a:r>
          </a:p>
          <a:p>
            <a:r>
              <a:rPr lang="en-US" dirty="0"/>
              <a:t/>
            </a:r>
          </a:p>
          <a:p>
            <a:r>
              <a:rPr lang="en-US" dirty="0"/>
              <a:t/>
            </a:r>
          </a:p>
          <a:p>
            <a:r>
              <a:rPr lang="en-US" dirty="0"/>
              <a:t/>
            </a:r>
          </a:p>
          <a:p>
            <a:endParaRPr lang="en-US" dirty="0"/>
          </a:p>
          <a:p>
            <a:r>
              <a:rPr lang="en-US" dirty="0" b="1"/>
              <a:t/>
            </a:r>
            <a:r>
              <a:rPr lang="en-US" dirty="0"/>
              <a:t/>
            </a:r>
          </a:p>
          <a:p>
            <a:endParaRPr lang="en-US" dirty="0"/>
          </a:p>
          <a:p>
            <a:r>
              <a:rPr lang="en-US" dirty="0" b="1"/>
              <a:t/>
            </a:r>
            <a:r>
              <a:rPr lang="en-US" dirty="0"/>
              <a:t/>
            </a:r>
          </a:p>
          <a:p>
            <a:endParaRPr lang="en-US" dirty="0"/>
          </a:p>
          <a:p>
            <a:r>
              <a:rPr lang="en-US" dirty="0" b="1"/>
              <a:t/>
            </a:r>
          </a:p>
          <a:p>
            <a:r>
              <a:rPr lang="en-US" dirty="0"/>
              <a:t/>
            </a:r>
          </a:p>
          <a:p>
            <a:endParaRPr lang="en-US" dirty="0"/>
          </a:p>
          <a:p>
            <a:r>
              <a:rPr lang="en-US" dirty="0" b="1"/>
              <a:t/>
            </a:r>
            <a:r>
              <a:rPr lang="en-US" dirty="0"/>
              <a:t/>
            </a:r>
          </a:p>
          <a:p>
            <a:endParaRPr lang="en-US" dirty="0"/>
          </a:p>
          <a:p>
            <a:r>
              <a:rPr lang="en-US" dirty="0" b="1"/>
              <a:t/>
            </a:r>
          </a:p>
          <a:p>
            <a:r>
              <a:rPr lang="en-US" dirty="0"/>
              <a:t/>
            </a:r>
          </a:p>
          <a:p>
            <a:r>
              <a:rPr lang="en-US" dirty="0"/>
              <a:t/>
            </a:r>
          </a:p>
        </p:txBody>
      </p:sp>
      <p:sp>
        <p:nvSpPr>
          <p:cNvPr id="4" name="Slide Number Placeholder 3"/>
          <p:cNvSpPr>
            <a:spLocks noGrp="1"/>
          </p:cNvSpPr>
          <p:nvPr>
            <p:ph type="sldNum" sz="quarter" idx="10"/>
          </p:nvPr>
        </p:nvSpPr>
        <p:spPr/>
        <p:txBody>
          <a:bodyPr/>
          <a:lstStyle/>
          <a:p>
            <a:fld id="{F7021451-1387-4CA6-816F-3879F97B5CBC}" type="slidenum">
              <a:rPr lang="en-US"/>
              <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p>
          <a:p>
            <a:r>
              <a:rPr lang="en-US" dirty="0"/>
              <a:t/>
            </a:r>
          </a:p>
          <a:p>
            <a:r>
              <a:rPr lang="en-US" dirty="0"/>
              <a:t/>
            </a:r>
          </a:p>
          <a:p>
            <a:endParaRPr lang="en-US" dirty="0"/>
          </a:p>
          <a:p>
            <a:r>
              <a:rPr lang="en-US" dirty="0" b="1"/>
              <a:t/>
            </a:r>
          </a:p>
          <a:p>
            <a:r>
              <a:rPr lang="en-US" dirty="0"/>
              <a:t/>
            </a:r>
          </a:p>
          <a:p>
            <a:r>
              <a:rPr lang="en-US" dirty="0"/>
              <a:t/>
            </a:r>
          </a:p>
          <a:p>
            <a:r>
              <a:rPr lang="en-US" dirty="0"/>
              <a:t/>
            </a:r>
          </a:p>
          <a:p>
            <a:endParaRPr lang="en-US" dirty="0"/>
          </a:p>
          <a:p>
            <a:r>
              <a:rPr lang="en-US" dirty="0" b="1"/>
              <a:t/>
            </a:r>
            <a:r>
              <a:rPr lang="en-US" dirty="0"/>
              <a:t/>
            </a:r>
          </a:p>
          <a:p>
            <a:endParaRPr lang="en-US" dirty="0"/>
          </a:p>
          <a:p>
            <a:r>
              <a:rPr lang="en-US" dirty="0" b="1"/>
              <a:t/>
            </a:r>
            <a:r>
              <a:rPr lang="en-US" dirty="0"/>
              <a:t/>
            </a:r>
          </a:p>
          <a:p>
            <a:endParaRPr lang="en-US" dirty="0"/>
          </a:p>
          <a:p>
            <a:r>
              <a:rPr lang="en-US" dirty="0" b="1"/>
              <a:t/>
            </a:r>
          </a:p>
          <a:p>
            <a:r>
              <a:rPr lang="en-US" dirty="0"/>
              <a:t/>
            </a:r>
          </a:p>
          <a:p>
            <a:endParaRPr lang="en-US" dirty="0"/>
          </a:p>
          <a:p>
            <a:r>
              <a:rPr lang="en-US" dirty="0" b="1"/>
              <a:t/>
            </a:r>
            <a:r>
              <a:rPr lang="en-US" dirty="0"/>
              <a:t/>
            </a:r>
          </a:p>
          <a:p>
            <a:endParaRPr lang="en-US" dirty="0"/>
          </a:p>
          <a:p>
            <a:r>
              <a:rPr lang="en-US" dirty="0" b="1"/>
              <a:t/>
            </a:r>
          </a:p>
          <a:p>
            <a:r>
              <a:rPr lang="en-US" dirty="0"/>
              <a:t/>
            </a:r>
          </a:p>
          <a:p>
            <a:r>
              <a:rPr lang="en-US" dirty="0"/>
              <a:t/>
            </a:r>
          </a:p>
          <a:p>
            <a:r>
              <a:rPr lang="en-US" dirty="0"/>
              <a:t/>
            </a:r>
          </a:p>
        </p:txBody>
      </p:sp>
      <p:sp>
        <p:nvSpPr>
          <p:cNvPr id="4" name="Slide Number Placeholder 3"/>
          <p:cNvSpPr>
            <a:spLocks noGrp="1"/>
          </p:cNvSpPr>
          <p:nvPr>
            <p:ph type="sldNum" sz="quarter" idx="10"/>
          </p:nvPr>
        </p:nvSpPr>
        <p:spPr/>
        <p:txBody>
          <a:bodyPr/>
          <a:lstStyle/>
          <a:p>
            <a:fld id="{F7021451-1387-4CA6-816F-3879F97B5CBC}" type="slidenum">
              <a:rPr lang="en-US"/>
              <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p>
          <a:p>
            <a:r>
              <a:rPr lang="en-US" dirty="0"/>
              <a:t/>
            </a:r>
          </a:p>
          <a:p>
            <a:r>
              <a:rPr lang="en-US" dirty="0"/>
              <a:t/>
            </a:r>
          </a:p>
          <a:p>
            <a:endParaRPr lang="en-US" dirty="0"/>
          </a:p>
          <a:p>
            <a:r>
              <a:rPr lang="en-US" dirty="0" b="1"/>
              <a:t/>
            </a:r>
          </a:p>
          <a:p>
            <a:r>
              <a:rPr lang="en-US" dirty="0"/>
              <a:t/>
            </a:r>
          </a:p>
          <a:p>
            <a:r>
              <a:rPr lang="en-US" dirty="0"/>
              <a:t/>
            </a:r>
          </a:p>
          <a:p>
            <a:r>
              <a:rPr lang="en-US" dirty="0"/>
              <a:t/>
            </a:r>
          </a:p>
          <a:p>
            <a:endParaRPr lang="en-US" dirty="0"/>
          </a:p>
          <a:p>
            <a:r>
              <a:rPr lang="en-US" dirty="0" b="1"/>
              <a:t/>
            </a:r>
            <a:r>
              <a:rPr lang="en-US" dirty="0"/>
              <a:t/>
            </a:r>
          </a:p>
          <a:p>
            <a:endParaRPr lang="en-US" dirty="0"/>
          </a:p>
          <a:p>
            <a:r>
              <a:rPr lang="en-US" dirty="0" b="1"/>
              <a:t/>
            </a:r>
            <a:r>
              <a:rPr lang="en-US" dirty="0"/>
              <a:t/>
            </a:r>
          </a:p>
          <a:p>
            <a:endParaRPr lang="en-US" dirty="0"/>
          </a:p>
          <a:p>
            <a:r>
              <a:rPr lang="en-US" dirty="0" b="1"/>
              <a:t/>
            </a:r>
          </a:p>
          <a:p>
            <a:r>
              <a:rPr lang="en-US" dirty="0"/>
              <a:t/>
            </a:r>
          </a:p>
          <a:p>
            <a:r>
              <a:rPr lang="en-US" dirty="0"/>
              <a:t/>
            </a:r>
          </a:p>
          <a:p>
            <a:r>
              <a:rPr lang="en-US" dirty="0"/>
              <a:t/>
            </a:r>
          </a:p>
          <a:p>
            <a:r>
              <a:rPr lang="en-US" dirty="0"/>
              <a:t/>
            </a:r>
          </a:p>
          <a:p>
            <a:endParaRPr lang="en-US" dirty="0"/>
          </a:p>
          <a:p>
            <a:r>
              <a:rPr lang="en-US" dirty="0" b="1"/>
              <a:t/>
            </a:r>
          </a:p>
          <a:p>
            <a:r>
              <a:rPr lang="en-US" dirty="0"/>
              <a:t/>
            </a:r>
          </a:p>
          <a:p>
            <a:endParaRPr lang="en-US" dirty="0"/>
          </a:p>
          <a:p>
            <a:r>
              <a:rPr lang="en-US" dirty="0" b="1"/>
              <a:t/>
            </a:r>
            <a:r>
              <a:rPr lang="en-US" dirty="0"/>
              <a:t/>
            </a:r>
          </a:p>
          <a:p>
            <a:endParaRPr lang="en-US" dirty="0"/>
          </a:p>
          <a:p>
            <a:r>
              <a:rPr lang="en-US" dirty="0" b="1"/>
              <a:t/>
            </a:r>
          </a:p>
          <a:p>
            <a:r>
              <a:rPr lang="en-US" dirty="0"/>
              <a:t/>
            </a:r>
          </a:p>
          <a:p>
            <a:r>
              <a:rPr lang="en-US" dirty="0"/>
              <a:t/>
            </a:r>
          </a:p>
        </p:txBody>
      </p:sp>
      <p:sp>
        <p:nvSpPr>
          <p:cNvPr id="4" name="Slide Number Placeholder 3"/>
          <p:cNvSpPr>
            <a:spLocks noGrp="1"/>
          </p:cNvSpPr>
          <p:nvPr>
            <p:ph type="sldNum" sz="quarter" idx="10"/>
          </p:nvPr>
        </p:nvSpPr>
        <p:spPr/>
        <p:txBody>
          <a:bodyPr/>
          <a:lstStyle/>
          <a:p>
            <a:fld id="{F7021451-1387-4CA6-816F-3879F97B5CBC}" type="slidenum">
              <a:rPr lang="en-US"/>
              <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p>
          <a:p>
            <a:r>
              <a:rPr lang="en-US" dirty="0"/>
              <a:t/>
            </a:r>
          </a:p>
          <a:p>
            <a:r>
              <a:rPr lang="en-US" dirty="0"/>
              <a:t/>
            </a:r>
          </a:p>
          <a:p>
            <a:endParaRPr lang="en-US" dirty="0"/>
          </a:p>
          <a:p>
            <a:r>
              <a:rPr lang="en-US" dirty="0" b="1"/>
              <a:t/>
            </a:r>
          </a:p>
          <a:p>
            <a:r>
              <a:rPr lang="en-US" dirty="0"/>
              <a:t/>
            </a:r>
          </a:p>
          <a:p>
            <a:r>
              <a:rPr lang="en-US" dirty="0"/>
              <a:t/>
            </a:r>
          </a:p>
          <a:p>
            <a:r>
              <a:rPr lang="en-US" dirty="0"/>
              <a:t/>
            </a:r>
          </a:p>
          <a:p>
            <a:endParaRPr lang="en-US" dirty="0"/>
          </a:p>
          <a:p>
            <a:r>
              <a:rPr lang="en-US" dirty="0" b="1"/>
              <a:t/>
            </a:r>
            <a:r>
              <a:rPr lang="en-US" dirty="0"/>
              <a:t/>
            </a:r>
          </a:p>
          <a:p>
            <a:endParaRPr lang="en-US" dirty="0"/>
          </a:p>
          <a:p>
            <a:r>
              <a:rPr lang="en-US" dirty="0" b="1"/>
              <a:t/>
            </a:r>
            <a:r>
              <a:rPr lang="en-US" dirty="0"/>
              <a:t/>
            </a:r>
          </a:p>
          <a:p>
            <a:endParaRPr lang="en-US" dirty="0"/>
          </a:p>
          <a:p>
            <a:r>
              <a:rPr lang="en-US" dirty="0" b="1"/>
              <a:t/>
            </a:r>
          </a:p>
          <a:p>
            <a:r>
              <a:rPr lang="en-US" dirty="0"/>
              <a:t/>
            </a:r>
          </a:p>
          <a:p>
            <a:endParaRPr lang="en-US" dirty="0"/>
          </a:p>
          <a:p>
            <a:r>
              <a:rPr lang="en-US" dirty="0" b="1"/>
              <a:t/>
            </a:r>
            <a:r>
              <a:rPr lang="en-US" dirty="0"/>
              <a:t/>
            </a:r>
          </a:p>
          <a:p>
            <a:endParaRPr lang="en-US" dirty="0"/>
          </a:p>
          <a:p>
            <a:r>
              <a:rPr lang="en-US" dirty="0" b="1"/>
              <a:t/>
            </a:r>
          </a:p>
          <a:p>
            <a:r>
              <a:rPr lang="en-US" dirty="0"/>
              <a:t/>
            </a:r>
          </a:p>
          <a:p>
            <a:r>
              <a:rPr lang="en-US" dirty="0"/>
              <a:t/>
            </a:r>
          </a:p>
          <a:p>
            <a:r>
              <a:rPr lang="en-US" dirty="0"/>
              <a:t/>
            </a:r>
          </a:p>
        </p:txBody>
      </p:sp>
      <p:sp>
        <p:nvSpPr>
          <p:cNvPr id="4" name="Slide Number Placeholder 3"/>
          <p:cNvSpPr>
            <a:spLocks noGrp="1"/>
          </p:cNvSpPr>
          <p:nvPr>
            <p:ph type="sldNum" sz="quarter" idx="10"/>
          </p:nvPr>
        </p:nvSpPr>
        <p:spPr/>
        <p:txBody>
          <a:bodyPr/>
          <a:lstStyle/>
          <a:p>
            <a:fld id="{F7021451-1387-4CA6-816F-3879F97B5CBC}" type="slidenum">
              <a:rPr lang="en-US"/>
              <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p>
          <a:p>
            <a:r>
              <a:rPr lang="en-US" dirty="0"/>
              <a:t/>
            </a:r>
          </a:p>
          <a:p>
            <a:r>
              <a:rPr lang="en-US" dirty="0"/>
              <a:t/>
            </a:r>
          </a:p>
          <a:p>
            <a:endParaRPr lang="en-US" dirty="0"/>
          </a:p>
          <a:p>
            <a:r>
              <a:rPr lang="en-US" dirty="0" b="1"/>
              <a:t/>
            </a:r>
          </a:p>
          <a:p>
            <a:r>
              <a:rPr lang="en-US" dirty="0"/>
              <a:t/>
            </a:r>
          </a:p>
          <a:p>
            <a:r>
              <a:rPr lang="en-US" dirty="0"/>
              <a:t/>
            </a:r>
          </a:p>
          <a:p>
            <a:r>
              <a:rPr lang="en-US" dirty="0"/>
              <a:t/>
            </a:r>
          </a:p>
          <a:p>
            <a:endParaRPr lang="en-US" dirty="0"/>
          </a:p>
          <a:p>
            <a:r>
              <a:rPr lang="en-US" dirty="0" b="1"/>
              <a:t/>
            </a:r>
            <a:r>
              <a:rPr lang="en-US" dirty="0"/>
              <a:t/>
            </a:r>
          </a:p>
          <a:p>
            <a:endParaRPr lang="en-US" dirty="0"/>
          </a:p>
          <a:p>
            <a:r>
              <a:rPr lang="en-US" dirty="0" b="1"/>
              <a:t/>
            </a:r>
            <a:r>
              <a:rPr lang="en-US" dirty="0"/>
              <a:t/>
            </a:r>
          </a:p>
          <a:p>
            <a:endParaRPr lang="en-US" dirty="0"/>
          </a:p>
          <a:p>
            <a:r>
              <a:rPr lang="en-US" dirty="0" b="1"/>
              <a:t/>
            </a:r>
          </a:p>
          <a:p>
            <a:r>
              <a:rPr lang="en-US" dirty="0"/>
              <a:t/>
            </a:r>
          </a:p>
          <a:p>
            <a:endParaRPr lang="en-US" dirty="0"/>
          </a:p>
          <a:p>
            <a:r>
              <a:rPr lang="en-US" dirty="0" b="1"/>
              <a:t/>
            </a:r>
            <a:r>
              <a:rPr lang="en-US" dirty="0"/>
              <a:t/>
            </a:r>
          </a:p>
          <a:p>
            <a:endParaRPr lang="en-US" dirty="0"/>
          </a:p>
          <a:p>
            <a:r>
              <a:rPr lang="en-US" dirty="0" b="1"/>
              <a:t/>
            </a:r>
          </a:p>
          <a:p>
            <a:r>
              <a:rPr lang="en-US" dirty="0"/>
              <a:t/>
            </a:r>
          </a:p>
          <a:p>
            <a:r>
              <a:rPr lang="en-US" dirty="0"/>
              <a:t/>
            </a:r>
          </a:p>
          <a:p>
            <a:r>
              <a:rPr lang="en-US" dirty="0"/>
              <a:t/>
            </a:r>
          </a:p>
          <a:p>
            <a:r>
              <a:rPr lang="en-US" dirty="0"/>
              <a:t/>
            </a:r>
          </a:p>
        </p:txBody>
      </p:sp>
      <p:sp>
        <p:nvSpPr>
          <p:cNvPr id="4" name="Slide Number Placeholder 3"/>
          <p:cNvSpPr>
            <a:spLocks noGrp="1"/>
          </p:cNvSpPr>
          <p:nvPr>
            <p:ph type="sldNum" sz="quarter" idx="10"/>
          </p:nvPr>
        </p:nvSpPr>
        <p:spPr/>
        <p:txBody>
          <a:bodyPr/>
          <a:lstStyle/>
          <a:p>
            <a:fld id="{F7021451-1387-4CA6-816F-3879F97B5CBC}" type="slidenum">
              <a:rPr lang="en-US"/>
              <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p>
          <a:p>
            <a:r>
              <a:rPr lang="en-US" dirty="0"/>
              <a:t/>
            </a:r>
          </a:p>
          <a:p>
            <a:r>
              <a:rPr lang="en-US" dirty="0"/>
              <a:t/>
            </a:r>
          </a:p>
          <a:p>
            <a:endParaRPr lang="en-US" dirty="0"/>
          </a:p>
          <a:p>
            <a:r>
              <a:rPr lang="en-US" dirty="0" b="1"/>
              <a:t/>
            </a:r>
          </a:p>
          <a:p>
            <a:r>
              <a:rPr lang="en-US" dirty="0"/>
              <a:t/>
            </a:r>
          </a:p>
          <a:p>
            <a:r>
              <a:rPr lang="en-US" dirty="0"/>
              <a:t/>
            </a:r>
          </a:p>
          <a:p>
            <a:r>
              <a:rPr lang="en-US" dirty="0"/>
              <a:t/>
            </a:r>
          </a:p>
          <a:p>
            <a:endParaRPr lang="en-US" dirty="0"/>
          </a:p>
          <a:p>
            <a:r>
              <a:rPr lang="en-US" dirty="0" b="1"/>
              <a:t/>
            </a:r>
            <a:r>
              <a:rPr lang="en-US" dirty="0"/>
              <a:t/>
            </a:r>
          </a:p>
          <a:p>
            <a:endParaRPr lang="en-US" dirty="0"/>
          </a:p>
          <a:p>
            <a:r>
              <a:rPr lang="en-US" dirty="0" b="1"/>
              <a:t/>
            </a:r>
            <a:r>
              <a:rPr lang="en-US" dirty="0"/>
              <a:t/>
            </a:r>
          </a:p>
          <a:p>
            <a:endParaRPr lang="en-US" dirty="0"/>
          </a:p>
          <a:p>
            <a:r>
              <a:rPr lang="en-US" dirty="0" b="1"/>
              <a:t/>
            </a:r>
          </a:p>
          <a:p>
            <a:r>
              <a:rPr lang="en-US" dirty="0"/>
              <a:t/>
            </a:r>
          </a:p>
          <a:p>
            <a:endParaRPr lang="en-US" dirty="0"/>
          </a:p>
          <a:p>
            <a:r>
              <a:rPr lang="en-US" dirty="0" b="1"/>
              <a:t/>
            </a:r>
            <a:r>
              <a:rPr lang="en-US" dirty="0"/>
              <a:t/>
            </a:r>
          </a:p>
          <a:p>
            <a:endParaRPr lang="en-US" dirty="0"/>
          </a:p>
          <a:p>
            <a:r>
              <a:rPr lang="en-US" dirty="0" b="1"/>
              <a:t/>
            </a:r>
          </a:p>
          <a:p>
            <a:r>
              <a:rPr lang="en-US" dirty="0"/>
              <a:t/>
            </a:r>
          </a:p>
          <a:p>
            <a:r>
              <a:rPr lang="en-US" dirty="0"/>
              <a:t/>
            </a:r>
          </a:p>
          <a:p>
            <a:r>
              <a:rPr lang="en-US" dirty="0"/>
              <a:t/>
            </a:r>
          </a:p>
        </p:txBody>
      </p:sp>
      <p:sp>
        <p:nvSpPr>
          <p:cNvPr id="4" name="Slide Number Placeholder 3"/>
          <p:cNvSpPr>
            <a:spLocks noGrp="1"/>
          </p:cNvSpPr>
          <p:nvPr>
            <p:ph type="sldNum" sz="quarter" idx="10"/>
          </p:nvPr>
        </p:nvSpPr>
        <p:spPr/>
        <p:txBody>
          <a:bodyPr/>
          <a:lstStyle/>
          <a:p>
            <a:fld id="{F7021451-1387-4CA6-816F-3879F97B5CBC}" type="slidenum">
              <a:rPr lang="en-US"/>
              <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p>
          <a:p>
            <a:r>
              <a:rPr lang="en-US" dirty="0"/>
              <a:t/>
            </a:r>
          </a:p>
          <a:p>
            <a:r>
              <a:rPr lang="en-US" dirty="0"/>
              <a:t/>
            </a:r>
          </a:p>
          <a:p>
            <a:endParaRPr lang="en-US" dirty="0"/>
          </a:p>
          <a:p>
            <a:r>
              <a:rPr lang="en-US" dirty="0" b="1"/>
              <a:t/>
            </a:r>
          </a:p>
          <a:p>
            <a:r>
              <a:rPr lang="en-US" dirty="0"/>
              <a:t/>
            </a:r>
          </a:p>
          <a:p>
            <a:r>
              <a:rPr lang="en-US" dirty="0"/>
              <a:t/>
            </a:r>
          </a:p>
          <a:p>
            <a:endParaRPr lang="en-US" dirty="0"/>
          </a:p>
          <a:p>
            <a:r>
              <a:rPr lang="en-US" dirty="0" b="1"/>
              <a:t/>
            </a:r>
            <a:r>
              <a:rPr lang="en-US" dirty="0"/>
              <a:t/>
            </a:r>
          </a:p>
          <a:p>
            <a:endParaRPr lang="en-US" dirty="0"/>
          </a:p>
          <a:p>
            <a:r>
              <a:rPr lang="en-US" dirty="0" b="1"/>
              <a:t/>
            </a:r>
            <a:r>
              <a:rPr lang="en-US" dirty="0"/>
              <a:t/>
            </a:r>
          </a:p>
          <a:p>
            <a:endParaRPr lang="en-US" dirty="0"/>
          </a:p>
          <a:p>
            <a:r>
              <a:rPr lang="en-US" dirty="0" b="1"/>
              <a:t/>
            </a:r>
          </a:p>
          <a:p>
            <a:r>
              <a:rPr lang="en-US" dirty="0"/>
              <a:t/>
            </a:r>
          </a:p>
          <a:p>
            <a:endParaRPr lang="en-US" dirty="0"/>
          </a:p>
          <a:p>
            <a:r>
              <a:rPr lang="en-US" dirty="0" b="1"/>
              <a:t/>
            </a:r>
            <a:r>
              <a:rPr lang="en-US" dirty="0"/>
              <a:t/>
            </a:r>
          </a:p>
          <a:p>
            <a:endParaRPr lang="en-US" dirty="0"/>
          </a:p>
          <a:p>
            <a:r>
              <a:rPr lang="en-US" dirty="0" b="1"/>
              <a:t/>
            </a:r>
          </a:p>
          <a:p>
            <a:r>
              <a:rPr lang="en-US" dirty="0"/>
              <a:t/>
            </a:r>
          </a:p>
        </p:txBody>
      </p:sp>
      <p:sp>
        <p:nvSpPr>
          <p:cNvPr id="4" name="Slide Number Placeholder 3"/>
          <p:cNvSpPr>
            <a:spLocks noGrp="1"/>
          </p:cNvSpPr>
          <p:nvPr>
            <p:ph type="sldNum" sz="quarter" idx="10"/>
          </p:nvPr>
        </p:nvSpPr>
        <p:spPr/>
        <p:txBody>
          <a:bodyPr/>
          <a:lstStyle/>
          <a:p>
            <a:fld id="{F7021451-1387-4CA6-816F-3879F97B5CBC}" type="slidenum">
              <a:rPr lang="en-US"/>
              <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p>
          <a:p>
            <a:r>
              <a:rPr lang="en-US" dirty="0"/>
              <a:t/>
            </a:r>
          </a:p>
          <a:p>
            <a:r>
              <a:rPr lang="en-US" dirty="0"/>
              <a:t/>
            </a:r>
          </a:p>
          <a:p>
            <a:endParaRPr lang="en-US" dirty="0"/>
          </a:p>
          <a:p>
            <a:r>
              <a:rPr lang="en-US" dirty="0" b="1"/>
              <a:t/>
            </a:r>
          </a:p>
          <a:p>
            <a:r>
              <a:rPr lang="en-US" dirty="0"/>
              <a:t/>
            </a:r>
          </a:p>
          <a:p>
            <a:r>
              <a:rPr lang="en-US" dirty="0"/>
              <a:t/>
            </a:r>
          </a:p>
          <a:p>
            <a:r>
              <a:rPr lang="en-US" dirty="0"/>
              <a:t/>
            </a:r>
          </a:p>
          <a:p>
            <a:endParaRPr lang="en-US" dirty="0"/>
          </a:p>
          <a:p>
            <a:r>
              <a:rPr lang="en-US" dirty="0" b="1"/>
              <a:t/>
            </a:r>
            <a:r>
              <a:rPr lang="en-US" dirty="0"/>
              <a:t/>
            </a:r>
          </a:p>
          <a:p>
            <a:endParaRPr lang="en-US" dirty="0"/>
          </a:p>
          <a:p>
            <a:r>
              <a:rPr lang="en-US" dirty="0" b="1"/>
              <a:t/>
            </a:r>
            <a:r>
              <a:rPr lang="en-US" dirty="0"/>
              <a:t/>
            </a:r>
          </a:p>
          <a:p>
            <a:endParaRPr lang="en-US" dirty="0"/>
          </a:p>
          <a:p>
            <a:r>
              <a:rPr lang="en-US" dirty="0" b="1"/>
              <a:t/>
            </a:r>
          </a:p>
          <a:p>
            <a:r>
              <a:rPr lang="en-US" dirty="0"/>
              <a:t/>
            </a:r>
          </a:p>
          <a:p>
            <a:r>
              <a:rPr lang="en-US" dirty="0"/>
              <a:t/>
            </a:r>
          </a:p>
          <a:p>
            <a:r>
              <a:rPr lang="en-US" dirty="0"/>
              <a:t/>
            </a:r>
          </a:p>
          <a:p>
            <a:r>
              <a:rPr lang="en-US" dirty="0"/>
              <a:t/>
            </a:r>
          </a:p>
          <a:p>
            <a:r>
              <a:rPr lang="en-US" dirty="0"/>
              <a:t/>
            </a:r>
          </a:p>
          <a:p>
            <a:endParaRPr lang="en-US" dirty="0"/>
          </a:p>
          <a:p>
            <a:r>
              <a:rPr lang="en-US" dirty="0" b="1"/>
              <a:t/>
            </a:r>
          </a:p>
          <a:p>
            <a:r>
              <a:rPr lang="en-US" dirty="0"/>
              <a:t/>
            </a:r>
          </a:p>
          <a:p>
            <a:endParaRPr lang="en-US" dirty="0"/>
          </a:p>
          <a:p>
            <a:r>
              <a:rPr lang="en-US" dirty="0" b="1"/>
              <a:t/>
            </a:r>
            <a:r>
              <a:rPr lang="en-US" dirty="0"/>
              <a:t/>
            </a:r>
          </a:p>
          <a:p>
            <a:endParaRPr lang="en-US" dirty="0"/>
          </a:p>
          <a:p>
            <a:r>
              <a:rPr lang="en-US" dirty="0" b="1"/>
              <a:t/>
            </a:r>
          </a:p>
          <a:p>
            <a:r>
              <a:rPr lang="en-US" dirty="0"/>
              <a:t/>
            </a:r>
          </a:p>
          <a:p>
            <a:r>
              <a:rPr lang="en-US" dirty="0"/>
              <a:t/>
            </a:r>
          </a:p>
          <a:p>
            <a:r>
              <a:rPr lang="en-US" dirty="0"/>
              <a:t/>
            </a:r>
          </a:p>
        </p:txBody>
      </p:sp>
      <p:sp>
        <p:nvSpPr>
          <p:cNvPr id="4" name="Slide Number Placeholder 3"/>
          <p:cNvSpPr>
            <a:spLocks noGrp="1"/>
          </p:cNvSpPr>
          <p:nvPr>
            <p:ph type="sldNum" sz="quarter" idx="10"/>
          </p:nvPr>
        </p:nvSpPr>
        <p:spPr/>
        <p:txBody>
          <a:bodyPr/>
          <a:lstStyle/>
          <a:p>
            <a:fld id="{F7021451-1387-4CA6-816F-3879F97B5CBC}" type="slidenum">
              <a:rPr lang="en-US"/>
              <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p>
          <a:p>
            <a:r>
              <a:rPr lang="en-US" dirty="0"/>
              <a:t/>
            </a:r>
          </a:p>
          <a:p>
            <a:r>
              <a:rPr lang="en-US" dirty="0"/>
              <a:t/>
            </a:r>
          </a:p>
          <a:p>
            <a:endParaRPr lang="en-US" dirty="0"/>
          </a:p>
          <a:p>
            <a:r>
              <a:rPr lang="en-US" dirty="0" b="1"/>
              <a:t/>
            </a:r>
          </a:p>
          <a:p>
            <a:r>
              <a:rPr lang="en-US" dirty="0"/>
              <a:t/>
            </a:r>
          </a:p>
          <a:p>
            <a:r>
              <a:rPr lang="en-US" dirty="0"/>
              <a:t/>
            </a:r>
          </a:p>
          <a:p>
            <a:r>
              <a:rPr lang="en-US" dirty="0"/>
              <a:t/>
            </a:r>
          </a:p>
          <a:p>
            <a:endParaRPr lang="en-US" dirty="0"/>
          </a:p>
          <a:p>
            <a:r>
              <a:rPr lang="en-US" dirty="0" b="1"/>
              <a:t/>
            </a:r>
            <a:r>
              <a:rPr lang="en-US" dirty="0"/>
              <a:t/>
            </a:r>
          </a:p>
          <a:p>
            <a:endParaRPr lang="en-US" dirty="0"/>
          </a:p>
          <a:p>
            <a:r>
              <a:rPr lang="en-US" dirty="0" b="1"/>
              <a:t/>
            </a:r>
            <a:r>
              <a:rPr lang="en-US" dirty="0"/>
              <a:t/>
            </a:r>
          </a:p>
          <a:p>
            <a:endParaRPr lang="en-US" dirty="0"/>
          </a:p>
          <a:p>
            <a:r>
              <a:rPr lang="en-US" dirty="0" b="1"/>
              <a:t/>
            </a:r>
          </a:p>
          <a:p>
            <a:r>
              <a:rPr lang="en-US" dirty="0"/>
              <a:t/>
            </a:r>
          </a:p>
          <a:p>
            <a:endParaRPr lang="en-US" dirty="0"/>
          </a:p>
          <a:p>
            <a:r>
              <a:rPr lang="en-US" dirty="0" b="1"/>
              <a:t/>
            </a:r>
            <a:r>
              <a:rPr lang="en-US" dirty="0"/>
              <a:t/>
            </a:r>
          </a:p>
          <a:p>
            <a:endParaRPr lang="en-US" dirty="0"/>
          </a:p>
          <a:p>
            <a:r>
              <a:rPr lang="en-US" dirty="0" b="1"/>
              <a:t/>
            </a:r>
          </a:p>
          <a:p>
            <a:r>
              <a:rPr lang="en-US" dirty="0"/>
              <a:t/>
            </a:r>
          </a:p>
          <a:p>
            <a:r>
              <a:rPr lang="en-US" dirty="0"/>
              <a:t/>
            </a:r>
          </a:p>
        </p:txBody>
      </p:sp>
      <p:sp>
        <p:nvSpPr>
          <p:cNvPr id="4" name="Slide Number Placeholder 3"/>
          <p:cNvSpPr>
            <a:spLocks noGrp="1"/>
          </p:cNvSpPr>
          <p:nvPr>
            <p:ph type="sldNum" sz="quarter" idx="10"/>
          </p:nvPr>
        </p:nvSpPr>
        <p:spPr/>
        <p:txBody>
          <a:bodyPr/>
          <a:lstStyle/>
          <a:p>
            <a:fld id="{F7021451-1387-4CA6-816F-3879F97B5CBC}" type="slidenum">
              <a:rPr lang="en-US"/>
              <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p>
          <a:p>
            <a:r>
              <a:rPr lang="en-US" dirty="0"/>
              <a:t/>
            </a:r>
          </a:p>
          <a:p>
            <a:r>
              <a:rPr lang="en-US" dirty="0"/>
              <a:t/>
            </a:r>
          </a:p>
          <a:p>
            <a:endParaRPr lang="en-US" dirty="0"/>
          </a:p>
          <a:p>
            <a:r>
              <a:rPr lang="en-US" dirty="0" b="1"/>
              <a:t/>
            </a:r>
          </a:p>
          <a:p>
            <a:r>
              <a:rPr lang="en-US" dirty="0"/>
              <a:t/>
            </a:r>
          </a:p>
          <a:p>
            <a:r>
              <a:rPr lang="en-US" dirty="0"/>
              <a:t/>
            </a:r>
          </a:p>
          <a:p>
            <a:r>
              <a:rPr lang="en-US" dirty="0"/>
              <a:t/>
            </a:r>
          </a:p>
          <a:p>
            <a:endParaRPr lang="en-US" dirty="0"/>
          </a:p>
          <a:p>
            <a:r>
              <a:rPr lang="en-US" dirty="0" b="1"/>
              <a:t/>
            </a:r>
            <a:r>
              <a:rPr lang="en-US" dirty="0"/>
              <a:t/>
            </a:r>
          </a:p>
          <a:p>
            <a:endParaRPr lang="en-US" dirty="0"/>
          </a:p>
          <a:p>
            <a:r>
              <a:rPr lang="en-US" dirty="0" b="1"/>
              <a:t/>
            </a:r>
            <a:r>
              <a:rPr lang="en-US" dirty="0"/>
              <a:t/>
            </a:r>
          </a:p>
          <a:p>
            <a:endParaRPr lang="en-US" dirty="0"/>
          </a:p>
          <a:p>
            <a:r>
              <a:rPr lang="en-US" dirty="0" b="1"/>
              <a:t/>
            </a:r>
          </a:p>
          <a:p>
            <a:r>
              <a:rPr lang="en-US" dirty="0"/>
              <a:t/>
            </a:r>
          </a:p>
          <a:p>
            <a:endParaRPr lang="en-US" dirty="0"/>
          </a:p>
          <a:p>
            <a:r>
              <a:rPr lang="en-US" dirty="0" b="1"/>
              <a:t/>
            </a:r>
            <a:r>
              <a:rPr lang="en-US" dirty="0"/>
              <a:t/>
            </a:r>
          </a:p>
          <a:p>
            <a:endParaRPr lang="en-US" dirty="0"/>
          </a:p>
          <a:p>
            <a:r>
              <a:rPr lang="en-US" dirty="0" b="1"/>
              <a:t/>
            </a:r>
          </a:p>
          <a:p>
            <a:r>
              <a:rPr lang="en-US" dirty="0"/>
              <a:t/>
            </a:r>
          </a:p>
          <a:p>
            <a:r>
              <a:rPr lang="en-US" dirty="0"/>
              <a:t/>
            </a:r>
          </a:p>
        </p:txBody>
      </p:sp>
      <p:sp>
        <p:nvSpPr>
          <p:cNvPr id="4" name="Slide Number Placeholder 3"/>
          <p:cNvSpPr>
            <a:spLocks noGrp="1"/>
          </p:cNvSpPr>
          <p:nvPr>
            <p:ph type="sldNum" sz="quarter" idx="10"/>
          </p:nvPr>
        </p:nvSpPr>
        <p:spPr/>
        <p:txBody>
          <a:bodyPr/>
          <a:lstStyle/>
          <a:p>
            <a:fld id="{F7021451-1387-4CA6-816F-3879F97B5CBC}" type="slidenum">
              <a:rPr lang="en-US"/>
              <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p>
          <a:p>
            <a:r>
              <a:rPr lang="en-US" dirty="0"/>
              <a:t/>
            </a:r>
          </a:p>
          <a:p>
            <a:r>
              <a:rPr lang="en-US" dirty="0"/>
              <a:t/>
            </a:r>
          </a:p>
          <a:p>
            <a:endParaRPr lang="en-US" dirty="0"/>
          </a:p>
          <a:p>
            <a:r>
              <a:rPr lang="en-US" dirty="0" b="1"/>
              <a:t/>
            </a:r>
          </a:p>
          <a:p>
            <a:r>
              <a:rPr lang="en-US" dirty="0"/>
              <a:t/>
            </a:r>
          </a:p>
          <a:p>
            <a:r>
              <a:rPr lang="en-US" dirty="0"/>
              <a:t/>
            </a:r>
          </a:p>
          <a:p>
            <a:r>
              <a:rPr lang="en-US" dirty="0"/>
              <a:t/>
            </a:r>
          </a:p>
          <a:p>
            <a:endParaRPr lang="en-US" dirty="0"/>
          </a:p>
          <a:p>
            <a:r>
              <a:rPr lang="en-US" dirty="0" b="1"/>
              <a:t/>
            </a:r>
            <a:r>
              <a:rPr lang="en-US" dirty="0"/>
              <a:t/>
            </a:r>
          </a:p>
          <a:p>
            <a:endParaRPr lang="en-US" dirty="0"/>
          </a:p>
          <a:p>
            <a:r>
              <a:rPr lang="en-US" dirty="0" b="1"/>
              <a:t/>
            </a:r>
            <a:r>
              <a:rPr lang="en-US" dirty="0"/>
              <a:t/>
            </a:r>
          </a:p>
          <a:p>
            <a:endParaRPr lang="en-US" dirty="0"/>
          </a:p>
          <a:p>
            <a:r>
              <a:rPr lang="en-US" dirty="0" b="1"/>
              <a:t/>
            </a:r>
          </a:p>
          <a:p>
            <a:r>
              <a:rPr lang="en-US" dirty="0"/>
              <a:t/>
            </a:r>
          </a:p>
          <a:p>
            <a:endParaRPr lang="en-US" dirty="0"/>
          </a:p>
          <a:p>
            <a:r>
              <a:rPr lang="en-US" dirty="0" b="1"/>
              <a:t/>
            </a:r>
            <a:r>
              <a:rPr lang="en-US" dirty="0"/>
              <a:t/>
            </a:r>
          </a:p>
          <a:p>
            <a:endParaRPr lang="en-US" dirty="0"/>
          </a:p>
          <a:p>
            <a:r>
              <a:rPr lang="en-US" dirty="0" b="1"/>
              <a:t/>
            </a:r>
          </a:p>
          <a:p>
            <a:r>
              <a:rPr lang="en-US" dirty="0"/>
              <a:t/>
            </a:r>
          </a:p>
          <a:p>
            <a:r>
              <a:rPr lang="en-US" dirty="0"/>
              <a:t/>
            </a:r>
          </a:p>
          <a:p>
            <a:r>
              <a:rPr lang="en-US" dirty="0"/>
              <a:t/>
            </a:r>
          </a:p>
        </p:txBody>
      </p:sp>
      <p:sp>
        <p:nvSpPr>
          <p:cNvPr id="4" name="Slide Number Placeholder 3"/>
          <p:cNvSpPr>
            <a:spLocks noGrp="1"/>
          </p:cNvSpPr>
          <p:nvPr>
            <p:ph type="sldNum" sz="quarter" idx="10"/>
          </p:nvPr>
        </p:nvSpPr>
        <p:spPr/>
        <p:txBody>
          <a:bodyPr/>
          <a:lstStyle/>
          <a:p>
            <a:fld id="{F7021451-1387-4CA6-816F-3879F97B5CBC}" type="slidenum">
              <a:rPr lang="en-US"/>
              <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p>
          <a:p>
            <a:r>
              <a:rPr lang="en-US" dirty="0"/>
              <a:t/>
            </a:r>
          </a:p>
          <a:p>
            <a:r>
              <a:rPr lang="en-US" dirty="0"/>
              <a:t/>
            </a:r>
          </a:p>
          <a:p>
            <a:endParaRPr lang="en-US" dirty="0"/>
          </a:p>
          <a:p>
            <a:r>
              <a:rPr lang="en-US" dirty="0" b="1"/>
              <a:t/>
            </a:r>
          </a:p>
          <a:p>
            <a:r>
              <a:rPr lang="en-US" dirty="0"/>
              <a:t/>
            </a:r>
          </a:p>
          <a:p>
            <a:r>
              <a:rPr lang="en-US" dirty="0"/>
              <a:t/>
            </a:r>
          </a:p>
          <a:p>
            <a:endParaRPr lang="en-US" dirty="0"/>
          </a:p>
          <a:p>
            <a:r>
              <a:rPr lang="en-US" dirty="0" b="1"/>
              <a:t/>
            </a:r>
            <a:r>
              <a:rPr lang="en-US" dirty="0"/>
              <a:t/>
            </a:r>
          </a:p>
          <a:p>
            <a:endParaRPr lang="en-US" dirty="0"/>
          </a:p>
          <a:p>
            <a:r>
              <a:rPr lang="en-US" dirty="0" b="1"/>
              <a:t/>
            </a:r>
            <a:r>
              <a:rPr lang="en-US" dirty="0"/>
              <a:t/>
            </a:r>
          </a:p>
        </p:txBody>
      </p:sp>
      <p:sp>
        <p:nvSpPr>
          <p:cNvPr id="4" name="Slide Number Placeholder 3"/>
          <p:cNvSpPr>
            <a:spLocks noGrp="1"/>
          </p:cNvSpPr>
          <p:nvPr>
            <p:ph type="sldNum" sz="quarter" idx="10"/>
          </p:nvPr>
        </p:nvSpPr>
        <p:spPr/>
        <p:txBody>
          <a:bodyPr/>
          <a:lstStyle/>
          <a:p>
            <a:fld id="{F7021451-1387-4CA6-816F-3879F97B5CBC}" type="slidenum">
              <a:rPr lang="en-US"/>
              <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p>
          <a:p>
            <a:r>
              <a:rPr lang="en-US" dirty="0"/>
              <a:t/>
            </a:r>
          </a:p>
          <a:p>
            <a:r>
              <a:rPr lang="en-US" dirty="0"/>
              <a:t/>
            </a:r>
          </a:p>
          <a:p>
            <a:endParaRPr lang="en-US" dirty="0"/>
          </a:p>
          <a:p>
            <a:r>
              <a:rPr lang="en-US" dirty="0" b="1"/>
              <a:t/>
            </a:r>
          </a:p>
          <a:p>
            <a:r>
              <a:rPr lang="en-US" dirty="0"/>
              <a:t/>
            </a:r>
          </a:p>
          <a:p>
            <a:endParaRPr lang="en-US" dirty="0"/>
          </a:p>
          <a:p>
            <a:r>
              <a:rPr lang="en-US" dirty="0" b="1"/>
              <a:t/>
            </a:r>
            <a:r>
              <a:rPr lang="en-US" dirty="0"/>
              <a:t/>
            </a:r>
          </a:p>
          <a:p>
            <a:endParaRPr lang="en-US" dirty="0"/>
          </a:p>
          <a:p>
            <a:r>
              <a:rPr lang="en-US" dirty="0" b="1"/>
              <a:t/>
            </a:r>
            <a:r>
              <a:rPr lang="en-US" dirty="0"/>
              <a:t/>
            </a:r>
          </a:p>
        </p:txBody>
      </p:sp>
      <p:sp>
        <p:nvSpPr>
          <p:cNvPr id="4" name="Slide Number Placeholder 3"/>
          <p:cNvSpPr>
            <a:spLocks noGrp="1"/>
          </p:cNvSpPr>
          <p:nvPr>
            <p:ph type="sldNum" sz="quarter" idx="10"/>
          </p:nvPr>
        </p:nvSpPr>
        <p:spPr/>
        <p:txBody>
          <a:bodyPr/>
          <a:lstStyle/>
          <a:p>
            <a:fld id="{F7021451-1387-4CA6-816F-3879F97B5CBC}" type="slidenum">
              <a:rPr lang="en-US"/>
              <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CTURE">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0F6E8C"/>
          </a:solidFill>
          <a:ln/>
        </p:spPr>
      </p:sp>
      <p:sp>
        <p:nvSpPr>
          <p:cNvPr id="3" name="Shape 1"/>
          <p:cNvSpPr/>
          <p:nvPr/>
        </p:nvSpPr>
        <p:spPr>
          <a:xfrm>
            <a:off x="548640" y="1097280"/>
            <a:ext cx="11094415" cy="0"/>
          </a:xfrm>
          <a:prstGeom prst="line">
            <a:avLst/>
          </a:prstGeom>
          <a:noFill/>
          <a:ln w="31750">
            <a:solidFill>
              <a:srgbClr val="0F6E8C"/>
            </a:solidFill>
            <a:prstDash val="solid"/>
          </a:ln>
        </p:spPr>
      </p:sp>
      <p:sp>
        <p:nvSpPr>
          <p:cNvPr id="4" name="Shape 2"/>
          <p:cNvSpPr/>
          <p:nvPr/>
        </p:nvSpPr>
        <p:spPr>
          <a:xfrm>
            <a:off x="548640" y="6355080"/>
            <a:ext cx="11094415" cy="0"/>
          </a:xfrm>
          <a:prstGeom prst="line">
            <a:avLst/>
          </a:prstGeom>
          <a:noFill/>
          <a:ln w="9525">
            <a:solidFill>
              <a:srgbClr val="D3D9E1"/>
            </a:solidFill>
            <a:prstDash val="solid"/>
          </a:ln>
        </p:spPr>
      </p:sp>
      <p:sp>
        <p:nvSpPr>
          <p:cNvPr id="5" name="Text 3"/>
          <p:cNvSpPr/>
          <p:nvPr/>
        </p:nvSpPr>
        <p:spPr>
          <a:xfrm>
            <a:off x="548640" y="6400800"/>
            <a:ext cx="5486400" cy="320040"/>
          </a:xfrm>
          <a:prstGeom prst="rect">
            <a:avLst/>
          </a:prstGeom>
          <a:noFill/>
          <a:ln/>
        </p:spPr>
        <p:txBody>
          <a:bodyPr wrap="square" lIns="0" tIns="0" rIns="0" bIns="0" rtlCol="0" anchor="ctr"/>
          <a:lstStyle/>
          <a:p>
            <a:pPr indent="0" marL="0">
              <a:buNone/>
            </a:pPr>
            <a:r>
              <a:rPr lang="en-US" sz="1100" dirty="0">
                <a:solidFill>
                  <a:srgbClr val="566071"/>
                </a:solidFill>
                <a:latin typeface="Calibri" pitchFamily="34" charset="0"/>
                <a:ea typeface="Calibri" pitchFamily="34" charset="-122"/>
                <a:cs typeface="Calibri" pitchFamily="34" charset="-120"/>
              </a:rPr>
              <a:t>Systems Thinking and MBSE with SysML v2</a:t>
            </a:r>
            <a:endParaRPr lang="en-US" sz="1100" dirty="0"/>
          </a:p>
        </p:txBody>
      </p:sp>
      <p:sp>
        <p:nvSpPr>
          <p:cNvPr id="6" name="Text 4"/>
          <p:cNvSpPr/>
          <p:nvPr/>
        </p:nvSpPr>
        <p:spPr>
          <a:xfrm>
            <a:off x="4724248" y="6400800"/>
            <a:ext cx="2743200" cy="320040"/>
          </a:xfrm>
          <a:prstGeom prst="rect">
            <a:avLst/>
          </a:prstGeom>
          <a:noFill/>
          <a:ln/>
        </p:spPr>
        <p:txBody>
          <a:bodyPr wrap="square" lIns="0" tIns="0" rIns="0" bIns="0" rtlCol="0" anchor="ctr"/>
          <a:lstStyle/>
          <a:p>
            <a:pPr algn="ctr" indent="0" marL="0">
              <a:buNone/>
            </a:pPr>
            <a:r>
              <a:rPr lang="en-US" sz="1100" dirty="0">
                <a:solidFill>
                  <a:srgbClr val="566071"/>
                </a:solidFill>
                <a:latin typeface="Calibri" pitchFamily="34" charset="0"/>
                <a:ea typeface="Calibri" pitchFamily="34" charset="-122"/>
                <a:cs typeface="Calibri" pitchFamily="34" charset="-120"/>
              </a:rPr>
              <a:t>Week 4 · Session 1</a:t>
            </a:r>
            <a:endParaRPr lang="en-US" sz="1100" dirty="0"/>
          </a:p>
        </p:txBody>
      </p:sp>
      <p:sp>
        <p:nvSpPr>
          <p:cNvPr id="25" name="Slide Number Placeholder 0"/>
          <p:cNvSpPr>
            <a:spLocks noGrp="1"/>
          </p:cNvSpPr>
          <p:nvPr>
            <p:ph type="sldNum" sz="quarter" idx="4294967295"/>
          </p:nvPr>
        </p:nvSpPr>
        <p:spPr>
          <a:xfrm>
            <a:off x="10728655" y="6400800"/>
            <a:ext cx="91440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18202D"/>
                </a:solidFill>
                <a:latin typeface="Calibri"/>
                <a:ea typeface="Calibri"/>
                <a:cs typeface="Calibri"/>
              </a:defRPr>
            </a:lvl1pPr>
          </a:lstStyle>
          <a:p>
            <a:pPr algn="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LECTURE_TITLE">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320040" cy="6858000"/>
          </a:xfrm>
          <a:prstGeom prst="rect">
            <a:avLst/>
          </a:prstGeom>
          <a:solidFill>
            <a:srgbClr val="0F6E8C"/>
          </a:solidFill>
          <a:ln/>
        </p:spPr>
      </p:sp>
      <p:sp>
        <p:nvSpPr>
          <p:cNvPr id="3" name="Shape 1"/>
          <p:cNvSpPr/>
          <p:nvPr/>
        </p:nvSpPr>
        <p:spPr>
          <a:xfrm>
            <a:off x="548640" y="6355080"/>
            <a:ext cx="11094415" cy="0"/>
          </a:xfrm>
          <a:prstGeom prst="line">
            <a:avLst/>
          </a:prstGeom>
          <a:noFill/>
          <a:ln w="9525">
            <a:solidFill>
              <a:srgbClr val="D3D9E1"/>
            </a:solidFill>
            <a:prstDash val="solid"/>
          </a:ln>
        </p:spPr>
      </p:sp>
      <p:sp>
        <p:nvSpPr>
          <p:cNvPr id="4" name="Text 2"/>
          <p:cNvSpPr/>
          <p:nvPr/>
        </p:nvSpPr>
        <p:spPr>
          <a:xfrm>
            <a:off x="548640" y="6400800"/>
            <a:ext cx="5486400" cy="320040"/>
          </a:xfrm>
          <a:prstGeom prst="rect">
            <a:avLst/>
          </a:prstGeom>
          <a:noFill/>
          <a:ln/>
        </p:spPr>
        <p:txBody>
          <a:bodyPr wrap="square" lIns="0" tIns="0" rIns="0" bIns="0" rtlCol="0" anchor="ctr"/>
          <a:lstStyle/>
          <a:p>
            <a:pPr indent="0" marL="0">
              <a:buNone/>
            </a:pPr>
            <a:r>
              <a:rPr lang="en-US" sz="1100" dirty="0">
                <a:solidFill>
                  <a:srgbClr val="566071"/>
                </a:solidFill>
                <a:latin typeface="Calibri" pitchFamily="34" charset="0"/>
                <a:ea typeface="Calibri" pitchFamily="34" charset="-122"/>
                <a:cs typeface="Calibri" pitchFamily="34" charset="-120"/>
              </a:rPr>
              <a:t>Systems Thinking and MBSE with SysML v2</a:t>
            </a:r>
            <a:endParaRPr lang="en-US" sz="1100" dirty="0"/>
          </a:p>
        </p:txBody>
      </p:sp>
      <p:sp>
        <p:nvSpPr>
          <p:cNvPr id="5" name="Text 3"/>
          <p:cNvSpPr/>
          <p:nvPr/>
        </p:nvSpPr>
        <p:spPr>
          <a:xfrm>
            <a:off x="4724248" y="6400800"/>
            <a:ext cx="2743200" cy="320040"/>
          </a:xfrm>
          <a:prstGeom prst="rect">
            <a:avLst/>
          </a:prstGeom>
          <a:noFill/>
          <a:ln/>
        </p:spPr>
        <p:txBody>
          <a:bodyPr wrap="square" lIns="0" tIns="0" rIns="0" bIns="0" rtlCol="0" anchor="ctr"/>
          <a:lstStyle/>
          <a:p>
            <a:pPr algn="ctr" indent="0" marL="0">
              <a:buNone/>
            </a:pPr>
            <a:r>
              <a:rPr lang="en-US" sz="1100" dirty="0">
                <a:solidFill>
                  <a:srgbClr val="566071"/>
                </a:solidFill>
                <a:latin typeface="Calibri" pitchFamily="34" charset="0"/>
                <a:ea typeface="Calibri" pitchFamily="34" charset="-122"/>
                <a:cs typeface="Calibri" pitchFamily="34" charset="-120"/>
              </a:rPr>
              <a:t>Week 4 · Session 1</a:t>
            </a:r>
            <a:endParaRPr lang="en-US" sz="1100" dirty="0"/>
          </a:p>
        </p:txBody>
      </p:sp>
      <p:sp>
        <p:nvSpPr>
          <p:cNvPr id="25" name="Slide Number Placeholder 0"/>
          <p:cNvSpPr>
            <a:spLocks noGrp="1"/>
          </p:cNvSpPr>
          <p:nvPr>
            <p:ph type="sldNum" sz="quarter" idx="4294967295"/>
          </p:nvPr>
        </p:nvSpPr>
        <p:spPr>
          <a:xfrm>
            <a:off x="10728655" y="6400800"/>
            <a:ext cx="91440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18202D"/>
                </a:solidFill>
                <a:latin typeface="Calibri"/>
                <a:ea typeface="Calibri"/>
                <a:cs typeface="Calibri"/>
              </a:defRPr>
            </a:lvl1pPr>
          </a:lstStyle>
          <a:p>
            <a:pPr algn="r"/>
            <a:fld id="{F7021451-1387-4CA6-816F-3879F97B5CBC}" type="slidenum">
              <a:rPr b="1"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728655" y="6400800"/>
            <a:ext cx="91440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18202D"/>
                </a:solidFill>
                <a:latin typeface="Calibri"/>
                <a:ea typeface="Calibri"/>
                <a:cs typeface="Calibri"/>
              </a:defRPr>
            </a:lvl1pPr>
          </a:lstStyle>
          <a:p>
            <a:pPr algn="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2.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2.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1005840" y="1234440"/>
            <a:ext cx="9144000" cy="365760"/>
          </a:xfrm>
          <a:prstGeom prst="rect">
            <a:avLst/>
          </a:prstGeom>
          <a:noFill/>
          <a:ln/>
        </p:spPr>
        <p:txBody>
          <a:bodyPr wrap="square" lIns="0" tIns="0" rIns="0" bIns="0" rtlCol="0" anchor="ctr"/>
          <a:lstStyle/>
          <a:p>
            <a:pPr indent="0" marL="0">
              <a:buNone/>
            </a:pPr>
            <a:r>
              <a:rPr lang="en-US" sz="1600" b="1" spc="200" kern="0" dirty="0">
                <a:solidFill>
                  <a:srgbClr val="0F6E8C"/>
                </a:solidFill>
                <a:latin typeface="Calibri" pitchFamily="34" charset="0"/>
                <a:ea typeface="Calibri" pitchFamily="34" charset="-122"/>
                <a:cs typeface="Calibri" pitchFamily="34" charset="-120"/>
              </a:rPr>
              <a:t>WEEK 4 · SESSION 1</a:t>
            </a:r>
            <a:endParaRPr lang="en-US" sz="1600" dirty="0"/>
          </a:p>
        </p:txBody>
      </p:sp>
      <p:sp>
        <p:nvSpPr>
          <p:cNvPr id="3" name="Text 1"/>
          <p:cNvSpPr/>
          <p:nvPr/>
        </p:nvSpPr>
        <p:spPr>
          <a:xfrm>
            <a:off x="1005840" y="1645920"/>
            <a:ext cx="10058400" cy="1463040"/>
          </a:xfrm>
          <a:prstGeom prst="rect">
            <a:avLst/>
          </a:prstGeom>
          <a:noFill/>
          <a:ln/>
        </p:spPr>
        <p:txBody>
          <a:bodyPr wrap="square" lIns="0" tIns="0" rIns="0" bIns="0" rtlCol="0" anchor="t"/>
          <a:lstStyle/>
          <a:p>
            <a:pPr indent="0" marL="0">
              <a:buNone/>
            </a:pPr>
            <a:r>
              <a:rPr lang="en-US" sz="4400" b="1" dirty="0">
                <a:solidFill>
                  <a:srgbClr val="18202D"/>
                </a:solidFill>
                <a:latin typeface="Calibri" pitchFamily="34" charset="0"/>
                <a:ea typeface="Calibri" pitchFamily="34" charset="-122"/>
                <a:cs typeface="Calibri" pitchFamily="34" charset="-120"/>
              </a:rPr>
              <a:t>Architecture / Information View</a:t>
            </a:r>
            <a:endParaRPr lang="en-US" sz="4400" dirty="0"/>
          </a:p>
        </p:txBody>
      </p:sp>
      <p:sp>
        <p:nvSpPr>
          <p:cNvPr id="4" name="Text 2"/>
          <p:cNvSpPr/>
          <p:nvPr/>
        </p:nvSpPr>
        <p:spPr>
          <a:xfrm>
            <a:off x="1005840" y="3200400"/>
            <a:ext cx="10058400" cy="548640"/>
          </a:xfrm>
          <a:prstGeom prst="rect">
            <a:avLst/>
          </a:prstGeom>
          <a:noFill/>
          <a:ln/>
        </p:spPr>
        <p:txBody>
          <a:bodyPr wrap="square" lIns="0" tIns="0" rIns="0" bIns="0" rtlCol="0" anchor="ctr"/>
          <a:lstStyle/>
          <a:p>
            <a:pPr indent="0" marL="0">
              <a:buNone/>
            </a:pPr>
            <a:r>
              <a:rPr lang="en-US" sz="2200" dirty="0">
                <a:solidFill>
                  <a:srgbClr val="566071"/>
                </a:solidFill>
                <a:latin typeface="Calibri" pitchFamily="34" charset="0"/>
                <a:ea typeface="Calibri" pitchFamily="34" charset="-122"/>
                <a:cs typeface="Calibri" pitchFamily="34" charset="-120"/>
              </a:rPr>
              <a:t>Session 1: Views, functions and allocation</a:t>
            </a:r>
            <a:endParaRPr lang="en-US" sz="2200" dirty="0"/>
          </a:p>
        </p:txBody>
      </p:sp>
      <p:sp>
        <p:nvSpPr>
          <p:cNvPr id="5" name="Text 3"/>
          <p:cNvSpPr/>
          <p:nvPr/>
        </p:nvSpPr>
        <p:spPr>
          <a:xfrm>
            <a:off x="1005840" y="3931920"/>
            <a:ext cx="7772400" cy="1751076"/>
          </a:xfrm>
          <a:prstGeom prst="rect">
            <a:avLst/>
          </a:prstGeom>
          <a:noFill/>
          <a:ln/>
        </p:spPr>
        <p:txBody>
          <a:bodyPr wrap="square" lIns="25400" tIns="25400" rIns="25400" bIns="25400" rtlCol="0" anchor="t"/>
          <a:lstStyle/>
          <a:p>
            <a:pPr marL="228600" indent="-228600">
              <a:spcBef>
                <a:spcPts val="600"/>
              </a:spcBef>
              <a:buSzPct val="100000"/>
              <a:buChar char="■"/>
            </a:pPr>
            <a:r>
              <a:rPr lang="en-US" sz="1800" dirty="0">
                <a:solidFill>
                  <a:srgbClr val="18202D"/>
                </a:solidFill>
                <a:latin typeface="Calibri" pitchFamily="34" charset="0"/>
                <a:ea typeface="Calibri" pitchFamily="34" charset="-122"/>
                <a:cs typeface="Calibri" pitchFamily="34" charset="-120"/>
              </a:rPr>
              <a:t>Today: architecture and its description, functions, allocation</a:t>
            </a:r>
            <a:endParaRPr lang="en-US" sz="1800" dirty="0"/>
          </a:p>
          <a:p>
            <a:pPr marL="228600" indent="-228600">
              <a:spcBef>
                <a:spcPts val="600"/>
              </a:spcBef>
              <a:buSzPct val="100000"/>
              <a:buChar char="■"/>
            </a:pPr>
            <a:r>
              <a:rPr lang="en-US" sz="1800" dirty="0">
                <a:solidFill>
                  <a:srgbClr val="18202D"/>
                </a:solidFill>
                <a:latin typeface="Calibri" pitchFamily="34" charset="0"/>
                <a:ea typeface="Calibri" pitchFamily="34" charset="-122"/>
                <a:cs typeface="Calibri" pitchFamily="34" charset="-120"/>
              </a:rPr>
              <a:t>Session 2: the information view, evaluation and the Lab L4 launch</a:t>
            </a:r>
            <a:endParaRPr lang="en-US" sz="1800" dirty="0"/>
          </a:p>
          <a:p>
            <a:pPr marL="228600" indent="-228600">
              <a:spcBef>
                <a:spcPts val="600"/>
              </a:spcBef>
              <a:buSzPct val="100000"/>
              <a:buChar char="■"/>
            </a:pPr>
            <a:r>
              <a:rPr lang="en-US" sz="1800" dirty="0">
                <a:solidFill>
                  <a:srgbClr val="18202D"/>
                </a:solidFill>
                <a:latin typeface="Calibri" pitchFamily="34" charset="0"/>
                <a:ea typeface="Calibri" pitchFamily="34" charset="-122"/>
                <a:cs typeface="Calibri" pitchFamily="34" charset="-120"/>
              </a:rPr>
              <a:t>Your Team Record grows: views, functions, allocation, information view</a:t>
            </a:r>
            <a:endParaRPr lang="en-US" sz="1800" dirty="0"/>
          </a:p>
        </p:txBody>
      </p:sp>
      <p:sp>
        <p:nvSpPr>
          <p:cNvPr id="25" name="Slide Number Placeholder 0"/>
          <p:cNvSpPr>
            <a:spLocks noGrp="1"/>
          </p:cNvSpPr>
          <p:nvPr>
            <p:ph type="sldNum" sz="quarter" idx="4294967295"/>
          </p:nvPr>
        </p:nvSpPr>
        <p:spPr>
          <a:xfrm>
            <a:off x="10728655" y="6400800"/>
            <a:ext cx="91440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18202D"/>
                </a:solidFill>
                <a:latin typeface="Calibri"/>
                <a:ea typeface="Calibri"/>
                <a:cs typeface="Calibri"/>
              </a:defRPr>
            </a:lvl1pPr>
          </a:lstStyle>
          <a:p>
            <a:pPr algn="r"/>
            <a:fld id="{F7021451-1387-4CA6-816F-3879F97B5CBC}" type="slidenum">
              <a:rPr b="1"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548640" y="5991225"/>
            <a:ext cx="11094415" cy="272415"/>
          </a:xfrm>
          <a:prstGeom prst="rect">
            <a:avLst/>
          </a:prstGeom>
          <a:noFill/>
          <a:ln/>
        </p:spPr>
        <p:txBody>
          <a:bodyPr wrap="square" lIns="0" tIns="0" rIns="0" bIns="0" rtlCol="0" anchor="b"/>
          <a:lstStyle/>
          <a:p>
            <a:pPr indent="0" marL="0">
              <a:buNone/>
            </a:pPr>
            <a:r>
              <a:rPr lang="en-US" sz="1050" b="1" dirty="0">
                <a:solidFill>
                  <a:srgbClr val="18202D"/>
                </a:solidFill>
                <a:latin typeface="Calibri" pitchFamily="34" charset="0"/>
                <a:ea typeface="Calibri" pitchFamily="34" charset="-122"/>
                <a:cs typeface="Calibri" pitchFamily="34" charset="-120"/>
              </a:rPr>
              <a:t>Figure. </a:t>
            </a:r>
            <a:pPr indent="0" marL="0">
              <a:buNone/>
            </a:pPr>
            <a:r>
              <a:rPr lang="en-US" sz="1050" dirty="0">
                <a:solidFill>
                  <a:srgbClr val="566071"/>
                </a:solidFill>
                <a:latin typeface="Calibri" pitchFamily="34" charset="0"/>
                <a:ea typeface="Calibri" pitchFamily="34" charset="-122"/>
                <a:cs typeface="Calibri" pitchFamily="34" charset="-120"/>
              </a:rPr>
              <a:t>Three pieces of information an AeroLink dispatch decision needs, each produced somewhere else. (FICTIONAL)</a:t>
            </a:r>
            <a:endParaRPr lang="en-US" sz="1050" dirty="0"/>
          </a:p>
        </p:txBody>
      </p:sp>
      <p:sp>
        <p:nvSpPr>
          <p:cNvPr id="3" name="Text 1"/>
          <p:cNvSpPr/>
          <p:nvPr/>
        </p:nvSpPr>
        <p:spPr>
          <a:xfrm>
            <a:off x="548640" y="292608"/>
            <a:ext cx="11094415" cy="731520"/>
          </a:xfrm>
          <a:prstGeom prst="rect">
            <a:avLst/>
          </a:prstGeom>
          <a:noFill/>
          <a:ln/>
        </p:spPr>
        <p:txBody>
          <a:bodyPr wrap="square" lIns="0" tIns="0" rIns="0" bIns="0" rtlCol="0" anchor="b"/>
          <a:lstStyle/>
          <a:p>
            <a:pPr indent="0" marL="0">
              <a:buNone/>
            </a:pPr>
            <a:r>
              <a:rPr lang="en-US" sz="3000" b="1" dirty="0">
                <a:solidFill>
                  <a:srgbClr val="18202D"/>
                </a:solidFill>
                <a:latin typeface="Calibri" pitchFamily="34" charset="0"/>
                <a:ea typeface="Calibri" pitchFamily="34" charset="-122"/>
                <a:cs typeface="Calibri" pitchFamily="34" charset="-120"/>
              </a:rPr>
              <a:t>The driving question: who decides that an aircraft may fly?</a:t>
            </a:r>
            <a:endParaRPr lang="en-US" sz="3000" dirty="0"/>
          </a:p>
        </p:txBody>
      </p:sp>
      <p:pic>
        <p:nvPicPr>
          <p:cNvPr id="4" name="Image 0" descr="An aircraft on a vertiport pad at the left. Three labels with question marks float from different places toward an operations-center console at the right: fault status, from a maintenance hangar; charge state, from a charger; and the forecast, from a weather source above. The console carries a release button.">    </p:cNvPr>
          <p:cNvPicPr>
            <a:picLocks noChangeAspect="1"/>
          </p:cNvPicPr>
          <p:nvPr/>
        </p:nvPicPr>
        <p:blipFill>
          <a:blip r:embed="rId1"/>
          <a:stretch>
            <a:fillRect/>
          </a:stretch>
        </p:blipFill>
        <p:spPr>
          <a:xfrm>
            <a:off x="548640" y="1772406"/>
            <a:ext cx="6379289" cy="3589413"/>
          </a:xfrm>
          <a:prstGeom prst="rect">
            <a:avLst/>
          </a:prstGeom>
        </p:spPr>
      </p:pic>
      <p:sp>
        <p:nvSpPr>
          <p:cNvPr id="5" name="Shape 2"/>
          <p:cNvSpPr/>
          <p:nvPr/>
        </p:nvSpPr>
        <p:spPr>
          <a:xfrm>
            <a:off x="7293689" y="1280160"/>
            <a:ext cx="4349366" cy="1320546"/>
          </a:xfrm>
          <a:prstGeom prst="roundRect">
            <a:avLst>
              <a:gd name="adj" fmla="val 4155"/>
            </a:avLst>
          </a:prstGeom>
          <a:solidFill>
            <a:srgbClr val="ECEFF3"/>
          </a:solidFill>
          <a:ln w="12700">
            <a:solidFill>
              <a:srgbClr val="D3D9E1"/>
            </a:solidFill>
            <a:prstDash val="solid"/>
          </a:ln>
        </p:spPr>
      </p:sp>
      <p:sp>
        <p:nvSpPr>
          <p:cNvPr id="6" name="Text 3"/>
          <p:cNvSpPr/>
          <p:nvPr/>
        </p:nvSpPr>
        <p:spPr>
          <a:xfrm>
            <a:off x="7430849" y="1280160"/>
            <a:ext cx="4075046" cy="1320546"/>
          </a:xfrm>
          <a:prstGeom prst="rect">
            <a:avLst/>
          </a:prstGeom>
          <a:noFill/>
          <a:ln/>
        </p:spPr>
        <p:txBody>
          <a:bodyPr wrap="square" lIns="38100" tIns="38100" rIns="38100" bIns="38100" rtlCol="0" anchor="ctr"/>
          <a:lstStyle/>
          <a:p>
            <a:pPr indent="0" marL="0">
              <a:buNone/>
            </a:pPr>
            <a:r>
              <a:rPr lang="en-US" sz="1200" b="1" spc="100" kern="0" dirty="0">
                <a:solidFill>
                  <a:srgbClr val="18202D"/>
                </a:solidFill>
                <a:latin typeface="Calibri" pitchFamily="34" charset="0"/>
                <a:ea typeface="Calibri" pitchFamily="34" charset="-122"/>
                <a:cs typeface="Calibri" pitchFamily="34" charset="-120"/>
              </a:rPr>
              <a:t>SCENARIO (FICTIONAL)</a:t>
            </a:r>
            <a:endParaRPr lang="en-US" sz="1200" dirty="0"/>
          </a:p>
          <a:p>
            <a:pPr indent="0" marL="0">
              <a:buNone/>
            </a:pPr>
            <a:r>
              <a:rPr lang="en-US" sz="1700" dirty="0">
                <a:solidFill>
                  <a:srgbClr val="18202D"/>
                </a:solidFill>
                <a:latin typeface="Calibri" pitchFamily="34" charset="0"/>
                <a:ea typeface="Calibri" pitchFamily="34" charset="-122"/>
                <a:cs typeface="Calibri" pitchFamily="34" charset="-120"/>
              </a:rPr>
              <a:t>An AeroLink aircraft is ready on a hub pad. A passenger party is boarding.</a:t>
            </a:r>
            <a:endParaRPr lang="en-US" sz="1200" dirty="0"/>
          </a:p>
        </p:txBody>
      </p:sp>
      <p:sp>
        <p:nvSpPr>
          <p:cNvPr id="7" name="Text 4"/>
          <p:cNvSpPr/>
          <p:nvPr/>
        </p:nvSpPr>
        <p:spPr>
          <a:xfrm>
            <a:off x="7293689" y="2765298"/>
            <a:ext cx="4349366" cy="2215896"/>
          </a:xfrm>
          <a:prstGeom prst="rect">
            <a:avLst/>
          </a:prstGeom>
          <a:noFill/>
          <a:ln/>
        </p:spPr>
        <p:txBody>
          <a:bodyPr wrap="square" lIns="25400" tIns="25400" rIns="25400" bIns="25400" rtlCol="0" anchor="t"/>
          <a:lstStyle/>
          <a:p>
            <a:pPr marL="228600" indent="-228600">
              <a:spcBef>
                <a:spcPts val="600"/>
              </a:spcBef>
              <a:buSzPct val="100000"/>
              <a:buChar char="■"/>
            </a:pPr>
            <a:r>
              <a:rPr lang="en-US" sz="2000" dirty="0">
                <a:solidFill>
                  <a:srgbClr val="18202D"/>
                </a:solidFill>
                <a:latin typeface="Calibri" pitchFamily="34" charset="0"/>
                <a:ea typeface="Calibri" pitchFamily="34" charset="-122"/>
                <a:cs typeface="Calibri" pitchFamily="34" charset="-120"/>
              </a:rPr>
              <a:t>Who makes the release decision?</a:t>
            </a:r>
            <a:endParaRPr lang="en-US" sz="2000" dirty="0"/>
          </a:p>
          <a:p>
            <a:pPr marL="228600" indent="-228600">
              <a:spcBef>
                <a:spcPts val="600"/>
              </a:spcBef>
              <a:buSzPct val="100000"/>
              <a:buChar char="■"/>
            </a:pPr>
            <a:r>
              <a:rPr lang="en-US" sz="2000" dirty="0">
                <a:solidFill>
                  <a:srgbClr val="18202D"/>
                </a:solidFill>
                <a:latin typeface="Calibri" pitchFamily="34" charset="0"/>
                <a:ea typeface="Calibri" pitchFamily="34" charset="-122"/>
                <a:cs typeface="Calibri" pitchFamily="34" charset="-120"/>
              </a:rPr>
              <a:t>Where is the fault status, the charge state and the forecast produced?</a:t>
            </a:r>
            <a:endParaRPr lang="en-US" sz="2000" dirty="0"/>
          </a:p>
          <a:p>
            <a:pPr marL="228600" indent="-228600">
              <a:spcBef>
                <a:spcPts val="600"/>
              </a:spcBef>
              <a:buSzPct val="100000"/>
              <a:buChar char="■"/>
            </a:pPr>
            <a:r>
              <a:rPr lang="en-US" sz="2000" dirty="0">
                <a:solidFill>
                  <a:srgbClr val="18202D"/>
                </a:solidFill>
                <a:latin typeface="Calibri" pitchFamily="34" charset="0"/>
                <a:ea typeface="Calibri" pitchFamily="34" charset="-122"/>
                <a:cs typeface="Calibri" pitchFamily="34" charset="-120"/>
              </a:rPr>
              <a:t>What carries each one to the decision?</a:t>
            </a:r>
            <a:endParaRPr lang="en-US" sz="2000" dirty="0"/>
          </a:p>
        </p:txBody>
      </p:sp>
      <p:sp>
        <p:nvSpPr>
          <p:cNvPr id="25" name="Slide Number Placeholder 0"/>
          <p:cNvSpPr>
            <a:spLocks noGrp="1"/>
          </p:cNvSpPr>
          <p:nvPr>
            <p:ph type="sldNum" sz="quarter" idx="4294967295"/>
          </p:nvPr>
        </p:nvSpPr>
        <p:spPr>
          <a:xfrm>
            <a:off x="10728655" y="6400800"/>
            <a:ext cx="91440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18202D"/>
                </a:solidFill>
                <a:latin typeface="Calibri"/>
                <a:ea typeface="Calibri"/>
                <a:cs typeface="Calibri"/>
              </a:defRPr>
            </a:lvl1pPr>
          </a:lstStyle>
          <a:p>
            <a:pPr algn="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548640" y="5828538"/>
            <a:ext cx="11094415" cy="435102"/>
          </a:xfrm>
          <a:prstGeom prst="rect">
            <a:avLst/>
          </a:prstGeom>
          <a:noFill/>
          <a:ln/>
        </p:spPr>
        <p:txBody>
          <a:bodyPr wrap="square" lIns="0" tIns="0" rIns="0" bIns="0" rtlCol="0" anchor="b"/>
          <a:lstStyle/>
          <a:p>
            <a:pPr indent="0" marL="0">
              <a:buNone/>
            </a:pPr>
            <a:r>
              <a:rPr lang="en-US" sz="1050" b="1" dirty="0">
                <a:solidFill>
                  <a:srgbClr val="18202D"/>
                </a:solidFill>
                <a:latin typeface="Calibri" pitchFamily="34" charset="0"/>
                <a:ea typeface="Calibri" pitchFamily="34" charset="-122"/>
                <a:cs typeface="Calibri" pitchFamily="34" charset="-120"/>
              </a:rPr>
              <a:t>Figure. </a:t>
            </a:r>
            <a:pPr indent="0" marL="0">
              <a:buNone/>
            </a:pPr>
            <a:r>
              <a:rPr lang="en-US" sz="1050" dirty="0">
                <a:solidFill>
                  <a:srgbClr val="566071"/>
                </a:solidFill>
                <a:latin typeface="Calibri" pitchFamily="34" charset="0"/>
                <a:ea typeface="Calibri" pitchFamily="34" charset="-122"/>
                <a:cs typeface="Calibri" pitchFamily="34" charset="-120"/>
              </a:rPr>
              <a:t>Week 4 takes the needs, requirements, scenarios and the trade decision, and feeds the interfaces, the roadmap and the Phase II models.</a:t>
            </a:r>
            <a:endParaRPr lang="en-US" sz="1050" dirty="0"/>
          </a:p>
          <a:p>
            <a:pPr indent="0" marL="0">
              <a:buNone/>
            </a:pPr>
            <a:r>
              <a:rPr lang="en-US" sz="1050" b="1" dirty="0">
                <a:solidFill>
                  <a:srgbClr val="18202D"/>
                </a:solidFill>
                <a:latin typeface="Calibri" pitchFamily="34" charset="0"/>
                <a:ea typeface="Calibri" pitchFamily="34" charset="-122"/>
                <a:cs typeface="Calibri" pitchFamily="34" charset="-120"/>
              </a:rPr>
              <a:t>Sources: </a:t>
            </a:r>
            <a:pPr indent="0" marL="0">
              <a:buNone/>
            </a:pPr>
            <a:r>
              <a:rPr lang="en-US" sz="1050" dirty="0">
                <a:solidFill>
                  <a:srgbClr val="566071"/>
                </a:solidFill>
                <a:latin typeface="Calibri" pitchFamily="34" charset="0"/>
                <a:ea typeface="Calibri" pitchFamily="34" charset="-122"/>
                <a:cs typeface="Calibri" pitchFamily="34" charset="-120"/>
              </a:rPr>
              <a:t>R13 p.557; R13 p.561</a:t>
            </a:r>
            <a:endParaRPr lang="en-US" sz="1050" dirty="0"/>
          </a:p>
        </p:txBody>
      </p:sp>
      <p:sp>
        <p:nvSpPr>
          <p:cNvPr id="3" name="Text 1"/>
          <p:cNvSpPr/>
          <p:nvPr/>
        </p:nvSpPr>
        <p:spPr>
          <a:xfrm>
            <a:off x="548640" y="292608"/>
            <a:ext cx="11094415" cy="731520"/>
          </a:xfrm>
          <a:prstGeom prst="rect">
            <a:avLst/>
          </a:prstGeom>
          <a:noFill/>
          <a:ln/>
        </p:spPr>
        <p:txBody>
          <a:bodyPr wrap="square" lIns="0" tIns="0" rIns="0" bIns="0" rtlCol="0" anchor="b"/>
          <a:lstStyle/>
          <a:p>
            <a:pPr indent="0" marL="0">
              <a:buNone/>
            </a:pPr>
            <a:r>
              <a:rPr lang="en-US" sz="3000" b="1" dirty="0">
                <a:solidFill>
                  <a:srgbClr val="18202D"/>
                </a:solidFill>
                <a:latin typeface="Calibri" pitchFamily="34" charset="0"/>
                <a:ea typeface="Calibri" pitchFamily="34" charset="-122"/>
                <a:cs typeface="Calibri" pitchFamily="34" charset="-120"/>
              </a:rPr>
              <a:t>Where Week 4 sits: from requirements to the first how</a:t>
            </a:r>
            <a:endParaRPr lang="en-US" sz="3000" dirty="0"/>
          </a:p>
        </p:txBody>
      </p:sp>
      <p:pic>
        <p:nvPicPr>
          <p:cNvPr id="4" name="Image 0" descr="A band of weekly boxes from left to right: Week 1 needs and concerns, Week 2 scenarios, capabilities and requirements, Week 3 decision, risks and TPMs, then a highlighted Week 4 architecture and information view. Arrows leave Week 4 to Week 5 components and interfaces, Week 6 evolution roadmap, Week 10 logical and behavioral model and Week 11 physical model.">    </p:cNvPr>
          <p:cNvPicPr>
            <a:picLocks noChangeAspect="1"/>
          </p:cNvPicPr>
          <p:nvPr/>
        </p:nvPicPr>
        <p:blipFill>
          <a:blip r:embed="rId1"/>
          <a:stretch>
            <a:fillRect/>
          </a:stretch>
        </p:blipFill>
        <p:spPr>
          <a:xfrm>
            <a:off x="548640" y="1585938"/>
            <a:ext cx="6379289" cy="3799661"/>
          </a:xfrm>
          <a:prstGeom prst="rect">
            <a:avLst/>
          </a:prstGeom>
        </p:spPr>
      </p:pic>
      <p:sp>
        <p:nvSpPr>
          <p:cNvPr id="5" name="Text 2"/>
          <p:cNvSpPr/>
          <p:nvPr/>
        </p:nvSpPr>
        <p:spPr>
          <a:xfrm>
            <a:off x="7293689" y="1280160"/>
            <a:ext cx="4349366" cy="2917952"/>
          </a:xfrm>
          <a:prstGeom prst="rect">
            <a:avLst/>
          </a:prstGeom>
          <a:noFill/>
          <a:ln/>
        </p:spPr>
        <p:txBody>
          <a:bodyPr wrap="square" lIns="25400" tIns="25400" rIns="25400" bIns="25400" rtlCol="0" anchor="t"/>
          <a:lstStyle/>
          <a:p>
            <a:pPr marL="228600" indent="-228600">
              <a:spcBef>
                <a:spcPts val="600"/>
              </a:spcBef>
              <a:buSzPct val="100000"/>
              <a:buChar char="■"/>
            </a:pPr>
            <a:r>
              <a:rPr lang="en-US" sz="2000" dirty="0">
                <a:solidFill>
                  <a:srgbClr val="18202D"/>
                </a:solidFill>
                <a:latin typeface="Calibri" pitchFamily="34" charset="0"/>
                <a:ea typeface="Calibri" pitchFamily="34" charset="-122"/>
                <a:cs typeface="Calibri" pitchFamily="34" charset="-120"/>
              </a:rPr>
              <a:t>In: concerns, needs, scenarios, capabilities, requirements</a:t>
            </a:r>
            <a:endParaRPr lang="en-US" sz="2000" dirty="0"/>
          </a:p>
          <a:p>
            <a:pPr marL="228600" indent="-228600">
              <a:spcBef>
                <a:spcPts val="600"/>
              </a:spcBef>
              <a:buSzPct val="100000"/>
              <a:buChar char="■"/>
            </a:pPr>
            <a:r>
              <a:rPr lang="en-US" sz="2000" dirty="0">
                <a:solidFill>
                  <a:srgbClr val="18202D"/>
                </a:solidFill>
                <a:latin typeface="Calibri" pitchFamily="34" charset="0"/>
                <a:ea typeface="Calibri" pitchFamily="34" charset="-122"/>
                <a:cs typeface="Calibri" pitchFamily="34" charset="-120"/>
              </a:rPr>
              <a:t>In: the Week 3 decision, risks and TPMs</a:t>
            </a:r>
            <a:endParaRPr lang="en-US" sz="2000" dirty="0"/>
          </a:p>
          <a:p>
            <a:pPr marL="228600" indent="-228600">
              <a:spcBef>
                <a:spcPts val="600"/>
              </a:spcBef>
              <a:buSzPct val="100000"/>
              <a:buChar char="■"/>
            </a:pPr>
            <a:r>
              <a:rPr lang="en-US" sz="2000" dirty="0">
                <a:solidFill>
                  <a:srgbClr val="18202D"/>
                </a:solidFill>
                <a:latin typeface="Calibri" pitchFamily="34" charset="0"/>
                <a:ea typeface="Calibri" pitchFamily="34" charset="-122"/>
                <a:cs typeface="Calibri" pitchFamily="34" charset="-120"/>
              </a:rPr>
              <a:t>Requirements form the basis of architecture</a:t>
            </a:r>
            <a:endParaRPr lang="en-US" sz="2000" dirty="0"/>
          </a:p>
          <a:p>
            <a:pPr marL="228600" indent="-228600">
              <a:spcBef>
                <a:spcPts val="600"/>
              </a:spcBef>
              <a:buSzPct val="100000"/>
              <a:buChar char="■"/>
            </a:pPr>
            <a:r>
              <a:rPr lang="en-US" sz="2000" dirty="0">
                <a:solidFill>
                  <a:srgbClr val="18202D"/>
                </a:solidFill>
                <a:latin typeface="Calibri" pitchFamily="34" charset="0"/>
                <a:ea typeface="Calibri" pitchFamily="34" charset="-122"/>
                <a:cs typeface="Calibri" pitchFamily="34" charset="-120"/>
              </a:rPr>
              <a:t>Out: Week 5 interfaces, Week 6 roadmap, Weeks 10–11 models</a:t>
            </a:r>
            <a:endParaRPr lang="en-US" sz="2000" dirty="0"/>
          </a:p>
        </p:txBody>
      </p:sp>
      <p:sp>
        <p:nvSpPr>
          <p:cNvPr id="25" name="Slide Number Placeholder 0"/>
          <p:cNvSpPr>
            <a:spLocks noGrp="1"/>
          </p:cNvSpPr>
          <p:nvPr>
            <p:ph type="sldNum" sz="quarter" idx="4294967295"/>
          </p:nvPr>
        </p:nvSpPr>
        <p:spPr>
          <a:xfrm>
            <a:off x="10728655" y="6400800"/>
            <a:ext cx="91440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18202D"/>
                </a:solidFill>
                <a:latin typeface="Calibri"/>
                <a:ea typeface="Calibri"/>
                <a:cs typeface="Calibri"/>
              </a:defRPr>
            </a:lvl1pPr>
          </a:lstStyle>
          <a:p>
            <a:pPr algn="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548640" y="5828538"/>
            <a:ext cx="11094415" cy="435102"/>
          </a:xfrm>
          <a:prstGeom prst="rect">
            <a:avLst/>
          </a:prstGeom>
          <a:noFill/>
          <a:ln/>
        </p:spPr>
        <p:txBody>
          <a:bodyPr wrap="square" lIns="0" tIns="0" rIns="0" bIns="0" rtlCol="0" anchor="b"/>
          <a:lstStyle/>
          <a:p>
            <a:pPr indent="0" marL="0">
              <a:buNone/>
            </a:pPr>
            <a:r>
              <a:rPr lang="en-US" sz="1050" b="1" dirty="0">
                <a:solidFill>
                  <a:srgbClr val="18202D"/>
                </a:solidFill>
                <a:latin typeface="Calibri" pitchFamily="34" charset="0"/>
                <a:ea typeface="Calibri" pitchFamily="34" charset="-122"/>
                <a:cs typeface="Calibri" pitchFamily="34" charset="-120"/>
              </a:rPr>
              <a:t>Figure. </a:t>
            </a:r>
            <a:pPr indent="0" marL="0">
              <a:buNone/>
            </a:pPr>
            <a:r>
              <a:rPr lang="en-US" sz="1050" dirty="0">
                <a:solidFill>
                  <a:srgbClr val="566071"/>
                </a:solidFill>
                <a:latin typeface="Calibri" pitchFamily="34" charset="0"/>
                <a:ea typeface="Calibri" pitchFamily="34" charset="-122"/>
                <a:cs typeface="Calibri" pitchFamily="34" charset="-120"/>
              </a:rPr>
              <a:t>The description is what can be seen and reviewed; the architecture is the conception it describes.</a:t>
            </a:r>
            <a:endParaRPr lang="en-US" sz="1050" dirty="0"/>
          </a:p>
          <a:p>
            <a:pPr indent="0" marL="0">
              <a:buNone/>
            </a:pPr>
            <a:r>
              <a:rPr lang="en-US" sz="1050" b="1" dirty="0">
                <a:solidFill>
                  <a:srgbClr val="18202D"/>
                </a:solidFill>
                <a:latin typeface="Calibri" pitchFamily="34" charset="0"/>
                <a:ea typeface="Calibri" pitchFamily="34" charset="-122"/>
                <a:cs typeface="Calibri" pitchFamily="34" charset="-120"/>
              </a:rPr>
              <a:t>Sources: </a:t>
            </a:r>
            <a:pPr indent="0" marL="0">
              <a:buNone/>
            </a:pPr>
            <a:r>
              <a:rPr lang="en-US" sz="1050" dirty="0">
                <a:solidFill>
                  <a:srgbClr val="566071"/>
                </a:solidFill>
                <a:latin typeface="Calibri" pitchFamily="34" charset="0"/>
                <a:ea typeface="Calibri" pitchFamily="34" charset="-122"/>
                <a:cs typeface="Calibri" pitchFamily="34" charset="-120"/>
              </a:rPr>
              <a:t>R39t p.1445; R19 p.569</a:t>
            </a:r>
            <a:endParaRPr lang="en-US" sz="1050" dirty="0"/>
          </a:p>
        </p:txBody>
      </p:sp>
      <p:sp>
        <p:nvSpPr>
          <p:cNvPr id="3" name="Text 1"/>
          <p:cNvSpPr/>
          <p:nvPr/>
        </p:nvSpPr>
        <p:spPr>
          <a:xfrm>
            <a:off x="548640" y="292608"/>
            <a:ext cx="11094415" cy="731520"/>
          </a:xfrm>
          <a:prstGeom prst="rect">
            <a:avLst/>
          </a:prstGeom>
          <a:noFill/>
          <a:ln/>
        </p:spPr>
        <p:txBody>
          <a:bodyPr wrap="square" lIns="0" tIns="0" rIns="0" bIns="0" rtlCol="0" anchor="b"/>
          <a:lstStyle/>
          <a:p>
            <a:pPr indent="0" marL="0">
              <a:buNone/>
            </a:pPr>
            <a:r>
              <a:rPr lang="en-US" sz="3000" b="1" dirty="0">
                <a:solidFill>
                  <a:srgbClr val="18202D"/>
                </a:solidFill>
                <a:latin typeface="Calibri" pitchFamily="34" charset="0"/>
                <a:ea typeface="Calibri" pitchFamily="34" charset="-122"/>
                <a:cs typeface="Calibri" pitchFamily="34" charset="-120"/>
              </a:rPr>
              <a:t>What an architecture is</a:t>
            </a:r>
            <a:endParaRPr lang="en-US" sz="3000" dirty="0"/>
          </a:p>
        </p:txBody>
      </p:sp>
      <p:pic>
        <p:nvPicPr>
          <p:cNvPr id="4" name="Image 0" descr="An iceberg. Above the waterline: architecture description, with three small items labeled views, tables, diagrams. Below the waterline, the larger part: architecture, with four labels: concepts, elements, relationships, principles of design and evolution.">    </p:cNvPr>
          <p:cNvPicPr>
            <a:picLocks noChangeAspect="1"/>
          </p:cNvPicPr>
          <p:nvPr/>
        </p:nvPicPr>
        <p:blipFill>
          <a:blip r:embed="rId1"/>
          <a:stretch>
            <a:fillRect/>
          </a:stretch>
        </p:blipFill>
        <p:spPr>
          <a:xfrm>
            <a:off x="548640" y="1621462"/>
            <a:ext cx="6379289" cy="3728615"/>
          </a:xfrm>
          <a:prstGeom prst="rect">
            <a:avLst/>
          </a:prstGeom>
        </p:spPr>
      </p:pic>
      <p:sp>
        <p:nvSpPr>
          <p:cNvPr id="5" name="Shape 2"/>
          <p:cNvSpPr/>
          <p:nvPr/>
        </p:nvSpPr>
        <p:spPr>
          <a:xfrm>
            <a:off x="7293689" y="1280160"/>
            <a:ext cx="4349366" cy="2709672"/>
          </a:xfrm>
          <a:prstGeom prst="rect">
            <a:avLst/>
          </a:prstGeom>
          <a:solidFill>
            <a:srgbClr val="E1EFF4"/>
          </a:solidFill>
          <a:ln w="12700">
            <a:solidFill>
              <a:srgbClr val="E1EFF4"/>
            </a:solidFill>
            <a:prstDash val="solid"/>
          </a:ln>
        </p:spPr>
      </p:sp>
      <p:sp>
        <p:nvSpPr>
          <p:cNvPr id="6" name="Shape 3"/>
          <p:cNvSpPr/>
          <p:nvPr/>
        </p:nvSpPr>
        <p:spPr>
          <a:xfrm>
            <a:off x="7293689" y="1280160"/>
            <a:ext cx="73152" cy="2709672"/>
          </a:xfrm>
          <a:prstGeom prst="rect">
            <a:avLst/>
          </a:prstGeom>
          <a:solidFill>
            <a:srgbClr val="0F6E8C"/>
          </a:solidFill>
          <a:ln w="12700">
            <a:solidFill>
              <a:srgbClr val="0F6E8C"/>
            </a:solidFill>
            <a:prstDash val="solid"/>
          </a:ln>
        </p:spPr>
      </p:sp>
      <p:sp>
        <p:nvSpPr>
          <p:cNvPr id="7" name="Text 4"/>
          <p:cNvSpPr/>
          <p:nvPr/>
        </p:nvSpPr>
        <p:spPr>
          <a:xfrm>
            <a:off x="7522289" y="1280160"/>
            <a:ext cx="3983606" cy="2709672"/>
          </a:xfrm>
          <a:prstGeom prst="rect">
            <a:avLst/>
          </a:prstGeom>
          <a:noFill/>
          <a:ln/>
        </p:spPr>
        <p:txBody>
          <a:bodyPr wrap="square" lIns="50800" tIns="50800" rIns="50800" bIns="50800" rtlCol="0" anchor="ctr"/>
          <a:lstStyle/>
          <a:p>
            <a:pPr indent="0" marL="0">
              <a:buNone/>
            </a:pPr>
            <a:r>
              <a:rPr lang="en-US" sz="1200" b="1" spc="100" kern="0" dirty="0">
                <a:solidFill>
                  <a:srgbClr val="18202D"/>
                </a:solidFill>
                <a:latin typeface="Calibri" pitchFamily="34" charset="0"/>
                <a:ea typeface="Calibri" pitchFamily="34" charset="-122"/>
                <a:cs typeface="Calibri" pitchFamily="34" charset="-120"/>
              </a:rPr>
              <a:t>ARCHITECTURE</a:t>
            </a:r>
            <a:endParaRPr lang="en-US" sz="1200" dirty="0"/>
          </a:p>
          <a:p>
            <a:pPr indent="0" marL="0">
              <a:buNone/>
            </a:pPr>
            <a:r>
              <a:rPr lang="en-US" sz="2000" dirty="0">
                <a:solidFill>
                  <a:srgbClr val="18202D"/>
                </a:solidFill>
                <a:latin typeface="Calibri" pitchFamily="34" charset="0"/>
                <a:ea typeface="Calibri" pitchFamily="34" charset="-122"/>
                <a:cs typeface="Calibri" pitchFamily="34" charset="-120"/>
              </a:rPr>
              <a:t>Fundamental concepts or properties of a system in its environment embodied in its elements, relationships, and in the principles of its design and evolution</a:t>
            </a:r>
            <a:endParaRPr lang="en-US" sz="1200" dirty="0"/>
          </a:p>
          <a:p>
            <a:pPr indent="0" marL="0">
              <a:spcBef>
                <a:spcPts val="600"/>
              </a:spcBef>
              <a:buNone/>
            </a:pPr>
            <a:r>
              <a:rPr lang="en-US" sz="1000" dirty="0">
                <a:solidFill>
                  <a:srgbClr val="0F6E8C"/>
                </a:solidFill>
                <a:latin typeface="Calibri" pitchFamily="34" charset="0"/>
                <a:ea typeface="Calibri" pitchFamily="34" charset="-122"/>
                <a:cs typeface="Calibri" pitchFamily="34" charset="-120"/>
              </a:rPr>
              <a:t>R39t · SEBoK v2.14 (2026), "Architecture (glossary)", p.1445</a:t>
            </a:r>
            <a:endParaRPr lang="en-US" sz="1200" dirty="0"/>
          </a:p>
        </p:txBody>
      </p:sp>
      <p:sp>
        <p:nvSpPr>
          <p:cNvPr id="8" name="Text 5"/>
          <p:cNvSpPr/>
          <p:nvPr/>
        </p:nvSpPr>
        <p:spPr>
          <a:xfrm>
            <a:off x="7293689" y="4154424"/>
            <a:ext cx="4349366" cy="1451864"/>
          </a:xfrm>
          <a:prstGeom prst="rect">
            <a:avLst/>
          </a:prstGeom>
          <a:noFill/>
          <a:ln/>
        </p:spPr>
        <p:txBody>
          <a:bodyPr wrap="square" lIns="25400" tIns="25400" rIns="25400" bIns="25400" rtlCol="0" anchor="t"/>
          <a:lstStyle/>
          <a:p>
            <a:pPr marL="228600" indent="-228600">
              <a:spcBef>
                <a:spcPts val="600"/>
              </a:spcBef>
              <a:buSzPct val="100000"/>
              <a:buChar char="■"/>
            </a:pPr>
            <a:r>
              <a:rPr lang="en-US" sz="1900" dirty="0">
                <a:solidFill>
                  <a:srgbClr val="18202D"/>
                </a:solidFill>
                <a:latin typeface="Calibri" pitchFamily="34" charset="0"/>
                <a:ea typeface="Calibri" pitchFamily="34" charset="-122"/>
                <a:cs typeface="Calibri" pitchFamily="34" charset="-120"/>
              </a:rPr>
              <a:t>Conceptual; realized through a description</a:t>
            </a:r>
            <a:endParaRPr lang="en-US" sz="1900" dirty="0"/>
          </a:p>
          <a:p>
            <a:pPr marL="228600" indent="-228600">
              <a:spcBef>
                <a:spcPts val="600"/>
              </a:spcBef>
              <a:buSzPct val="100000"/>
              <a:buChar char="■"/>
            </a:pPr>
            <a:r>
              <a:rPr lang="en-US" sz="1900" dirty="0">
                <a:solidFill>
                  <a:srgbClr val="18202D"/>
                </a:solidFill>
                <a:latin typeface="Calibri" pitchFamily="34" charset="0"/>
                <a:ea typeface="Calibri" pitchFamily="34" charset="-122"/>
                <a:cs typeface="Calibri" pitchFamily="34" charset="-120"/>
              </a:rPr>
              <a:t>A description justifies what it includes and excludes</a:t>
            </a:r>
            <a:endParaRPr lang="en-US" sz="1900" dirty="0"/>
          </a:p>
        </p:txBody>
      </p:sp>
      <p:sp>
        <p:nvSpPr>
          <p:cNvPr id="25" name="Slide Number Placeholder 0"/>
          <p:cNvSpPr>
            <a:spLocks noGrp="1"/>
          </p:cNvSpPr>
          <p:nvPr>
            <p:ph type="sldNum" sz="quarter" idx="4294967295"/>
          </p:nvPr>
        </p:nvSpPr>
        <p:spPr>
          <a:xfrm>
            <a:off x="10728655" y="6400800"/>
            <a:ext cx="91440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18202D"/>
                </a:solidFill>
                <a:latin typeface="Calibri"/>
                <a:ea typeface="Calibri"/>
                <a:cs typeface="Calibri"/>
              </a:defRPr>
            </a:lvl1pPr>
          </a:lstStyle>
          <a:p>
            <a:pPr algn="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548640" y="5828538"/>
            <a:ext cx="11094415" cy="435102"/>
          </a:xfrm>
          <a:prstGeom prst="rect">
            <a:avLst/>
          </a:prstGeom>
          <a:noFill/>
          <a:ln/>
        </p:spPr>
        <p:txBody>
          <a:bodyPr wrap="square" lIns="0" tIns="0" rIns="0" bIns="0" rtlCol="0" anchor="b"/>
          <a:lstStyle/>
          <a:p>
            <a:pPr indent="0" marL="0">
              <a:buNone/>
            </a:pPr>
            <a:r>
              <a:rPr lang="en-US" sz="1050" b="1" dirty="0">
                <a:solidFill>
                  <a:srgbClr val="18202D"/>
                </a:solidFill>
                <a:latin typeface="Calibri" pitchFamily="34" charset="0"/>
                <a:ea typeface="Calibri" pitchFamily="34" charset="-122"/>
                <a:cs typeface="Calibri" pitchFamily="34" charset="-120"/>
              </a:rPr>
              <a:t>Figure. </a:t>
            </a:r>
            <a:pPr indent="0" marL="0">
              <a:buNone/>
            </a:pPr>
            <a:r>
              <a:rPr lang="en-US" sz="1050" dirty="0">
                <a:solidFill>
                  <a:srgbClr val="566071"/>
                </a:solidFill>
                <a:latin typeface="Calibri" pitchFamily="34" charset="0"/>
                <a:ea typeface="Calibri" pitchFamily="34" charset="-122"/>
                <a:cs typeface="Calibri" pitchFamily="34" charset="-120"/>
              </a:rPr>
              <a:t>A system has an architecture; a description communicates it through views and models; a framework sets requirements for the description.</a:t>
            </a:r>
            <a:endParaRPr lang="en-US" sz="1050" dirty="0"/>
          </a:p>
          <a:p>
            <a:pPr indent="0" marL="0">
              <a:buNone/>
            </a:pPr>
            <a:r>
              <a:rPr lang="en-US" sz="1050" b="1" dirty="0">
                <a:solidFill>
                  <a:srgbClr val="18202D"/>
                </a:solidFill>
                <a:latin typeface="Calibri" pitchFamily="34" charset="0"/>
                <a:ea typeface="Calibri" pitchFamily="34" charset="-122"/>
                <a:cs typeface="Calibri" pitchFamily="34" charset="-120"/>
              </a:rPr>
              <a:t>Sources: </a:t>
            </a:r>
            <a:pPr indent="0" marL="0">
              <a:buNone/>
            </a:pPr>
            <a:r>
              <a:rPr lang="en-US" sz="1050" dirty="0">
                <a:solidFill>
                  <a:srgbClr val="566071"/>
                </a:solidFill>
                <a:latin typeface="Calibri" pitchFamily="34" charset="0"/>
                <a:ea typeface="Calibri" pitchFamily="34" charset="-122"/>
                <a:cs typeface="Calibri" pitchFamily="34" charset="-120"/>
              </a:rPr>
              <a:t>R62 p.342; R19 p.569; R19 p.570; R20a p.582</a:t>
            </a:r>
            <a:endParaRPr lang="en-US" sz="1050" dirty="0"/>
          </a:p>
        </p:txBody>
      </p:sp>
      <p:sp>
        <p:nvSpPr>
          <p:cNvPr id="3" name="Text 1"/>
          <p:cNvSpPr/>
          <p:nvPr/>
        </p:nvSpPr>
        <p:spPr>
          <a:xfrm>
            <a:off x="548640" y="292608"/>
            <a:ext cx="11094415" cy="731520"/>
          </a:xfrm>
          <a:prstGeom prst="rect">
            <a:avLst/>
          </a:prstGeom>
          <a:noFill/>
          <a:ln/>
        </p:spPr>
        <p:txBody>
          <a:bodyPr wrap="square" lIns="0" tIns="0" rIns="0" bIns="0" rtlCol="0" anchor="b"/>
          <a:lstStyle/>
          <a:p>
            <a:pPr indent="0" marL="0">
              <a:buNone/>
            </a:pPr>
            <a:r>
              <a:rPr lang="en-US" sz="3000" b="1" dirty="0">
                <a:solidFill>
                  <a:srgbClr val="18202D"/>
                </a:solidFill>
                <a:latin typeface="Calibri" pitchFamily="34" charset="0"/>
                <a:ea typeface="Calibri" pitchFamily="34" charset="-122"/>
                <a:cs typeface="Calibri" pitchFamily="34" charset="-120"/>
              </a:rPr>
              <a:t>How a description is organized, and why documents drift</a:t>
            </a:r>
            <a:endParaRPr lang="en-US" sz="3000" dirty="0"/>
          </a:p>
        </p:txBody>
      </p:sp>
      <p:pic>
        <p:nvPicPr>
          <p:cNvPr id="4" name="Image 0" descr="Five boxes linked by labeled arrows. System has an architecture. Architecture is communicated by an architecture description. The description consists of views and of models. An architecture framework provides requirements for the description. A side panel shows three documents drawing one shared element three different ways, marked out of sync, beside one model feeding three views.">    </p:cNvPr>
          <p:cNvPicPr>
            <a:picLocks noChangeAspect="1"/>
          </p:cNvPicPr>
          <p:nvPr/>
        </p:nvPicPr>
        <p:blipFill>
          <a:blip r:embed="rId1"/>
          <a:stretch>
            <a:fillRect/>
          </a:stretch>
        </p:blipFill>
        <p:spPr>
          <a:xfrm>
            <a:off x="548640" y="1550428"/>
            <a:ext cx="6379289" cy="3870683"/>
          </a:xfrm>
          <a:prstGeom prst="rect">
            <a:avLst/>
          </a:prstGeom>
        </p:spPr>
      </p:pic>
      <p:sp>
        <p:nvSpPr>
          <p:cNvPr id="5" name="Text 2"/>
          <p:cNvSpPr/>
          <p:nvPr/>
        </p:nvSpPr>
        <p:spPr>
          <a:xfrm>
            <a:off x="7293689" y="1280160"/>
            <a:ext cx="4349366" cy="2917952"/>
          </a:xfrm>
          <a:prstGeom prst="rect">
            <a:avLst/>
          </a:prstGeom>
          <a:noFill/>
          <a:ln/>
        </p:spPr>
        <p:txBody>
          <a:bodyPr wrap="square" lIns="25400" tIns="25400" rIns="25400" bIns="25400" rtlCol="0" anchor="t"/>
          <a:lstStyle/>
          <a:p>
            <a:pPr marL="228600" indent="-228600">
              <a:spcBef>
                <a:spcPts val="600"/>
              </a:spcBef>
              <a:buSzPct val="100000"/>
              <a:buChar char="■"/>
            </a:pPr>
            <a:r>
              <a:rPr lang="en-US" sz="2000" dirty="0">
                <a:solidFill>
                  <a:srgbClr val="18202D"/>
                </a:solidFill>
                <a:latin typeface="Calibri" pitchFamily="34" charset="0"/>
                <a:ea typeface="Calibri" pitchFamily="34" charset="-122"/>
                <a:cs typeface="Calibri" pitchFamily="34" charset="-120"/>
              </a:rPr>
              <a:t>A description consists of views and models</a:t>
            </a:r>
            <a:endParaRPr lang="en-US" sz="2000" dirty="0"/>
          </a:p>
          <a:p>
            <a:pPr marL="228600" indent="-228600">
              <a:spcBef>
                <a:spcPts val="600"/>
              </a:spcBef>
              <a:buSzPct val="100000"/>
              <a:buChar char="■"/>
            </a:pPr>
            <a:r>
              <a:rPr lang="en-US" sz="2000" dirty="0">
                <a:solidFill>
                  <a:srgbClr val="18202D"/>
                </a:solidFill>
                <a:latin typeface="Calibri" pitchFamily="34" charset="0"/>
                <a:ea typeface="Calibri" pitchFamily="34" charset="-122"/>
                <a:cs typeface="Calibri" pitchFamily="34" charset="-120"/>
              </a:rPr>
              <a:t>A framework sets requirements for the description</a:t>
            </a:r>
            <a:endParaRPr lang="en-US" sz="2000" dirty="0"/>
          </a:p>
          <a:p>
            <a:pPr marL="228600" indent="-228600">
              <a:spcBef>
                <a:spcPts val="600"/>
              </a:spcBef>
              <a:buSzPct val="100000"/>
              <a:buChar char="■"/>
            </a:pPr>
            <a:r>
              <a:rPr lang="en-US" sz="2000" dirty="0">
                <a:solidFill>
                  <a:srgbClr val="18202D"/>
                </a:solidFill>
                <a:latin typeface="Calibri" pitchFamily="34" charset="0"/>
                <a:ea typeface="Calibri" pitchFamily="34" charset="-122"/>
                <a:cs typeface="Calibri" pitchFamily="34" charset="-120"/>
              </a:rPr>
              <a:t>Separate documents need manual synchronization</a:t>
            </a:r>
            <a:endParaRPr lang="en-US" sz="2000" dirty="0"/>
          </a:p>
          <a:p>
            <a:pPr marL="228600" indent="-228600">
              <a:spcBef>
                <a:spcPts val="600"/>
              </a:spcBef>
              <a:buSzPct val="100000"/>
              <a:buChar char="■"/>
            </a:pPr>
            <a:r>
              <a:rPr lang="en-US" sz="2000" dirty="0">
                <a:solidFill>
                  <a:srgbClr val="18202D"/>
                </a:solidFill>
                <a:latin typeface="Calibri" pitchFamily="34" charset="0"/>
                <a:ea typeface="Calibri" pitchFamily="34" charset="-122"/>
                <a:cs typeface="Calibri" pitchFamily="34" charset="-120"/>
              </a:rPr>
              <a:t>A model can be one authoritative source of truth</a:t>
            </a:r>
            <a:endParaRPr lang="en-US" sz="2000" dirty="0"/>
          </a:p>
        </p:txBody>
      </p:sp>
      <p:sp>
        <p:nvSpPr>
          <p:cNvPr id="25" name="Slide Number Placeholder 0"/>
          <p:cNvSpPr>
            <a:spLocks noGrp="1"/>
          </p:cNvSpPr>
          <p:nvPr>
            <p:ph type="sldNum" sz="quarter" idx="4294967295"/>
          </p:nvPr>
        </p:nvSpPr>
        <p:spPr>
          <a:xfrm>
            <a:off x="10728655" y="6400800"/>
            <a:ext cx="91440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18202D"/>
                </a:solidFill>
                <a:latin typeface="Calibri"/>
                <a:ea typeface="Calibri"/>
                <a:cs typeface="Calibri"/>
              </a:defRPr>
            </a:lvl1pPr>
          </a:lstStyle>
          <a:p>
            <a:pPr algn="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548640" y="5991225"/>
            <a:ext cx="11094415" cy="272415"/>
          </a:xfrm>
          <a:prstGeom prst="rect">
            <a:avLst/>
          </a:prstGeom>
          <a:noFill/>
          <a:ln/>
        </p:spPr>
        <p:txBody>
          <a:bodyPr wrap="square" lIns="0" tIns="0" rIns="0" bIns="0" rtlCol="0" anchor="b"/>
          <a:lstStyle/>
          <a:p>
            <a:pPr indent="0" marL="0">
              <a:buNone/>
            </a:pPr>
            <a:r>
              <a:rPr lang="en-US" sz="1050" b="1" dirty="0">
                <a:solidFill>
                  <a:srgbClr val="18202D"/>
                </a:solidFill>
                <a:latin typeface="Calibri" pitchFamily="34" charset="0"/>
                <a:ea typeface="Calibri" pitchFamily="34" charset="-122"/>
                <a:cs typeface="Calibri" pitchFamily="34" charset="-120"/>
              </a:rPr>
              <a:t>Sources: </a:t>
            </a:r>
            <a:pPr indent="0" marL="0">
              <a:buNone/>
            </a:pPr>
            <a:r>
              <a:rPr lang="en-US" sz="1050" dirty="0">
                <a:solidFill>
                  <a:srgbClr val="566071"/>
                </a:solidFill>
                <a:latin typeface="Calibri" pitchFamily="34" charset="0"/>
                <a:ea typeface="Calibri" pitchFamily="34" charset="-122"/>
                <a:cs typeface="Calibri" pitchFamily="34" charset="-120"/>
              </a:rPr>
              <a:t>R62 p.341; R39u p.1446; R39v p.1677; R39w p.1678; R20b p.593</a:t>
            </a:r>
            <a:endParaRPr lang="en-US" sz="1050" dirty="0"/>
          </a:p>
        </p:txBody>
      </p:sp>
      <p:sp>
        <p:nvSpPr>
          <p:cNvPr id="3" name="Text 1"/>
          <p:cNvSpPr/>
          <p:nvPr/>
        </p:nvSpPr>
        <p:spPr>
          <a:xfrm>
            <a:off x="548640" y="292608"/>
            <a:ext cx="11094415" cy="731520"/>
          </a:xfrm>
          <a:prstGeom prst="rect">
            <a:avLst/>
          </a:prstGeom>
          <a:noFill/>
          <a:ln/>
        </p:spPr>
        <p:txBody>
          <a:bodyPr wrap="square" lIns="0" tIns="0" rIns="0" bIns="0" rtlCol="0" anchor="b"/>
          <a:lstStyle/>
          <a:p>
            <a:pPr indent="0" marL="0">
              <a:buNone/>
            </a:pPr>
            <a:r>
              <a:rPr lang="en-US" sz="3000" b="1" dirty="0">
                <a:solidFill>
                  <a:srgbClr val="18202D"/>
                </a:solidFill>
                <a:latin typeface="Calibri" pitchFamily="34" charset="0"/>
                <a:ea typeface="Calibri" pitchFamily="34" charset="-122"/>
                <a:cs typeface="Calibri" pitchFamily="34" charset="-120"/>
              </a:rPr>
              <a:t>Framework, model, view, viewpoint: the words, and a gap</a:t>
            </a:r>
            <a:endParaRPr lang="en-US" sz="30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48640" y="1280160"/>
          <a:ext cx="11094415" cy="914400"/>
        </p:xfrm>
        <a:graphic>
          <a:graphicData uri="http://schemas.openxmlformats.org/drawingml/2006/table">
            <a:tbl>
              <a:tblPr/>
              <a:tblGrid>
                <a:gridCol w="3698138"/>
                <a:gridCol w="3698138"/>
                <a:gridCol w="3698138"/>
              </a:tblGrid>
              <a:tr h="0">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Term</a:t>
                      </a:r>
                      <a:endParaRPr lang="en-US" sz="1600" dirty="0">
                        <a:latin typeface="Calibri" charset="0"/>
                        <a:ea typeface="Calibri" charset="0"/>
                        <a:cs typeface="Calibri" charset="0"/>
                      </a:endParaRPr>
                    </a:p>
                  </a:txBody>
                  <a:tcPr marL="54864" marR="54864" marT="54864" marB="54864" anchor="ctr">
                    <a:lnL w="9525" cap="flat" cmpd="sng" algn="ctr">
                      <a:solidFill>
                        <a:srgbClr val="D3D9E1"/>
                      </a:solidFill>
                      <a:prstDash val="solid"/>
                      <a:round/>
                      <a:headEnd type="none" w="med" len="med"/>
                      <a:tailEnd type="none" w="med" len="med"/>
                    </a:lnL>
                    <a:lnR w="9525" cap="flat" cmpd="sng" algn="ctr">
                      <a:solidFill>
                        <a:srgbClr val="D3D9E1"/>
                      </a:solidFill>
                      <a:prstDash val="solid"/>
                      <a:round/>
                      <a:headEnd type="none" w="med" len="med"/>
                      <a:tailEnd type="none" w="med" len="med"/>
                    </a:lnR>
                    <a:lnT w="9525" cap="flat" cmpd="sng" algn="ctr">
                      <a:solidFill>
                        <a:srgbClr val="D3D9E1"/>
                      </a:solidFill>
                      <a:prstDash val="solid"/>
                      <a:round/>
                      <a:headEnd type="none" w="med" len="med"/>
                      <a:tailEnd type="none" w="med" len="med"/>
                    </a:lnT>
                    <a:lnB w="9525" cap="flat" cmpd="sng" algn="ctr">
                      <a:solidFill>
                        <a:srgbClr val="D3D9E1"/>
                      </a:solidFill>
                      <a:prstDash val="solid"/>
                      <a:round/>
                      <a:headEnd type="none" w="med" len="med"/>
                      <a:tailEnd type="none" w="med" len="med"/>
                    </a:lnB>
                    <a:solidFill>
                      <a:srgbClr val="0F6E8C"/>
                    </a:solidFill>
                  </a:tcPr>
                </a:tc>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MITRE</a:t>
                      </a:r>
                      <a:endParaRPr lang="en-US" sz="1600" dirty="0">
                        <a:latin typeface="Calibri" charset="0"/>
                        <a:ea typeface="Calibri" charset="0"/>
                        <a:cs typeface="Calibri" charset="0"/>
                      </a:endParaRPr>
                    </a:p>
                  </a:txBody>
                  <a:tcPr marL="54864" marR="54864" marT="54864" marB="54864" anchor="ctr">
                    <a:lnL w="9525" cap="flat" cmpd="sng" algn="ctr">
                      <a:solidFill>
                        <a:srgbClr val="D3D9E1"/>
                      </a:solidFill>
                      <a:prstDash val="solid"/>
                      <a:round/>
                      <a:headEnd type="none" w="med" len="med"/>
                      <a:tailEnd type="none" w="med" len="med"/>
                    </a:lnL>
                    <a:lnR w="9525" cap="flat" cmpd="sng" algn="ctr">
                      <a:solidFill>
                        <a:srgbClr val="D3D9E1"/>
                      </a:solidFill>
                      <a:prstDash val="solid"/>
                      <a:round/>
                      <a:headEnd type="none" w="med" len="med"/>
                      <a:tailEnd type="none" w="med" len="med"/>
                    </a:lnR>
                    <a:lnT w="9525" cap="flat" cmpd="sng" algn="ctr">
                      <a:solidFill>
                        <a:srgbClr val="D3D9E1"/>
                      </a:solidFill>
                      <a:prstDash val="solid"/>
                      <a:round/>
                      <a:headEnd type="none" w="med" len="med"/>
                      <a:tailEnd type="none" w="med" len="med"/>
                    </a:lnT>
                    <a:lnB w="9525" cap="flat" cmpd="sng" algn="ctr">
                      <a:solidFill>
                        <a:srgbClr val="D3D9E1"/>
                      </a:solidFill>
                      <a:prstDash val="solid"/>
                      <a:round/>
                      <a:headEnd type="none" w="med" len="med"/>
                      <a:tailEnd type="none" w="med" len="med"/>
                    </a:lnB>
                    <a:solidFill>
                      <a:srgbClr val="0F6E8C"/>
                    </a:solidFill>
                  </a:tcPr>
                </a:tc>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SEBoK glossary</a:t>
                      </a:r>
                      <a:endParaRPr lang="en-US" sz="1600" dirty="0">
                        <a:latin typeface="Calibri" charset="0"/>
                        <a:ea typeface="Calibri" charset="0"/>
                        <a:cs typeface="Calibri" charset="0"/>
                      </a:endParaRPr>
                    </a:p>
                  </a:txBody>
                  <a:tcPr marL="54864" marR="54864" marT="54864" marB="54864" anchor="ctr">
                    <a:lnL w="9525" cap="flat" cmpd="sng" algn="ctr">
                      <a:solidFill>
                        <a:srgbClr val="D3D9E1"/>
                      </a:solidFill>
                      <a:prstDash val="solid"/>
                      <a:round/>
                      <a:headEnd type="none" w="med" len="med"/>
                      <a:tailEnd type="none" w="med" len="med"/>
                    </a:lnL>
                    <a:lnR w="9525" cap="flat" cmpd="sng" algn="ctr">
                      <a:solidFill>
                        <a:srgbClr val="D3D9E1"/>
                      </a:solidFill>
                      <a:prstDash val="solid"/>
                      <a:round/>
                      <a:headEnd type="none" w="med" len="med"/>
                      <a:tailEnd type="none" w="med" len="med"/>
                    </a:lnR>
                    <a:lnT w="9525" cap="flat" cmpd="sng" algn="ctr">
                      <a:solidFill>
                        <a:srgbClr val="D3D9E1"/>
                      </a:solidFill>
                      <a:prstDash val="solid"/>
                      <a:round/>
                      <a:headEnd type="none" w="med" len="med"/>
                      <a:tailEnd type="none" w="med" len="med"/>
                    </a:lnT>
                    <a:lnB w="9525" cap="flat" cmpd="sng" algn="ctr">
                      <a:solidFill>
                        <a:srgbClr val="D3D9E1"/>
                      </a:solidFill>
                      <a:prstDash val="solid"/>
                      <a:round/>
                      <a:headEnd type="none" w="med" len="med"/>
                      <a:tailEnd type="none" w="med" len="med"/>
                    </a:lnB>
                    <a:solidFill>
                      <a:srgbClr val="0F6E8C"/>
                    </a:solidFill>
                  </a:tcPr>
                </a:tc>
              </a:tr>
              <a:tr h="0">
                <a:tc>
                  <a:txBody>
                    <a:bodyPr/>
                    <a:lstStyle/>
                    <a:p>
                      <a:pPr indent="0" marL="0">
                        <a:buNone/>
                      </a:pPr>
                      <a:r>
                        <a:rPr lang="en-US" sz="1600" b="1" dirty="0">
                          <a:solidFill>
                            <a:srgbClr val="18202D"/>
                          </a:solidFill>
                          <a:latin typeface="Calibri" pitchFamily="34" charset="0"/>
                          <a:ea typeface="Calibri" pitchFamily="34" charset="-122"/>
                          <a:cs typeface="Calibri" pitchFamily="34" charset="-120"/>
                        </a:rPr>
                        <a:t>Framework</a:t>
                      </a:r>
                      <a:endParaRPr lang="en-US" sz="1600" dirty="0">
                        <a:latin typeface="Calibri" charset="0"/>
                        <a:ea typeface="Calibri" charset="0"/>
                        <a:cs typeface="Calibri" charset="0"/>
                      </a:endParaRPr>
                    </a:p>
                  </a:txBody>
                  <a:tcPr marL="54864" marR="54864" marT="54864" marB="54864" anchor="ctr">
                    <a:lnL w="9525" cap="flat" cmpd="sng" algn="ctr">
                      <a:solidFill>
                        <a:srgbClr val="D3D9E1"/>
                      </a:solidFill>
                      <a:prstDash val="solid"/>
                      <a:round/>
                      <a:headEnd type="none" w="med" len="med"/>
                      <a:tailEnd type="none" w="med" len="med"/>
                    </a:lnL>
                    <a:lnR w="9525" cap="flat" cmpd="sng" algn="ctr">
                      <a:solidFill>
                        <a:srgbClr val="D3D9E1"/>
                      </a:solidFill>
                      <a:prstDash val="solid"/>
                      <a:round/>
                      <a:headEnd type="none" w="med" len="med"/>
                      <a:tailEnd type="none" w="med" len="med"/>
                    </a:lnR>
                    <a:lnT w="9525" cap="flat" cmpd="sng" algn="ctr">
                      <a:solidFill>
                        <a:srgbClr val="D3D9E1"/>
                      </a:solidFill>
                      <a:prstDash val="solid"/>
                      <a:round/>
                      <a:headEnd type="none" w="med" len="med"/>
                      <a:tailEnd type="none" w="med" len="med"/>
                    </a:lnT>
                    <a:lnB w="9525" cap="flat" cmpd="sng" algn="ctr">
                      <a:solidFill>
                        <a:srgbClr val="D3D9E1"/>
                      </a:solidFill>
                      <a:prstDash val="solid"/>
                      <a:round/>
                      <a:headEnd type="none" w="med" len="med"/>
                      <a:tailEnd type="none" w="med" len="med"/>
                    </a:lnB>
                    <a:solidFill>
                      <a:srgbClr val="FFFFFF"/>
                    </a:solidFill>
                  </a:tcPr>
                </a:tc>
                <a:tc>
                  <a:txBody>
                    <a:bodyPr/>
                    <a:lstStyle/>
                    <a:p>
                      <a:pPr indent="0" marL="0">
                        <a:buNone/>
                      </a:pPr>
                      <a:r>
                        <a:rPr lang="en-US" sz="1600" dirty="0">
                          <a:solidFill>
                            <a:srgbClr val="18202D"/>
                          </a:solidFill>
                          <a:latin typeface="Calibri" pitchFamily="34" charset="0"/>
                          <a:ea typeface="Calibri" pitchFamily="34" charset="-122"/>
                          <a:cs typeface="Calibri" pitchFamily="34" charset="-120"/>
                        </a:rPr>
                        <a:t>Minimum practices and requirements for artifacts</a:t>
                      </a:r>
                      <a:endParaRPr lang="en-US" sz="1600" dirty="0">
                        <a:latin typeface="Calibri" charset="0"/>
                        <a:ea typeface="Calibri" charset="0"/>
                        <a:cs typeface="Calibri" charset="0"/>
                      </a:endParaRPr>
                    </a:p>
                  </a:txBody>
                  <a:tcPr marL="54864" marR="54864" marT="54864" marB="54864" anchor="ctr">
                    <a:lnL w="9525" cap="flat" cmpd="sng" algn="ctr">
                      <a:solidFill>
                        <a:srgbClr val="D3D9E1"/>
                      </a:solidFill>
                      <a:prstDash val="solid"/>
                      <a:round/>
                      <a:headEnd type="none" w="med" len="med"/>
                      <a:tailEnd type="none" w="med" len="med"/>
                    </a:lnL>
                    <a:lnR w="9525" cap="flat" cmpd="sng" algn="ctr">
                      <a:solidFill>
                        <a:srgbClr val="D3D9E1"/>
                      </a:solidFill>
                      <a:prstDash val="solid"/>
                      <a:round/>
                      <a:headEnd type="none" w="med" len="med"/>
                      <a:tailEnd type="none" w="med" len="med"/>
                    </a:lnR>
                    <a:lnT w="9525" cap="flat" cmpd="sng" algn="ctr">
                      <a:solidFill>
                        <a:srgbClr val="D3D9E1"/>
                      </a:solidFill>
                      <a:prstDash val="solid"/>
                      <a:round/>
                      <a:headEnd type="none" w="med" len="med"/>
                      <a:tailEnd type="none" w="med" len="med"/>
                    </a:lnT>
                    <a:lnB w="9525" cap="flat" cmpd="sng" algn="ctr">
                      <a:solidFill>
                        <a:srgbClr val="D3D9E1"/>
                      </a:solidFill>
                      <a:prstDash val="solid"/>
                      <a:round/>
                      <a:headEnd type="none" w="med" len="med"/>
                      <a:tailEnd type="none" w="med" len="med"/>
                    </a:lnB>
                    <a:solidFill>
                      <a:srgbClr val="FFFFFF"/>
                    </a:solidFill>
                  </a:tcPr>
                </a:tc>
                <a:tc>
                  <a:txBody>
                    <a:bodyPr/>
                    <a:lstStyle/>
                    <a:p>
                      <a:pPr indent="0" marL="0">
                        <a:buNone/>
                      </a:pPr>
                      <a:r>
                        <a:rPr lang="en-US" sz="1600" dirty="0">
                          <a:solidFill>
                            <a:srgbClr val="18202D"/>
                          </a:solidFill>
                          <a:latin typeface="Calibri" pitchFamily="34" charset="0"/>
                          <a:ea typeface="Calibri" pitchFamily="34" charset="-122"/>
                          <a:cs typeface="Calibri" pitchFamily="34" charset="-120"/>
                        </a:rPr>
                        <a:t>Conventions and practices for describing architectures</a:t>
                      </a:r>
                      <a:endParaRPr lang="en-US" sz="1600" dirty="0">
                        <a:latin typeface="Calibri" charset="0"/>
                        <a:ea typeface="Calibri" charset="0"/>
                        <a:cs typeface="Calibri" charset="0"/>
                      </a:endParaRPr>
                    </a:p>
                  </a:txBody>
                  <a:tcPr marL="54864" marR="54864" marT="54864" marB="54864" anchor="ctr">
                    <a:lnL w="9525" cap="flat" cmpd="sng" algn="ctr">
                      <a:solidFill>
                        <a:srgbClr val="D3D9E1"/>
                      </a:solidFill>
                      <a:prstDash val="solid"/>
                      <a:round/>
                      <a:headEnd type="none" w="med" len="med"/>
                      <a:tailEnd type="none" w="med" len="med"/>
                    </a:lnL>
                    <a:lnR w="9525" cap="flat" cmpd="sng" algn="ctr">
                      <a:solidFill>
                        <a:srgbClr val="D3D9E1"/>
                      </a:solidFill>
                      <a:prstDash val="solid"/>
                      <a:round/>
                      <a:headEnd type="none" w="med" len="med"/>
                      <a:tailEnd type="none" w="med" len="med"/>
                    </a:lnR>
                    <a:lnT w="9525" cap="flat" cmpd="sng" algn="ctr">
                      <a:solidFill>
                        <a:srgbClr val="D3D9E1"/>
                      </a:solidFill>
                      <a:prstDash val="solid"/>
                      <a:round/>
                      <a:headEnd type="none" w="med" len="med"/>
                      <a:tailEnd type="none" w="med" len="med"/>
                    </a:lnT>
                    <a:lnB w="9525" cap="flat" cmpd="sng" algn="ctr">
                      <a:solidFill>
                        <a:srgbClr val="D3D9E1"/>
                      </a:solidFill>
                      <a:prstDash val="solid"/>
                      <a:round/>
                      <a:headEnd type="none" w="med" len="med"/>
                      <a:tailEnd type="none" w="med" len="med"/>
                    </a:lnB>
                    <a:solidFill>
                      <a:srgbClr val="FFFFFF"/>
                    </a:solidFill>
                  </a:tcPr>
                </a:tc>
              </a:tr>
              <a:tr h="0">
                <a:tc>
                  <a:txBody>
                    <a:bodyPr/>
                    <a:lstStyle/>
                    <a:p>
                      <a:pPr indent="0" marL="0">
                        <a:buNone/>
                      </a:pPr>
                      <a:r>
                        <a:rPr lang="en-US" sz="1600" b="1" dirty="0">
                          <a:solidFill>
                            <a:srgbClr val="18202D"/>
                          </a:solidFill>
                          <a:latin typeface="Calibri" pitchFamily="34" charset="0"/>
                          <a:ea typeface="Calibri" pitchFamily="34" charset="-122"/>
                          <a:cs typeface="Calibri" pitchFamily="34" charset="-120"/>
                        </a:rPr>
                        <a:t>View</a:t>
                      </a:r>
                      <a:endParaRPr lang="en-US" sz="1600" dirty="0">
                        <a:latin typeface="Calibri" charset="0"/>
                        <a:ea typeface="Calibri" charset="0"/>
                        <a:cs typeface="Calibri" charset="0"/>
                      </a:endParaRPr>
                    </a:p>
                  </a:txBody>
                  <a:tcPr marL="54864" marR="54864" marT="54864" marB="54864" anchor="ctr">
                    <a:lnL w="9525" cap="flat" cmpd="sng" algn="ctr">
                      <a:solidFill>
                        <a:srgbClr val="D3D9E1"/>
                      </a:solidFill>
                      <a:prstDash val="solid"/>
                      <a:round/>
                      <a:headEnd type="none" w="med" len="med"/>
                      <a:tailEnd type="none" w="med" len="med"/>
                    </a:lnL>
                    <a:lnR w="9525" cap="flat" cmpd="sng" algn="ctr">
                      <a:solidFill>
                        <a:srgbClr val="D3D9E1"/>
                      </a:solidFill>
                      <a:prstDash val="solid"/>
                      <a:round/>
                      <a:headEnd type="none" w="med" len="med"/>
                      <a:tailEnd type="none" w="med" len="med"/>
                    </a:lnR>
                    <a:lnT w="9525" cap="flat" cmpd="sng" algn="ctr">
                      <a:solidFill>
                        <a:srgbClr val="D3D9E1"/>
                      </a:solidFill>
                      <a:prstDash val="solid"/>
                      <a:round/>
                      <a:headEnd type="none" w="med" len="med"/>
                      <a:tailEnd type="none" w="med" len="med"/>
                    </a:lnT>
                    <a:lnB w="9525" cap="flat" cmpd="sng" algn="ctr">
                      <a:solidFill>
                        <a:srgbClr val="D3D9E1"/>
                      </a:solidFill>
                      <a:prstDash val="solid"/>
                      <a:round/>
                      <a:headEnd type="none" w="med" len="med"/>
                      <a:tailEnd type="none" w="med" len="med"/>
                    </a:lnB>
                    <a:solidFill>
                      <a:srgbClr val="FFFFFF"/>
                    </a:solidFill>
                  </a:tcPr>
                </a:tc>
                <a:tc>
                  <a:txBody>
                    <a:bodyPr/>
                    <a:lstStyle/>
                    <a:p>
                      <a:pPr indent="0" marL="0">
                        <a:buNone/>
                      </a:pPr>
                      <a:r>
                        <a:rPr lang="en-US" sz="1600" dirty="0">
                          <a:solidFill>
                            <a:srgbClr val="18202D"/>
                          </a:solidFill>
                          <a:latin typeface="Calibri" pitchFamily="34" charset="0"/>
                          <a:ea typeface="Calibri" pitchFamily="34" charset="-122"/>
                          <a:cs typeface="Calibri" pitchFamily="34" charset="-120"/>
                        </a:rPr>
                        <a:t>Partial expression from a perspective</a:t>
                      </a:r>
                      <a:endParaRPr lang="en-US" sz="1600" dirty="0">
                        <a:latin typeface="Calibri" charset="0"/>
                        <a:ea typeface="Calibri" charset="0"/>
                        <a:cs typeface="Calibri" charset="0"/>
                      </a:endParaRPr>
                    </a:p>
                  </a:txBody>
                  <a:tcPr marL="54864" marR="54864" marT="54864" marB="54864" anchor="ctr">
                    <a:lnL w="9525" cap="flat" cmpd="sng" algn="ctr">
                      <a:solidFill>
                        <a:srgbClr val="D3D9E1"/>
                      </a:solidFill>
                      <a:prstDash val="solid"/>
                      <a:round/>
                      <a:headEnd type="none" w="med" len="med"/>
                      <a:tailEnd type="none" w="med" len="med"/>
                    </a:lnL>
                    <a:lnR w="9525" cap="flat" cmpd="sng" algn="ctr">
                      <a:solidFill>
                        <a:srgbClr val="D3D9E1"/>
                      </a:solidFill>
                      <a:prstDash val="solid"/>
                      <a:round/>
                      <a:headEnd type="none" w="med" len="med"/>
                      <a:tailEnd type="none" w="med" len="med"/>
                    </a:lnR>
                    <a:lnT w="9525" cap="flat" cmpd="sng" algn="ctr">
                      <a:solidFill>
                        <a:srgbClr val="D3D9E1"/>
                      </a:solidFill>
                      <a:prstDash val="solid"/>
                      <a:round/>
                      <a:headEnd type="none" w="med" len="med"/>
                      <a:tailEnd type="none" w="med" len="med"/>
                    </a:lnT>
                    <a:lnB w="9525" cap="flat" cmpd="sng" algn="ctr">
                      <a:solidFill>
                        <a:srgbClr val="D3D9E1"/>
                      </a:solidFill>
                      <a:prstDash val="solid"/>
                      <a:round/>
                      <a:headEnd type="none" w="med" len="med"/>
                      <a:tailEnd type="none" w="med" len="med"/>
                    </a:lnB>
                    <a:solidFill>
                      <a:srgbClr val="FFFFFF"/>
                    </a:solidFill>
                  </a:tcPr>
                </a:tc>
                <a:tc>
                  <a:txBody>
                    <a:bodyPr/>
                    <a:lstStyle/>
                    <a:p>
                      <a:pPr indent="0" marL="0">
                        <a:buNone/>
                      </a:pPr>
                      <a:r>
                        <a:rPr lang="en-US" sz="1600" dirty="0">
                          <a:solidFill>
                            <a:srgbClr val="18202D"/>
                          </a:solidFill>
                          <a:latin typeface="Calibri" pitchFamily="34" charset="0"/>
                          <a:ea typeface="Calibri" pitchFamily="34" charset="-122"/>
                          <a:cs typeface="Calibri" pitchFamily="34" charset="-120"/>
                        </a:rPr>
                        <a:t>Representation from a viewpoint’s perspective</a:t>
                      </a:r>
                      <a:endParaRPr lang="en-US" sz="1600" dirty="0">
                        <a:latin typeface="Calibri" charset="0"/>
                        <a:ea typeface="Calibri" charset="0"/>
                        <a:cs typeface="Calibri" charset="0"/>
                      </a:endParaRPr>
                    </a:p>
                  </a:txBody>
                  <a:tcPr marL="54864" marR="54864" marT="54864" marB="54864" anchor="ctr">
                    <a:lnL w="9525" cap="flat" cmpd="sng" algn="ctr">
                      <a:solidFill>
                        <a:srgbClr val="D3D9E1"/>
                      </a:solidFill>
                      <a:prstDash val="solid"/>
                      <a:round/>
                      <a:headEnd type="none" w="med" len="med"/>
                      <a:tailEnd type="none" w="med" len="med"/>
                    </a:lnL>
                    <a:lnR w="9525" cap="flat" cmpd="sng" algn="ctr">
                      <a:solidFill>
                        <a:srgbClr val="D3D9E1"/>
                      </a:solidFill>
                      <a:prstDash val="solid"/>
                      <a:round/>
                      <a:headEnd type="none" w="med" len="med"/>
                      <a:tailEnd type="none" w="med" len="med"/>
                    </a:lnR>
                    <a:lnT w="9525" cap="flat" cmpd="sng" algn="ctr">
                      <a:solidFill>
                        <a:srgbClr val="D3D9E1"/>
                      </a:solidFill>
                      <a:prstDash val="solid"/>
                      <a:round/>
                      <a:headEnd type="none" w="med" len="med"/>
                      <a:tailEnd type="none" w="med" len="med"/>
                    </a:lnT>
                    <a:lnB w="9525" cap="flat" cmpd="sng" algn="ctr">
                      <a:solidFill>
                        <a:srgbClr val="D3D9E1"/>
                      </a:solidFill>
                      <a:prstDash val="solid"/>
                      <a:round/>
                      <a:headEnd type="none" w="med" len="med"/>
                      <a:tailEnd type="none" w="med" len="med"/>
                    </a:lnB>
                    <a:solidFill>
                      <a:srgbClr val="FFFFFF"/>
                    </a:solidFill>
                  </a:tcPr>
                </a:tc>
              </a:tr>
              <a:tr h="0">
                <a:tc>
                  <a:txBody>
                    <a:bodyPr/>
                    <a:lstStyle/>
                    <a:p>
                      <a:pPr indent="0" marL="0">
                        <a:buNone/>
                      </a:pPr>
                      <a:r>
                        <a:rPr lang="en-US" sz="1600" b="1" dirty="0">
                          <a:solidFill>
                            <a:srgbClr val="18202D"/>
                          </a:solidFill>
                          <a:latin typeface="Calibri" pitchFamily="34" charset="0"/>
                          <a:ea typeface="Calibri" pitchFamily="34" charset="-122"/>
                          <a:cs typeface="Calibri" pitchFamily="34" charset="-120"/>
                        </a:rPr>
                        <a:t>Viewpoint</a:t>
                      </a:r>
                      <a:endParaRPr lang="en-US" sz="1600" dirty="0">
                        <a:latin typeface="Calibri" charset="0"/>
                        <a:ea typeface="Calibri" charset="0"/>
                        <a:cs typeface="Calibri" charset="0"/>
                      </a:endParaRPr>
                    </a:p>
                  </a:txBody>
                  <a:tcPr marL="54864" marR="54864" marT="54864" marB="54864" anchor="ctr">
                    <a:lnL w="9525" cap="flat" cmpd="sng" algn="ctr">
                      <a:solidFill>
                        <a:srgbClr val="D3D9E1"/>
                      </a:solidFill>
                      <a:prstDash val="solid"/>
                      <a:round/>
                      <a:headEnd type="none" w="med" len="med"/>
                      <a:tailEnd type="none" w="med" len="med"/>
                    </a:lnL>
                    <a:lnR w="9525" cap="flat" cmpd="sng" algn="ctr">
                      <a:solidFill>
                        <a:srgbClr val="D3D9E1"/>
                      </a:solidFill>
                      <a:prstDash val="solid"/>
                      <a:round/>
                      <a:headEnd type="none" w="med" len="med"/>
                      <a:tailEnd type="none" w="med" len="med"/>
                    </a:lnR>
                    <a:lnT w="9525" cap="flat" cmpd="sng" algn="ctr">
                      <a:solidFill>
                        <a:srgbClr val="D3D9E1"/>
                      </a:solidFill>
                      <a:prstDash val="solid"/>
                      <a:round/>
                      <a:headEnd type="none" w="med" len="med"/>
                      <a:tailEnd type="none" w="med" len="med"/>
                    </a:lnT>
                    <a:lnB w="9525" cap="flat" cmpd="sng" algn="ctr">
                      <a:solidFill>
                        <a:srgbClr val="D3D9E1"/>
                      </a:solidFill>
                      <a:prstDash val="solid"/>
                      <a:round/>
                      <a:headEnd type="none" w="med" len="med"/>
                      <a:tailEnd type="none" w="med" len="med"/>
                    </a:lnB>
                    <a:solidFill>
                      <a:srgbClr val="FFFFFF"/>
                    </a:solidFill>
                  </a:tcPr>
                </a:tc>
                <a:tc>
                  <a:txBody>
                    <a:bodyPr/>
                    <a:lstStyle/>
                    <a:p>
                      <a:pPr indent="0" marL="0">
                        <a:buNone/>
                      </a:pPr>
                      <a:r>
                        <a:rPr lang="en-US" sz="1600" dirty="0">
                          <a:solidFill>
                            <a:srgbClr val="18202D"/>
                          </a:solidFill>
                          <a:latin typeface="Calibri" pitchFamily="34" charset="0"/>
                          <a:ea typeface="Calibri" pitchFamily="34" charset="-122"/>
                          <a:cs typeface="Calibri" pitchFamily="34" charset="-120"/>
                        </a:rPr>
                        <a:t>Representations covering a stakeholder’s issues</a:t>
                      </a:r>
                      <a:endParaRPr lang="en-US" sz="1600" dirty="0">
                        <a:latin typeface="Calibri" charset="0"/>
                        <a:ea typeface="Calibri" charset="0"/>
                        <a:cs typeface="Calibri" charset="0"/>
                      </a:endParaRPr>
                    </a:p>
                  </a:txBody>
                  <a:tcPr marL="54864" marR="54864" marT="54864" marB="54864" anchor="ctr">
                    <a:lnL w="9525" cap="flat" cmpd="sng" algn="ctr">
                      <a:solidFill>
                        <a:srgbClr val="D3D9E1"/>
                      </a:solidFill>
                      <a:prstDash val="solid"/>
                      <a:round/>
                      <a:headEnd type="none" w="med" len="med"/>
                      <a:tailEnd type="none" w="med" len="med"/>
                    </a:lnL>
                    <a:lnR w="9525" cap="flat" cmpd="sng" algn="ctr">
                      <a:solidFill>
                        <a:srgbClr val="D3D9E1"/>
                      </a:solidFill>
                      <a:prstDash val="solid"/>
                      <a:round/>
                      <a:headEnd type="none" w="med" len="med"/>
                      <a:tailEnd type="none" w="med" len="med"/>
                    </a:lnR>
                    <a:lnT w="9525" cap="flat" cmpd="sng" algn="ctr">
                      <a:solidFill>
                        <a:srgbClr val="D3D9E1"/>
                      </a:solidFill>
                      <a:prstDash val="solid"/>
                      <a:round/>
                      <a:headEnd type="none" w="med" len="med"/>
                      <a:tailEnd type="none" w="med" len="med"/>
                    </a:lnT>
                    <a:lnB w="9525" cap="flat" cmpd="sng" algn="ctr">
                      <a:solidFill>
                        <a:srgbClr val="D3D9E1"/>
                      </a:solidFill>
                      <a:prstDash val="solid"/>
                      <a:round/>
                      <a:headEnd type="none" w="med" len="med"/>
                      <a:tailEnd type="none" w="med" len="med"/>
                    </a:lnB>
                    <a:solidFill>
                      <a:srgbClr val="FFFFFF"/>
                    </a:solidFill>
                  </a:tcPr>
                </a:tc>
                <a:tc>
                  <a:txBody>
                    <a:bodyPr/>
                    <a:lstStyle/>
                    <a:p>
                      <a:pPr indent="0" marL="0">
                        <a:buNone/>
                      </a:pPr>
                      <a:r>
                        <a:rPr lang="en-US" sz="1600" dirty="0">
                          <a:solidFill>
                            <a:srgbClr val="18202D"/>
                          </a:solidFill>
                          <a:latin typeface="Calibri" pitchFamily="34" charset="0"/>
                          <a:ea typeface="Calibri" pitchFamily="34" charset="-122"/>
                          <a:cs typeface="Calibri" pitchFamily="34" charset="-120"/>
                        </a:rPr>
                        <a:t>Rules for constructing a view for stakeholder concerns</a:t>
                      </a:r>
                      <a:endParaRPr lang="en-US" sz="1600" dirty="0">
                        <a:latin typeface="Calibri" charset="0"/>
                        <a:ea typeface="Calibri" charset="0"/>
                        <a:cs typeface="Calibri" charset="0"/>
                      </a:endParaRPr>
                    </a:p>
                  </a:txBody>
                  <a:tcPr marL="54864" marR="54864" marT="54864" marB="54864" anchor="ctr">
                    <a:lnL w="9525" cap="flat" cmpd="sng" algn="ctr">
                      <a:solidFill>
                        <a:srgbClr val="D3D9E1"/>
                      </a:solidFill>
                      <a:prstDash val="solid"/>
                      <a:round/>
                      <a:headEnd type="none" w="med" len="med"/>
                      <a:tailEnd type="none" w="med" len="med"/>
                    </a:lnL>
                    <a:lnR w="9525" cap="flat" cmpd="sng" algn="ctr">
                      <a:solidFill>
                        <a:srgbClr val="D3D9E1"/>
                      </a:solidFill>
                      <a:prstDash val="solid"/>
                      <a:round/>
                      <a:headEnd type="none" w="med" len="med"/>
                      <a:tailEnd type="none" w="med" len="med"/>
                    </a:lnR>
                    <a:lnT w="9525" cap="flat" cmpd="sng" algn="ctr">
                      <a:solidFill>
                        <a:srgbClr val="D3D9E1"/>
                      </a:solidFill>
                      <a:prstDash val="solid"/>
                      <a:round/>
                      <a:headEnd type="none" w="med" len="med"/>
                      <a:tailEnd type="none" w="med" len="med"/>
                    </a:lnT>
                    <a:lnB w="9525" cap="flat" cmpd="sng" algn="ctr">
                      <a:solidFill>
                        <a:srgbClr val="D3D9E1"/>
                      </a:solidFill>
                      <a:prstDash val="solid"/>
                      <a:round/>
                      <a:headEnd type="none" w="med" len="med"/>
                      <a:tailEnd type="none" w="med" len="med"/>
                    </a:lnB>
                    <a:solidFill>
                      <a:srgbClr val="FFFFFF"/>
                    </a:solidFill>
                  </a:tcPr>
                </a:tc>
              </a:tr>
            </a:tbl>
          </a:graphicData>
        </a:graphic>
      </p:graphicFrame>
      <p:sp>
        <p:nvSpPr>
          <p:cNvPr id="5" name="Text 2"/>
          <p:cNvSpPr/>
          <p:nvPr/>
        </p:nvSpPr>
        <p:spPr>
          <a:xfrm>
            <a:off x="548640" y="3593592"/>
            <a:ext cx="11094415" cy="274320"/>
          </a:xfrm>
          <a:prstGeom prst="rect">
            <a:avLst/>
          </a:prstGeom>
          <a:noFill/>
          <a:ln/>
        </p:spPr>
        <p:txBody>
          <a:bodyPr wrap="square" lIns="0" tIns="0" rIns="0" bIns="0" rtlCol="0" anchor="ctr"/>
          <a:lstStyle/>
          <a:p>
            <a:pPr indent="0" marL="0">
              <a:buNone/>
            </a:pPr>
            <a:r>
              <a:rPr lang="en-US" sz="1100" i="1" dirty="0">
                <a:solidFill>
                  <a:srgbClr val="566071"/>
                </a:solidFill>
                <a:latin typeface="Calibri" pitchFamily="34" charset="0"/>
                <a:ea typeface="Calibri" pitchFamily="34" charset="-122"/>
                <a:cs typeface="Calibri" pitchFamily="34" charset="-120"/>
              </a:rPr>
              <a:t>Paraphrased; the source wording is in the notes and the lesson.</a:t>
            </a:r>
            <a:endParaRPr lang="en-US" sz="1100" dirty="0"/>
          </a:p>
        </p:txBody>
      </p:sp>
      <p:sp>
        <p:nvSpPr>
          <p:cNvPr id="25" name="Slide Number Placeholder 0"/>
          <p:cNvSpPr>
            <a:spLocks noGrp="1"/>
          </p:cNvSpPr>
          <p:nvPr>
            <p:ph type="sldNum" sz="quarter" idx="4294967295"/>
          </p:nvPr>
        </p:nvSpPr>
        <p:spPr>
          <a:xfrm>
            <a:off x="10728655" y="6400800"/>
            <a:ext cx="91440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18202D"/>
                </a:solidFill>
                <a:latin typeface="Calibri"/>
                <a:ea typeface="Calibri"/>
                <a:cs typeface="Calibri"/>
              </a:defRPr>
            </a:lvl1pPr>
          </a:lstStyle>
          <a:p>
            <a:pPr algn="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548640" y="5828538"/>
            <a:ext cx="11094415" cy="435102"/>
          </a:xfrm>
          <a:prstGeom prst="rect">
            <a:avLst/>
          </a:prstGeom>
          <a:noFill/>
          <a:ln/>
        </p:spPr>
        <p:txBody>
          <a:bodyPr wrap="square" lIns="0" tIns="0" rIns="0" bIns="0" rtlCol="0" anchor="b"/>
          <a:lstStyle/>
          <a:p>
            <a:pPr indent="0" marL="0">
              <a:buNone/>
            </a:pPr>
            <a:r>
              <a:rPr lang="en-US" sz="1050" b="1" dirty="0">
                <a:solidFill>
                  <a:srgbClr val="18202D"/>
                </a:solidFill>
                <a:latin typeface="Calibri" pitchFamily="34" charset="0"/>
                <a:ea typeface="Calibri" pitchFamily="34" charset="-122"/>
                <a:cs typeface="Calibri" pitchFamily="34" charset="-120"/>
              </a:rPr>
              <a:t>Figure. </a:t>
            </a:r>
            <a:pPr indent="0" marL="0">
              <a:buNone/>
            </a:pPr>
            <a:r>
              <a:rPr lang="en-US" sz="1050" dirty="0">
                <a:solidFill>
                  <a:srgbClr val="566071"/>
                </a:solidFill>
                <a:latin typeface="Calibri" pitchFamily="34" charset="0"/>
                <a:ea typeface="Calibri" pitchFamily="34" charset="-122"/>
                <a:cs typeface="Calibri" pitchFamily="34" charset="-120"/>
              </a:rPr>
              <a:t>From a stakeholder to the model elements a view shows, with one AeroLink example at every link. (FICTIONAL)</a:t>
            </a:r>
            <a:endParaRPr lang="en-US" sz="1050" dirty="0"/>
          </a:p>
          <a:p>
            <a:pPr indent="0" marL="0">
              <a:buNone/>
            </a:pPr>
            <a:r>
              <a:rPr lang="en-US" sz="1050" b="1" dirty="0">
                <a:solidFill>
                  <a:srgbClr val="18202D"/>
                </a:solidFill>
                <a:latin typeface="Calibri" pitchFamily="34" charset="0"/>
                <a:ea typeface="Calibri" pitchFamily="34" charset="-122"/>
                <a:cs typeface="Calibri" pitchFamily="34" charset="-120"/>
              </a:rPr>
              <a:t>Sources: </a:t>
            </a:r>
            <a:pPr indent="0" marL="0">
              <a:buNone/>
            </a:pPr>
            <a:r>
              <a:rPr lang="en-US" sz="1050" dirty="0">
                <a:solidFill>
                  <a:srgbClr val="566071"/>
                </a:solidFill>
                <a:latin typeface="Calibri" pitchFamily="34" charset="0"/>
                <a:ea typeface="Calibri" pitchFamily="34" charset="-122"/>
                <a:cs typeface="Calibri" pitchFamily="34" charset="-120"/>
              </a:rPr>
              <a:t>R62 p.342; R62 p.344; R04 p.275; R19 p.573</a:t>
            </a:r>
            <a:endParaRPr lang="en-US" sz="1050" dirty="0"/>
          </a:p>
        </p:txBody>
      </p:sp>
      <p:sp>
        <p:nvSpPr>
          <p:cNvPr id="3" name="Text 1"/>
          <p:cNvSpPr/>
          <p:nvPr/>
        </p:nvSpPr>
        <p:spPr>
          <a:xfrm>
            <a:off x="548640" y="292608"/>
            <a:ext cx="11094415" cy="731520"/>
          </a:xfrm>
          <a:prstGeom prst="rect">
            <a:avLst/>
          </a:prstGeom>
          <a:noFill/>
          <a:ln/>
        </p:spPr>
        <p:txBody>
          <a:bodyPr wrap="square" lIns="0" tIns="0" rIns="0" bIns="0" rtlCol="0" anchor="b"/>
          <a:lstStyle/>
          <a:p>
            <a:pPr indent="0" marL="0">
              <a:buNone/>
            </a:pPr>
            <a:r>
              <a:rPr lang="en-US" sz="3000" b="1" dirty="0">
                <a:solidFill>
                  <a:srgbClr val="18202D"/>
                </a:solidFill>
                <a:latin typeface="Calibri" pitchFamily="34" charset="0"/>
                <a:ea typeface="Calibri" pitchFamily="34" charset="-122"/>
                <a:cs typeface="Calibri" pitchFamily="34" charset="-120"/>
              </a:rPr>
              <a:t>Choosing views: purpose is paramount</a:t>
            </a:r>
            <a:endParaRPr lang="en-US" sz="3000" dirty="0"/>
          </a:p>
        </p:txBody>
      </p:sp>
      <p:pic>
        <p:nvPicPr>
          <p:cNvPr id="4" name="Image 0" descr="A chain of five boxes: stakeholder, concern, viewpoint, view, model elements. Under each box an AeroLink example: communities; community noise; physical viewpoint; the vertiport and aircraft view; the pads and aircraft elements.">    </p:cNvPr>
          <p:cNvPicPr>
            <a:picLocks noChangeAspect="1"/>
          </p:cNvPicPr>
          <p:nvPr/>
        </p:nvPicPr>
        <p:blipFill>
          <a:blip r:embed="rId1"/>
          <a:stretch>
            <a:fillRect/>
          </a:stretch>
        </p:blipFill>
        <p:spPr>
          <a:xfrm>
            <a:off x="548640" y="1969000"/>
            <a:ext cx="6379289" cy="3033537"/>
          </a:xfrm>
          <a:prstGeom prst="rect">
            <a:avLst/>
          </a:prstGeom>
        </p:spPr>
      </p:pic>
      <p:sp>
        <p:nvSpPr>
          <p:cNvPr id="5" name="Text 2"/>
          <p:cNvSpPr/>
          <p:nvPr/>
        </p:nvSpPr>
        <p:spPr>
          <a:xfrm>
            <a:off x="7293689" y="1280160"/>
            <a:ext cx="4349366" cy="3227832"/>
          </a:xfrm>
          <a:prstGeom prst="rect">
            <a:avLst/>
          </a:prstGeom>
          <a:noFill/>
          <a:ln/>
        </p:spPr>
        <p:txBody>
          <a:bodyPr wrap="square" lIns="25400" tIns="25400" rIns="25400" bIns="25400" rtlCol="0" anchor="t"/>
          <a:lstStyle/>
          <a:p>
            <a:pPr marL="228600" indent="-228600">
              <a:spcBef>
                <a:spcPts val="600"/>
              </a:spcBef>
              <a:buSzPct val="100000"/>
              <a:buChar char="■"/>
            </a:pPr>
            <a:r>
              <a:rPr lang="en-US" sz="2000" dirty="0">
                <a:solidFill>
                  <a:srgbClr val="18202D"/>
                </a:solidFill>
                <a:latin typeface="Calibri" pitchFamily="34" charset="0"/>
                <a:ea typeface="Calibri" pitchFamily="34" charset="-122"/>
                <a:cs typeface="Calibri" pitchFamily="34" charset="-120"/>
              </a:rPr>
              <a:t>Views directly relevant to stakeholders’ concerns</a:t>
            </a:r>
            <a:endParaRPr lang="en-US" sz="2000" dirty="0"/>
          </a:p>
          <a:p>
            <a:pPr marL="228600" indent="-228600">
              <a:spcBef>
                <a:spcPts val="600"/>
              </a:spcBef>
              <a:buSzPct val="100000"/>
              <a:buChar char="■"/>
            </a:pPr>
            <a:r>
              <a:rPr lang="en-US" sz="2000" dirty="0">
                <a:solidFill>
                  <a:srgbClr val="18202D"/>
                </a:solidFill>
                <a:latin typeface="Calibri" pitchFamily="34" charset="0"/>
                <a:ea typeface="Calibri" pitchFamily="34" charset="-122"/>
                <a:cs typeface="Calibri" pitchFamily="34" charset="-120"/>
              </a:rPr>
              <a:t>Generate only the views the purpose needs</a:t>
            </a:r>
            <a:endParaRPr lang="en-US" sz="2000" dirty="0"/>
          </a:p>
          <a:p>
            <a:pPr marL="228600" indent="-228600">
              <a:spcBef>
                <a:spcPts val="600"/>
              </a:spcBef>
              <a:buSzPct val="100000"/>
              <a:buChar char="■"/>
            </a:pPr>
            <a:r>
              <a:rPr lang="en-US" sz="2000" dirty="0">
                <a:solidFill>
                  <a:srgbClr val="18202D"/>
                </a:solidFill>
                <a:latin typeface="Calibri" pitchFamily="34" charset="0"/>
                <a:ea typeface="Calibri" pitchFamily="34" charset="-122"/>
                <a:cs typeface="Calibri" pitchFamily="34" charset="-120"/>
              </a:rPr>
              <a:t>Each view helps a stakeholder conclude objectives will be met</a:t>
            </a:r>
            <a:endParaRPr lang="en-US" sz="2000" dirty="0"/>
          </a:p>
          <a:p>
            <a:pPr marL="228600" indent="-228600">
              <a:spcBef>
                <a:spcPts val="600"/>
              </a:spcBef>
              <a:buSzPct val="100000"/>
              <a:buChar char="■"/>
            </a:pPr>
            <a:r>
              <a:rPr lang="en-US" sz="2000" dirty="0">
                <a:solidFill>
                  <a:srgbClr val="18202D"/>
                </a:solidFill>
                <a:latin typeface="Calibri" pitchFamily="34" charset="0"/>
                <a:ea typeface="Calibri" pitchFamily="34" charset="-122"/>
                <a:cs typeface="Calibri" pitchFamily="34" charset="-120"/>
              </a:rPr>
              <a:t>Course minimum: operational, functional, physical, information, enterprise</a:t>
            </a:r>
            <a:endParaRPr lang="en-US" sz="2000" dirty="0"/>
          </a:p>
        </p:txBody>
      </p:sp>
      <p:sp>
        <p:nvSpPr>
          <p:cNvPr id="25" name="Slide Number Placeholder 0"/>
          <p:cNvSpPr>
            <a:spLocks noGrp="1"/>
          </p:cNvSpPr>
          <p:nvPr>
            <p:ph type="sldNum" sz="quarter" idx="4294967295"/>
          </p:nvPr>
        </p:nvSpPr>
        <p:spPr>
          <a:xfrm>
            <a:off x="10728655" y="6400800"/>
            <a:ext cx="91440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18202D"/>
                </a:solidFill>
                <a:latin typeface="Calibri"/>
                <a:ea typeface="Calibri"/>
                <a:cs typeface="Calibri"/>
              </a:defRPr>
            </a:lvl1pPr>
          </a:lstStyle>
          <a:p>
            <a:pPr algn="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548640" y="5828538"/>
            <a:ext cx="11094415" cy="435102"/>
          </a:xfrm>
          <a:prstGeom prst="rect">
            <a:avLst/>
          </a:prstGeom>
          <a:noFill/>
          <a:ln/>
        </p:spPr>
        <p:txBody>
          <a:bodyPr wrap="square" lIns="0" tIns="0" rIns="0" bIns="0" rtlCol="0" anchor="b"/>
          <a:lstStyle/>
          <a:p>
            <a:pPr indent="0" marL="0">
              <a:buNone/>
            </a:pPr>
            <a:r>
              <a:rPr lang="en-US" sz="1050" b="1" dirty="0">
                <a:solidFill>
                  <a:srgbClr val="18202D"/>
                </a:solidFill>
                <a:latin typeface="Calibri" pitchFamily="34" charset="0"/>
                <a:ea typeface="Calibri" pitchFamily="34" charset="-122"/>
                <a:cs typeface="Calibri" pitchFamily="34" charset="-120"/>
              </a:rPr>
              <a:t>Figure. </a:t>
            </a:r>
            <a:pPr indent="0" marL="0">
              <a:buNone/>
            </a:pPr>
            <a:r>
              <a:rPr lang="en-US" sz="1050" dirty="0">
                <a:solidFill>
                  <a:srgbClr val="566071"/>
                </a:solidFill>
                <a:latin typeface="Calibri" pitchFamily="34" charset="0"/>
                <a:ea typeface="Calibri" pitchFamily="34" charset="-122"/>
                <a:cs typeface="Calibri" pitchFamily="34" charset="-120"/>
              </a:rPr>
              <a:t>Six viewpoints answer all 17 Week 1 concerns; each states its purpose as a question. (FICTIONAL)</a:t>
            </a:r>
            <a:endParaRPr lang="en-US" sz="1050" dirty="0"/>
          </a:p>
          <a:p>
            <a:pPr indent="0" marL="0">
              <a:buNone/>
            </a:pPr>
            <a:r>
              <a:rPr lang="en-US" sz="1050" b="1" dirty="0">
                <a:solidFill>
                  <a:srgbClr val="18202D"/>
                </a:solidFill>
                <a:latin typeface="Calibri" pitchFamily="34" charset="0"/>
                <a:ea typeface="Calibri" pitchFamily="34" charset="-122"/>
                <a:cs typeface="Calibri" pitchFamily="34" charset="-120"/>
              </a:rPr>
              <a:t>Sources: </a:t>
            </a:r>
            <a:pPr indent="0" marL="0">
              <a:buNone/>
            </a:pPr>
            <a:r>
              <a:rPr lang="en-US" sz="1050" dirty="0">
                <a:solidFill>
                  <a:srgbClr val="566071"/>
                </a:solidFill>
                <a:latin typeface="Calibri" pitchFamily="34" charset="0"/>
                <a:ea typeface="Calibri" pitchFamily="34" charset="-122"/>
                <a:cs typeface="Calibri" pitchFamily="34" charset="-120"/>
              </a:rPr>
              <a:t>R62 p.344</a:t>
            </a:r>
            <a:endParaRPr lang="en-US" sz="1050" dirty="0"/>
          </a:p>
        </p:txBody>
      </p:sp>
      <p:sp>
        <p:nvSpPr>
          <p:cNvPr id="3" name="Text 1"/>
          <p:cNvSpPr/>
          <p:nvPr/>
        </p:nvSpPr>
        <p:spPr>
          <a:xfrm>
            <a:off x="548640" y="292608"/>
            <a:ext cx="11094415" cy="731520"/>
          </a:xfrm>
          <a:prstGeom prst="rect">
            <a:avLst/>
          </a:prstGeom>
          <a:noFill/>
          <a:ln/>
        </p:spPr>
        <p:txBody>
          <a:bodyPr wrap="square" lIns="0" tIns="0" rIns="0" bIns="0" rtlCol="0" anchor="b"/>
          <a:lstStyle/>
          <a:p>
            <a:pPr indent="0" marL="0">
              <a:buNone/>
            </a:pPr>
            <a:r>
              <a:rPr lang="en-US" sz="3000" b="1" dirty="0">
                <a:solidFill>
                  <a:srgbClr val="18202D"/>
                </a:solidFill>
                <a:latin typeface="Calibri" pitchFamily="34" charset="0"/>
                <a:ea typeface="Calibri" pitchFamily="34" charset="-122"/>
                <a:cs typeface="Calibri" pitchFamily="34" charset="-120"/>
              </a:rPr>
              <a:t>AeroLink’s view set, chosen from concerns</a:t>
            </a:r>
            <a:endParaRPr lang="en-US" sz="3000" dirty="0"/>
          </a:p>
        </p:txBody>
      </p:sp>
      <p:pic>
        <p:nvPicPr>
          <p:cNvPr id="4" name="Image 0" descr="Six cards in two rows, one per AeroLink viewpoint: Operational viewpoint, answering CON-001, CON-008, CON-009, CON-013, CON-017; Functional viewpoint, answering CON-002, CON-003, CON-004, CON-007, CON-010, CON-011; Logical viewpoint, answering CON-005; Physical viewpoint, answering CON-006, CON-012, CON-016; Information viewpoint, answering CON-009, CON-010, CON-014; Enterprise viewpoint, answering CON-005, CON-006, CON-011, CON-015, CON-016. A bar at the bottom reads 17 of 17 concerns answered.">    </p:cNvPr>
          <p:cNvPicPr>
            <a:picLocks noChangeAspect="1"/>
          </p:cNvPicPr>
          <p:nvPr/>
        </p:nvPicPr>
        <p:blipFill>
          <a:blip r:embed="rId1"/>
          <a:stretch>
            <a:fillRect/>
          </a:stretch>
        </p:blipFill>
        <p:spPr>
          <a:xfrm>
            <a:off x="548640" y="1550428"/>
            <a:ext cx="6379289" cy="3870683"/>
          </a:xfrm>
          <a:prstGeom prst="rect">
            <a:avLst/>
          </a:prstGeom>
        </p:spPr>
      </p:pic>
      <p:sp>
        <p:nvSpPr>
          <p:cNvPr id="5" name="Text 2"/>
          <p:cNvSpPr/>
          <p:nvPr/>
        </p:nvSpPr>
        <p:spPr>
          <a:xfrm>
            <a:off x="7293689" y="1280160"/>
            <a:ext cx="4349366" cy="2917952"/>
          </a:xfrm>
          <a:prstGeom prst="rect">
            <a:avLst/>
          </a:prstGeom>
          <a:noFill/>
          <a:ln/>
        </p:spPr>
        <p:txBody>
          <a:bodyPr wrap="square" lIns="25400" tIns="25400" rIns="25400" bIns="25400" rtlCol="0" anchor="t"/>
          <a:lstStyle/>
          <a:p>
            <a:pPr marL="228600" indent="-228600">
              <a:spcBef>
                <a:spcPts val="600"/>
              </a:spcBef>
              <a:buSzPct val="100000"/>
              <a:buChar char="■"/>
            </a:pPr>
            <a:r>
              <a:rPr lang="en-US" sz="2000" dirty="0">
                <a:solidFill>
                  <a:srgbClr val="18202D"/>
                </a:solidFill>
                <a:latin typeface="Calibri" pitchFamily="34" charset="0"/>
                <a:ea typeface="Calibri" pitchFamily="34" charset="-122"/>
                <a:cs typeface="Calibri" pitchFamily="34" charset="-120"/>
              </a:rPr>
              <a:t>6 viewpoints, each with a question</a:t>
            </a:r>
            <a:endParaRPr lang="en-US" sz="2000" dirty="0"/>
          </a:p>
          <a:p>
            <a:pPr marL="228600" indent="-228600">
              <a:spcBef>
                <a:spcPts val="600"/>
              </a:spcBef>
              <a:buSzPct val="100000"/>
              <a:buChar char="■"/>
            </a:pPr>
            <a:r>
              <a:rPr lang="en-US" sz="2000" dirty="0">
                <a:solidFill>
                  <a:srgbClr val="18202D"/>
                </a:solidFill>
                <a:latin typeface="Calibri" pitchFamily="34" charset="0"/>
                <a:ea typeface="Calibri" pitchFamily="34" charset="-122"/>
                <a:cs typeface="Calibri" pitchFamily="34" charset="-120"/>
              </a:rPr>
              <a:t>17 of 17 Week 1 concerns answered</a:t>
            </a:r>
            <a:endParaRPr lang="en-US" sz="2000" dirty="0"/>
          </a:p>
          <a:p>
            <a:pPr marL="228600" indent="-228600">
              <a:spcBef>
                <a:spcPts val="600"/>
              </a:spcBef>
              <a:buSzPct val="100000"/>
              <a:buChar char="■"/>
            </a:pPr>
            <a:r>
              <a:rPr lang="en-US" sz="2000" dirty="0">
                <a:solidFill>
                  <a:srgbClr val="18202D"/>
                </a:solidFill>
                <a:latin typeface="Calibri" pitchFamily="34" charset="0"/>
                <a:ea typeface="Calibri" pitchFamily="34" charset="-122"/>
                <a:cs typeface="Calibri" pitchFamily="34" charset="-120"/>
              </a:rPr>
              <a:t>Logical view added: supplier choice stays open</a:t>
            </a:r>
            <a:endParaRPr lang="en-US" sz="2000" dirty="0"/>
          </a:p>
          <a:p>
            <a:pPr marL="228600" indent="-228600">
              <a:spcBef>
                <a:spcPts val="600"/>
              </a:spcBef>
              <a:buSzPct val="100000"/>
              <a:buChar char="■"/>
            </a:pPr>
            <a:r>
              <a:rPr lang="en-US" sz="2000" dirty="0">
                <a:solidFill>
                  <a:srgbClr val="18202D"/>
                </a:solidFill>
                <a:latin typeface="Calibri" pitchFamily="34" charset="0"/>
                <a:ea typeface="Calibri" pitchFamily="34" charset="-122"/>
                <a:cs typeface="Calibri" pitchFamily="34" charset="-120"/>
              </a:rPr>
              <a:t>Drop the information view: one concern left without one</a:t>
            </a:r>
            <a:endParaRPr lang="en-US" sz="2000" dirty="0"/>
          </a:p>
        </p:txBody>
      </p:sp>
      <p:sp>
        <p:nvSpPr>
          <p:cNvPr id="25" name="Slide Number Placeholder 0"/>
          <p:cNvSpPr>
            <a:spLocks noGrp="1"/>
          </p:cNvSpPr>
          <p:nvPr>
            <p:ph type="sldNum" sz="quarter" idx="4294967295"/>
          </p:nvPr>
        </p:nvSpPr>
        <p:spPr>
          <a:xfrm>
            <a:off x="10728655" y="6400800"/>
            <a:ext cx="91440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18202D"/>
                </a:solidFill>
                <a:latin typeface="Calibri"/>
                <a:ea typeface="Calibri"/>
                <a:cs typeface="Calibri"/>
              </a:defRPr>
            </a:lvl1pPr>
          </a:lstStyle>
          <a:p>
            <a:pPr algn="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548640" y="5828538"/>
            <a:ext cx="11094415" cy="435102"/>
          </a:xfrm>
          <a:prstGeom prst="rect">
            <a:avLst/>
          </a:prstGeom>
          <a:noFill/>
          <a:ln/>
        </p:spPr>
        <p:txBody>
          <a:bodyPr wrap="square" lIns="0" tIns="0" rIns="0" bIns="0" rtlCol="0" anchor="b"/>
          <a:lstStyle/>
          <a:p>
            <a:pPr indent="0" marL="0">
              <a:buNone/>
            </a:pPr>
            <a:r>
              <a:rPr lang="en-US" sz="1050" b="1" dirty="0">
                <a:solidFill>
                  <a:srgbClr val="18202D"/>
                </a:solidFill>
                <a:latin typeface="Calibri" pitchFamily="34" charset="0"/>
                <a:ea typeface="Calibri" pitchFamily="34" charset="-122"/>
                <a:cs typeface="Calibri" pitchFamily="34" charset="-120"/>
              </a:rPr>
              <a:t>Figure. </a:t>
            </a:r>
            <a:pPr indent="0" marL="0">
              <a:buNone/>
            </a:pPr>
            <a:r>
              <a:rPr lang="en-US" sz="1050" dirty="0">
                <a:solidFill>
                  <a:srgbClr val="566071"/>
                </a:solidFill>
                <a:latin typeface="Calibri" pitchFamily="34" charset="0"/>
                <a:ea typeface="Calibri" pitchFamily="34" charset="-122"/>
                <a:cs typeface="Calibri" pitchFamily="34" charset="-120"/>
              </a:rPr>
              <a:t>FN-006 Charge aircraft: inputs on the left, outputs on the right, each tagged information, energy or material. (FICTIONAL)</a:t>
            </a:r>
            <a:endParaRPr lang="en-US" sz="1050" dirty="0"/>
          </a:p>
          <a:p>
            <a:pPr indent="0" marL="0">
              <a:buNone/>
            </a:pPr>
            <a:r>
              <a:rPr lang="en-US" sz="1050" b="1" dirty="0">
                <a:solidFill>
                  <a:srgbClr val="18202D"/>
                </a:solidFill>
                <a:latin typeface="Calibri" pitchFamily="34" charset="0"/>
                <a:ea typeface="Calibri" pitchFamily="34" charset="-122"/>
                <a:cs typeface="Calibri" pitchFamily="34" charset="-120"/>
              </a:rPr>
              <a:t>Sources: </a:t>
            </a:r>
            <a:pPr indent="0" marL="0">
              <a:buNone/>
            </a:pPr>
            <a:r>
              <a:rPr lang="en-US" sz="1050" dirty="0">
                <a:solidFill>
                  <a:srgbClr val="566071"/>
                </a:solidFill>
                <a:latin typeface="Calibri" pitchFamily="34" charset="0"/>
                <a:ea typeface="Calibri" pitchFamily="34" charset="-122"/>
                <a:cs typeface="Calibri" pitchFamily="34" charset="-120"/>
              </a:rPr>
              <a:t>R39x p.1510; R20b p.587; R20a p.580</a:t>
            </a:r>
            <a:endParaRPr lang="en-US" sz="1050" dirty="0"/>
          </a:p>
        </p:txBody>
      </p:sp>
      <p:sp>
        <p:nvSpPr>
          <p:cNvPr id="3" name="Text 1"/>
          <p:cNvSpPr/>
          <p:nvPr/>
        </p:nvSpPr>
        <p:spPr>
          <a:xfrm>
            <a:off x="548640" y="292608"/>
            <a:ext cx="11094415" cy="731520"/>
          </a:xfrm>
          <a:prstGeom prst="rect">
            <a:avLst/>
          </a:prstGeom>
          <a:noFill/>
          <a:ln/>
        </p:spPr>
        <p:txBody>
          <a:bodyPr wrap="square" lIns="0" tIns="0" rIns="0" bIns="0" rtlCol="0" anchor="b"/>
          <a:lstStyle/>
          <a:p>
            <a:pPr indent="0" marL="0">
              <a:buNone/>
            </a:pPr>
            <a:r>
              <a:rPr lang="en-US" sz="3000" b="1" dirty="0">
                <a:solidFill>
                  <a:srgbClr val="18202D"/>
                </a:solidFill>
                <a:latin typeface="Calibri" pitchFamily="34" charset="0"/>
                <a:ea typeface="Calibri" pitchFamily="34" charset="-122"/>
                <a:cs typeface="Calibri" pitchFamily="34" charset="-120"/>
              </a:rPr>
              <a:t>What a function is</a:t>
            </a:r>
            <a:endParaRPr lang="en-US" sz="3000" dirty="0"/>
          </a:p>
        </p:txBody>
      </p:sp>
      <p:pic>
        <p:nvPicPr>
          <p:cNvPr id="4" name="Image 0" descr="One box labeled FN-006 Charge aircraft. Arrows enter from the left: arrived aircraft at the reserve (material); grid power within the connection limit (energy). Arrows leave on the right: battery at the dispatch threshold (energy); charge-session record (information).">    </p:cNvPr>
          <p:cNvPicPr>
            <a:picLocks noChangeAspect="1"/>
          </p:cNvPicPr>
          <p:nvPr/>
        </p:nvPicPr>
        <p:blipFill>
          <a:blip r:embed="rId1"/>
          <a:stretch>
            <a:fillRect/>
          </a:stretch>
        </p:blipFill>
        <p:spPr>
          <a:xfrm>
            <a:off x="548640" y="1829770"/>
            <a:ext cx="6379289" cy="3311998"/>
          </a:xfrm>
          <a:prstGeom prst="rect">
            <a:avLst/>
          </a:prstGeom>
        </p:spPr>
      </p:pic>
      <p:sp>
        <p:nvSpPr>
          <p:cNvPr id="5" name="Shape 2"/>
          <p:cNvSpPr/>
          <p:nvPr/>
        </p:nvSpPr>
        <p:spPr>
          <a:xfrm>
            <a:off x="7293689" y="1280160"/>
            <a:ext cx="4349366" cy="2213864"/>
          </a:xfrm>
          <a:prstGeom prst="rect">
            <a:avLst/>
          </a:prstGeom>
          <a:solidFill>
            <a:srgbClr val="E1EFF4"/>
          </a:solidFill>
          <a:ln w="12700">
            <a:solidFill>
              <a:srgbClr val="E1EFF4"/>
            </a:solidFill>
            <a:prstDash val="solid"/>
          </a:ln>
        </p:spPr>
      </p:sp>
      <p:sp>
        <p:nvSpPr>
          <p:cNvPr id="6" name="Shape 3"/>
          <p:cNvSpPr/>
          <p:nvPr/>
        </p:nvSpPr>
        <p:spPr>
          <a:xfrm>
            <a:off x="7293689" y="1280160"/>
            <a:ext cx="73152" cy="2213864"/>
          </a:xfrm>
          <a:prstGeom prst="rect">
            <a:avLst/>
          </a:prstGeom>
          <a:solidFill>
            <a:srgbClr val="0F6E8C"/>
          </a:solidFill>
          <a:ln w="12700">
            <a:solidFill>
              <a:srgbClr val="0F6E8C"/>
            </a:solidFill>
            <a:prstDash val="solid"/>
          </a:ln>
        </p:spPr>
      </p:sp>
      <p:sp>
        <p:nvSpPr>
          <p:cNvPr id="7" name="Text 4"/>
          <p:cNvSpPr/>
          <p:nvPr/>
        </p:nvSpPr>
        <p:spPr>
          <a:xfrm>
            <a:off x="7522289" y="1280160"/>
            <a:ext cx="3983606" cy="2213864"/>
          </a:xfrm>
          <a:prstGeom prst="rect">
            <a:avLst/>
          </a:prstGeom>
          <a:noFill/>
          <a:ln/>
        </p:spPr>
        <p:txBody>
          <a:bodyPr wrap="square" lIns="50800" tIns="50800" rIns="50800" bIns="50800" rtlCol="0" anchor="ctr"/>
          <a:lstStyle/>
          <a:p>
            <a:pPr indent="0" marL="0">
              <a:buNone/>
            </a:pPr>
            <a:r>
              <a:rPr lang="en-US" sz="1300" b="1" spc="100" kern="0" dirty="0">
                <a:solidFill>
                  <a:srgbClr val="18202D"/>
                </a:solidFill>
                <a:latin typeface="Calibri" pitchFamily="34" charset="0"/>
                <a:ea typeface="Calibri" pitchFamily="34" charset="-122"/>
                <a:cs typeface="Calibri" pitchFamily="34" charset="-120"/>
              </a:rPr>
              <a:t>FUNCTION</a:t>
            </a:r>
            <a:endParaRPr lang="en-US" sz="1300" dirty="0"/>
          </a:p>
          <a:p>
            <a:pPr indent="0" marL="0">
              <a:buNone/>
            </a:pPr>
            <a:r>
              <a:rPr lang="en-US" sz="2200" dirty="0">
                <a:solidFill>
                  <a:srgbClr val="18202D"/>
                </a:solidFill>
                <a:latin typeface="Calibri" pitchFamily="34" charset="0"/>
                <a:ea typeface="Calibri" pitchFamily="34" charset="-122"/>
                <a:cs typeface="Calibri" pitchFamily="34" charset="-120"/>
              </a:rPr>
              <a:t>A function is defined by the transformation of input flows to output flows, with defined performance</a:t>
            </a:r>
            <a:endParaRPr lang="en-US" sz="1300" dirty="0"/>
          </a:p>
          <a:p>
            <a:pPr indent="0" marL="0">
              <a:spcBef>
                <a:spcPts val="600"/>
              </a:spcBef>
              <a:buNone/>
            </a:pPr>
            <a:r>
              <a:rPr lang="en-US" sz="1100" dirty="0">
                <a:solidFill>
                  <a:srgbClr val="0F6E8C"/>
                </a:solidFill>
                <a:latin typeface="Calibri" pitchFamily="34" charset="0"/>
                <a:ea typeface="Calibri" pitchFamily="34" charset="-122"/>
                <a:cs typeface="Calibri" pitchFamily="34" charset="-120"/>
              </a:rPr>
              <a:t>R39x · SEBoK v2.14 (2026), "Function (glossary)", p.1510</a:t>
            </a:r>
            <a:endParaRPr lang="en-US" sz="1300" dirty="0"/>
          </a:p>
        </p:txBody>
      </p:sp>
      <p:sp>
        <p:nvSpPr>
          <p:cNvPr id="8" name="Text 5"/>
          <p:cNvSpPr/>
          <p:nvPr/>
        </p:nvSpPr>
        <p:spPr>
          <a:xfrm>
            <a:off x="7293689" y="3658616"/>
            <a:ext cx="4349366" cy="1513840"/>
          </a:xfrm>
          <a:prstGeom prst="rect">
            <a:avLst/>
          </a:prstGeom>
          <a:noFill/>
          <a:ln/>
        </p:spPr>
        <p:txBody>
          <a:bodyPr wrap="square" lIns="25400" tIns="25400" rIns="25400" bIns="25400" rtlCol="0" anchor="t"/>
          <a:lstStyle/>
          <a:p>
            <a:pPr marL="228600" indent="-228600">
              <a:spcBef>
                <a:spcPts val="600"/>
              </a:spcBef>
              <a:buSzPct val="100000"/>
              <a:buChar char="■"/>
            </a:pPr>
            <a:r>
              <a:rPr lang="en-US" sz="2000" dirty="0">
                <a:solidFill>
                  <a:srgbClr val="18202D"/>
                </a:solidFill>
                <a:latin typeface="Calibri" pitchFamily="34" charset="0"/>
                <a:ea typeface="Calibri" pitchFamily="34" charset="-122"/>
                <a:cs typeface="Calibri" pitchFamily="34" charset="-120"/>
              </a:rPr>
              <a:t>Flows: data, materials or energy</a:t>
            </a:r>
            <a:endParaRPr lang="en-US" sz="2000" dirty="0"/>
          </a:p>
          <a:p>
            <a:pPr marL="228600" indent="-228600">
              <a:spcBef>
                <a:spcPts val="600"/>
              </a:spcBef>
              <a:buSzPct val="100000"/>
              <a:buChar char="■"/>
            </a:pPr>
            <a:r>
              <a:rPr lang="en-US" sz="2000" dirty="0">
                <a:solidFill>
                  <a:srgbClr val="18202D"/>
                </a:solidFill>
                <a:latin typeface="Calibri" pitchFamily="34" charset="0"/>
                <a:ea typeface="Calibri" pitchFamily="34" charset="-122"/>
                <a:cs typeface="Calibri" pitchFamily="34" charset="-120"/>
              </a:rPr>
              <a:t>Name: verb + object, never an element</a:t>
            </a:r>
            <a:endParaRPr lang="en-US" sz="2000" dirty="0"/>
          </a:p>
        </p:txBody>
      </p:sp>
      <p:sp>
        <p:nvSpPr>
          <p:cNvPr id="25" name="Slide Number Placeholder 0"/>
          <p:cNvSpPr>
            <a:spLocks noGrp="1"/>
          </p:cNvSpPr>
          <p:nvPr>
            <p:ph type="sldNum" sz="quarter" idx="4294967295"/>
          </p:nvPr>
        </p:nvSpPr>
        <p:spPr>
          <a:xfrm>
            <a:off x="10728655" y="6400800"/>
            <a:ext cx="91440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18202D"/>
                </a:solidFill>
                <a:latin typeface="Calibri"/>
                <a:ea typeface="Calibri"/>
                <a:cs typeface="Calibri"/>
              </a:defRPr>
            </a:lvl1pPr>
          </a:lstStyle>
          <a:p>
            <a:pPr algn="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548640" y="5828538"/>
            <a:ext cx="11094415" cy="435102"/>
          </a:xfrm>
          <a:prstGeom prst="rect">
            <a:avLst/>
          </a:prstGeom>
          <a:noFill/>
          <a:ln/>
        </p:spPr>
        <p:txBody>
          <a:bodyPr wrap="square" lIns="0" tIns="0" rIns="0" bIns="0" rtlCol="0" anchor="b"/>
          <a:lstStyle/>
          <a:p>
            <a:pPr indent="0" marL="0">
              <a:buNone/>
            </a:pPr>
            <a:r>
              <a:rPr lang="en-US" sz="1050" b="1" dirty="0">
                <a:solidFill>
                  <a:srgbClr val="18202D"/>
                </a:solidFill>
                <a:latin typeface="Calibri" pitchFamily="34" charset="0"/>
                <a:ea typeface="Calibri" pitchFamily="34" charset="-122"/>
                <a:cs typeface="Calibri" pitchFamily="34" charset="-120"/>
              </a:rPr>
              <a:t>Figure. </a:t>
            </a:r>
            <a:pPr indent="0" marL="0">
              <a:buNone/>
            </a:pPr>
            <a:r>
              <a:rPr lang="en-US" sz="1050" dirty="0">
                <a:solidFill>
                  <a:srgbClr val="566071"/>
                </a:solidFill>
                <a:latin typeface="Calibri" pitchFamily="34" charset="0"/>
                <a:ea typeface="Calibri" pitchFamily="34" charset="-122"/>
                <a:cs typeface="Calibri" pitchFamily="34" charset="-120"/>
              </a:rPr>
              <a:t>SEBoK’s six minimum contents of a functional view, with the AeroLink item that meets each; modes are an open row. (FICTIONAL)</a:t>
            </a:r>
            <a:endParaRPr lang="en-US" sz="1050" dirty="0"/>
          </a:p>
          <a:p>
            <a:pPr indent="0" marL="0">
              <a:buNone/>
            </a:pPr>
            <a:r>
              <a:rPr lang="en-US" sz="1050" b="1" dirty="0">
                <a:solidFill>
                  <a:srgbClr val="18202D"/>
                </a:solidFill>
                <a:latin typeface="Calibri" pitchFamily="34" charset="0"/>
                <a:ea typeface="Calibri" pitchFamily="34" charset="-122"/>
                <a:cs typeface="Calibri" pitchFamily="34" charset="-120"/>
              </a:rPr>
              <a:t>Sources: </a:t>
            </a:r>
            <a:pPr indent="0" marL="0">
              <a:buNone/>
            </a:pPr>
            <a:r>
              <a:rPr lang="en-US" sz="1050" dirty="0">
                <a:solidFill>
                  <a:srgbClr val="566071"/>
                </a:solidFill>
                <a:latin typeface="Calibri" pitchFamily="34" charset="0"/>
                <a:ea typeface="Calibri" pitchFamily="34" charset="-122"/>
                <a:cs typeface="Calibri" pitchFamily="34" charset="-120"/>
              </a:rPr>
              <a:t>R20a p.581; R20b p.587</a:t>
            </a:r>
            <a:endParaRPr lang="en-US" sz="1050" dirty="0"/>
          </a:p>
        </p:txBody>
      </p:sp>
      <p:sp>
        <p:nvSpPr>
          <p:cNvPr id="3" name="Text 1"/>
          <p:cNvSpPr/>
          <p:nvPr/>
        </p:nvSpPr>
        <p:spPr>
          <a:xfrm>
            <a:off x="548640" y="292608"/>
            <a:ext cx="11094415" cy="731520"/>
          </a:xfrm>
          <a:prstGeom prst="rect">
            <a:avLst/>
          </a:prstGeom>
          <a:noFill/>
          <a:ln/>
        </p:spPr>
        <p:txBody>
          <a:bodyPr wrap="square" lIns="0" tIns="0" rIns="0" bIns="0" rtlCol="0" anchor="b"/>
          <a:lstStyle/>
          <a:p>
            <a:pPr indent="0" marL="0">
              <a:buNone/>
            </a:pPr>
            <a:r>
              <a:rPr lang="en-US" sz="3000" b="1" dirty="0">
                <a:solidFill>
                  <a:srgbClr val="18202D"/>
                </a:solidFill>
                <a:latin typeface="Calibri" pitchFamily="34" charset="0"/>
                <a:ea typeface="Calibri" pitchFamily="34" charset="-122"/>
                <a:cs typeface="Calibri" pitchFamily="34" charset="-120"/>
              </a:rPr>
              <a:t>What a functional view must contain</a:t>
            </a:r>
            <a:endParaRPr lang="en-US" sz="3000" dirty="0"/>
          </a:p>
        </p:txBody>
      </p:sp>
      <p:pic>
        <p:nvPicPr>
          <p:cNvPr id="4" name="Image 0" descr="A six-row checklist. Capabilities that meet objectives: capability to function table, ticked. Inputs and outputs: on every function, ticked. Transformation steps: scenario walks, ticked. Grouping into sub-functions: seven first-level functions, ticked. Variations per mode: open, no modes defined yet. Interfaces carrying the flows: routes checked, defined in Week 5.">    </p:cNvPr>
          <p:cNvPicPr>
            <a:picLocks noChangeAspect="1"/>
          </p:cNvPicPr>
          <p:nvPr/>
        </p:nvPicPr>
        <p:blipFill>
          <a:blip r:embed="rId1"/>
          <a:stretch>
            <a:fillRect/>
          </a:stretch>
        </p:blipFill>
        <p:spPr>
          <a:xfrm>
            <a:off x="548640" y="1621462"/>
            <a:ext cx="6379289" cy="3728615"/>
          </a:xfrm>
          <a:prstGeom prst="rect">
            <a:avLst/>
          </a:prstGeom>
        </p:spPr>
      </p:pic>
      <p:sp>
        <p:nvSpPr>
          <p:cNvPr id="5" name="Text 2"/>
          <p:cNvSpPr/>
          <p:nvPr/>
        </p:nvSpPr>
        <p:spPr>
          <a:xfrm>
            <a:off x="7293689" y="1280160"/>
            <a:ext cx="4349366" cy="2608072"/>
          </a:xfrm>
          <a:prstGeom prst="rect">
            <a:avLst/>
          </a:prstGeom>
          <a:noFill/>
          <a:ln/>
        </p:spPr>
        <p:txBody>
          <a:bodyPr wrap="square" lIns="25400" tIns="25400" rIns="25400" bIns="25400" rtlCol="0" anchor="t"/>
          <a:lstStyle/>
          <a:p>
            <a:pPr marL="228600" indent="-228600">
              <a:spcBef>
                <a:spcPts val="600"/>
              </a:spcBef>
              <a:buSzPct val="100000"/>
              <a:buChar char="■"/>
            </a:pPr>
            <a:r>
              <a:rPr lang="en-US" sz="2000" dirty="0">
                <a:solidFill>
                  <a:srgbClr val="18202D"/>
                </a:solidFill>
                <a:latin typeface="Calibri" pitchFamily="34" charset="0"/>
                <a:ea typeface="Calibri" pitchFamily="34" charset="-122"/>
                <a:cs typeface="Calibri" pitchFamily="34" charset="-120"/>
              </a:rPr>
              <a:t>Capabilities; inputs and outputs; transformation steps</a:t>
            </a:r>
            <a:endParaRPr lang="en-US" sz="2000" dirty="0"/>
          </a:p>
          <a:p>
            <a:pPr marL="228600" indent="-228600">
              <a:spcBef>
                <a:spcPts val="600"/>
              </a:spcBef>
              <a:buSzPct val="100000"/>
              <a:buChar char="■"/>
            </a:pPr>
            <a:r>
              <a:rPr lang="en-US" sz="2000" dirty="0">
                <a:solidFill>
                  <a:srgbClr val="18202D"/>
                </a:solidFill>
                <a:latin typeface="Calibri" pitchFamily="34" charset="0"/>
                <a:ea typeface="Calibri" pitchFamily="34" charset="-122"/>
                <a:cs typeface="Calibri" pitchFamily="34" charset="-120"/>
              </a:rPr>
              <a:t>Grouping into sub-functions</a:t>
            </a:r>
            <a:endParaRPr lang="en-US" sz="2000" dirty="0"/>
          </a:p>
          <a:p>
            <a:pPr marL="228600" indent="-228600">
              <a:spcBef>
                <a:spcPts val="600"/>
              </a:spcBef>
              <a:buSzPct val="100000"/>
              <a:buChar char="■"/>
            </a:pPr>
            <a:r>
              <a:rPr lang="en-US" sz="2000" dirty="0">
                <a:solidFill>
                  <a:srgbClr val="18202D"/>
                </a:solidFill>
                <a:latin typeface="Calibri" pitchFamily="34" charset="0"/>
                <a:ea typeface="Calibri" pitchFamily="34" charset="-122"/>
                <a:cs typeface="Calibri" pitchFamily="34" charset="-120"/>
              </a:rPr>
              <a:t>Variations per mode; interfaces carrying the flows</a:t>
            </a:r>
            <a:endParaRPr lang="en-US" sz="2000" dirty="0"/>
          </a:p>
          <a:p>
            <a:pPr marL="228600" indent="-228600">
              <a:spcBef>
                <a:spcPts val="600"/>
              </a:spcBef>
              <a:buSzPct val="100000"/>
              <a:buChar char="■"/>
            </a:pPr>
            <a:r>
              <a:rPr lang="en-US" sz="2000" dirty="0">
                <a:solidFill>
                  <a:srgbClr val="18202D"/>
                </a:solidFill>
                <a:latin typeface="Calibri" pitchFamily="34" charset="0"/>
                <a:ea typeface="Calibri" pitchFamily="34" charset="-122"/>
                <a:cs typeface="Calibri" pitchFamily="34" charset="-120"/>
              </a:rPr>
              <a:t>Functional: input–output; behavioral: sequence and control</a:t>
            </a:r>
            <a:endParaRPr lang="en-US" sz="2000" dirty="0"/>
          </a:p>
        </p:txBody>
      </p:sp>
      <p:sp>
        <p:nvSpPr>
          <p:cNvPr id="25" name="Slide Number Placeholder 0"/>
          <p:cNvSpPr>
            <a:spLocks noGrp="1"/>
          </p:cNvSpPr>
          <p:nvPr>
            <p:ph type="sldNum" sz="quarter" idx="4294967295"/>
          </p:nvPr>
        </p:nvSpPr>
        <p:spPr>
          <a:xfrm>
            <a:off x="10728655" y="6400800"/>
            <a:ext cx="91440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18202D"/>
                </a:solidFill>
                <a:latin typeface="Calibri"/>
                <a:ea typeface="Calibri"/>
                <a:cs typeface="Calibri"/>
              </a:defRPr>
            </a:lvl1pPr>
          </a:lstStyle>
          <a:p>
            <a:pPr algn="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548640" y="5828538"/>
            <a:ext cx="11094415" cy="435102"/>
          </a:xfrm>
          <a:prstGeom prst="rect">
            <a:avLst/>
          </a:prstGeom>
          <a:noFill/>
          <a:ln/>
        </p:spPr>
        <p:txBody>
          <a:bodyPr wrap="square" lIns="0" tIns="0" rIns="0" bIns="0" rtlCol="0" anchor="b"/>
          <a:lstStyle/>
          <a:p>
            <a:pPr indent="0" marL="0">
              <a:buNone/>
            </a:pPr>
            <a:r>
              <a:rPr lang="en-US" sz="1050" b="1" dirty="0">
                <a:solidFill>
                  <a:srgbClr val="18202D"/>
                </a:solidFill>
                <a:latin typeface="Calibri" pitchFamily="34" charset="0"/>
                <a:ea typeface="Calibri" pitchFamily="34" charset="-122"/>
                <a:cs typeface="Calibri" pitchFamily="34" charset="-120"/>
              </a:rPr>
              <a:t>Figure. </a:t>
            </a:r>
            <a:pPr indent="0" marL="0">
              <a:buNone/>
            </a:pPr>
            <a:r>
              <a:rPr lang="en-US" sz="1050" dirty="0">
                <a:solidFill>
                  <a:srgbClr val="566071"/>
                </a:solidFill>
                <a:latin typeface="Calibri" pitchFamily="34" charset="0"/>
                <a:ea typeface="Calibri" pitchFamily="34" charset="-122"/>
                <a:cs typeface="Calibri" pitchFamily="34" charset="-120"/>
              </a:rPr>
              <a:t>AeroLink’s three-level decomposition: the mission function, 7 first-level functions, 17 leaves; a fourth level is marked too deep. (FICTIONAL)</a:t>
            </a:r>
            <a:endParaRPr lang="en-US" sz="1050" dirty="0"/>
          </a:p>
          <a:p>
            <a:pPr indent="0" marL="0">
              <a:buNone/>
            </a:pPr>
            <a:r>
              <a:rPr lang="en-US" sz="1050" b="1" dirty="0">
                <a:solidFill>
                  <a:srgbClr val="18202D"/>
                </a:solidFill>
                <a:latin typeface="Calibri" pitchFamily="34" charset="0"/>
                <a:ea typeface="Calibri" pitchFamily="34" charset="-122"/>
                <a:cs typeface="Calibri" pitchFamily="34" charset="-120"/>
              </a:rPr>
              <a:t>Sources: </a:t>
            </a:r>
            <a:pPr indent="0" marL="0">
              <a:buNone/>
            </a:pPr>
            <a:r>
              <a:rPr lang="en-US" sz="1050" dirty="0">
                <a:solidFill>
                  <a:srgbClr val="566071"/>
                </a:solidFill>
                <a:latin typeface="Calibri" pitchFamily="34" charset="0"/>
                <a:ea typeface="Calibri" pitchFamily="34" charset="-122"/>
                <a:cs typeface="Calibri" pitchFamily="34" charset="-120"/>
              </a:rPr>
              <a:t>R20b p.587; R20b p.594; R20c p.597</a:t>
            </a:r>
            <a:endParaRPr lang="en-US" sz="1050" dirty="0"/>
          </a:p>
        </p:txBody>
      </p:sp>
      <p:sp>
        <p:nvSpPr>
          <p:cNvPr id="3" name="Text 1"/>
          <p:cNvSpPr/>
          <p:nvPr/>
        </p:nvSpPr>
        <p:spPr>
          <a:xfrm>
            <a:off x="548640" y="292608"/>
            <a:ext cx="11094415" cy="731520"/>
          </a:xfrm>
          <a:prstGeom prst="rect">
            <a:avLst/>
          </a:prstGeom>
          <a:noFill/>
          <a:ln/>
        </p:spPr>
        <p:txBody>
          <a:bodyPr wrap="square" lIns="0" tIns="0" rIns="0" bIns="0" rtlCol="0" anchor="b"/>
          <a:lstStyle/>
          <a:p>
            <a:pPr indent="0" marL="0">
              <a:buNone/>
            </a:pPr>
            <a:r>
              <a:rPr lang="en-US" sz="3000" b="1" dirty="0">
                <a:solidFill>
                  <a:srgbClr val="18202D"/>
                </a:solidFill>
                <a:latin typeface="Calibri" pitchFamily="34" charset="0"/>
                <a:ea typeface="Calibri" pitchFamily="34" charset="-122"/>
                <a:cs typeface="Calibri" pitchFamily="34" charset="-120"/>
              </a:rPr>
              <a:t>Decomposition: how deep, and in which order</a:t>
            </a:r>
            <a:endParaRPr lang="en-US" sz="3000" dirty="0"/>
          </a:p>
        </p:txBody>
      </p:sp>
      <p:pic>
        <p:nvPicPr>
          <p:cNvPr id="4" name="Image 0" descr="A tree. At the top, F0: Provide on-demand air trips between the six vertiports. Below it 7 boxes: FG-1 Serve passengers with 3 functions; FG-2 Assign and dispatch with 3 functions; FG-3 Conduct flights with 4 functions; FG-4 Manage energy with 2 functions; FG-5 Keep the fleet fit with 3 functions; FG-6 Protect the vertiports with 1 functions; FG-7 Plan capacity with 1 functions. Under one leaf, a crossed-out fourth level labeled press confirm button, too deep.">    </p:cNvPr>
          <p:cNvPicPr>
            <a:picLocks noChangeAspect="1"/>
          </p:cNvPicPr>
          <p:nvPr/>
        </p:nvPicPr>
        <p:blipFill>
          <a:blip r:embed="rId1"/>
          <a:stretch>
            <a:fillRect/>
          </a:stretch>
        </p:blipFill>
        <p:spPr>
          <a:xfrm>
            <a:off x="548640" y="1621462"/>
            <a:ext cx="6379289" cy="3728615"/>
          </a:xfrm>
          <a:prstGeom prst="rect">
            <a:avLst/>
          </a:prstGeom>
        </p:spPr>
      </p:pic>
      <p:sp>
        <p:nvSpPr>
          <p:cNvPr id="5" name="Text 2"/>
          <p:cNvSpPr/>
          <p:nvPr/>
        </p:nvSpPr>
        <p:spPr>
          <a:xfrm>
            <a:off x="7293689" y="1280160"/>
            <a:ext cx="4349366" cy="2917952"/>
          </a:xfrm>
          <a:prstGeom prst="rect">
            <a:avLst/>
          </a:prstGeom>
          <a:noFill/>
          <a:ln/>
        </p:spPr>
        <p:txBody>
          <a:bodyPr wrap="square" lIns="25400" tIns="25400" rIns="25400" bIns="25400" rtlCol="0" anchor="t"/>
          <a:lstStyle/>
          <a:p>
            <a:pPr marL="228600" indent="-228600">
              <a:spcBef>
                <a:spcPts val="600"/>
              </a:spcBef>
              <a:buSzPct val="100000"/>
              <a:buChar char="■"/>
            </a:pPr>
            <a:r>
              <a:rPr lang="en-US" sz="2000" dirty="0">
                <a:solidFill>
                  <a:srgbClr val="18202D"/>
                </a:solidFill>
                <a:latin typeface="Calibri" pitchFamily="34" charset="0"/>
                <a:ea typeface="Calibri" pitchFamily="34" charset="-122"/>
                <a:cs typeface="Calibri" pitchFamily="34" charset="-120"/>
              </a:rPr>
              <a:t>From the mission (one black box) down to leaves</a:t>
            </a:r>
            <a:endParaRPr lang="en-US" sz="2000" dirty="0"/>
          </a:p>
          <a:p>
            <a:pPr marL="228600" indent="-228600">
              <a:spcBef>
                <a:spcPts val="600"/>
              </a:spcBef>
              <a:buSzPct val="100000"/>
              <a:buChar char="■"/>
            </a:pPr>
            <a:r>
              <a:rPr lang="en-US" sz="2000" dirty="0">
                <a:solidFill>
                  <a:srgbClr val="18202D"/>
                </a:solidFill>
                <a:latin typeface="Calibri" pitchFamily="34" charset="0"/>
                <a:ea typeface="Calibri" pitchFamily="34" charset="-122"/>
                <a:cs typeface="Calibri" pitchFamily="34" charset="-120"/>
              </a:rPr>
              <a:t>Stop where a physical solution is known or imaginable</a:t>
            </a:r>
            <a:endParaRPr lang="en-US" sz="2000" dirty="0"/>
          </a:p>
          <a:p>
            <a:pPr marL="228600" indent="-228600">
              <a:spcBef>
                <a:spcPts val="600"/>
              </a:spcBef>
              <a:buSzPct val="100000"/>
              <a:buChar char="■"/>
            </a:pPr>
            <a:r>
              <a:rPr lang="en-US" sz="2000" dirty="0">
                <a:solidFill>
                  <a:srgbClr val="18202D"/>
                </a:solidFill>
                <a:latin typeface="Calibri" pitchFamily="34" charset="0"/>
                <a:ea typeface="Calibri" pitchFamily="34" charset="-122"/>
                <a:cs typeface="Calibri" pitchFamily="34" charset="-120"/>
              </a:rPr>
              <a:t>Built over iterations, not one top-down pass</a:t>
            </a:r>
            <a:endParaRPr lang="en-US" sz="2000" dirty="0"/>
          </a:p>
          <a:p>
            <a:pPr marL="228600" indent="-228600">
              <a:spcBef>
                <a:spcPts val="600"/>
              </a:spcBef>
              <a:buSzPct val="100000"/>
              <a:buChar char="■"/>
            </a:pPr>
            <a:r>
              <a:rPr lang="en-US" sz="2000" dirty="0">
                <a:solidFill>
                  <a:srgbClr val="18202D"/>
                </a:solidFill>
                <a:latin typeface="Calibri" pitchFamily="34" charset="0"/>
                <a:ea typeface="Calibri" pitchFamily="34" charset="-122"/>
                <a:cs typeface="Calibri" pitchFamily="34" charset="-120"/>
              </a:rPr>
              <a:t>Pitfalls: too deep; no scenarios; no inputs and outputs</a:t>
            </a:r>
            <a:endParaRPr lang="en-US" sz="2000" dirty="0"/>
          </a:p>
        </p:txBody>
      </p:sp>
      <p:sp>
        <p:nvSpPr>
          <p:cNvPr id="25" name="Slide Number Placeholder 0"/>
          <p:cNvSpPr>
            <a:spLocks noGrp="1"/>
          </p:cNvSpPr>
          <p:nvPr>
            <p:ph type="sldNum" sz="quarter" idx="4294967295"/>
          </p:nvPr>
        </p:nvSpPr>
        <p:spPr>
          <a:xfrm>
            <a:off x="10728655" y="6400800"/>
            <a:ext cx="91440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18202D"/>
                </a:solidFill>
                <a:latin typeface="Calibri"/>
                <a:ea typeface="Calibri"/>
                <a:cs typeface="Calibri"/>
              </a:defRPr>
            </a:lvl1pPr>
          </a:lstStyle>
          <a:p>
            <a:pPr algn="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548640" y="5665851"/>
            <a:ext cx="11094415" cy="597789"/>
          </a:xfrm>
          <a:prstGeom prst="rect">
            <a:avLst/>
          </a:prstGeom>
          <a:noFill/>
          <a:ln/>
        </p:spPr>
        <p:txBody>
          <a:bodyPr wrap="square" lIns="0" tIns="0" rIns="0" bIns="0" rtlCol="0" anchor="b"/>
          <a:lstStyle/>
          <a:p>
            <a:pPr indent="0" marL="0">
              <a:buNone/>
            </a:pPr>
            <a:r>
              <a:rPr lang="en-US" sz="1050" b="1" dirty="0">
                <a:solidFill>
                  <a:srgbClr val="18202D"/>
                </a:solidFill>
                <a:latin typeface="Calibri" pitchFamily="34" charset="0"/>
                <a:ea typeface="Calibri" pitchFamily="34" charset="-122"/>
                <a:cs typeface="Calibri" pitchFamily="34" charset="-120"/>
              </a:rPr>
              <a:t>Figure. </a:t>
            </a:r>
            <a:pPr indent="0" marL="0">
              <a:buNone/>
            </a:pPr>
            <a:r>
              <a:rPr lang="en-US" sz="1050" dirty="0">
                <a:solidFill>
                  <a:srgbClr val="566071"/>
                </a:solidFill>
                <a:latin typeface="Calibri" pitchFamily="34" charset="0"/>
                <a:ea typeface="Calibri" pitchFamily="34" charset="-122"/>
                <a:cs typeface="Calibri" pitchFamily="34" charset="-120"/>
              </a:rPr>
              <a:t>The two scenarios as a worksheet: each step with an empty box for the function the class names; a person marks a step where a human decides. The answers are in the notes and the lesson. (FICTIONAL)</a:t>
            </a:r>
            <a:endParaRPr lang="en-US" sz="1050" dirty="0"/>
          </a:p>
          <a:p>
            <a:pPr indent="0" marL="0">
              <a:buNone/>
            </a:pPr>
            <a:r>
              <a:rPr lang="en-US" sz="1050" b="1" dirty="0">
                <a:solidFill>
                  <a:srgbClr val="18202D"/>
                </a:solidFill>
                <a:latin typeface="Calibri" pitchFamily="34" charset="0"/>
                <a:ea typeface="Calibri" pitchFamily="34" charset="-122"/>
                <a:cs typeface="Calibri" pitchFamily="34" charset="-120"/>
              </a:rPr>
              <a:t>Sources: </a:t>
            </a:r>
            <a:pPr indent="0" marL="0">
              <a:buNone/>
            </a:pPr>
            <a:r>
              <a:rPr lang="en-US" sz="1050" dirty="0">
                <a:solidFill>
                  <a:srgbClr val="566071"/>
                </a:solidFill>
                <a:latin typeface="Calibri" pitchFamily="34" charset="0"/>
                <a:ea typeface="Calibri" pitchFamily="34" charset="-122"/>
                <a:cs typeface="Calibri" pitchFamily="34" charset="-120"/>
              </a:rPr>
              <a:t>R20b p.594; R48c p.145</a:t>
            </a:r>
            <a:endParaRPr lang="en-US" sz="1050" dirty="0"/>
          </a:p>
        </p:txBody>
      </p:sp>
      <p:sp>
        <p:nvSpPr>
          <p:cNvPr id="3" name="Text 1"/>
          <p:cNvSpPr/>
          <p:nvPr/>
        </p:nvSpPr>
        <p:spPr>
          <a:xfrm>
            <a:off x="548640" y="292608"/>
            <a:ext cx="11094415" cy="731520"/>
          </a:xfrm>
          <a:prstGeom prst="rect">
            <a:avLst/>
          </a:prstGeom>
          <a:noFill/>
          <a:ln/>
        </p:spPr>
        <p:txBody>
          <a:bodyPr wrap="square" lIns="0" tIns="0" rIns="0" bIns="0" rtlCol="0" anchor="b"/>
          <a:lstStyle/>
          <a:p>
            <a:pPr indent="0" marL="0">
              <a:buNone/>
            </a:pPr>
            <a:r>
              <a:rPr lang="en-US" sz="3000" b="1" dirty="0">
                <a:solidFill>
                  <a:srgbClr val="18202D"/>
                </a:solidFill>
                <a:latin typeface="Calibri" pitchFamily="34" charset="0"/>
                <a:ea typeface="Calibri" pitchFamily="34" charset="-122"/>
                <a:cs typeface="Calibri" pitchFamily="34" charset="-120"/>
              </a:rPr>
              <a:t>Worked example I: walking two scenarios to find functions</a:t>
            </a:r>
            <a:endParaRPr lang="en-US" sz="3000" dirty="0"/>
          </a:p>
        </p:txBody>
      </p:sp>
      <p:pic>
        <p:nvPicPr>
          <p:cNvPr id="4" name="Image 0" descr="Two columns of scenario steps, each step with its short text and an empty function box. Left, SCN-001: step 1, enter the request; step 2, check weather, capacity; step 3, quote fare, boarding time; step 4, confirm the booking; step 5, assign aircraft in 60 s; step 6, issue the boarding pass; alternate A3, wheelchair help by agent. Right, SCN-005: step 1, flag V3 near its limits; step 2, declare the hold; step 3, divert airborne flights; step 4, revised flight intents; step 5, notify passengers; step 6, passenger chooses; step 7, lift hold, re-time backlog. A person icon marks SCN-001 alternate A3, SCN-005 step 2, SCN-005 step 7. No function is filled in.">    </p:cNvPr>
          <p:cNvPicPr>
            <a:picLocks noChangeAspect="1"/>
          </p:cNvPicPr>
          <p:nvPr/>
        </p:nvPicPr>
        <p:blipFill>
          <a:blip r:embed="rId1"/>
          <a:stretch>
            <a:fillRect/>
          </a:stretch>
        </p:blipFill>
        <p:spPr>
          <a:xfrm>
            <a:off x="2352385" y="1280160"/>
            <a:ext cx="7486925" cy="2624385"/>
          </a:xfrm>
          <a:prstGeom prst="rect">
            <a:avLst/>
          </a:prstGeom>
        </p:spPr>
      </p:pic>
      <p:sp>
        <p:nvSpPr>
          <p:cNvPr id="5" name="Text 2"/>
          <p:cNvSpPr/>
          <p:nvPr/>
        </p:nvSpPr>
        <p:spPr>
          <a:xfrm>
            <a:off x="548640" y="4041705"/>
            <a:ext cx="11094415" cy="1430528"/>
          </a:xfrm>
          <a:prstGeom prst="rect">
            <a:avLst/>
          </a:prstGeom>
          <a:noFill/>
          <a:ln/>
        </p:spPr>
        <p:txBody>
          <a:bodyPr wrap="square" lIns="25400" tIns="25400" rIns="25400" bIns="25400" rtlCol="0" anchor="t"/>
          <a:lstStyle/>
          <a:p>
            <a:pPr marL="342900" indent="-342900">
              <a:spcBef>
                <a:spcPts val="600"/>
              </a:spcBef>
              <a:buSzPct val="100000"/>
              <a:buFont typeface="+mj-lt"/>
              <a:buAutoNum type="arabicPeriod" startAt="1"/>
            </a:pPr>
            <a:r>
              <a:rPr lang="en-US" sz="1600" b="1" dirty="0">
                <a:solidFill>
                  <a:srgbClr val="18202D"/>
                </a:solidFill>
                <a:latin typeface="Calibri" pitchFamily="34" charset="0"/>
                <a:ea typeface="Calibri" pitchFamily="34" charset="-122"/>
                <a:cs typeface="Calibri" pitchFamily="34" charset="-120"/>
              </a:rPr>
              <a:t>Walk: </a:t>
            </a:r>
            <a:pPr indent="0" marL="0">
              <a:buNone/>
            </a:pPr>
            <a:r>
              <a:rPr lang="en-US" sz="1600" dirty="0">
                <a:solidFill>
                  <a:srgbClr val="18202D"/>
                </a:solidFill>
                <a:latin typeface="Calibri" pitchFamily="34" charset="0"/>
                <a:ea typeface="Calibri" pitchFamily="34" charset="-122"/>
                <a:cs typeface="Calibri" pitchFamily="34" charset="-120"/>
              </a:rPr>
              <a:t>Read each step; ask which transformation it needs</a:t>
            </a:r>
            <a:endParaRPr lang="en-US" sz="1600" dirty="0"/>
          </a:p>
          <a:p>
            <a:pPr marL="342900" indent="-342900">
              <a:spcBef>
                <a:spcPts val="600"/>
              </a:spcBef>
              <a:buSzPct val="100000"/>
              <a:buFont typeface="+mj-lt"/>
              <a:buAutoNum type="arabicPeriod" startAt="1"/>
            </a:pPr>
            <a:r>
              <a:rPr lang="en-US" sz="1600" b="1" dirty="0">
                <a:solidFill>
                  <a:srgbClr val="18202D"/>
                </a:solidFill>
                <a:latin typeface="Calibri" pitchFamily="34" charset="0"/>
                <a:ea typeface="Calibri" pitchFamily="34" charset="-122"/>
                <a:cs typeface="Calibri" pitchFamily="34" charset="-120"/>
              </a:rPr>
              <a:t>Name: </a:t>
            </a:r>
            <a:pPr indent="0" marL="0">
              <a:buNone/>
            </a:pPr>
            <a:r>
              <a:rPr lang="en-US" sz="1600" dirty="0">
                <a:solidFill>
                  <a:srgbClr val="18202D"/>
                </a:solidFill>
                <a:latin typeface="Calibri" pitchFamily="34" charset="0"/>
                <a:ea typeface="Calibri" pitchFamily="34" charset="-122"/>
                <a:cs typeface="Calibri" pitchFamily="34" charset="-120"/>
              </a:rPr>
              <a:t>Verb + object, with inputs and outputs</a:t>
            </a:r>
            <a:endParaRPr lang="en-US" sz="1600" dirty="0"/>
          </a:p>
          <a:p>
            <a:pPr marL="342900" indent="-342900">
              <a:spcBef>
                <a:spcPts val="600"/>
              </a:spcBef>
              <a:buSzPct val="100000"/>
              <a:buFont typeface="+mj-lt"/>
              <a:buAutoNum type="arabicPeriod" startAt="1"/>
            </a:pPr>
            <a:r>
              <a:rPr lang="en-US" sz="1600" b="1" dirty="0">
                <a:solidFill>
                  <a:srgbClr val="18202D"/>
                </a:solidFill>
                <a:latin typeface="Calibri" pitchFamily="34" charset="0"/>
                <a:ea typeface="Calibri" pitchFamily="34" charset="-122"/>
                <a:cs typeface="Calibri" pitchFamily="34" charset="-120"/>
              </a:rPr>
              <a:t>Reuse: </a:t>
            </a:r>
            <a:pPr indent="0" marL="0">
              <a:buNone/>
            </a:pPr>
            <a:r>
              <a:rPr lang="en-US" sz="1600" dirty="0">
                <a:solidFill>
                  <a:srgbClr val="18202D"/>
                </a:solidFill>
                <a:latin typeface="Calibri" pitchFamily="34" charset="0"/>
                <a:ea typeface="Calibri" pitchFamily="34" charset="-122"/>
                <a:cs typeface="Calibri" pitchFamily="34" charset="-120"/>
              </a:rPr>
              <a:t>A step served by an existing function adds no function</a:t>
            </a:r>
            <a:endParaRPr lang="en-US" sz="1600" dirty="0"/>
          </a:p>
          <a:p>
            <a:pPr marL="342900" indent="-342900">
              <a:spcBef>
                <a:spcPts val="600"/>
              </a:spcBef>
              <a:buSzPct val="100000"/>
              <a:buFont typeface="+mj-lt"/>
              <a:buAutoNum type="arabicPeriod" startAt="1"/>
            </a:pPr>
            <a:r>
              <a:rPr lang="en-US" sz="1600" b="1" dirty="0">
                <a:solidFill>
                  <a:srgbClr val="18202D"/>
                </a:solidFill>
                <a:latin typeface="Calibri" pitchFamily="34" charset="0"/>
                <a:ea typeface="Calibri" pitchFamily="34" charset="-122"/>
                <a:cs typeface="Calibri" pitchFamily="34" charset="-120"/>
              </a:rPr>
              <a:t>Expose: </a:t>
            </a:r>
            <a:pPr indent="0" marL="0">
              <a:buNone/>
            </a:pPr>
            <a:r>
              <a:rPr lang="en-US" sz="1600" dirty="0">
                <a:solidFill>
                  <a:srgbClr val="18202D"/>
                </a:solidFill>
                <a:latin typeface="Calibri" pitchFamily="34" charset="0"/>
                <a:ea typeface="Calibri" pitchFamily="34" charset="-122"/>
                <a:cs typeface="Calibri" pitchFamily="34" charset="-120"/>
              </a:rPr>
              <a:t>A step no function serves is a new function or a gap</a:t>
            </a:r>
            <a:endParaRPr lang="en-US" sz="1600" dirty="0"/>
          </a:p>
        </p:txBody>
      </p:sp>
      <p:sp>
        <p:nvSpPr>
          <p:cNvPr id="25" name="Slide Number Placeholder 0"/>
          <p:cNvSpPr>
            <a:spLocks noGrp="1"/>
          </p:cNvSpPr>
          <p:nvPr>
            <p:ph type="sldNum" sz="quarter" idx="4294967295"/>
          </p:nvPr>
        </p:nvSpPr>
        <p:spPr>
          <a:xfrm>
            <a:off x="10728655" y="6400800"/>
            <a:ext cx="91440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18202D"/>
                </a:solidFill>
                <a:latin typeface="Calibri"/>
                <a:ea typeface="Calibri"/>
                <a:cs typeface="Calibri"/>
              </a:defRPr>
            </a:lvl1pPr>
          </a:lstStyle>
          <a:p>
            <a:pPr algn="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548640" y="5828538"/>
            <a:ext cx="11094415" cy="435102"/>
          </a:xfrm>
          <a:prstGeom prst="rect">
            <a:avLst/>
          </a:prstGeom>
          <a:noFill/>
          <a:ln/>
        </p:spPr>
        <p:txBody>
          <a:bodyPr wrap="square" lIns="0" tIns="0" rIns="0" bIns="0" rtlCol="0" anchor="b"/>
          <a:lstStyle/>
          <a:p>
            <a:pPr indent="0" marL="0">
              <a:buNone/>
            </a:pPr>
            <a:r>
              <a:rPr lang="en-US" sz="1050" b="1" dirty="0">
                <a:solidFill>
                  <a:srgbClr val="18202D"/>
                </a:solidFill>
                <a:latin typeface="Calibri" pitchFamily="34" charset="0"/>
                <a:ea typeface="Calibri" pitchFamily="34" charset="-122"/>
                <a:cs typeface="Calibri" pitchFamily="34" charset="-120"/>
              </a:rPr>
              <a:t>Figure. </a:t>
            </a:r>
            <a:pPr indent="0" marL="0">
              <a:buNone/>
            </a:pPr>
            <a:r>
              <a:rPr lang="en-US" sz="1050" dirty="0">
                <a:solidFill>
                  <a:srgbClr val="566071"/>
                </a:solidFill>
                <a:latin typeface="Calibri" pitchFamily="34" charset="0"/>
                <a:ea typeface="Calibri" pitchFamily="34" charset="-122"/>
                <a:cs typeface="Calibri" pitchFamily="34" charset="-120"/>
              </a:rPr>
              <a:t>15 capabilities on the left, 17 functions on the right; one capability has a disposition instead of a function. (FICTIONAL)</a:t>
            </a:r>
            <a:endParaRPr lang="en-US" sz="1050" dirty="0"/>
          </a:p>
          <a:p>
            <a:pPr indent="0" marL="0">
              <a:buNone/>
            </a:pPr>
            <a:r>
              <a:rPr lang="en-US" sz="1050" b="1" dirty="0">
                <a:solidFill>
                  <a:srgbClr val="18202D"/>
                </a:solidFill>
                <a:latin typeface="Calibri" pitchFamily="34" charset="0"/>
                <a:ea typeface="Calibri" pitchFamily="34" charset="-122"/>
                <a:cs typeface="Calibri" pitchFamily="34" charset="-120"/>
              </a:rPr>
              <a:t>Sources: </a:t>
            </a:r>
            <a:pPr indent="0" marL="0">
              <a:buNone/>
            </a:pPr>
            <a:r>
              <a:rPr lang="en-US" sz="1050" dirty="0">
                <a:solidFill>
                  <a:srgbClr val="566071"/>
                </a:solidFill>
                <a:latin typeface="Calibri" pitchFamily="34" charset="0"/>
                <a:ea typeface="Calibri" pitchFamily="34" charset="-122"/>
                <a:cs typeface="Calibri" pitchFamily="34" charset="-120"/>
              </a:rPr>
              <a:t>R20b p.592; R20c p.598; R48c p.146</a:t>
            </a:r>
            <a:endParaRPr lang="en-US" sz="1050" dirty="0"/>
          </a:p>
        </p:txBody>
      </p:sp>
      <p:sp>
        <p:nvSpPr>
          <p:cNvPr id="3" name="Text 1"/>
          <p:cNvSpPr/>
          <p:nvPr/>
        </p:nvSpPr>
        <p:spPr>
          <a:xfrm>
            <a:off x="548640" y="292608"/>
            <a:ext cx="11094415" cy="731520"/>
          </a:xfrm>
          <a:prstGeom prst="rect">
            <a:avLst/>
          </a:prstGeom>
          <a:noFill/>
          <a:ln/>
        </p:spPr>
        <p:txBody>
          <a:bodyPr wrap="square" lIns="0" tIns="0" rIns="0" bIns="0" rtlCol="0" anchor="b"/>
          <a:lstStyle/>
          <a:p>
            <a:pPr indent="0" marL="0">
              <a:buNone/>
            </a:pPr>
            <a:r>
              <a:rPr lang="en-US" sz="3000" b="1" dirty="0">
                <a:solidFill>
                  <a:srgbClr val="18202D"/>
                </a:solidFill>
                <a:latin typeface="Calibri" pitchFamily="34" charset="0"/>
                <a:ea typeface="Calibri" pitchFamily="34" charset="-122"/>
                <a:cs typeface="Calibri" pitchFamily="34" charset="-120"/>
              </a:rPr>
              <a:t>Functions from capabilities: the coverage check</a:t>
            </a:r>
            <a:endParaRPr lang="en-US" sz="3000" dirty="0"/>
          </a:p>
        </p:txBody>
      </p:sp>
      <p:pic>
        <p:nvPicPr>
          <p:cNvPr id="4" name="Image 0" descr="A two-column graph. Left: CAP-001 to CAP-015. Right: FN-001 to FN-017. Lines join each capability to the functions derived from it. CAP-011 has no line and carries a tag: constraint, no function. A footer reads 12 of 12 system requirements allocated.">    </p:cNvPr>
          <p:cNvPicPr>
            <a:picLocks noChangeAspect="1"/>
          </p:cNvPicPr>
          <p:nvPr/>
        </p:nvPicPr>
        <p:blipFill>
          <a:blip r:embed="rId1"/>
          <a:stretch>
            <a:fillRect/>
          </a:stretch>
        </p:blipFill>
        <p:spPr>
          <a:xfrm>
            <a:off x="548640" y="1550428"/>
            <a:ext cx="6379289" cy="3870683"/>
          </a:xfrm>
          <a:prstGeom prst="rect">
            <a:avLst/>
          </a:prstGeom>
        </p:spPr>
      </p:pic>
      <p:sp>
        <p:nvSpPr>
          <p:cNvPr id="5" name="Text 2"/>
          <p:cNvSpPr/>
          <p:nvPr/>
        </p:nvSpPr>
        <p:spPr>
          <a:xfrm>
            <a:off x="7293689" y="1280160"/>
            <a:ext cx="4349366" cy="2917952"/>
          </a:xfrm>
          <a:prstGeom prst="rect">
            <a:avLst/>
          </a:prstGeom>
          <a:noFill/>
          <a:ln/>
        </p:spPr>
        <p:txBody>
          <a:bodyPr wrap="square" lIns="25400" tIns="25400" rIns="25400" bIns="25400" rtlCol="0" anchor="t"/>
          <a:lstStyle/>
          <a:p>
            <a:pPr marL="228600" indent="-228600">
              <a:spcBef>
                <a:spcPts val="600"/>
              </a:spcBef>
              <a:buSzPct val="100000"/>
              <a:buChar char="■"/>
            </a:pPr>
            <a:r>
              <a:rPr lang="en-US" sz="2000" dirty="0">
                <a:solidFill>
                  <a:srgbClr val="18202D"/>
                </a:solidFill>
                <a:latin typeface="Calibri" pitchFamily="34" charset="0"/>
                <a:ea typeface="Calibri" pitchFamily="34" charset="-122"/>
                <a:cs typeface="Calibri" pitchFamily="34" charset="-120"/>
              </a:rPr>
              <a:t>14 of 15 capabilities served by a function</a:t>
            </a:r>
            <a:endParaRPr lang="en-US" sz="2000" dirty="0"/>
          </a:p>
          <a:p>
            <a:pPr marL="228600" indent="-228600">
              <a:spcBef>
                <a:spcPts val="600"/>
              </a:spcBef>
              <a:buSzPct val="100000"/>
              <a:buChar char="■"/>
            </a:pPr>
            <a:r>
              <a:rPr lang="en-US" sz="2000" dirty="0">
                <a:solidFill>
                  <a:srgbClr val="18202D"/>
                </a:solidFill>
                <a:latin typeface="Calibri" pitchFamily="34" charset="0"/>
                <a:ea typeface="Calibri" pitchFamily="34" charset="-122"/>
                <a:cs typeface="Calibri" pitchFamily="34" charset="-120"/>
              </a:rPr>
              <a:t>CAP-011 is a constraint: a disposition, not a function</a:t>
            </a:r>
            <a:endParaRPr lang="en-US" sz="2000" dirty="0"/>
          </a:p>
          <a:p>
            <a:pPr marL="228600" indent="-228600">
              <a:spcBef>
                <a:spcPts val="600"/>
              </a:spcBef>
              <a:buSzPct val="100000"/>
              <a:buChar char="■"/>
            </a:pPr>
            <a:r>
              <a:rPr lang="en-US" sz="2000" dirty="0">
                <a:solidFill>
                  <a:srgbClr val="18202D"/>
                </a:solidFill>
                <a:latin typeface="Calibri" pitchFamily="34" charset="0"/>
                <a:ea typeface="Calibri" pitchFamily="34" charset="-122"/>
                <a:cs typeface="Calibri" pitchFamily="34" charset="-120"/>
              </a:rPr>
              <a:t>12 of 12 system requirements allocated</a:t>
            </a:r>
            <a:endParaRPr lang="en-US" sz="2000" dirty="0"/>
          </a:p>
          <a:p>
            <a:pPr marL="228600" indent="-228600">
              <a:spcBef>
                <a:spcPts val="600"/>
              </a:spcBef>
              <a:buSzPct val="100000"/>
              <a:buChar char="■"/>
            </a:pPr>
            <a:r>
              <a:rPr lang="en-US" sz="2000" dirty="0">
                <a:solidFill>
                  <a:srgbClr val="18202D"/>
                </a:solidFill>
                <a:latin typeface="Calibri" pitchFamily="34" charset="0"/>
                <a:ea typeface="Calibri" pitchFamily="34" charset="-122"/>
                <a:cs typeface="Calibri" pitchFamily="34" charset="-120"/>
              </a:rPr>
              <a:t>FN-013 serves planning: no requirement, by reason</a:t>
            </a:r>
            <a:endParaRPr lang="en-US" sz="2000" dirty="0"/>
          </a:p>
        </p:txBody>
      </p:sp>
      <p:sp>
        <p:nvSpPr>
          <p:cNvPr id="25" name="Slide Number Placeholder 0"/>
          <p:cNvSpPr>
            <a:spLocks noGrp="1"/>
          </p:cNvSpPr>
          <p:nvPr>
            <p:ph type="sldNum" sz="quarter" idx="4294967295"/>
          </p:nvPr>
        </p:nvSpPr>
        <p:spPr>
          <a:xfrm>
            <a:off x="10728655" y="6400800"/>
            <a:ext cx="91440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18202D"/>
                </a:solidFill>
                <a:latin typeface="Calibri"/>
                <a:ea typeface="Calibri"/>
                <a:cs typeface="Calibri"/>
              </a:defRPr>
            </a:lvl1pPr>
          </a:lstStyle>
          <a:p>
            <a:pPr algn="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548640" y="5828538"/>
            <a:ext cx="11094415" cy="435102"/>
          </a:xfrm>
          <a:prstGeom prst="rect">
            <a:avLst/>
          </a:prstGeom>
          <a:noFill/>
          <a:ln/>
        </p:spPr>
        <p:txBody>
          <a:bodyPr wrap="square" lIns="0" tIns="0" rIns="0" bIns="0" rtlCol="0" anchor="b"/>
          <a:lstStyle/>
          <a:p>
            <a:pPr indent="0" marL="0">
              <a:buNone/>
            </a:pPr>
            <a:r>
              <a:rPr lang="en-US" sz="1050" b="1" dirty="0">
                <a:solidFill>
                  <a:srgbClr val="18202D"/>
                </a:solidFill>
                <a:latin typeface="Calibri" pitchFamily="34" charset="0"/>
                <a:ea typeface="Calibri" pitchFamily="34" charset="-122"/>
                <a:cs typeface="Calibri" pitchFamily="34" charset="-120"/>
              </a:rPr>
              <a:t>Figure. </a:t>
            </a:r>
            <a:pPr indent="0" marL="0">
              <a:buNone/>
            </a:pPr>
            <a:r>
              <a:rPr lang="en-US" sz="1050" dirty="0">
                <a:solidFill>
                  <a:srgbClr val="566071"/>
                </a:solidFill>
                <a:latin typeface="Calibri" pitchFamily="34" charset="0"/>
                <a:ea typeface="Calibri" pitchFamily="34" charset="-122"/>
                <a:cs typeface="Calibri" pitchFamily="34" charset="-120"/>
              </a:rPr>
              <a:t>Three planes: FN-006 is performed by LOG-002 and allocated to PHY-003; requirements are allocated to both structural planes. (FICTIONAL)</a:t>
            </a:r>
            <a:endParaRPr lang="en-US" sz="1050" dirty="0"/>
          </a:p>
          <a:p>
            <a:pPr indent="0" marL="0">
              <a:buNone/>
            </a:pPr>
            <a:r>
              <a:rPr lang="en-US" sz="1050" b="1" dirty="0">
                <a:solidFill>
                  <a:srgbClr val="18202D"/>
                </a:solidFill>
                <a:latin typeface="Calibri" pitchFamily="34" charset="0"/>
                <a:ea typeface="Calibri" pitchFamily="34" charset="-122"/>
                <a:cs typeface="Calibri" pitchFamily="34" charset="-120"/>
              </a:rPr>
              <a:t>Sources: </a:t>
            </a:r>
            <a:pPr indent="0" marL="0">
              <a:buNone/>
            </a:pPr>
            <a:r>
              <a:rPr lang="en-US" sz="1050" dirty="0">
                <a:solidFill>
                  <a:srgbClr val="566071"/>
                </a:solidFill>
                <a:latin typeface="Calibri" pitchFamily="34" charset="0"/>
                <a:ea typeface="Calibri" pitchFamily="34" charset="-122"/>
                <a:cs typeface="Calibri" pitchFamily="34" charset="-120"/>
              </a:rPr>
              <a:t>R19 p.571; R20b p.587; R20c p.596; R20c p.597</a:t>
            </a:r>
            <a:endParaRPr lang="en-US" sz="1050" dirty="0"/>
          </a:p>
        </p:txBody>
      </p:sp>
      <p:sp>
        <p:nvSpPr>
          <p:cNvPr id="3" name="Text 1"/>
          <p:cNvSpPr/>
          <p:nvPr/>
        </p:nvSpPr>
        <p:spPr>
          <a:xfrm>
            <a:off x="548640" y="292608"/>
            <a:ext cx="11094415" cy="731520"/>
          </a:xfrm>
          <a:prstGeom prst="rect">
            <a:avLst/>
          </a:prstGeom>
          <a:noFill/>
          <a:ln/>
        </p:spPr>
        <p:txBody>
          <a:bodyPr wrap="square" lIns="0" tIns="0" rIns="0" bIns="0" rtlCol="0" anchor="b"/>
          <a:lstStyle/>
          <a:p>
            <a:pPr indent="0" marL="0">
              <a:buNone/>
            </a:pPr>
            <a:r>
              <a:rPr lang="en-US" sz="3000" b="1" dirty="0">
                <a:solidFill>
                  <a:srgbClr val="18202D"/>
                </a:solidFill>
                <a:latin typeface="Calibri" pitchFamily="34" charset="0"/>
                <a:ea typeface="Calibri" pitchFamily="34" charset="-122"/>
                <a:cs typeface="Calibri" pitchFamily="34" charset="-120"/>
              </a:rPr>
              <a:t>Logical and physical: two structural views</a:t>
            </a:r>
            <a:endParaRPr lang="en-US" sz="3000" dirty="0"/>
          </a:p>
        </p:txBody>
      </p:sp>
      <p:pic>
        <p:nvPicPr>
          <p:cNvPr id="4" name="Image 0" descr="Three stacked planes labeled functional, logical and physical. In the top plane the box FN-006 Charge aircraft; an arrow down to LOG-002 Fleet Management in the middle plane; another down to PHY-003 Charging Systems in the bottom plane. A side label reads REQ-SYS-001 allocated.">    </p:cNvPr>
          <p:cNvPicPr>
            <a:picLocks noChangeAspect="1"/>
          </p:cNvPicPr>
          <p:nvPr/>
        </p:nvPicPr>
        <p:blipFill>
          <a:blip r:embed="rId1"/>
          <a:stretch>
            <a:fillRect/>
          </a:stretch>
        </p:blipFill>
        <p:spPr>
          <a:xfrm>
            <a:off x="548640" y="1621462"/>
            <a:ext cx="6379289" cy="3728615"/>
          </a:xfrm>
          <a:prstGeom prst="rect">
            <a:avLst/>
          </a:prstGeom>
        </p:spPr>
      </p:pic>
      <p:sp>
        <p:nvSpPr>
          <p:cNvPr id="5" name="Text 2"/>
          <p:cNvSpPr/>
          <p:nvPr/>
        </p:nvSpPr>
        <p:spPr>
          <a:xfrm>
            <a:off x="7293689" y="1280160"/>
            <a:ext cx="4349366" cy="2917952"/>
          </a:xfrm>
          <a:prstGeom prst="rect">
            <a:avLst/>
          </a:prstGeom>
          <a:noFill/>
          <a:ln/>
        </p:spPr>
        <p:txBody>
          <a:bodyPr wrap="square" lIns="25400" tIns="25400" rIns="25400" bIns="25400" rtlCol="0" anchor="t"/>
          <a:lstStyle/>
          <a:p>
            <a:pPr marL="228600" indent="-228600">
              <a:spcBef>
                <a:spcPts val="600"/>
              </a:spcBef>
              <a:buSzPct val="100000"/>
              <a:buChar char="■"/>
            </a:pPr>
            <a:r>
              <a:rPr lang="en-US" sz="2000" dirty="0">
                <a:solidFill>
                  <a:srgbClr val="18202D"/>
                </a:solidFill>
                <a:latin typeface="Calibri" pitchFamily="34" charset="0"/>
                <a:ea typeface="Calibri" pitchFamily="34" charset="-122"/>
                <a:cs typeface="Calibri" pitchFamily="34" charset="-120"/>
              </a:rPr>
              <a:t>Logical: allocated functions, no specific implementation</a:t>
            </a:r>
            <a:endParaRPr lang="en-US" sz="2000" dirty="0"/>
          </a:p>
          <a:p>
            <a:pPr marL="228600" indent="-228600">
              <a:spcBef>
                <a:spcPts val="600"/>
              </a:spcBef>
              <a:buSzPct val="100000"/>
              <a:buChar char="■"/>
            </a:pPr>
            <a:r>
              <a:rPr lang="en-US" sz="2000" dirty="0">
                <a:solidFill>
                  <a:srgbClr val="18202D"/>
                </a:solidFill>
                <a:latin typeface="Calibri" pitchFamily="34" charset="0"/>
                <a:ea typeface="Calibri" pitchFamily="34" charset="-122"/>
                <a:cs typeface="Calibri" pitchFamily="34" charset="-120"/>
              </a:rPr>
              <a:t>Physical: the specific implementation of each logical element</a:t>
            </a:r>
            <a:endParaRPr lang="en-US" sz="2000" dirty="0"/>
          </a:p>
          <a:p>
            <a:pPr marL="228600" indent="-228600">
              <a:spcBef>
                <a:spcPts val="600"/>
              </a:spcBef>
              <a:buSzPct val="100000"/>
              <a:buChar char="■"/>
            </a:pPr>
            <a:r>
              <a:rPr lang="en-US" sz="2000" dirty="0">
                <a:solidFill>
                  <a:srgbClr val="18202D"/>
                </a:solidFill>
                <a:latin typeface="Calibri" pitchFamily="34" charset="0"/>
                <a:ea typeface="Calibri" pitchFamily="34" charset="-122"/>
                <a:cs typeface="Calibri" pitchFamily="34" charset="-120"/>
              </a:rPr>
              <a:t>Requirements are allocated to both</a:t>
            </a:r>
            <a:endParaRPr lang="en-US" sz="2000" dirty="0"/>
          </a:p>
          <a:p>
            <a:pPr marL="228600" indent="-228600">
              <a:spcBef>
                <a:spcPts val="600"/>
              </a:spcBef>
              <a:buSzPct val="100000"/>
              <a:buChar char="■"/>
            </a:pPr>
            <a:r>
              <a:rPr lang="en-US" sz="2000" dirty="0">
                <a:solidFill>
                  <a:srgbClr val="18202D"/>
                </a:solidFill>
                <a:latin typeface="Calibri" pitchFamily="34" charset="0"/>
                <a:ea typeface="Calibri" pitchFamily="34" charset="-122"/>
                <a:cs typeface="Calibri" pitchFamily="34" charset="-120"/>
              </a:rPr>
              <a:t>Elements include people, procedures and facilities</a:t>
            </a:r>
            <a:endParaRPr lang="en-US" sz="2000" dirty="0"/>
          </a:p>
        </p:txBody>
      </p:sp>
      <p:sp>
        <p:nvSpPr>
          <p:cNvPr id="25" name="Slide Number Placeholder 0"/>
          <p:cNvSpPr>
            <a:spLocks noGrp="1"/>
          </p:cNvSpPr>
          <p:nvPr>
            <p:ph type="sldNum" sz="quarter" idx="4294967295"/>
          </p:nvPr>
        </p:nvSpPr>
        <p:spPr>
          <a:xfrm>
            <a:off x="10728655" y="6400800"/>
            <a:ext cx="91440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18202D"/>
                </a:solidFill>
                <a:latin typeface="Calibri"/>
                <a:ea typeface="Calibri"/>
                <a:cs typeface="Calibri"/>
              </a:defRPr>
            </a:lvl1pPr>
          </a:lstStyle>
          <a:p>
            <a:pPr algn="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548640" y="5828538"/>
            <a:ext cx="11094415" cy="435102"/>
          </a:xfrm>
          <a:prstGeom prst="rect">
            <a:avLst/>
          </a:prstGeom>
          <a:noFill/>
          <a:ln/>
        </p:spPr>
        <p:txBody>
          <a:bodyPr wrap="square" lIns="0" tIns="0" rIns="0" bIns="0" rtlCol="0" anchor="b"/>
          <a:lstStyle/>
          <a:p>
            <a:pPr indent="0" marL="0">
              <a:buNone/>
            </a:pPr>
            <a:r>
              <a:rPr lang="en-US" sz="1050" b="1" dirty="0">
                <a:solidFill>
                  <a:srgbClr val="18202D"/>
                </a:solidFill>
                <a:latin typeface="Calibri" pitchFamily="34" charset="0"/>
                <a:ea typeface="Calibri" pitchFamily="34" charset="-122"/>
                <a:cs typeface="Calibri" pitchFamily="34" charset="-120"/>
              </a:rPr>
              <a:t>Figure. </a:t>
            </a:r>
            <a:pPr indent="0" marL="0">
              <a:buNone/>
            </a:pPr>
            <a:r>
              <a:rPr lang="en-US" sz="1050" dirty="0">
                <a:solidFill>
                  <a:srgbClr val="566071"/>
                </a:solidFill>
                <a:latin typeface="Calibri" pitchFamily="34" charset="0"/>
                <a:ea typeface="Calibri" pitchFamily="34" charset="-122"/>
                <a:cs typeface="Calibri" pitchFamily="34" charset="-120"/>
              </a:rPr>
              <a:t>Eight affinity criteria for grouping and allocating functions; one card is laid on an AeroLink allocation. (FICTIONAL)</a:t>
            </a:r>
            <a:endParaRPr lang="en-US" sz="1050" dirty="0"/>
          </a:p>
          <a:p>
            <a:pPr indent="0" marL="0">
              <a:buNone/>
            </a:pPr>
            <a:r>
              <a:rPr lang="en-US" sz="1050" b="1" dirty="0">
                <a:solidFill>
                  <a:srgbClr val="18202D"/>
                </a:solidFill>
                <a:latin typeface="Calibri" pitchFamily="34" charset="0"/>
                <a:ea typeface="Calibri" pitchFamily="34" charset="-122"/>
                <a:cs typeface="Calibri" pitchFamily="34" charset="-120"/>
              </a:rPr>
              <a:t>Sources: </a:t>
            </a:r>
            <a:pPr indent="0" marL="0">
              <a:buNone/>
            </a:pPr>
            <a:r>
              <a:rPr lang="en-US" sz="1050" dirty="0">
                <a:solidFill>
                  <a:srgbClr val="566071"/>
                </a:solidFill>
                <a:latin typeface="Calibri" pitchFamily="34" charset="0"/>
                <a:ea typeface="Calibri" pitchFamily="34" charset="-122"/>
                <a:cs typeface="Calibri" pitchFamily="34" charset="-120"/>
              </a:rPr>
              <a:t>R20c p.598; R20c p.599; R20c p.600</a:t>
            </a:r>
            <a:endParaRPr lang="en-US" sz="1050" dirty="0"/>
          </a:p>
        </p:txBody>
      </p:sp>
      <p:sp>
        <p:nvSpPr>
          <p:cNvPr id="3" name="Text 1"/>
          <p:cNvSpPr/>
          <p:nvPr/>
        </p:nvSpPr>
        <p:spPr>
          <a:xfrm>
            <a:off x="548640" y="292608"/>
            <a:ext cx="11094415" cy="731520"/>
          </a:xfrm>
          <a:prstGeom prst="rect">
            <a:avLst/>
          </a:prstGeom>
          <a:noFill/>
          <a:ln/>
        </p:spPr>
        <p:txBody>
          <a:bodyPr wrap="square" lIns="0" tIns="0" rIns="0" bIns="0" rtlCol="0" anchor="b"/>
          <a:lstStyle/>
          <a:p>
            <a:pPr indent="0" marL="0">
              <a:buNone/>
            </a:pPr>
            <a:r>
              <a:rPr lang="en-US" sz="3000" b="1" dirty="0">
                <a:solidFill>
                  <a:srgbClr val="18202D"/>
                </a:solidFill>
                <a:latin typeface="Calibri" pitchFamily="34" charset="0"/>
                <a:ea typeface="Calibri" pitchFamily="34" charset="-122"/>
                <a:cs typeface="Calibri" pitchFamily="34" charset="-120"/>
              </a:rPr>
              <a:t>Allocation needs a reason: SEBoK’s criteria</a:t>
            </a:r>
            <a:endParaRPr lang="en-US" sz="3000" dirty="0"/>
          </a:p>
        </p:txBody>
      </p:sp>
      <p:pic>
        <p:nvPicPr>
          <p:cNvPr id="4" name="Image 0" descr="A fan of eight cards: similar transformations within the same technology; similar levels of efficiency; exchange of the same type of flow (information, energy or materials); centralized or distributed control; execution at a close frequency level; dependability conditions; environment resistance level; other enterprise constraints. The card for the same type of flow lies face up on an arrow from FN-006 to PHY-003.">    </p:cNvPr>
          <p:cNvPicPr>
            <a:picLocks noChangeAspect="1"/>
          </p:cNvPicPr>
          <p:nvPr/>
        </p:nvPicPr>
        <p:blipFill>
          <a:blip r:embed="rId1"/>
          <a:stretch>
            <a:fillRect/>
          </a:stretch>
        </p:blipFill>
        <p:spPr>
          <a:xfrm>
            <a:off x="548640" y="1550428"/>
            <a:ext cx="6379289" cy="3870683"/>
          </a:xfrm>
          <a:prstGeom prst="rect">
            <a:avLst/>
          </a:prstGeom>
        </p:spPr>
      </p:pic>
      <p:sp>
        <p:nvSpPr>
          <p:cNvPr id="5" name="Text 2"/>
          <p:cNvSpPr/>
          <p:nvPr/>
        </p:nvSpPr>
        <p:spPr>
          <a:xfrm>
            <a:off x="7293689" y="1280160"/>
            <a:ext cx="4349366" cy="2917952"/>
          </a:xfrm>
          <a:prstGeom prst="rect">
            <a:avLst/>
          </a:prstGeom>
          <a:noFill/>
          <a:ln/>
        </p:spPr>
        <p:txBody>
          <a:bodyPr wrap="square" lIns="25400" tIns="25400" rIns="25400" bIns="25400" rtlCol="0" anchor="t"/>
          <a:lstStyle/>
          <a:p>
            <a:pPr marL="228600" indent="-228600">
              <a:spcBef>
                <a:spcPts val="600"/>
              </a:spcBef>
              <a:buSzPct val="100000"/>
              <a:buChar char="■"/>
            </a:pPr>
            <a:r>
              <a:rPr lang="en-US" sz="2000" dirty="0">
                <a:solidFill>
                  <a:srgbClr val="18202D"/>
                </a:solidFill>
                <a:latin typeface="Calibri" pitchFamily="34" charset="0"/>
                <a:ea typeface="Calibri" pitchFamily="34" charset="-122"/>
                <a:cs typeface="Calibri" pitchFamily="34" charset="-120"/>
              </a:rPr>
              <a:t>Same transformation, efficiency, flow type</a:t>
            </a:r>
            <a:endParaRPr lang="en-US" sz="2000" dirty="0"/>
          </a:p>
          <a:p>
            <a:pPr marL="228600" indent="-228600">
              <a:spcBef>
                <a:spcPts val="600"/>
              </a:spcBef>
              <a:buSzPct val="100000"/>
              <a:buChar char="■"/>
            </a:pPr>
            <a:r>
              <a:rPr lang="en-US" sz="2000" dirty="0">
                <a:solidFill>
                  <a:srgbClr val="18202D"/>
                </a:solidFill>
                <a:latin typeface="Calibri" pitchFamily="34" charset="0"/>
                <a:ea typeface="Calibri" pitchFamily="34" charset="-122"/>
                <a:cs typeface="Calibri" pitchFamily="34" charset="-120"/>
              </a:rPr>
              <a:t>Central or distributed control; frequency</a:t>
            </a:r>
            <a:endParaRPr lang="en-US" sz="2000" dirty="0"/>
          </a:p>
          <a:p>
            <a:pPr marL="228600" indent="-228600">
              <a:spcBef>
                <a:spcPts val="600"/>
              </a:spcBef>
              <a:buSzPct val="100000"/>
              <a:buChar char="■"/>
            </a:pPr>
            <a:r>
              <a:rPr lang="en-US" sz="2000" dirty="0">
                <a:solidFill>
                  <a:srgbClr val="18202D"/>
                </a:solidFill>
                <a:latin typeface="Calibri" pitchFamily="34" charset="0"/>
                <a:ea typeface="Calibri" pitchFamily="34" charset="-122"/>
                <a:cs typeface="Calibri" pitchFamily="34" charset="-120"/>
              </a:rPr>
              <a:t>Dependability, environment, enterprise constraints</a:t>
            </a:r>
            <a:endParaRPr lang="en-US" sz="2000" dirty="0"/>
          </a:p>
          <a:p>
            <a:pPr marL="228600" indent="-228600">
              <a:spcBef>
                <a:spcPts val="600"/>
              </a:spcBef>
              <a:buSzPct val="100000"/>
              <a:buChar char="■"/>
            </a:pPr>
            <a:r>
              <a:rPr lang="en-US" sz="2000" dirty="0">
                <a:solidFill>
                  <a:srgbClr val="18202D"/>
                </a:solidFill>
                <a:latin typeface="Calibri" pitchFamily="34" charset="0"/>
                <a:ea typeface="Calibri" pitchFamily="34" charset="-122"/>
                <a:cs typeface="Calibri" pitchFamily="34" charset="-120"/>
              </a:rPr>
              <a:t>Course rule: one sentence per allocation, resting on an ID</a:t>
            </a:r>
            <a:endParaRPr lang="en-US" sz="2000" dirty="0"/>
          </a:p>
        </p:txBody>
      </p:sp>
      <p:sp>
        <p:nvSpPr>
          <p:cNvPr id="25" name="Slide Number Placeholder 0"/>
          <p:cNvSpPr>
            <a:spLocks noGrp="1"/>
          </p:cNvSpPr>
          <p:nvPr>
            <p:ph type="sldNum" sz="quarter" idx="4294967295"/>
          </p:nvPr>
        </p:nvSpPr>
        <p:spPr>
          <a:xfrm>
            <a:off x="10728655" y="6400800"/>
            <a:ext cx="91440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18202D"/>
                </a:solidFill>
                <a:latin typeface="Calibri"/>
                <a:ea typeface="Calibri"/>
                <a:cs typeface="Calibri"/>
              </a:defRPr>
            </a:lvl1pPr>
          </a:lstStyle>
          <a:p>
            <a:pPr algn="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548640" y="5828538"/>
            <a:ext cx="11094415" cy="435102"/>
          </a:xfrm>
          <a:prstGeom prst="rect">
            <a:avLst/>
          </a:prstGeom>
          <a:noFill/>
          <a:ln/>
        </p:spPr>
        <p:txBody>
          <a:bodyPr wrap="square" lIns="0" tIns="0" rIns="0" bIns="0" rtlCol="0" anchor="b"/>
          <a:lstStyle/>
          <a:p>
            <a:pPr indent="0" marL="0">
              <a:buNone/>
            </a:pPr>
            <a:r>
              <a:rPr lang="en-US" sz="1050" b="1" dirty="0">
                <a:solidFill>
                  <a:srgbClr val="18202D"/>
                </a:solidFill>
                <a:latin typeface="Calibri" pitchFamily="34" charset="0"/>
                <a:ea typeface="Calibri" pitchFamily="34" charset="-122"/>
                <a:cs typeface="Calibri" pitchFamily="34" charset="-120"/>
              </a:rPr>
              <a:t>Figure. </a:t>
            </a:r>
            <a:pPr indent="0" marL="0">
              <a:buNone/>
            </a:pPr>
            <a:r>
              <a:rPr lang="en-US" sz="1050" dirty="0">
                <a:solidFill>
                  <a:srgbClr val="566071"/>
                </a:solidFill>
                <a:latin typeface="Calibri" pitchFamily="34" charset="0"/>
                <a:ea typeface="Calibri" pitchFamily="34" charset="-122"/>
                <a:cs typeface="Calibri" pitchFamily="34" charset="-120"/>
              </a:rPr>
              <a:t>Two wrong paths, requirement straight to a product and function straight to a technology, against the right path through a logical plane.</a:t>
            </a:r>
            <a:endParaRPr lang="en-US" sz="1050" dirty="0"/>
          </a:p>
          <a:p>
            <a:pPr indent="0" marL="0">
              <a:buNone/>
            </a:pPr>
            <a:r>
              <a:rPr lang="en-US" sz="1050" b="1" dirty="0">
                <a:solidFill>
                  <a:srgbClr val="18202D"/>
                </a:solidFill>
                <a:latin typeface="Calibri" pitchFamily="34" charset="0"/>
                <a:ea typeface="Calibri" pitchFamily="34" charset="-122"/>
                <a:cs typeface="Calibri" pitchFamily="34" charset="-120"/>
              </a:rPr>
              <a:t>Sources: </a:t>
            </a:r>
            <a:pPr indent="0" marL="0">
              <a:buNone/>
            </a:pPr>
            <a:r>
              <a:rPr lang="en-US" sz="1050" dirty="0">
                <a:solidFill>
                  <a:srgbClr val="566071"/>
                </a:solidFill>
                <a:latin typeface="Calibri" pitchFamily="34" charset="0"/>
                <a:ea typeface="Calibri" pitchFamily="34" charset="-122"/>
                <a:cs typeface="Calibri" pitchFamily="34" charset="-120"/>
              </a:rPr>
              <a:t>R20c p.602</a:t>
            </a:r>
            <a:endParaRPr lang="en-US" sz="1050" dirty="0"/>
          </a:p>
        </p:txBody>
      </p:sp>
      <p:sp>
        <p:nvSpPr>
          <p:cNvPr id="3" name="Text 1"/>
          <p:cNvSpPr/>
          <p:nvPr/>
        </p:nvSpPr>
        <p:spPr>
          <a:xfrm>
            <a:off x="548640" y="292608"/>
            <a:ext cx="11094415" cy="731520"/>
          </a:xfrm>
          <a:prstGeom prst="rect">
            <a:avLst/>
          </a:prstGeom>
          <a:noFill/>
          <a:ln/>
        </p:spPr>
        <p:txBody>
          <a:bodyPr wrap="square" lIns="0" tIns="0" rIns="0" bIns="0" rtlCol="0" anchor="b"/>
          <a:lstStyle/>
          <a:p>
            <a:pPr indent="0" marL="0">
              <a:buNone/>
            </a:pPr>
            <a:r>
              <a:rPr lang="en-US" sz="3000" b="1" dirty="0">
                <a:solidFill>
                  <a:srgbClr val="18202D"/>
                </a:solidFill>
                <a:latin typeface="Calibri" pitchFamily="34" charset="0"/>
                <a:ea typeface="Calibri" pitchFamily="34" charset="-122"/>
                <a:cs typeface="Calibri" pitchFamily="34" charset="-120"/>
              </a:rPr>
              <a:t>Two allocation pitfalls</a:t>
            </a:r>
            <a:endParaRPr lang="en-US" sz="3000" dirty="0"/>
          </a:p>
        </p:txBody>
      </p:sp>
      <p:pic>
        <p:nvPicPr>
          <p:cNvPr id="4" name="Image 0" descr="Left, a red arrow from a requirement box directly to a product box, labeled no logical architecture. Middle, a red arrow from a high-level function directly to a software module box, labeled direct allocation on technologies. Right, a green zig-zag from function to logical element to physical element to technology, labeled alternate logical and physical levels.">    </p:cNvPr>
          <p:cNvPicPr>
            <a:picLocks noChangeAspect="1"/>
          </p:cNvPicPr>
          <p:nvPr/>
        </p:nvPicPr>
        <p:blipFill>
          <a:blip r:embed="rId1"/>
          <a:stretch>
            <a:fillRect/>
          </a:stretch>
        </p:blipFill>
        <p:spPr>
          <a:xfrm>
            <a:off x="548640" y="1621462"/>
            <a:ext cx="6379289" cy="3728615"/>
          </a:xfrm>
          <a:prstGeom prst="rect">
            <a:avLst/>
          </a:prstGeom>
        </p:spPr>
      </p:pic>
      <p:sp>
        <p:nvSpPr>
          <p:cNvPr id="5" name="Text 2"/>
          <p:cNvSpPr/>
          <p:nvPr/>
        </p:nvSpPr>
        <p:spPr>
          <a:xfrm>
            <a:off x="7293689" y="1280160"/>
            <a:ext cx="4349366" cy="2215896"/>
          </a:xfrm>
          <a:prstGeom prst="rect">
            <a:avLst/>
          </a:prstGeom>
          <a:noFill/>
          <a:ln/>
        </p:spPr>
        <p:txBody>
          <a:bodyPr wrap="square" lIns="25400" tIns="25400" rIns="25400" bIns="25400" rtlCol="0" anchor="t"/>
          <a:lstStyle/>
          <a:p>
            <a:pPr marL="228600" indent="-228600">
              <a:spcBef>
                <a:spcPts val="600"/>
              </a:spcBef>
              <a:buSzPct val="100000"/>
              <a:buChar char="■"/>
            </a:pPr>
            <a:r>
              <a:rPr lang="en-US" sz="2000" dirty="0">
                <a:solidFill>
                  <a:srgbClr val="18202D"/>
                </a:solidFill>
                <a:latin typeface="Calibri" pitchFamily="34" charset="0"/>
                <a:ea typeface="Calibri" pitchFamily="34" charset="-122"/>
                <a:cs typeface="Calibri" pitchFamily="34" charset="-120"/>
              </a:rPr>
              <a:t>Requirements straight to a product: no logical architecture</a:t>
            </a:r>
            <a:endParaRPr lang="en-US" sz="2000" dirty="0"/>
          </a:p>
          <a:p>
            <a:pPr marL="228600" indent="-228600">
              <a:spcBef>
                <a:spcPts val="600"/>
              </a:spcBef>
              <a:buSzPct val="100000"/>
              <a:buChar char="■"/>
            </a:pPr>
            <a:r>
              <a:rPr lang="en-US" sz="2000" dirty="0">
                <a:solidFill>
                  <a:srgbClr val="18202D"/>
                </a:solidFill>
                <a:latin typeface="Calibri" pitchFamily="34" charset="0"/>
                <a:ea typeface="Calibri" pitchFamily="34" charset="-122"/>
                <a:cs typeface="Calibri" pitchFamily="34" charset="-120"/>
              </a:rPr>
              <a:t>High-level functions straight onto technologies</a:t>
            </a:r>
            <a:endParaRPr lang="en-US" sz="2000" dirty="0"/>
          </a:p>
          <a:p>
            <a:pPr marL="228600" indent="-228600">
              <a:spcBef>
                <a:spcPts val="600"/>
              </a:spcBef>
              <a:buSzPct val="100000"/>
              <a:buChar char="■"/>
            </a:pPr>
            <a:r>
              <a:rPr lang="en-US" sz="2000" dirty="0">
                <a:solidFill>
                  <a:srgbClr val="18202D"/>
                </a:solidFill>
                <a:latin typeface="Calibri" pitchFamily="34" charset="0"/>
                <a:ea typeface="Calibri" pitchFamily="34" charset="-122"/>
                <a:cs typeface="Calibri" pitchFamily="34" charset="-120"/>
              </a:rPr>
              <a:t>Right: alternate logical and physical levels</a:t>
            </a:r>
            <a:endParaRPr lang="en-US" sz="2000" dirty="0"/>
          </a:p>
        </p:txBody>
      </p:sp>
      <p:sp>
        <p:nvSpPr>
          <p:cNvPr id="25" name="Slide Number Placeholder 0"/>
          <p:cNvSpPr>
            <a:spLocks noGrp="1"/>
          </p:cNvSpPr>
          <p:nvPr>
            <p:ph type="sldNum" sz="quarter" idx="4294967295"/>
          </p:nvPr>
        </p:nvSpPr>
        <p:spPr>
          <a:xfrm>
            <a:off x="10728655" y="6400800"/>
            <a:ext cx="91440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18202D"/>
                </a:solidFill>
                <a:latin typeface="Calibri"/>
                <a:ea typeface="Calibri"/>
                <a:cs typeface="Calibri"/>
              </a:defRPr>
            </a:lvl1pPr>
          </a:lstStyle>
          <a:p>
            <a:pPr algn="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548640" y="5828538"/>
            <a:ext cx="11094415" cy="435102"/>
          </a:xfrm>
          <a:prstGeom prst="rect">
            <a:avLst/>
          </a:prstGeom>
          <a:noFill/>
          <a:ln/>
        </p:spPr>
        <p:txBody>
          <a:bodyPr wrap="square" lIns="0" tIns="0" rIns="0" bIns="0" rtlCol="0" anchor="b"/>
          <a:lstStyle/>
          <a:p>
            <a:pPr indent="0" marL="0">
              <a:buNone/>
            </a:pPr>
            <a:r>
              <a:rPr lang="en-US" sz="1050" b="1" dirty="0">
                <a:solidFill>
                  <a:srgbClr val="18202D"/>
                </a:solidFill>
                <a:latin typeface="Calibri" pitchFamily="34" charset="0"/>
                <a:ea typeface="Calibri" pitchFamily="34" charset="-122"/>
                <a:cs typeface="Calibri" pitchFamily="34" charset="-120"/>
              </a:rPr>
              <a:t>Figure. </a:t>
            </a:r>
            <a:pPr indent="0" marL="0">
              <a:buNone/>
            </a:pPr>
            <a:r>
              <a:rPr lang="en-US" sz="1050" dirty="0">
                <a:solidFill>
                  <a:srgbClr val="566071"/>
                </a:solidFill>
                <a:latin typeface="Calibri" pitchFamily="34" charset="0"/>
                <a:ea typeface="Calibri" pitchFamily="34" charset="-122"/>
                <a:cs typeface="Calibri" pitchFamily="34" charset="-120"/>
              </a:rPr>
              <a:t>Four AeroLink allocations in three lanes, each arrow labeled with its criterion; the physical lane carries the Week 3 configuration. (FICTIONAL)</a:t>
            </a:r>
            <a:endParaRPr lang="en-US" sz="1050" dirty="0"/>
          </a:p>
          <a:p>
            <a:pPr indent="0" marL="0">
              <a:buNone/>
            </a:pPr>
            <a:r>
              <a:rPr lang="en-US" sz="1050" b="1" dirty="0">
                <a:solidFill>
                  <a:srgbClr val="18202D"/>
                </a:solidFill>
                <a:latin typeface="Calibri" pitchFamily="34" charset="0"/>
                <a:ea typeface="Calibri" pitchFamily="34" charset="-122"/>
                <a:cs typeface="Calibri" pitchFamily="34" charset="-120"/>
              </a:rPr>
              <a:t>Sources: </a:t>
            </a:r>
            <a:pPr indent="0" marL="0">
              <a:buNone/>
            </a:pPr>
            <a:r>
              <a:rPr lang="en-US" sz="1050" dirty="0">
                <a:solidFill>
                  <a:srgbClr val="566071"/>
                </a:solidFill>
                <a:latin typeface="Calibri" pitchFamily="34" charset="0"/>
                <a:ea typeface="Calibri" pitchFamily="34" charset="-122"/>
                <a:cs typeface="Calibri" pitchFamily="34" charset="-120"/>
              </a:rPr>
              <a:t>R20c p.598; R20c p.599; R48c p.145</a:t>
            </a:r>
            <a:endParaRPr lang="en-US" sz="1050" dirty="0"/>
          </a:p>
        </p:txBody>
      </p:sp>
      <p:sp>
        <p:nvSpPr>
          <p:cNvPr id="3" name="Text 1"/>
          <p:cNvSpPr/>
          <p:nvPr/>
        </p:nvSpPr>
        <p:spPr>
          <a:xfrm>
            <a:off x="548640" y="292608"/>
            <a:ext cx="11094415" cy="731520"/>
          </a:xfrm>
          <a:prstGeom prst="rect">
            <a:avLst/>
          </a:prstGeom>
          <a:noFill/>
          <a:ln/>
        </p:spPr>
        <p:txBody>
          <a:bodyPr wrap="square" lIns="0" tIns="0" rIns="0" bIns="0" rtlCol="0" anchor="b"/>
          <a:lstStyle/>
          <a:p>
            <a:pPr indent="0" marL="0">
              <a:buNone/>
            </a:pPr>
            <a:r>
              <a:rPr lang="en-US" sz="3000" b="1" dirty="0">
                <a:solidFill>
                  <a:srgbClr val="18202D"/>
                </a:solidFill>
                <a:latin typeface="Calibri" pitchFamily="34" charset="0"/>
                <a:ea typeface="Calibri" pitchFamily="34" charset="-122"/>
                <a:cs typeface="Calibri" pitchFamily="34" charset="-120"/>
              </a:rPr>
              <a:t>Worked example II: function → logical → physical, with the reason</a:t>
            </a:r>
            <a:endParaRPr lang="en-US" sz="3000" dirty="0"/>
          </a:p>
        </p:txBody>
      </p:sp>
      <p:pic>
        <p:nvPicPr>
          <p:cNvPr id="4" name="Image 0" descr="Three lanes: function, logical element, physical element. Four rows: FN-006 Charge aircraft to LOG-002 to PHY-003, criterion exchange of the same type of flow (information, energy or materials); FN-008 Assess aircraft health to LOG-003 to PHY-005, criterion other enterprise constraints; FN-002 Match request to aircraft to LOG-005 to PHY-004, criterion centralized or distributed control; FN-015 Notify disrupted passengers to LOG-004 to PHY-007, criterion exchange of the same type of flow (information, energy or materials). Under the physical lane header a line reads 16 aircraft, 4 hubs, 8 turnaround chargers.">    </p:cNvPr>
          <p:cNvPicPr>
            <a:picLocks noChangeAspect="1"/>
          </p:cNvPicPr>
          <p:nvPr/>
        </p:nvPicPr>
        <p:blipFill>
          <a:blip r:embed="rId1"/>
          <a:stretch>
            <a:fillRect/>
          </a:stretch>
        </p:blipFill>
        <p:spPr>
          <a:xfrm>
            <a:off x="2201547" y="1280160"/>
            <a:ext cx="7788602" cy="2730132"/>
          </a:xfrm>
          <a:prstGeom prst="rect">
            <a:avLst/>
          </a:prstGeom>
        </p:spPr>
      </p:pic>
      <p:sp>
        <p:nvSpPr>
          <p:cNvPr id="5" name="Text 2"/>
          <p:cNvSpPr/>
          <p:nvPr/>
        </p:nvSpPr>
        <p:spPr>
          <a:xfrm>
            <a:off x="548640" y="4147452"/>
            <a:ext cx="11094415" cy="1430528"/>
          </a:xfrm>
          <a:prstGeom prst="rect">
            <a:avLst/>
          </a:prstGeom>
          <a:noFill/>
          <a:ln/>
        </p:spPr>
        <p:txBody>
          <a:bodyPr wrap="square" lIns="25400" tIns="25400" rIns="25400" bIns="25400" rtlCol="0" anchor="t"/>
          <a:lstStyle/>
          <a:p>
            <a:pPr marL="342900" indent="-342900">
              <a:spcBef>
                <a:spcPts val="600"/>
              </a:spcBef>
              <a:buSzPct val="100000"/>
              <a:buFont typeface="+mj-lt"/>
              <a:buAutoNum type="arabicPeriod" startAt="1"/>
            </a:pPr>
            <a:r>
              <a:rPr lang="en-US" sz="1600" b="1" dirty="0">
                <a:solidFill>
                  <a:srgbClr val="18202D"/>
                </a:solidFill>
                <a:latin typeface="Calibri" pitchFamily="34" charset="0"/>
                <a:ea typeface="Calibri" pitchFamily="34" charset="-122"/>
                <a:cs typeface="Calibri" pitchFamily="34" charset="-120"/>
              </a:rPr>
              <a:t>Logical: </a:t>
            </a:r>
            <a:pPr indent="0" marL="0">
              <a:buNone/>
            </a:pPr>
            <a:r>
              <a:rPr lang="en-US" sz="1600" dirty="0">
                <a:solidFill>
                  <a:srgbClr val="18202D"/>
                </a:solidFill>
                <a:latin typeface="Calibri" pitchFamily="34" charset="0"/>
                <a:ea typeface="Calibri" pitchFamily="34" charset="-122"/>
                <a:cs typeface="Calibri" pitchFamily="34" charset="-120"/>
              </a:rPr>
              <a:t>Which technology-independent element performs it?</a:t>
            </a:r>
            <a:endParaRPr lang="en-US" sz="1600" dirty="0"/>
          </a:p>
          <a:p>
            <a:pPr marL="342900" indent="-342900">
              <a:spcBef>
                <a:spcPts val="600"/>
              </a:spcBef>
              <a:buSzPct val="100000"/>
              <a:buFont typeface="+mj-lt"/>
              <a:buAutoNum type="arabicPeriod" startAt="1"/>
            </a:pPr>
            <a:r>
              <a:rPr lang="en-US" sz="1600" b="1" dirty="0">
                <a:solidFill>
                  <a:srgbClr val="18202D"/>
                </a:solidFill>
                <a:latin typeface="Calibri" pitchFamily="34" charset="0"/>
                <a:ea typeface="Calibri" pitchFamily="34" charset="-122"/>
                <a:cs typeface="Calibri" pitchFamily="34" charset="-120"/>
              </a:rPr>
              <a:t>Physical: </a:t>
            </a:r>
            <a:pPr indent="0" marL="0">
              <a:buNone/>
            </a:pPr>
            <a:r>
              <a:rPr lang="en-US" sz="1600" dirty="0">
                <a:solidFill>
                  <a:srgbClr val="18202D"/>
                </a:solidFill>
                <a:latin typeface="Calibri" pitchFamily="34" charset="0"/>
                <a:ea typeface="Calibri" pitchFamily="34" charset="-122"/>
                <a:cs typeface="Calibri" pitchFamily="34" charset="-120"/>
              </a:rPr>
              <a:t>Which element implements that, in the Week 3 configuration?</a:t>
            </a:r>
            <a:endParaRPr lang="en-US" sz="1600" dirty="0"/>
          </a:p>
          <a:p>
            <a:pPr marL="342900" indent="-342900">
              <a:spcBef>
                <a:spcPts val="600"/>
              </a:spcBef>
              <a:buSzPct val="100000"/>
              <a:buFont typeface="+mj-lt"/>
              <a:buAutoNum type="arabicPeriod" startAt="1"/>
            </a:pPr>
            <a:r>
              <a:rPr lang="en-US" sz="1600" b="1" dirty="0">
                <a:solidFill>
                  <a:srgbClr val="18202D"/>
                </a:solidFill>
                <a:latin typeface="Calibri" pitchFamily="34" charset="0"/>
                <a:ea typeface="Calibri" pitchFamily="34" charset="-122"/>
                <a:cs typeface="Calibri" pitchFamily="34" charset="-120"/>
              </a:rPr>
              <a:t>Criterion: </a:t>
            </a:r>
            <a:pPr indent="0" marL="0">
              <a:buNone/>
            </a:pPr>
            <a:r>
              <a:rPr lang="en-US" sz="1600" dirty="0">
                <a:solidFill>
                  <a:srgbClr val="18202D"/>
                </a:solidFill>
                <a:latin typeface="Calibri" pitchFamily="34" charset="0"/>
                <a:ea typeface="Calibri" pitchFamily="34" charset="-122"/>
                <a:cs typeface="Calibri" pitchFamily="34" charset="-120"/>
              </a:rPr>
              <a:t>Name the affinity and the ID it rests on</a:t>
            </a:r>
            <a:endParaRPr lang="en-US" sz="1600" dirty="0"/>
          </a:p>
          <a:p>
            <a:pPr marL="342900" indent="-342900">
              <a:spcBef>
                <a:spcPts val="600"/>
              </a:spcBef>
              <a:buSzPct val="100000"/>
              <a:buFont typeface="+mj-lt"/>
              <a:buAutoNum type="arabicPeriod" startAt="1"/>
            </a:pPr>
            <a:r>
              <a:rPr lang="en-US" sz="1600" b="1" dirty="0">
                <a:solidFill>
                  <a:srgbClr val="18202D"/>
                </a:solidFill>
                <a:latin typeface="Calibri" pitchFamily="34" charset="0"/>
                <a:ea typeface="Calibri" pitchFamily="34" charset="-122"/>
                <a:cs typeface="Calibri" pitchFamily="34" charset="-120"/>
              </a:rPr>
              <a:t>Check: </a:t>
            </a:r>
            <a:pPr indent="0" marL="0">
              <a:buNone/>
            </a:pPr>
            <a:r>
              <a:rPr lang="en-US" sz="1600" dirty="0">
                <a:solidFill>
                  <a:srgbClr val="18202D"/>
                </a:solidFill>
                <a:latin typeface="Calibri" pitchFamily="34" charset="0"/>
                <a:ea typeface="Calibri" pitchFamily="34" charset="-122"/>
                <a:cs typeface="Calibri" pitchFamily="34" charset="-120"/>
              </a:rPr>
              <a:t>The physical element is one the logical element reaches</a:t>
            </a:r>
            <a:endParaRPr lang="en-US" sz="1600" dirty="0"/>
          </a:p>
        </p:txBody>
      </p:sp>
      <p:sp>
        <p:nvSpPr>
          <p:cNvPr id="25" name="Slide Number Placeholder 0"/>
          <p:cNvSpPr>
            <a:spLocks noGrp="1"/>
          </p:cNvSpPr>
          <p:nvPr>
            <p:ph type="sldNum" sz="quarter" idx="4294967295"/>
          </p:nvPr>
        </p:nvSpPr>
        <p:spPr>
          <a:xfrm>
            <a:off x="10728655" y="6400800"/>
            <a:ext cx="91440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18202D"/>
                </a:solidFill>
                <a:latin typeface="Calibri"/>
                <a:ea typeface="Calibri"/>
                <a:cs typeface="Calibri"/>
              </a:defRPr>
            </a:lvl1pPr>
          </a:lstStyle>
          <a:p>
            <a:pPr algn="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548640" y="5828538"/>
            <a:ext cx="11094415" cy="435102"/>
          </a:xfrm>
          <a:prstGeom prst="rect">
            <a:avLst/>
          </a:prstGeom>
          <a:noFill/>
          <a:ln/>
        </p:spPr>
        <p:txBody>
          <a:bodyPr wrap="square" lIns="0" tIns="0" rIns="0" bIns="0" rtlCol="0" anchor="b"/>
          <a:lstStyle/>
          <a:p>
            <a:pPr indent="0" marL="0">
              <a:buNone/>
            </a:pPr>
            <a:r>
              <a:rPr lang="en-US" sz="1050" b="1" dirty="0">
                <a:solidFill>
                  <a:srgbClr val="18202D"/>
                </a:solidFill>
                <a:latin typeface="Calibri" pitchFamily="34" charset="0"/>
                <a:ea typeface="Calibri" pitchFamily="34" charset="-122"/>
                <a:cs typeface="Calibri" pitchFamily="34" charset="-120"/>
              </a:rPr>
              <a:t>Figure. </a:t>
            </a:r>
            <a:pPr indent="0" marL="0">
              <a:buNone/>
            </a:pPr>
            <a:r>
              <a:rPr lang="en-US" sz="1050" dirty="0">
                <a:solidFill>
                  <a:srgbClr val="566071"/>
                </a:solidFill>
                <a:latin typeface="Calibri" pitchFamily="34" charset="0"/>
                <a:ea typeface="Calibri" pitchFamily="34" charset="-122"/>
                <a:cs typeface="Calibri" pitchFamily="34" charset="-120"/>
              </a:rPr>
              <a:t>DEC-002: the question, three alternatives with the chosen one ticked, the rationale and the three tests. (FICTIONAL)</a:t>
            </a:r>
            <a:endParaRPr lang="en-US" sz="1050" dirty="0"/>
          </a:p>
          <a:p>
            <a:pPr indent="0" marL="0">
              <a:buNone/>
            </a:pPr>
            <a:r>
              <a:rPr lang="en-US" sz="1050" b="1" dirty="0">
                <a:solidFill>
                  <a:srgbClr val="18202D"/>
                </a:solidFill>
                <a:latin typeface="Calibri" pitchFamily="34" charset="0"/>
                <a:ea typeface="Calibri" pitchFamily="34" charset="-122"/>
                <a:cs typeface="Calibri" pitchFamily="34" charset="-120"/>
              </a:rPr>
              <a:t>Sources: </a:t>
            </a:r>
            <a:pPr indent="0" marL="0">
              <a:buNone/>
            </a:pPr>
            <a:r>
              <a:rPr lang="en-US" sz="1050" dirty="0">
                <a:solidFill>
                  <a:srgbClr val="566071"/>
                </a:solidFill>
                <a:latin typeface="Calibri" pitchFamily="34" charset="0"/>
                <a:ea typeface="Calibri" pitchFamily="34" charset="-122"/>
                <a:cs typeface="Calibri" pitchFamily="34" charset="-120"/>
              </a:rPr>
              <a:t>R48c p.146; R20b p.591</a:t>
            </a:r>
            <a:endParaRPr lang="en-US" sz="1050" dirty="0"/>
          </a:p>
        </p:txBody>
      </p:sp>
      <p:sp>
        <p:nvSpPr>
          <p:cNvPr id="3" name="Text 1"/>
          <p:cNvSpPr/>
          <p:nvPr/>
        </p:nvSpPr>
        <p:spPr>
          <a:xfrm>
            <a:off x="548640" y="292608"/>
            <a:ext cx="11094415" cy="731520"/>
          </a:xfrm>
          <a:prstGeom prst="rect">
            <a:avLst/>
          </a:prstGeom>
          <a:noFill/>
          <a:ln/>
        </p:spPr>
        <p:txBody>
          <a:bodyPr wrap="square" lIns="0" tIns="0" rIns="0" bIns="0" rtlCol="0" anchor="b"/>
          <a:lstStyle/>
          <a:p>
            <a:pPr indent="0" marL="0">
              <a:buNone/>
            </a:pPr>
            <a:r>
              <a:rPr lang="en-US" sz="3000" b="1" dirty="0">
                <a:solidFill>
                  <a:srgbClr val="18202D"/>
                </a:solidFill>
                <a:latin typeface="Calibri" pitchFamily="34" charset="0"/>
                <a:ea typeface="Calibri" pitchFamily="34" charset="-122"/>
                <a:cs typeface="Calibri" pitchFamily="34" charset="-120"/>
              </a:rPr>
              <a:t>Recording an architecture decision</a:t>
            </a:r>
            <a:endParaRPr lang="en-US" sz="3000" dirty="0"/>
          </a:p>
        </p:txBody>
      </p:sp>
      <p:pic>
        <p:nvPicPr>
          <p:cNvPr id="4" name="Image 0" descr="A decision card headed DEC-002. Question: Where should scheduling and dispatch run, at each vertiport or on one operations platform, and how is that platform kept running and protected? Three alternatives: Distributed dispatch at each vertiport; One operations platform without standby; One operations platform with a hot standby, the last ticked. Rationale strip. Three test rows: NEED-001, supports; R-007, mitigated by the hot standby and the manual procedure; R-009, condition: the booking front end stays separated from dispatch, and every assignment is integrity-checked.">    </p:cNvPr>
          <p:cNvPicPr>
            <a:picLocks noChangeAspect="1"/>
          </p:cNvPicPr>
          <p:nvPr/>
        </p:nvPicPr>
        <p:blipFill>
          <a:blip r:embed="rId1"/>
          <a:stretch>
            <a:fillRect/>
          </a:stretch>
        </p:blipFill>
        <p:spPr>
          <a:xfrm>
            <a:off x="548640" y="1550428"/>
            <a:ext cx="6379289" cy="3870683"/>
          </a:xfrm>
          <a:prstGeom prst="rect">
            <a:avLst/>
          </a:prstGeom>
        </p:spPr>
      </p:pic>
      <p:sp>
        <p:nvSpPr>
          <p:cNvPr id="5" name="Text 2"/>
          <p:cNvSpPr/>
          <p:nvPr/>
        </p:nvSpPr>
        <p:spPr>
          <a:xfrm>
            <a:off x="7293689" y="1280160"/>
            <a:ext cx="4349366" cy="2917952"/>
          </a:xfrm>
          <a:prstGeom prst="rect">
            <a:avLst/>
          </a:prstGeom>
          <a:noFill/>
          <a:ln/>
        </p:spPr>
        <p:txBody>
          <a:bodyPr wrap="square" lIns="25400" tIns="25400" rIns="25400" bIns="25400" rtlCol="0" anchor="t"/>
          <a:lstStyle/>
          <a:p>
            <a:pPr marL="228600" indent="-228600">
              <a:spcBef>
                <a:spcPts val="600"/>
              </a:spcBef>
              <a:buSzPct val="100000"/>
              <a:buChar char="■"/>
            </a:pPr>
            <a:r>
              <a:rPr lang="en-US" sz="2000" dirty="0">
                <a:solidFill>
                  <a:srgbClr val="18202D"/>
                </a:solidFill>
                <a:latin typeface="Calibri" pitchFamily="34" charset="0"/>
                <a:ea typeface="Calibri" pitchFamily="34" charset="-122"/>
                <a:cs typeface="Calibri" pitchFamily="34" charset="-120"/>
              </a:rPr>
              <a:t>Question, alternatives, choice, rationale</a:t>
            </a:r>
            <a:endParaRPr lang="en-US" sz="2000" dirty="0"/>
          </a:p>
          <a:p>
            <a:pPr marL="228600" indent="-228600">
              <a:spcBef>
                <a:spcPts val="600"/>
              </a:spcBef>
              <a:buSzPct val="100000"/>
              <a:buChar char="■"/>
            </a:pPr>
            <a:r>
              <a:rPr lang="en-US" sz="2000" dirty="0">
                <a:solidFill>
                  <a:srgbClr val="18202D"/>
                </a:solidFill>
                <a:latin typeface="Calibri" pitchFamily="34" charset="0"/>
                <a:ea typeface="Calibri" pitchFamily="34" charset="-122"/>
                <a:cs typeface="Calibri" pitchFamily="34" charset="-120"/>
              </a:rPr>
              <a:t>Tested against the needs and risks it touches</a:t>
            </a:r>
            <a:endParaRPr lang="en-US" sz="2000" dirty="0"/>
          </a:p>
          <a:p>
            <a:pPr marL="228600" indent="-228600">
              <a:spcBef>
                <a:spcPts val="600"/>
              </a:spcBef>
              <a:buSzPct val="100000"/>
              <a:buChar char="■"/>
            </a:pPr>
            <a:r>
              <a:rPr lang="en-US" sz="2000" dirty="0">
                <a:solidFill>
                  <a:srgbClr val="18202D"/>
                </a:solidFill>
                <a:latin typeface="Calibri" pitchFamily="34" charset="0"/>
                <a:ea typeface="Calibri" pitchFamily="34" charset="-122"/>
                <a:cs typeface="Calibri" pitchFamily="34" charset="-120"/>
              </a:rPr>
              <a:t>Conditions and what would reverse it</a:t>
            </a:r>
            <a:endParaRPr lang="en-US" sz="2000" dirty="0"/>
          </a:p>
          <a:p>
            <a:pPr marL="228600" indent="-228600">
              <a:spcBef>
                <a:spcPts val="600"/>
              </a:spcBef>
              <a:buSzPct val="100000"/>
              <a:buChar char="■"/>
            </a:pPr>
            <a:r>
              <a:rPr lang="en-US" sz="2000" dirty="0">
                <a:solidFill>
                  <a:srgbClr val="18202D"/>
                </a:solidFill>
                <a:latin typeface="Calibri" pitchFamily="34" charset="0"/>
                <a:ea typeface="Calibri" pitchFamily="34" charset="-122"/>
                <a:cs typeface="Calibri" pitchFamily="34" charset="-120"/>
              </a:rPr>
              <a:t>Decisions create derived requirements</a:t>
            </a:r>
            <a:endParaRPr lang="en-US" sz="2000" dirty="0"/>
          </a:p>
        </p:txBody>
      </p:sp>
      <p:sp>
        <p:nvSpPr>
          <p:cNvPr id="25" name="Slide Number Placeholder 0"/>
          <p:cNvSpPr>
            <a:spLocks noGrp="1"/>
          </p:cNvSpPr>
          <p:nvPr>
            <p:ph type="sldNum" sz="quarter" idx="4294967295"/>
          </p:nvPr>
        </p:nvSpPr>
        <p:spPr>
          <a:xfrm>
            <a:off x="10728655" y="6400800"/>
            <a:ext cx="91440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18202D"/>
                </a:solidFill>
                <a:latin typeface="Calibri"/>
                <a:ea typeface="Calibri"/>
                <a:cs typeface="Calibri"/>
              </a:defRPr>
            </a:lvl1pPr>
          </a:lstStyle>
          <a:p>
            <a:pPr algn="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548640" y="5828538"/>
            <a:ext cx="11094415" cy="435102"/>
          </a:xfrm>
          <a:prstGeom prst="rect">
            <a:avLst/>
          </a:prstGeom>
          <a:noFill/>
          <a:ln/>
        </p:spPr>
        <p:txBody>
          <a:bodyPr wrap="square" lIns="0" tIns="0" rIns="0" bIns="0" rtlCol="0" anchor="b"/>
          <a:lstStyle/>
          <a:p>
            <a:pPr indent="0" marL="0">
              <a:buNone/>
            </a:pPr>
            <a:r>
              <a:rPr lang="en-US" sz="1050" b="1" dirty="0">
                <a:solidFill>
                  <a:srgbClr val="18202D"/>
                </a:solidFill>
                <a:latin typeface="Calibri" pitchFamily="34" charset="0"/>
                <a:ea typeface="Calibri" pitchFamily="34" charset="-122"/>
                <a:cs typeface="Calibri" pitchFamily="34" charset="-120"/>
              </a:rPr>
              <a:t>Figure. </a:t>
            </a:r>
            <a:pPr indent="0" marL="0">
              <a:buNone/>
            </a:pPr>
            <a:r>
              <a:rPr lang="en-US" sz="1050" dirty="0">
                <a:solidFill>
                  <a:srgbClr val="566071"/>
                </a:solidFill>
                <a:latin typeface="Calibri" pitchFamily="34" charset="0"/>
                <a:ea typeface="Calibri" pitchFamily="34" charset="-122"/>
                <a:cs typeface="Calibri" pitchFamily="34" charset="-120"/>
              </a:rPr>
              <a:t>The physical elements tinted by owner, with the organizational agreements between owners. (FICTIONAL)</a:t>
            </a:r>
            <a:endParaRPr lang="en-US" sz="1050" dirty="0"/>
          </a:p>
          <a:p>
            <a:pPr indent="0" marL="0">
              <a:buNone/>
            </a:pPr>
            <a:r>
              <a:rPr lang="en-US" sz="1050" b="1" dirty="0">
                <a:solidFill>
                  <a:srgbClr val="18202D"/>
                </a:solidFill>
                <a:latin typeface="Calibri" pitchFamily="34" charset="0"/>
                <a:ea typeface="Calibri" pitchFamily="34" charset="-122"/>
                <a:cs typeface="Calibri" pitchFamily="34" charset="-120"/>
              </a:rPr>
              <a:t>Sources: </a:t>
            </a:r>
            <a:pPr indent="0" marL="0">
              <a:buNone/>
            </a:pPr>
            <a:r>
              <a:rPr lang="en-US" sz="1050" dirty="0">
                <a:solidFill>
                  <a:srgbClr val="566071"/>
                </a:solidFill>
                <a:latin typeface="Calibri" pitchFamily="34" charset="0"/>
                <a:ea typeface="Calibri" pitchFamily="34" charset="-122"/>
                <a:cs typeface="Calibri" pitchFamily="34" charset="-120"/>
              </a:rPr>
              <a:t>R62 p.345; R20c p.597</a:t>
            </a:r>
            <a:endParaRPr lang="en-US" sz="1050" dirty="0"/>
          </a:p>
        </p:txBody>
      </p:sp>
      <p:sp>
        <p:nvSpPr>
          <p:cNvPr id="3" name="Text 1"/>
          <p:cNvSpPr/>
          <p:nvPr/>
        </p:nvSpPr>
        <p:spPr>
          <a:xfrm>
            <a:off x="548640" y="292608"/>
            <a:ext cx="11094415" cy="731520"/>
          </a:xfrm>
          <a:prstGeom prst="rect">
            <a:avLst/>
          </a:prstGeom>
          <a:noFill/>
          <a:ln/>
        </p:spPr>
        <p:txBody>
          <a:bodyPr wrap="square" lIns="0" tIns="0" rIns="0" bIns="0" rtlCol="0" anchor="b"/>
          <a:lstStyle/>
          <a:p>
            <a:pPr indent="0" marL="0">
              <a:buNone/>
            </a:pPr>
            <a:r>
              <a:rPr lang="en-US" sz="3000" b="1" dirty="0">
                <a:solidFill>
                  <a:srgbClr val="18202D"/>
                </a:solidFill>
                <a:latin typeface="Calibri" pitchFamily="34" charset="0"/>
                <a:ea typeface="Calibri" pitchFamily="34" charset="-122"/>
                <a:cs typeface="Calibri" pitchFamily="34" charset="-120"/>
              </a:rPr>
              <a:t>The enterprise view: owners and agreements</a:t>
            </a:r>
            <a:endParaRPr lang="en-US" sz="3000" dirty="0"/>
          </a:p>
        </p:txBody>
      </p:sp>
      <p:pic>
        <p:nvPicPr>
          <p:cNvPr id="4" name="Image 0" descr="Physical element boxes in two tinted panels. AeroLink owns PHY-001, PHY-004, PHY-005, PHY-006, PHY-007. Vertiport operators own PHY-002, PHY-003, PHY-008. Three outside parties stand below: electric utility, aircraft manufacturer, insurers. Dashed double lines, each labeled, show the agreements: AG-1 Pad-slot and ground-handling agreement between AeroLink and Vertiport operators; AG-2 Work-order handover procedure between Operations Center and Maintenance Facility; AG-3 Grid connection agreement between Vertiport operators and Electric utility; AG-4 Aircraft purchase agreement between AeroLink and Aircraft manufacturer; AG-5 Insurance evidence agreement between AeroLink and Insurers.">    </p:cNvPr>
          <p:cNvPicPr>
            <a:picLocks noChangeAspect="1"/>
          </p:cNvPicPr>
          <p:nvPr/>
        </p:nvPicPr>
        <p:blipFill>
          <a:blip r:embed="rId1"/>
          <a:stretch>
            <a:fillRect/>
          </a:stretch>
        </p:blipFill>
        <p:spPr>
          <a:xfrm>
            <a:off x="548640" y="1550428"/>
            <a:ext cx="6379289" cy="3870683"/>
          </a:xfrm>
          <a:prstGeom prst="rect">
            <a:avLst/>
          </a:prstGeom>
        </p:spPr>
      </p:pic>
      <p:sp>
        <p:nvSpPr>
          <p:cNvPr id="5" name="Text 2"/>
          <p:cNvSpPr/>
          <p:nvPr/>
        </p:nvSpPr>
        <p:spPr>
          <a:xfrm>
            <a:off x="7293689" y="1280160"/>
            <a:ext cx="4349366" cy="2917952"/>
          </a:xfrm>
          <a:prstGeom prst="rect">
            <a:avLst/>
          </a:prstGeom>
          <a:noFill/>
          <a:ln/>
        </p:spPr>
        <p:txBody>
          <a:bodyPr wrap="square" lIns="25400" tIns="25400" rIns="25400" bIns="25400" rtlCol="0" anchor="t"/>
          <a:lstStyle/>
          <a:p>
            <a:pPr marL="228600" indent="-228600">
              <a:spcBef>
                <a:spcPts val="600"/>
              </a:spcBef>
              <a:buSzPct val="100000"/>
              <a:buChar char="■"/>
            </a:pPr>
            <a:r>
              <a:rPr lang="en-US" sz="2000" dirty="0">
                <a:solidFill>
                  <a:srgbClr val="18202D"/>
                </a:solidFill>
                <a:latin typeface="Calibri" pitchFamily="34" charset="0"/>
                <a:ea typeface="Calibri" pitchFamily="34" charset="-122"/>
                <a:cs typeface="Calibri" pitchFamily="34" charset="-120"/>
              </a:rPr>
              <a:t>AeroLink owns 5; vertiport operators own 3</a:t>
            </a:r>
            <a:endParaRPr lang="en-US" sz="2000" dirty="0"/>
          </a:p>
          <a:p>
            <a:pPr marL="228600" indent="-228600">
              <a:spcBef>
                <a:spcPts val="600"/>
              </a:spcBef>
              <a:buSzPct val="100000"/>
              <a:buChar char="■"/>
            </a:pPr>
            <a:r>
              <a:rPr lang="en-US" sz="2000" dirty="0">
                <a:solidFill>
                  <a:srgbClr val="18202D"/>
                </a:solidFill>
                <a:latin typeface="Calibri" pitchFamily="34" charset="0"/>
                <a:ea typeface="Calibri" pitchFamily="34" charset="-122"/>
                <a:cs typeface="Calibri" pitchFamily="34" charset="-120"/>
              </a:rPr>
              <a:t>Agreements record duties; they carry no data</a:t>
            </a:r>
            <a:endParaRPr lang="en-US" sz="2000" dirty="0"/>
          </a:p>
          <a:p>
            <a:pPr marL="228600" indent="-228600">
              <a:spcBef>
                <a:spcPts val="600"/>
              </a:spcBef>
              <a:buSzPct val="100000"/>
              <a:buChar char="■"/>
            </a:pPr>
            <a:r>
              <a:rPr lang="en-US" sz="2000" dirty="0">
                <a:solidFill>
                  <a:srgbClr val="18202D"/>
                </a:solidFill>
                <a:latin typeface="Calibri" pitchFamily="34" charset="0"/>
                <a:ea typeface="Calibri" pitchFamily="34" charset="-122"/>
                <a:cs typeface="Calibri" pitchFamily="34" charset="-120"/>
              </a:rPr>
              <a:t>As-is and to-be views show migration paths</a:t>
            </a:r>
            <a:endParaRPr lang="en-US" sz="2000" dirty="0"/>
          </a:p>
          <a:p>
            <a:pPr marL="228600" indent="-228600">
              <a:spcBef>
                <a:spcPts val="600"/>
              </a:spcBef>
              <a:buSzPct val="100000"/>
              <a:buChar char="■"/>
            </a:pPr>
            <a:r>
              <a:rPr lang="en-US" sz="2000" dirty="0">
                <a:solidFill>
                  <a:srgbClr val="18202D"/>
                </a:solidFill>
                <a:latin typeface="Calibri" pitchFamily="34" charset="0"/>
                <a:ea typeface="Calibri" pitchFamily="34" charset="-122"/>
                <a:cs typeface="Calibri" pitchFamily="34" charset="-120"/>
              </a:rPr>
              <a:t>Enterprise elements: organizations, departments, teams</a:t>
            </a:r>
            <a:endParaRPr lang="en-US" sz="2000" dirty="0"/>
          </a:p>
        </p:txBody>
      </p:sp>
      <p:sp>
        <p:nvSpPr>
          <p:cNvPr id="25" name="Slide Number Placeholder 0"/>
          <p:cNvSpPr>
            <a:spLocks noGrp="1"/>
          </p:cNvSpPr>
          <p:nvPr>
            <p:ph type="sldNum" sz="quarter" idx="4294967295"/>
          </p:nvPr>
        </p:nvSpPr>
        <p:spPr>
          <a:xfrm>
            <a:off x="10728655" y="6400800"/>
            <a:ext cx="91440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18202D"/>
                </a:solidFill>
                <a:latin typeface="Calibri"/>
                <a:ea typeface="Calibri"/>
                <a:cs typeface="Calibri"/>
              </a:defRPr>
            </a:lvl1pPr>
          </a:lstStyle>
          <a:p>
            <a:pPr algn="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548640" y="5828538"/>
            <a:ext cx="11094415" cy="435102"/>
          </a:xfrm>
          <a:prstGeom prst="rect">
            <a:avLst/>
          </a:prstGeom>
          <a:noFill/>
          <a:ln/>
        </p:spPr>
        <p:txBody>
          <a:bodyPr wrap="square" lIns="0" tIns="0" rIns="0" bIns="0" rtlCol="0" anchor="b"/>
          <a:lstStyle/>
          <a:p>
            <a:pPr indent="0" marL="0">
              <a:buNone/>
            </a:pPr>
            <a:r>
              <a:rPr lang="en-US" sz="1050" b="1" dirty="0">
                <a:solidFill>
                  <a:srgbClr val="18202D"/>
                </a:solidFill>
                <a:latin typeface="Calibri" pitchFamily="34" charset="0"/>
                <a:ea typeface="Calibri" pitchFamily="34" charset="-122"/>
                <a:cs typeface="Calibri" pitchFamily="34" charset="-120"/>
              </a:rPr>
              <a:t>Figure. </a:t>
            </a:r>
            <a:pPr indent="0" marL="0">
              <a:buNone/>
            </a:pPr>
            <a:r>
              <a:rPr lang="en-US" sz="1050" dirty="0">
                <a:solidFill>
                  <a:srgbClr val="566071"/>
                </a:solidFill>
                <a:latin typeface="Calibri" pitchFamily="34" charset="0"/>
                <a:ea typeface="Calibri" pitchFamily="34" charset="-122"/>
                <a:cs typeface="Calibri" pitchFamily="34" charset="-120"/>
              </a:rPr>
              <a:t>Stakeholder requirements and requirements analysis feed architecture design; its output is the allocated baseline, with derived requirements fed back.</a:t>
            </a:r>
            <a:endParaRPr lang="en-US" sz="1050" dirty="0"/>
          </a:p>
          <a:p>
            <a:pPr indent="0" marL="0">
              <a:buNone/>
            </a:pPr>
            <a:r>
              <a:rPr lang="en-US" sz="1050" b="1" dirty="0">
                <a:solidFill>
                  <a:srgbClr val="18202D"/>
                </a:solidFill>
                <a:latin typeface="Calibri" pitchFamily="34" charset="0"/>
                <a:ea typeface="Calibri" pitchFamily="34" charset="-122"/>
                <a:cs typeface="Calibri" pitchFamily="34" charset="-120"/>
              </a:rPr>
              <a:t>Sources: </a:t>
            </a:r>
            <a:pPr indent="0" marL="0">
              <a:buNone/>
            </a:pPr>
            <a:r>
              <a:rPr lang="en-US" sz="1050" dirty="0">
                <a:solidFill>
                  <a:srgbClr val="566071"/>
                </a:solidFill>
                <a:latin typeface="Calibri" pitchFamily="34" charset="0"/>
                <a:ea typeface="Calibri" pitchFamily="34" charset="-122"/>
                <a:cs typeface="Calibri" pitchFamily="34" charset="-120"/>
              </a:rPr>
              <a:t>R48c p.144; R48c p.145; R48c p.146</a:t>
            </a:r>
            <a:endParaRPr lang="en-US" sz="1050" dirty="0"/>
          </a:p>
        </p:txBody>
      </p:sp>
      <p:sp>
        <p:nvSpPr>
          <p:cNvPr id="3" name="Text 1"/>
          <p:cNvSpPr/>
          <p:nvPr/>
        </p:nvSpPr>
        <p:spPr>
          <a:xfrm>
            <a:off x="548640" y="292608"/>
            <a:ext cx="11094415" cy="731520"/>
          </a:xfrm>
          <a:prstGeom prst="rect">
            <a:avLst/>
          </a:prstGeom>
          <a:noFill/>
          <a:ln/>
        </p:spPr>
        <p:txBody>
          <a:bodyPr wrap="square" lIns="0" tIns="0" rIns="0" bIns="0" rtlCol="0" anchor="b"/>
          <a:lstStyle/>
          <a:p>
            <a:pPr indent="0" marL="0">
              <a:buNone/>
            </a:pPr>
            <a:r>
              <a:rPr lang="en-US" sz="3000" b="1" dirty="0">
                <a:solidFill>
                  <a:srgbClr val="18202D"/>
                </a:solidFill>
                <a:latin typeface="Calibri" pitchFamily="34" charset="0"/>
                <a:ea typeface="Calibri" pitchFamily="34" charset="-122"/>
                <a:cs typeface="Calibri" pitchFamily="34" charset="-120"/>
              </a:rPr>
              <a:t>The process frame: the DoD Architecture Design process</a:t>
            </a:r>
            <a:endParaRPr lang="en-US" sz="3000" dirty="0"/>
          </a:p>
        </p:txBody>
      </p:sp>
      <p:pic>
        <p:nvPicPr>
          <p:cNvPr id="4" name="Image 0" descr="A left-to-right flow: stakeholder requirements definition, requirements analysis, architecture design, allocated baseline. A side arrow from architecture design back to requirements labeled derived requirements. Under architecture design two tags: functional architecture in the functional baseline; physical architecture in the allocated and product baselines.">    </p:cNvPr>
          <p:cNvPicPr>
            <a:picLocks noChangeAspect="1"/>
          </p:cNvPicPr>
          <p:nvPr/>
        </p:nvPicPr>
        <p:blipFill>
          <a:blip r:embed="rId1"/>
          <a:stretch>
            <a:fillRect/>
          </a:stretch>
        </p:blipFill>
        <p:spPr>
          <a:xfrm>
            <a:off x="548640" y="1760155"/>
            <a:ext cx="6379289" cy="3451229"/>
          </a:xfrm>
          <a:prstGeom prst="rect">
            <a:avLst/>
          </a:prstGeom>
        </p:spPr>
      </p:pic>
      <p:sp>
        <p:nvSpPr>
          <p:cNvPr id="5" name="Text 2"/>
          <p:cNvSpPr/>
          <p:nvPr/>
        </p:nvSpPr>
        <p:spPr>
          <a:xfrm>
            <a:off x="7293689" y="1280160"/>
            <a:ext cx="4349366" cy="2917952"/>
          </a:xfrm>
          <a:prstGeom prst="rect">
            <a:avLst/>
          </a:prstGeom>
          <a:noFill/>
          <a:ln/>
        </p:spPr>
        <p:txBody>
          <a:bodyPr wrap="square" lIns="25400" tIns="25400" rIns="25400" bIns="25400" rtlCol="0" anchor="t"/>
          <a:lstStyle/>
          <a:p>
            <a:pPr marL="228600" indent="-228600">
              <a:spcBef>
                <a:spcPts val="600"/>
              </a:spcBef>
              <a:buSzPct val="100000"/>
              <a:buChar char="■"/>
            </a:pPr>
            <a:r>
              <a:rPr lang="en-US" sz="2000" dirty="0">
                <a:solidFill>
                  <a:srgbClr val="18202D"/>
                </a:solidFill>
                <a:latin typeface="Calibri" pitchFamily="34" charset="0"/>
                <a:ea typeface="Calibri" pitchFamily="34" charset="-122"/>
                <a:cs typeface="Calibri" pitchFamily="34" charset="-120"/>
              </a:rPr>
              <a:t>Translates requirements into alternative design solutions</a:t>
            </a:r>
            <a:endParaRPr lang="en-US" sz="2000" dirty="0"/>
          </a:p>
          <a:p>
            <a:pPr marL="228600" indent="-228600">
              <a:spcBef>
                <a:spcPts val="600"/>
              </a:spcBef>
              <a:buSzPct val="100000"/>
              <a:buChar char="■"/>
            </a:pPr>
            <a:r>
              <a:rPr lang="en-US" sz="2000" dirty="0">
                <a:solidFill>
                  <a:srgbClr val="18202D"/>
                </a:solidFill>
                <a:latin typeface="Calibri" pitchFamily="34" charset="0"/>
                <a:ea typeface="Calibri" pitchFamily="34" charset="-122"/>
                <a:cs typeface="Calibri" pitchFamily="34" charset="-120"/>
              </a:rPr>
              <a:t>Functions allocated to hardware, software, facilities and people</a:t>
            </a:r>
            <a:endParaRPr lang="en-US" sz="2000" dirty="0"/>
          </a:p>
          <a:p>
            <a:pPr marL="228600" indent="-228600">
              <a:spcBef>
                <a:spcPts val="600"/>
              </a:spcBef>
              <a:buSzPct val="100000"/>
              <a:buChar char="■"/>
            </a:pPr>
            <a:r>
              <a:rPr lang="en-US" sz="2000" dirty="0">
                <a:solidFill>
                  <a:srgbClr val="18202D"/>
                </a:solidFill>
                <a:latin typeface="Calibri" pitchFamily="34" charset="0"/>
                <a:ea typeface="Calibri" pitchFamily="34" charset="-122"/>
                <a:cs typeface="Calibri" pitchFamily="34" charset="-120"/>
              </a:rPr>
              <a:t>Derived requirements come from solution decisions</a:t>
            </a:r>
            <a:endParaRPr lang="en-US" sz="2000" dirty="0"/>
          </a:p>
          <a:p>
            <a:pPr marL="228600" indent="-228600">
              <a:spcBef>
                <a:spcPts val="600"/>
              </a:spcBef>
              <a:buSzPct val="100000"/>
              <a:buChar char="■"/>
            </a:pPr>
            <a:r>
              <a:rPr lang="en-US" sz="2000" dirty="0">
                <a:solidFill>
                  <a:srgbClr val="18202D"/>
                </a:solidFill>
                <a:latin typeface="Calibri" pitchFamily="34" charset="0"/>
                <a:ea typeface="Calibri" pitchFamily="34" charset="-122"/>
                <a:cs typeface="Calibri" pitchFamily="34" charset="-120"/>
              </a:rPr>
              <a:t>Output: the allocated baseline</a:t>
            </a:r>
            <a:endParaRPr lang="en-US" sz="2000" dirty="0"/>
          </a:p>
        </p:txBody>
      </p:sp>
      <p:sp>
        <p:nvSpPr>
          <p:cNvPr id="25" name="Slide Number Placeholder 0"/>
          <p:cNvSpPr>
            <a:spLocks noGrp="1"/>
          </p:cNvSpPr>
          <p:nvPr>
            <p:ph type="sldNum" sz="quarter" idx="4294967295"/>
          </p:nvPr>
        </p:nvSpPr>
        <p:spPr>
          <a:xfrm>
            <a:off x="10728655" y="6400800"/>
            <a:ext cx="91440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18202D"/>
                </a:solidFill>
                <a:latin typeface="Calibri"/>
                <a:ea typeface="Calibri"/>
                <a:cs typeface="Calibri"/>
              </a:defRPr>
            </a:lvl1pPr>
          </a:lstStyle>
          <a:p>
            <a:pPr algn="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548640" y="292608"/>
            <a:ext cx="11094415" cy="731520"/>
          </a:xfrm>
          <a:prstGeom prst="rect">
            <a:avLst/>
          </a:prstGeom>
          <a:noFill/>
          <a:ln/>
        </p:spPr>
        <p:txBody>
          <a:bodyPr wrap="square" lIns="0" tIns="0" rIns="0" bIns="0" rtlCol="0" anchor="b"/>
          <a:lstStyle/>
          <a:p>
            <a:pPr indent="0" marL="0">
              <a:buNone/>
            </a:pPr>
            <a:r>
              <a:rPr lang="en-US" sz="3000" b="1" dirty="0">
                <a:solidFill>
                  <a:srgbClr val="18202D"/>
                </a:solidFill>
                <a:latin typeface="Calibri" pitchFamily="34" charset="0"/>
                <a:ea typeface="Calibri" pitchFamily="34" charset="-122"/>
                <a:cs typeface="Calibri" pitchFamily="34" charset="-120"/>
              </a:rPr>
              <a:t>Exit: one function, one reason; preparation for Session 2</a:t>
            </a:r>
            <a:endParaRPr lang="en-US" sz="3000" dirty="0"/>
          </a:p>
        </p:txBody>
      </p:sp>
      <p:sp>
        <p:nvSpPr>
          <p:cNvPr id="3" name="Shape 1"/>
          <p:cNvSpPr/>
          <p:nvPr/>
        </p:nvSpPr>
        <p:spPr>
          <a:xfrm>
            <a:off x="548640" y="1280160"/>
            <a:ext cx="6379289" cy="1057148"/>
          </a:xfrm>
          <a:prstGeom prst="roundRect">
            <a:avLst>
              <a:gd name="adj" fmla="val 5190"/>
            </a:avLst>
          </a:prstGeom>
          <a:solidFill>
            <a:srgbClr val="E1EFF4"/>
          </a:solidFill>
          <a:ln w="12700">
            <a:solidFill>
              <a:srgbClr val="0F6E8C"/>
            </a:solidFill>
            <a:prstDash val="solid"/>
          </a:ln>
        </p:spPr>
      </p:sp>
      <p:sp>
        <p:nvSpPr>
          <p:cNvPr id="4" name="Text 2"/>
          <p:cNvSpPr/>
          <p:nvPr/>
        </p:nvSpPr>
        <p:spPr>
          <a:xfrm>
            <a:off x="685800" y="1280160"/>
            <a:ext cx="6104969" cy="1057148"/>
          </a:xfrm>
          <a:prstGeom prst="rect">
            <a:avLst/>
          </a:prstGeom>
          <a:noFill/>
          <a:ln/>
        </p:spPr>
        <p:txBody>
          <a:bodyPr wrap="square" lIns="38100" tIns="38100" rIns="38100" bIns="38100" rtlCol="0" anchor="ctr"/>
          <a:lstStyle/>
          <a:p>
            <a:pPr indent="0" marL="0">
              <a:buNone/>
            </a:pPr>
            <a:r>
              <a:rPr lang="en-US" sz="1200" b="1" spc="100" kern="0" dirty="0">
                <a:solidFill>
                  <a:srgbClr val="18202D"/>
                </a:solidFill>
                <a:latin typeface="Calibri" pitchFamily="34" charset="0"/>
                <a:ea typeface="Calibri" pitchFamily="34" charset="-122"/>
                <a:cs typeface="Calibri" pitchFamily="34" charset="-120"/>
              </a:rPr>
              <a:t>ONE-MINUTE PAPER</a:t>
            </a:r>
            <a:endParaRPr lang="en-US" sz="1200" dirty="0"/>
          </a:p>
          <a:p>
            <a:pPr indent="0" marL="0">
              <a:buNone/>
            </a:pPr>
            <a:r>
              <a:rPr lang="en-US" sz="1700" dirty="0">
                <a:solidFill>
                  <a:srgbClr val="18202D"/>
                </a:solidFill>
                <a:latin typeface="Calibri" pitchFamily="34" charset="0"/>
                <a:ea typeface="Calibri" pitchFamily="34" charset="-122"/>
                <a:cs typeface="Calibri" pitchFamily="34" charset="-120"/>
              </a:rPr>
              <a:t>Name one function of your enterprise, verb and object, and the criterion you would use to allocate it.</a:t>
            </a:r>
            <a:endParaRPr lang="en-US" sz="1200" dirty="0"/>
          </a:p>
        </p:txBody>
      </p:sp>
      <p:sp>
        <p:nvSpPr>
          <p:cNvPr id="5" name="Text 3"/>
          <p:cNvSpPr/>
          <p:nvPr/>
        </p:nvSpPr>
        <p:spPr>
          <a:xfrm>
            <a:off x="7293689" y="1280160"/>
            <a:ext cx="4349366" cy="2215896"/>
          </a:xfrm>
          <a:prstGeom prst="rect">
            <a:avLst/>
          </a:prstGeom>
          <a:noFill/>
          <a:ln/>
        </p:spPr>
        <p:txBody>
          <a:bodyPr wrap="square" lIns="25400" tIns="25400" rIns="25400" bIns="25400" rtlCol="0" anchor="t"/>
          <a:lstStyle/>
          <a:p>
            <a:pPr marL="228600" indent="-228600">
              <a:spcBef>
                <a:spcPts val="600"/>
              </a:spcBef>
              <a:buSzPct val="100000"/>
              <a:buChar char="■"/>
            </a:pPr>
            <a:r>
              <a:rPr lang="en-US" sz="2000" dirty="0">
                <a:solidFill>
                  <a:srgbClr val="18202D"/>
                </a:solidFill>
                <a:latin typeface="Calibri" pitchFamily="34" charset="0"/>
                <a:ea typeface="Calibri" pitchFamily="34" charset="-122"/>
                <a:cs typeface="Calibri" pitchFamily="34" charset="-120"/>
              </a:rPr>
              <a:t>Before Session 2 (about 15 min):</a:t>
            </a:r>
            <a:endParaRPr lang="en-US" sz="2000" dirty="0"/>
          </a:p>
          <a:p>
            <a:pPr marL="228600" indent="-228600">
              <a:spcBef>
                <a:spcPts val="600"/>
              </a:spcBef>
              <a:buSzPct val="100000"/>
              <a:buChar char="■"/>
            </a:pPr>
            <a:r>
              <a:rPr lang="en-US" sz="2000" dirty="0">
                <a:solidFill>
                  <a:srgbClr val="18202D"/>
                </a:solidFill>
                <a:latin typeface="Calibri" pitchFamily="34" charset="0"/>
                <a:ea typeface="Calibri" pitchFamily="34" charset="-122"/>
                <a:cs typeface="Calibri" pitchFamily="34" charset="-120"/>
              </a:rPr>
              <a:t>List three decisions your enterprise makes every day</a:t>
            </a:r>
            <a:endParaRPr lang="en-US" sz="2000" dirty="0"/>
          </a:p>
          <a:p>
            <a:pPr marL="228600" indent="-228600">
              <a:spcBef>
                <a:spcPts val="600"/>
              </a:spcBef>
              <a:buSzPct val="100000"/>
              <a:buChar char="■"/>
            </a:pPr>
            <a:r>
              <a:rPr lang="en-US" sz="2000" dirty="0">
                <a:solidFill>
                  <a:srgbClr val="18202D"/>
                </a:solidFill>
                <a:latin typeface="Calibri" pitchFamily="34" charset="0"/>
                <a:ea typeface="Calibri" pitchFamily="34" charset="-122"/>
                <a:cs typeface="Calibri" pitchFamily="34" charset="-120"/>
              </a:rPr>
              <a:t>For each: the information it needs, and where it comes from</a:t>
            </a:r>
            <a:endParaRPr lang="en-US" sz="2000" dirty="0"/>
          </a:p>
        </p:txBody>
      </p:sp>
      <p:sp>
        <p:nvSpPr>
          <p:cNvPr id="25" name="Slide Number Placeholder 0"/>
          <p:cNvSpPr>
            <a:spLocks noGrp="1"/>
          </p:cNvSpPr>
          <p:nvPr>
            <p:ph type="sldNum" sz="quarter" idx="4294967295"/>
          </p:nvPr>
        </p:nvSpPr>
        <p:spPr>
          <a:xfrm>
            <a:off x="10728655" y="6400800"/>
            <a:ext cx="91440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18202D"/>
                </a:solidFill>
                <a:latin typeface="Calibri"/>
                <a:ea typeface="Calibri"/>
                <a:cs typeface="Calibri"/>
              </a:defRPr>
            </a:lvl1pPr>
          </a:lstStyle>
          <a:p>
            <a:pPr algn="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548640" y="292608"/>
            <a:ext cx="11094415" cy="731520"/>
          </a:xfrm>
          <a:prstGeom prst="rect">
            <a:avLst/>
          </a:prstGeom>
          <a:noFill/>
          <a:ln/>
        </p:spPr>
        <p:txBody>
          <a:bodyPr wrap="square" lIns="0" tIns="0" rIns="0" bIns="0" rtlCol="0" anchor="b"/>
          <a:lstStyle/>
          <a:p>
            <a:pPr indent="0" marL="0">
              <a:buNone/>
            </a:pPr>
            <a:r>
              <a:rPr lang="en-US" sz="3000" b="1" dirty="0">
                <a:solidFill>
                  <a:srgbClr val="18202D"/>
                </a:solidFill>
                <a:latin typeface="Calibri" pitchFamily="34" charset="0"/>
                <a:ea typeface="Calibri" pitchFamily="34" charset="-122"/>
                <a:cs typeface="Calibri" pitchFamily="34" charset="-120"/>
              </a:rPr>
              <a:t>References and credits</a:t>
            </a:r>
            <a:endParaRPr lang="en-US" sz="3000" dirty="0"/>
          </a:p>
        </p:txBody>
      </p:sp>
      <p:sp>
        <p:nvSpPr>
          <p:cNvPr id="3" name="Text 1"/>
          <p:cNvSpPr/>
          <p:nvPr/>
        </p:nvSpPr>
        <p:spPr>
          <a:xfrm>
            <a:off x="548640" y="1280160"/>
            <a:ext cx="3413053" cy="4846320"/>
          </a:xfrm>
          <a:prstGeom prst="rect">
            <a:avLst/>
          </a:prstGeom>
          <a:noFill/>
          <a:ln/>
        </p:spPr>
        <p:txBody>
          <a:bodyPr wrap="square" lIns="25400" tIns="25400" rIns="25400" bIns="25400" rtlCol="0" anchor="t"/>
          <a:lstStyle/>
          <a:p>
            <a:pPr indent="0" marL="0">
              <a:spcAft>
                <a:spcPts val="200"/>
              </a:spcAft>
              <a:buNone/>
            </a:pPr>
            <a:r>
              <a:rPr lang="en-US" sz="1200" dirty="0">
                <a:solidFill>
                  <a:srgbClr val="18202D"/>
                </a:solidFill>
                <a:latin typeface="Calibri" pitchFamily="34" charset="0"/>
                <a:ea typeface="Calibri" pitchFamily="34" charset="-122"/>
                <a:cs typeface="Calibri" pitchFamily="34" charset="-120"/>
              </a:rPr>
              <a:t>R04 · SEBoK v2.14 (2026), “Principles of Systems Thinking”, p.275</a:t>
            </a:r>
            <a:endParaRPr lang="en-US" sz="1200" dirty="0"/>
          </a:p>
          <a:p>
            <a:pPr indent="0" marL="0">
              <a:spcAft>
                <a:spcPts val="200"/>
              </a:spcAft>
              <a:buNone/>
            </a:pPr>
            <a:r>
              <a:rPr lang="en-US" sz="1200" dirty="0">
                <a:solidFill>
                  <a:srgbClr val="18202D"/>
                </a:solidFill>
                <a:latin typeface="Calibri" pitchFamily="34" charset="0"/>
                <a:ea typeface="Calibri" pitchFamily="34" charset="-122"/>
                <a:cs typeface="Calibri" pitchFamily="34" charset="-120"/>
              </a:rPr>
              <a:t>R13 · SEBoK v2.14 (2026), “System Requirements Definition”, p.557, 561</a:t>
            </a:r>
            <a:endParaRPr lang="en-US" sz="1200" dirty="0"/>
          </a:p>
          <a:p>
            <a:pPr indent="0" marL="0">
              <a:spcAft>
                <a:spcPts val="200"/>
              </a:spcAft>
              <a:buNone/>
            </a:pPr>
            <a:r>
              <a:rPr lang="en-US" sz="1200" dirty="0">
                <a:solidFill>
                  <a:srgbClr val="18202D"/>
                </a:solidFill>
                <a:latin typeface="Calibri" pitchFamily="34" charset="0"/>
                <a:ea typeface="Calibri" pitchFamily="34" charset="-122"/>
                <a:cs typeface="Calibri" pitchFamily="34" charset="-120"/>
              </a:rPr>
              <a:t>R19 · SEBoK v2.14 (2026), “System Architecture Design Definition”, p.569–571, 573</a:t>
            </a:r>
            <a:endParaRPr lang="en-US" sz="1200" dirty="0"/>
          </a:p>
          <a:p>
            <a:pPr indent="0" marL="0">
              <a:spcAft>
                <a:spcPts val="200"/>
              </a:spcAft>
              <a:buNone/>
            </a:pPr>
            <a:r>
              <a:rPr lang="en-US" sz="1200" dirty="0">
                <a:solidFill>
                  <a:srgbClr val="18202D"/>
                </a:solidFill>
                <a:latin typeface="Calibri" pitchFamily="34" charset="0"/>
                <a:ea typeface="Calibri" pitchFamily="34" charset="-122"/>
                <a:cs typeface="Calibri" pitchFamily="34" charset="-120"/>
              </a:rPr>
              <a:t>R20a · SEBoK v2.14 (2026), “Functional Architecture”, p.580–582</a:t>
            </a:r>
            <a:endParaRPr lang="en-US" sz="1200" dirty="0"/>
          </a:p>
          <a:p>
            <a:pPr indent="0" marL="0">
              <a:spcAft>
                <a:spcPts val="200"/>
              </a:spcAft>
              <a:buNone/>
            </a:pPr>
            <a:r>
              <a:rPr lang="en-US" sz="1200" dirty="0">
                <a:solidFill>
                  <a:srgbClr val="18202D"/>
                </a:solidFill>
                <a:latin typeface="Calibri" pitchFamily="34" charset="0"/>
                <a:ea typeface="Calibri" pitchFamily="34" charset="-122"/>
                <a:cs typeface="Calibri" pitchFamily="34" charset="-120"/>
              </a:rPr>
              <a:t>R20b · SEBoK v2.14 (2026), “Logical Architecture”, p.587, 591–594</a:t>
            </a:r>
            <a:endParaRPr lang="en-US" sz="1200" dirty="0"/>
          </a:p>
          <a:p>
            <a:pPr indent="0" marL="0">
              <a:spcAft>
                <a:spcPts val="200"/>
              </a:spcAft>
              <a:buNone/>
            </a:pPr>
            <a:r>
              <a:rPr lang="en-US" sz="1200" dirty="0">
                <a:solidFill>
                  <a:srgbClr val="18202D"/>
                </a:solidFill>
                <a:latin typeface="Calibri" pitchFamily="34" charset="0"/>
                <a:ea typeface="Calibri" pitchFamily="34" charset="-122"/>
                <a:cs typeface="Calibri" pitchFamily="34" charset="-120"/>
              </a:rPr>
              <a:t>R20c · SEBoK v2.14 (2026), “Physical Architecture”, p.596–600, 602</a:t>
            </a:r>
            <a:endParaRPr lang="en-US" sz="1200" dirty="0"/>
          </a:p>
          <a:p>
            <a:pPr indent="0" marL="0">
              <a:spcAft>
                <a:spcPts val="200"/>
              </a:spcAft>
              <a:buNone/>
            </a:pPr>
            <a:r>
              <a:rPr lang="en-US" sz="1200" dirty="0">
                <a:solidFill>
                  <a:srgbClr val="18202D"/>
                </a:solidFill>
                <a:latin typeface="Calibri" pitchFamily="34" charset="0"/>
                <a:ea typeface="Calibri" pitchFamily="34" charset="-122"/>
                <a:cs typeface="Calibri" pitchFamily="34" charset="-120"/>
              </a:rPr>
              <a:t>R39t · SEBoK v2.14 (2026), “Architecture (glossary)”, p.1445</a:t>
            </a:r>
            <a:endParaRPr lang="en-US" sz="1200" dirty="0"/>
          </a:p>
        </p:txBody>
      </p:sp>
      <p:sp>
        <p:nvSpPr>
          <p:cNvPr id="4" name="Text 2"/>
          <p:cNvSpPr/>
          <p:nvPr/>
        </p:nvSpPr>
        <p:spPr>
          <a:xfrm>
            <a:off x="4236013" y="1280160"/>
            <a:ext cx="3413053" cy="4846320"/>
          </a:xfrm>
          <a:prstGeom prst="rect">
            <a:avLst/>
          </a:prstGeom>
          <a:noFill/>
          <a:ln/>
        </p:spPr>
        <p:txBody>
          <a:bodyPr wrap="square" lIns="25400" tIns="25400" rIns="25400" bIns="25400" rtlCol="0" anchor="t"/>
          <a:lstStyle/>
          <a:p>
            <a:pPr indent="0" marL="0">
              <a:spcAft>
                <a:spcPts val="200"/>
              </a:spcAft>
              <a:buNone/>
            </a:pPr>
            <a:r>
              <a:rPr lang="en-US" sz="1200" dirty="0">
                <a:solidFill>
                  <a:srgbClr val="18202D"/>
                </a:solidFill>
                <a:latin typeface="Calibri" pitchFamily="34" charset="0"/>
                <a:ea typeface="Calibri" pitchFamily="34" charset="-122"/>
                <a:cs typeface="Calibri" pitchFamily="34" charset="-120"/>
              </a:rPr>
              <a:t>R39u · SEBoK v2.14 (2026), “Architecture Framework (glossary)”, p.1446</a:t>
            </a:r>
            <a:endParaRPr lang="en-US" sz="1200" dirty="0"/>
          </a:p>
          <a:p>
            <a:pPr indent="0" marL="0">
              <a:spcAft>
                <a:spcPts val="200"/>
              </a:spcAft>
              <a:buNone/>
            </a:pPr>
            <a:r>
              <a:rPr lang="en-US" sz="1200" dirty="0">
                <a:solidFill>
                  <a:srgbClr val="18202D"/>
                </a:solidFill>
                <a:latin typeface="Calibri" pitchFamily="34" charset="0"/>
                <a:ea typeface="Calibri" pitchFamily="34" charset="-122"/>
                <a:cs typeface="Calibri" pitchFamily="34" charset="-120"/>
              </a:rPr>
              <a:t>R39v · SEBoK v2.14 (2026), “View (glossary)”, p.1677</a:t>
            </a:r>
            <a:endParaRPr lang="en-US" sz="1200" dirty="0"/>
          </a:p>
          <a:p>
            <a:pPr indent="0" marL="0">
              <a:spcAft>
                <a:spcPts val="200"/>
              </a:spcAft>
              <a:buNone/>
            </a:pPr>
            <a:r>
              <a:rPr lang="en-US" sz="1200" dirty="0">
                <a:solidFill>
                  <a:srgbClr val="18202D"/>
                </a:solidFill>
                <a:latin typeface="Calibri" pitchFamily="34" charset="0"/>
                <a:ea typeface="Calibri" pitchFamily="34" charset="-122"/>
                <a:cs typeface="Calibri" pitchFamily="34" charset="-120"/>
              </a:rPr>
              <a:t>R39w · SEBoK v2.14 (2026), “Viewpoint (glossary)”, p.1678</a:t>
            </a:r>
            <a:endParaRPr lang="en-US" sz="1200" dirty="0"/>
          </a:p>
          <a:p>
            <a:pPr indent="0" marL="0">
              <a:spcAft>
                <a:spcPts val="200"/>
              </a:spcAft>
              <a:buNone/>
            </a:pPr>
            <a:r>
              <a:rPr lang="en-US" sz="1200" dirty="0">
                <a:solidFill>
                  <a:srgbClr val="18202D"/>
                </a:solidFill>
                <a:latin typeface="Calibri" pitchFamily="34" charset="0"/>
                <a:ea typeface="Calibri" pitchFamily="34" charset="-122"/>
                <a:cs typeface="Calibri" pitchFamily="34" charset="-120"/>
              </a:rPr>
              <a:t>R39x · SEBoK v2.14 (2026), “Function (glossary)”, p.1510</a:t>
            </a:r>
            <a:endParaRPr lang="en-US" sz="1200" dirty="0"/>
          </a:p>
          <a:p>
            <a:pPr indent="0" marL="0">
              <a:spcAft>
                <a:spcPts val="200"/>
              </a:spcAft>
              <a:buNone/>
            </a:pPr>
            <a:r>
              <a:rPr lang="en-US" sz="1200" dirty="0">
                <a:solidFill>
                  <a:srgbClr val="18202D"/>
                </a:solidFill>
                <a:latin typeface="Calibri" pitchFamily="34" charset="0"/>
                <a:ea typeface="Calibri" pitchFamily="34" charset="-122"/>
                <a:cs typeface="Calibri" pitchFamily="34" charset="-120"/>
              </a:rPr>
              <a:t>R48c · OUSD(R&amp;E) Systems Engineering Guidebook (2021/2022), “Architecture Design Process”, p.144–146</a:t>
            </a:r>
            <a:endParaRPr lang="en-US" sz="1200" dirty="0"/>
          </a:p>
          <a:p>
            <a:pPr indent="0" marL="0">
              <a:spcAft>
                <a:spcPts val="200"/>
              </a:spcAft>
              <a:buNone/>
            </a:pPr>
            <a:r>
              <a:rPr lang="en-US" sz="1200" dirty="0">
                <a:solidFill>
                  <a:srgbClr val="18202D"/>
                </a:solidFill>
                <a:latin typeface="Calibri" pitchFamily="34" charset="0"/>
                <a:ea typeface="Calibri" pitchFamily="34" charset="-122"/>
                <a:cs typeface="Calibri" pitchFamily="34" charset="-120"/>
              </a:rPr>
              <a:t>R62 · The MITRE Systems Engineering Guide (2014), “Architectural Frameworks, Models, and Views”, p.341–342, 344–346</a:t>
            </a:r>
            <a:endParaRPr lang="en-US" sz="1200" dirty="0"/>
          </a:p>
        </p:txBody>
      </p:sp>
      <p:sp>
        <p:nvSpPr>
          <p:cNvPr id="5" name="Shape 3"/>
          <p:cNvSpPr/>
          <p:nvPr/>
        </p:nvSpPr>
        <p:spPr>
          <a:xfrm>
            <a:off x="7923386" y="1280160"/>
            <a:ext cx="54864" cy="4846320"/>
          </a:xfrm>
          <a:prstGeom prst="rect">
            <a:avLst/>
          </a:prstGeom>
          <a:solidFill>
            <a:srgbClr val="0F6E8C"/>
          </a:solidFill>
          <a:ln w="12700">
            <a:solidFill>
              <a:srgbClr val="0F6E8C"/>
            </a:solidFill>
            <a:prstDash val="solid"/>
          </a:ln>
        </p:spPr>
      </p:sp>
      <p:sp>
        <p:nvSpPr>
          <p:cNvPr id="6" name="Text 4"/>
          <p:cNvSpPr/>
          <p:nvPr/>
        </p:nvSpPr>
        <p:spPr>
          <a:xfrm>
            <a:off x="8060546" y="1280160"/>
            <a:ext cx="3582509" cy="4846320"/>
          </a:xfrm>
          <a:prstGeom prst="rect">
            <a:avLst/>
          </a:prstGeom>
          <a:noFill/>
          <a:ln/>
        </p:spPr>
        <p:txBody>
          <a:bodyPr wrap="square" lIns="25400" tIns="25400" rIns="25400" bIns="25400" rtlCol="0" anchor="t"/>
          <a:lstStyle/>
          <a:p>
            <a:pPr indent="0" marL="0">
              <a:buNone/>
            </a:pPr>
            <a:r>
              <a:rPr lang="en-US" sz="1200" b="1" spc="100" kern="0" dirty="0">
                <a:solidFill>
                  <a:srgbClr val="18202D"/>
                </a:solidFill>
                <a:latin typeface="Calibri" pitchFamily="34" charset="0"/>
                <a:ea typeface="Calibri" pitchFamily="34" charset="-122"/>
                <a:cs typeface="Calibri" pitchFamily="34" charset="-120"/>
              </a:rPr>
              <a:t>CREDITS AND LICENSES</a:t>
            </a:r>
            <a:endParaRPr lang="en-US" sz="1200" dirty="0"/>
          </a:p>
          <a:p>
            <a:pPr marL="152400" indent="-152400">
              <a:spcBef>
                <a:spcPts val="400"/>
              </a:spcBef>
              <a:buSzPct val="100000"/>
              <a:buChar char="■"/>
            </a:pPr>
            <a:r>
              <a:rPr lang="en-US" sz="1200" dirty="0">
                <a:solidFill>
                  <a:srgbClr val="18202D"/>
                </a:solidFill>
                <a:latin typeface="Calibri" pitchFamily="34" charset="0"/>
                <a:ea typeface="Calibri" pitchFamily="34" charset="-122"/>
                <a:cs typeface="Calibri" pitchFamily="34" charset="-120"/>
              </a:rPr>
              <a:t>SEBoK v2.14: “This material is used under a Creative Commons Attribution-NonCommercial ShareAlike 3.0 Unported License from The Trustees of the Stevens Institute of Technology.” (SEBoK, “Bkcase Wiki:Copyright”, PDF p.31). Quotations are short and cited; no SEBoK figure or table is reproduced.</a:t>
            </a:r>
            <a:endParaRPr lang="en-US" sz="1200" dirty="0"/>
          </a:p>
          <a:p>
            <a:pPr marL="152400" indent="-152400">
              <a:spcBef>
                <a:spcPts val="400"/>
              </a:spcBef>
              <a:buSzPct val="100000"/>
              <a:buChar char="■"/>
            </a:pPr>
            <a:r>
              <a:rPr lang="en-US" sz="1200" dirty="0">
                <a:solidFill>
                  <a:srgbClr val="18202D"/>
                </a:solidFill>
                <a:latin typeface="Calibri" pitchFamily="34" charset="0"/>
                <a:ea typeface="Calibri" pitchFamily="34" charset="-122"/>
                <a:cs typeface="Calibri" pitchFamily="34" charset="-120"/>
              </a:rPr>
              <a:t>OUSD(R&amp;E) Systems Engineering Guidebook: Distribution Statement A. Approved for public release. Distribution is unlimited.</a:t>
            </a:r>
            <a:endParaRPr lang="en-US" sz="1200" dirty="0"/>
          </a:p>
          <a:p>
            <a:pPr marL="152400" indent="-152400">
              <a:spcBef>
                <a:spcPts val="400"/>
              </a:spcBef>
              <a:buSzPct val="100000"/>
              <a:buChar char="■"/>
            </a:pPr>
            <a:r>
              <a:rPr lang="en-US" sz="1200" dirty="0">
                <a:solidFill>
                  <a:srgbClr val="18202D"/>
                </a:solidFill>
                <a:latin typeface="Calibri" pitchFamily="34" charset="0"/>
                <a:ea typeface="Calibri" pitchFamily="34" charset="-122"/>
                <a:cs typeface="Calibri" pitchFamily="34" charset="-120"/>
              </a:rPr>
              <a:t>The MITRE Systems Engineering Guide: © 2014 by The MITRE Corporation. All rights reserved. Approved for public release; distribution unlimited (Case Numbers 10-4072 and 12-1089). Quoted briefly with attribution.</a:t>
            </a:r>
            <a:endParaRPr lang="en-US" sz="1200" dirty="0"/>
          </a:p>
          <a:p>
            <a:pPr marL="152400" indent="-152400">
              <a:spcBef>
                <a:spcPts val="400"/>
              </a:spcBef>
              <a:buSzPct val="100000"/>
              <a:buChar char="■"/>
            </a:pPr>
            <a:r>
              <a:rPr lang="en-US" sz="1200" dirty="0">
                <a:solidFill>
                  <a:srgbClr val="18202D"/>
                </a:solidFill>
                <a:latin typeface="Calibri" pitchFamily="34" charset="0"/>
                <a:ea typeface="Calibri" pitchFamily="34" charset="-122"/>
                <a:cs typeface="Calibri" pitchFamily="34" charset="-120"/>
              </a:rPr>
              <a:t>Figures are original drawings for this course; none redraws a figure from the sources.</a:t>
            </a:r>
            <a:endParaRPr lang="en-US" sz="1200" dirty="0"/>
          </a:p>
          <a:p>
            <a:pPr marL="152400" indent="-152400">
              <a:spcBef>
                <a:spcPts val="400"/>
              </a:spcBef>
              <a:buSzPct val="100000"/>
              <a:buChar char="■"/>
            </a:pPr>
            <a:r>
              <a:rPr lang="en-US" sz="1200" dirty="0">
                <a:solidFill>
                  <a:srgbClr val="18202D"/>
                </a:solidFill>
                <a:latin typeface="Calibri" pitchFamily="34" charset="0"/>
                <a:ea typeface="Calibri" pitchFamily="34" charset="-122"/>
                <a:cs typeface="Calibri" pitchFamily="34" charset="-120"/>
              </a:rPr>
              <a:t>AeroLink Urban Mobility is a fictional teaching case: every number, name and statement about it is a teaching value.</a:t>
            </a:r>
            <a:endParaRPr lang="en-US" sz="1200" dirty="0"/>
          </a:p>
        </p:txBody>
      </p:sp>
      <p:sp>
        <p:nvSpPr>
          <p:cNvPr id="25" name="Slide Number Placeholder 0"/>
          <p:cNvSpPr>
            <a:spLocks noGrp="1"/>
          </p:cNvSpPr>
          <p:nvPr>
            <p:ph type="sldNum" sz="quarter" idx="4294967295"/>
          </p:nvPr>
        </p:nvSpPr>
        <p:spPr>
          <a:xfrm>
            <a:off x="10728655" y="6400800"/>
            <a:ext cx="91440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18202D"/>
                </a:solidFill>
                <a:latin typeface="Calibri"/>
                <a:ea typeface="Calibri"/>
                <a:cs typeface="Calibri"/>
              </a:defRPr>
            </a:lvl1pPr>
          </a:lstStyle>
          <a:p>
            <a:pPr algn="r"/>
            <a:fld id="{F7021451-1387-4CA6-816F-3879F97B5CBC}" type="slidenum">
              <a:rPr b="1" lang="en-US"/>
              <a:t>22</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22</Slides>
  <Notes>22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22</vt:i4>
      </vt:variant>
    </vt:vector>
  </HeadingPairs>
  <TitlesOfParts>
    <vt:vector size="2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vector>
  </TitlesOfParts>
  <Company>Wright State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Week 4, Session 1: Architecture / Information View</dc:title>
  <dc:subject>Systems Thinking and MBSE with SysML v2</dc:subject>
  <dc:creator>SysML Learning Studio (generated)</dc:creator>
  <cp:lastModifiedBy>SysML Learning Studio (generated)</cp:lastModifiedBy>
  <cp:revision>1</cp:revision>
  <dcterms:created xsi:type="dcterms:W3CDTF">2026-10-27T14:48:07Z</dcterms:created>
  <dcterms:modified xsi:type="dcterms:W3CDTF">2026-10-27T14:48:07Z</dcterms:modified>
</cp:coreProperties>
</file>