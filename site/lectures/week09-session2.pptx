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requirements about a library’s book-return kiosk, with the same statement. Pairs: which one is right, and what is wrong with the other two?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three declarations</a:t>
            </a:r>
            <a:endParaRPr lang="en-US" sz="3000" dirty="0"/>
          </a:p>
        </p:txBody>
      </p:sp>
      <p:pic>
        <p:nvPicPr>
          <p:cNvPr id="4" name="Image 0" descr="Listing (course file sysml/lectures/week09/warmup_book_return_kiosk.sysml, checked: PASS): requirement &lt;'K-1'&gt; 'Fast returns' { / doc /* The kiosk shall scan a returned book within 3 s. */ / } / requirement &lt;'K-2'&gt; 'Fast scanning' { / doc /* The kiosk shall scan a returned book within 3 s. */ / subject service : LibraryService; / attribute maxScanTime : DurationValue = 3 [s]; / require constraint { service.openingHours &gt;= maxScanTime } / } / requirement &lt;'K-3'&gt; 'Scan time' { / doc /* The kiosk shall scan a returned book within 3 s. */ / subject kiosk : ReturnKiosk; / attribute maxScanTime : DurationValue = 3 [s]; / require constraint { kiosk.scanTime &lt;= maxScanTime }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8696"/>
            <a:ext cx="6379289" cy="44168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1596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statement, three models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right?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the other two?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p.161–162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subject and constraint decide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596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K-1: doc only. Nothing to evaluate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K-2: subject is the whole library service; the constraint reads its opening hours, not the kiosk’s scan time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K-3: right. The kiosk’s scan time at most 3 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040888"/>
            <a:ext cx="11094415" cy="793750"/>
          </a:xfrm>
          <a:prstGeom prst="roundRect">
            <a:avLst>
              <a:gd name="adj" fmla="val 6912"/>
            </a:avLst>
          </a:prstGeom>
          <a:solidFill>
            <a:srgbClr val="E1EFF4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040888"/>
            <a:ext cx="10820095" cy="7937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pass the checker.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about one requirement: is it well formed, and is it the right requirement, true to the need it came from?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verification and requirement validation</a:t>
            </a:r>
            <a:endParaRPr lang="en-US" sz="3000" dirty="0"/>
          </a:p>
        </p:txBody>
      </p:sp>
      <p:pic>
        <p:nvPicPr>
          <p:cNvPr id="4" name="Image 0" descr="A strong card in the center, REQ-STK-005. On each side a magnifying glass: the left one labeled well formed?, the right one labeled right intent?. An arrow runs from the right glass up to a tag, NEED-004, the need the requirement came fro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84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verification: well formed? (the organization’s characteristics and rules)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validation: the right requirements? (the intent of the needs and parents)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system verification and validation (Week 12)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peer review; comparison with characteristics and with the needs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R48b p.144; R13 p.566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makes visible, and what a reviewer must decide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makes visible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reviewer decides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derivation to a parent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the right parent?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constraint, a method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the criterion be tested?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Unambiguous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every reader read it alike?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limit, right subject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522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DoD list of attributes of good requirements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REQ-STK-001 in AeroLink model v0.2, generated from its Week 2 row: statement, subject, limit, required constraint, attributes and rationale (the doc is shortened on the slide).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p.161; R83 p.165; R114 p.555; R84 p.175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III: anatomy of a stakeholder requirement</a:t>
            </a:r>
            <a:endParaRPr lang="en-US" sz="3000" dirty="0"/>
          </a:p>
        </p:txBody>
      </p:sp>
      <p:pic>
        <p:nvPicPr>
          <p:cNvPr id="4" name="Image 0" descr="Listing (course file sysml/lectures/week09/aerolink_needs_requirements_v02.sysml, checked: PASS): requirement &lt;'REQ-STK-001'&gt; 'Passenger wait to board' { / doc /* The AeroLink service shall board at least 90 % of … */ / subject enterprise : Context::'ENT-001'; / attribute maxPassengerWaitP90 : DurationValue = 15 [min]; / require constraint { enterprise.passengerWaitP90 &lt;= maxPassengerWaitP90 } / @RequirementAttributes { level = &quot;stakeholder&quot;; requirementType = &quot;performance&quot;; method = VerificationMethodKind::analyze; criterion = &quot;90th-percentile confirmation-to-boarding time &lt;= 15 min per calendar month&quot;; } / @Rationale { text = &quot;Attraction to the service halves at a 15 min wait (A-001); controlling the 90th percentile protects the passengers most likely to stop using the service, not just the average.&quot;; }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67376"/>
            <a:ext cx="6379289" cy="22740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620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and statement: the Week 2 row, word for word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the enterprise (course convention)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and required constraint: the Week 2 criterion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and rationale: the Week 2 columns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a derivation from the Week 1 need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REQ-SYS-010 written two ways: the limit left unbound, as in model v0.2, and the limit bound to the value configured in the chargers. Both PASS the checker; only the second says what is meant.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R114 p.556–557; R83 p.168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IV: a limit that is still to be decided</a:t>
            </a:r>
            <a:endParaRPr lang="en-US" sz="3000" dirty="0"/>
          </a:p>
        </p:txBody>
      </p:sp>
      <p:pic>
        <p:nvPicPr>
          <p:cNvPr id="4" name="Image 0" descr="Listing (course file sysml/lectures/week09/tbd_unbound_vs_bound.sysml, checked: PASS): package Unbound { / requirement &lt;'REQ-SYS-010'&gt; 'Vertiport charging power limit' { / subject chargers : Chargers; / attribute maxCombinedChargerPower : PowerValue; / require constraint { chargers.combinedChargerPower &lt;= maxCombinedChargerPower } / @StatusInfo { status = StatusKind::tbd; owner = &quot;Vertiport Infrastructure Manager&quot;; } / } / } / package Bound { / requirement &lt;'REQ-SYS-010'&gt; 'Vertiport charging power limit' { / subject chargers : Chargers; / attribute maxCombinedChargerPower : PowerValue = chargers.configuredConnectionLimit; / require constraint { chargers.combinedChargerPower &lt;= maxCombinedChargerPower } / @StatusInfo { status = StatusKind::tbd; owner = &quot;Vertiport Infrastructure Manager&quot;; } / }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8730"/>
            <a:ext cx="6379289" cy="3531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stays; StatusInfo records tbd and the owner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 limit: reads as “some limit exists”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the configured value: reads as intended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TBD is a recorded status with an owner, never a missing constraint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REQ-SYS-007 read two ways: “in still air” as an assumption about the weather (a gate), and as part of the quantity measured (a reference condition). Both PASS the checker. The 0.5 m/s still-air tolerance is a teaching value.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p.162; R83 p.165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V: “in still air”: gate or reference condition?</a:t>
            </a:r>
            <a:endParaRPr lang="en-US" sz="3000" dirty="0"/>
          </a:p>
        </p:txBody>
      </p:sp>
      <p:pic>
        <p:nvPicPr>
          <p:cNvPr id="4" name="Image 0" descr="Listing (course file sysml/lectures/week09/assume_still_air_two_readings.sysml, checked: PASS): package GateReading { / requirement &lt;'REQ-SYS-007'&gt; 'Block time for the design trip' { / subject aircraft : Aircraft; / actor weather : Weather; / attribute maxBlockTime : DurationValue = 16 [min]; / assume constraint stillAir { weather.windSpeed &lt;= 0.5 [m/s] } / require constraint withinBlockTime { aircraft.designTripBlockTime &lt;= maxBlockTime } / } / } / package ReferenceReading { / requirement &lt;'REQ-SYS-007'&gt; 'Block time for the design trip' { / subject aircraft : Aircraft; / attribute maxBlockTime : DurationValue = 16 [min]; / require constraint { aircraft.stillAirDesignTripBlockTime &lt;= maxBlockTime } / }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34067"/>
            <a:ext cx="6379289" cy="29407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415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weather as an actor; assume still air; require the block time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time is one still-air design value: in wind, the gate only switches the requirement off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reading: the condition names the quantity; verification corrects to still air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assumption when the condition bounds applicability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NEED-004 → REQ-STK-005 → REQ-SYS-001 in AeroLink model v0.2: two derivation connections, and the arithmetic that justifies them in the rationale.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R115 p.580–581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VI: a full derivation chain</a:t>
            </a:r>
            <a:endParaRPr lang="en-US" sz="3000" dirty="0"/>
          </a:p>
        </p:txBody>
      </p:sp>
      <p:pic>
        <p:nvPicPr>
          <p:cNvPr id="4" name="Image 0" descr="Three boxes stacked top to bottom: NEED-004; REQ-STK-005 ≤ 25 min; REQ-SYS-001 ≤ 20 min (drawn strong). Two arrows labeled derivation join them, from the upper box to the lower. Beside them a note titled rationale: 25 = 20 + 5; charge + pad work; text, not mat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NEED-004 → REQ-STK-005 → REQ-SYS-001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any subject satisfying the parent should satisfy the child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arithmetic, 25 = 20 + 5 min, is in the rationale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derivation asserts the relation; it computes nothing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 of the AeroLink trace matrix, computed from the derivations in model v0.2, with the Week 2 open items the derivations cannot show.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matrix, read from the model</a:t>
            </a:r>
            <a:endParaRPr lang="en-US" sz="3000" dirty="0"/>
          </a:p>
        </p:txBody>
      </p:sp>
      <p:pic>
        <p:nvPicPr>
          <p:cNvPr id="4" name="Image 0" descr="A table with columns need, STK, SYS, status. NEED-004: REQ-STK-005; REQ-SYS-001; covered. NEED-006: REQ-STK-008 +1; REQ-SYS-009; Week 9. NEED-008: REQ-STK-007 +1; —; Week 9. NEED-011: REQ-STK-018 +1; —; covered. NEED-017: REQ-STK-017; —; partial. A dash means none yet; +1 means one mo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620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17 needs has a stakeholder requirement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left three partly covered; Week 9 writes REQ-STK-020 and REQ-STK-021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still open: NEED-017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stakeholder requirements have no system requirement yet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gets a disposition, never a borrowed link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p.161–162; R83 p.165; R83 p.168; R74 sl.90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in modeled requirements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subject on a system requirement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the shall is about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only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Constraint, or recorded TBD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where a usage was meant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carries the 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satisfy between requirements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Unquoted hyphenated 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 short 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Mixed-subject group satisfied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Satisfy its members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concern framed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answered concerns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listings to judge before the reveal: predict PASS, PASS with a warning, or FAIL, and say whether each says what it means.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checker</a:t>
            </a:r>
            <a:endParaRPr lang="en-US" sz="3000" dirty="0"/>
          </a:p>
        </p:txBody>
      </p:sp>
      <p:pic>
        <p:nvPicPr>
          <p:cNvPr id="4" name="Image 0" descr="Three panels stacked, numbered 1 to 3, each showing code. Panel 1: requirement &lt;REQ-SYS-001&gt; chargeTime { Panel 2: end #original ::&gt; 'REQ-SYS-001'; / end #derive ::&gt; 'REQ-STK-005'; Panel 3: satisfy 'REQ-SYS-001' by 'REQ-STK-005'; Under them: each: PASS, warning or FAIL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an ID without quotes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 derivation with its ends swapped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satisfy written between two requirements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PASS, PASS with a warning, or FAIL?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R115 p.580; R83 p.168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all three are wrong; only the syntax error is rejected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 what it means?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unquoted 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and caught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swapped derivation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PASS, no message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not caught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satisfy between requirements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PASS, one warning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only a type warning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method for AI-assisted review: findings in, a decision and a reason for each, a change with an ID, then the checker and an intent re-read.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method: AI findings are candidates to disposition</a:t>
            </a:r>
            <a:endParaRPr lang="en-US" sz="3000" dirty="0"/>
          </a:p>
        </p:txBody>
      </p:sp>
      <p:pic>
        <p:nvPicPr>
          <p:cNvPr id="4" name="Image 0" descr="Four bars stacked top to bottom, joined by arrows: findings: an ID and a quote; triage: decide, with a reason; change: in the record; check: checker, then the ne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46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requirements and their needs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findings in four categories, each with an ID and a quote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each: accept or reject, with a reason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Change, re-run the checker, re-read against the need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293689" y="3990848"/>
            <a:ext cx="4349366" cy="995172"/>
          </a:xfrm>
          <a:prstGeom prst="roundRect">
            <a:avLst>
              <a:gd name="adj" fmla="val 5513"/>
            </a:avLst>
          </a:prstGeom>
          <a:solidFill>
            <a:srgbClr val="FBEFD9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990848"/>
            <a:ext cx="4075046" cy="9951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METHOD</a:t>
            </a:r>
            <a:endParaRPr lang="en-US" sz="1000" dirty="0"/>
          </a:p>
          <a:p>
            <a:pPr indent="0" marL="0">
              <a:buNone/>
            </a:pPr>
            <a:r>
              <a:rPr lang="en-US" sz="15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sees only the text: “missing information” is a prompt, not a fact.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AeroLink: a seeded review set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 phrase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“promptly”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“within 90 s”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“70 dBA LAmax”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information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“charge an aircraft”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booking function”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information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“before it asks”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“within 20 min”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“at least 99 %”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9 lab tool in four steps: import three files, decide each requirement, read the trace audit, preview and export.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your package into the model: the lab tool</a:t>
            </a:r>
            <a:endParaRPr lang="en-US" sz="3000" dirty="0"/>
          </a:p>
        </p:txBody>
      </p:sp>
      <p:pic>
        <p:nvPicPr>
          <p:cNvPr id="4" name="Image 0" descr="Four bars stacked top to bottom, joined by arrows: 1 · import three files; 2 · decide each requirement; 3 · read the trace audit; 4 · preview and expor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→ Needs: subject the enterprise, stakeholder, frame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Requirements: subject, constraint, metadata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→ derivations; capabilities wait for Week 10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system requirement: decide the subject now (a placeholder if needed)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requirements modeled this week are what Weeks 10 to 13 connect to: functions, design elements, verification cases and analyses.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where requirements go next</a:t>
            </a:r>
            <a:endParaRPr lang="en-US" sz="3000" dirty="0"/>
          </a:p>
        </p:txBody>
      </p:sp>
      <p:pic>
        <p:nvPicPr>
          <p:cNvPr id="4" name="Image 0" descr="Four bars stacked top to bottom, joined by arrows: Week 10: functions; Week 11: satisfy; Week 12: verify; Week 13: analysi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10: functions and capabilities; the capability parents linked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11: physical elements; the first defensible satisfy claims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12: verification cases that verify requirements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13: analysis cases that evaluate constraints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L9 deliverables: three files, one upload (course convention).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L9: model v0.2 of your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Week 10, Session 1, on the LMS; your own enterprise, never AeroLink</a:t>
            </a:r>
            <a:endParaRPr lang="en-US" sz="1600" dirty="0"/>
          </a:p>
        </p:txBody>
      </p:sp>
      <p:pic>
        <p:nvPicPr>
          <p:cNvPr id="5" name="Image 0" descr="Four bars stacked top to bottom: team-NN-model-v02.sysml; team-NN-trace-matrix.md; team-NN-checker-log.txt; one upload, before Week 1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9965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enterprise, never AeroLink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files: team-NN-model-v02.sysml, team-NN-trace-matrix.md, team-NN-checker-log.txt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checker errors; every warning explained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feedback before Week 10, Session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class: one need, its stakeholder requirement and one system requirement, with subject, constraint and both derivations, previewed in the lab tool.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work: model one chain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minutes, in teams, in the Week 9 lab tool</a:t>
            </a:r>
            <a:endParaRPr lang="en-US" sz="1600" dirty="0"/>
          </a:p>
        </p:txBody>
      </p:sp>
      <p:pic>
        <p:nvPicPr>
          <p:cNvPr id="5" name="Image 0" descr="Three cards stacked, joined by two arrows: need, stakeholder, frame; stakeholder req., enterprise subject; system requirement, element subject (drawn strong). Beside them three tags: 3 min import, 5 min, 4 mi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8622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Week 8 model and your Week 1 and Week 2 exports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need with a stakeholder requirement and a system requirement under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both requirements: subject, feature, comparison, limit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find your two derivations in the text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checkpoint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team: the system requirement’s subject, its constraint, one derivation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the system requirement’s subject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its required constraint, read aloud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one derivation: which end is the parent?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one fix to make before day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seven-day plan for Lab L9, with the lead role for each task (course convention).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the next seven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Q9 and the applied exercise open today. Log your hours.</a:t>
            </a:r>
            <a:endParaRPr lang="en-US" sz="1600" dirty="0"/>
          </a:p>
        </p:txBody>
      </p:sp>
      <p:pic>
        <p:nvPicPr>
          <p:cNvPr id="5" name="Image 0" descr="A plan of days 1 to 7, one bar per task across the days it takes: checkpoint fix, day 1; needs and frames, days 1 to 2; stakeholder reqs, days 2 to 3; system reqs, subjects, days 2 to 4; derivations, metadata, days 3 to 4; AI review and log, day 5; checker and audit, day 6; upload, day 7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3063"/>
            <a:ext cx="11094415" cy="41824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· SEBoK v2.14 (2026), “System Requirements Definition”, p.557–558, 564, 566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R48b · OUSD(R&amp;E) Systems Engineering Guidebook (2021/2022), “Requirements Analysis Process”, p.144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 · Seidewitz, Intro to the SysML v2 Language: Textual Notation (Release 2026-08), “Requirement Definitions”, sl.86–91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· OMG SysML v2.1 Beta 2, Part 1 (Release 2026-07), “7.21 Requirements”, p.161–162, 165–168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· OMG SysML v2.1 Beta 2, Part 1 (Release 2026-07), “7.23 Analysis Cases”, p.175–176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R114 · OMG SysML v2.1 Beta 2, Part 1 (Release 2026-07), “9.3.2 Modeling Metadata”, p.555–557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R115 · OMG SysML v2.1 Beta 2, Part 1 (Release 2026-07), “9.6 Requirement Derivation Domain Library”, p.580–583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OUSD(R&amp;E) Systems Engineering Guidebook: Distribution Statement A. Approved for public release. Distribution is unlimited.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9, Session 2: Needs / Requirements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2026-10-29T03:16:57Z</dcterms:created>
  <dcterms:modified xsi:type="dcterms:W3CDTF">2026-10-29T03:16:57Z</dcterms:modified>
</cp:coreProperties>
</file>