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CTUR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E8C"/>
          </a:solidFill>
          <a:ln/>
        </p:spPr>
      </p:sp>
      <p:sp>
        <p:nvSpPr>
          <p:cNvPr id="3" name="Shape 1"/>
          <p:cNvSpPr/>
          <p:nvPr/>
        </p:nvSpPr>
        <p:spPr>
          <a:xfrm>
            <a:off x="548640" y="1097280"/>
            <a:ext cx="11094415" cy="0"/>
          </a:xfrm>
          <a:prstGeom prst="line">
            <a:avLst/>
          </a:prstGeom>
          <a:noFill/>
          <a:ln w="31750">
            <a:solidFill>
              <a:srgbClr val="0F6E8C"/>
            </a:solidFill>
            <a:prstDash val="solid"/>
          </a:ln>
        </p:spPr>
      </p:sp>
      <p:sp>
        <p:nvSpPr>
          <p:cNvPr id="4" name="Shape 2"/>
          <p:cNvSpPr/>
          <p:nvPr/>
        </p:nvSpPr>
        <p:spPr>
          <a:xfrm>
            <a:off x="548640" y="6355080"/>
            <a:ext cx="11094415" cy="0"/>
          </a:xfrm>
          <a:prstGeom prst="line">
            <a:avLst/>
          </a:prstGeom>
          <a:noFill/>
          <a:ln w="9525">
            <a:solidFill>
              <a:srgbClr val="D3D9E1"/>
            </a:solidFill>
            <a:prstDash val="solid"/>
          </a:ln>
        </p:spPr>
      </p:sp>
      <p:sp>
        <p:nvSpPr>
          <p:cNvPr id="5" name="Text 3"/>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6" name="Text 4"/>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8 · Session 2</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6E8C"/>
          </a:solidFill>
          <a:ln/>
        </p:spPr>
      </p:sp>
      <p:sp>
        <p:nvSpPr>
          <p:cNvPr id="3" name="Shape 1"/>
          <p:cNvSpPr/>
          <p:nvPr/>
        </p:nvSpPr>
        <p:spPr>
          <a:xfrm>
            <a:off x="548640" y="6355080"/>
            <a:ext cx="11094415" cy="0"/>
          </a:xfrm>
          <a:prstGeom prst="line">
            <a:avLst/>
          </a:prstGeom>
          <a:noFill/>
          <a:ln w="9525">
            <a:solidFill>
              <a:srgbClr val="D3D9E1"/>
            </a:solidFill>
            <a:prstDash val="solid"/>
          </a:ln>
        </p:spPr>
      </p:sp>
      <p:sp>
        <p:nvSpPr>
          <p:cNvPr id="4" name="Text 2"/>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5" name="Text 3"/>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8 · Session 2</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An unseen listing: a branch library and its rooms. Checked with the course-designated checker (PASS).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R70 sl.10–11; R80 p.64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Warm-up: read this listing</a:t>
            </a:r>
            <a:endParaRPr lang="en-US" sz="3000" dirty="0"/>
          </a:p>
        </p:txBody>
      </p:sp>
      <p:sp>
        <p:nvSpPr>
          <p:cNvPr id="4" name="Text 2"/>
          <p:cNvSpPr/>
          <p:nvPr/>
        </p:nvSpPr>
        <p:spPr>
          <a:xfrm>
            <a:off x="548640" y="1133856"/>
            <a:ext cx="11094415" cy="320040"/>
          </a:xfrm>
          <a:prstGeom prst="rect">
            <a:avLst/>
          </a:prstGeom>
          <a:noFill/>
          <a:ln/>
        </p:spPr>
        <p:txBody>
          <a:bodyPr wrap="square" lIns="0" tIns="0" rIns="0" bIns="0" rtlCol="0" anchor="ctr"/>
          <a:lstStyle/>
          <a:p>
            <a:pPr indent="0" marL="0">
              <a:buNone/>
            </a:pPr>
            <a:r>
              <a:rPr lang="en-US" sz="1600" dirty="0">
                <a:solidFill>
                  <a:srgbClr val="566071"/>
                </a:solidFill>
                <a:latin typeface="Calibri" pitchFamily="34" charset="0"/>
                <a:ea typeface="Calibri" pitchFamily="34" charset="-122"/>
                <a:cs typeface="Calibri" pitchFamily="34" charset="-120"/>
              </a:rPr>
              <a:t>Session 2: Packages, the toolchain, the import, stakeholders and concerns</a:t>
            </a:r>
            <a:endParaRPr lang="en-US" sz="1600" dirty="0"/>
          </a:p>
        </p:txBody>
      </p:sp>
      <p:pic>
        <p:nvPicPr>
          <p:cNvPr id="5" name="Image 0" descr="Listing (file sysml/lectures/week08/warmup_library_rooms.sysml, checked: PASS): package LibraryBranch {     abstract part def Room;     part def StudyRoom :&gt; Room;     part def Library {         part rooms : Room[1..*];         part studyRooms : StudyRoom[4] subsets rooms;     } }">    </p:cNvPr>
          <p:cNvPicPr>
            <a:picLocks noChangeAspect="1"/>
          </p:cNvPicPr>
          <p:nvPr/>
        </p:nvPicPr>
        <p:blipFill>
          <a:blip r:embed="rId1"/>
          <a:stretch>
            <a:fillRect/>
          </a:stretch>
        </p:blipFill>
        <p:spPr>
          <a:xfrm>
            <a:off x="548640" y="2217967"/>
            <a:ext cx="6379289" cy="2809925"/>
          </a:xfrm>
          <a:prstGeom prst="rect">
            <a:avLst/>
          </a:prstGeom>
        </p:spPr>
      </p:pic>
      <p:sp>
        <p:nvSpPr>
          <p:cNvPr id="6" name="Text 3"/>
          <p:cNvSpPr/>
          <p:nvPr/>
        </p:nvSpPr>
        <p:spPr>
          <a:xfrm>
            <a:off x="7293689" y="1554480"/>
            <a:ext cx="4349366" cy="159613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Which line is a specialization?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Which line is a subsetting?</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At least how many rooms does a library have?</a:t>
            </a:r>
            <a:endParaRPr lang="en-US" sz="2000" dirty="0"/>
          </a:p>
        </p:txBody>
      </p:sp>
      <p:sp>
        <p:nvSpPr>
          <p:cNvPr id="7" name="Shape 4"/>
          <p:cNvSpPr/>
          <p:nvPr/>
        </p:nvSpPr>
        <p:spPr>
          <a:xfrm>
            <a:off x="7293689" y="3315208"/>
            <a:ext cx="4349366" cy="1583944"/>
          </a:xfrm>
          <a:prstGeom prst="roundRect">
            <a:avLst>
              <a:gd name="adj" fmla="val 3464"/>
            </a:avLst>
          </a:prstGeom>
          <a:solidFill>
            <a:srgbClr val="E1EFF4"/>
          </a:solidFill>
          <a:ln w="12700">
            <a:solidFill>
              <a:srgbClr val="0F6E8C"/>
            </a:solidFill>
            <a:prstDash val="solid"/>
          </a:ln>
        </p:spPr>
      </p:sp>
      <p:sp>
        <p:nvSpPr>
          <p:cNvPr id="8" name="Text 5"/>
          <p:cNvSpPr/>
          <p:nvPr/>
        </p:nvSpPr>
        <p:spPr>
          <a:xfrm>
            <a:off x="7430849" y="3315208"/>
            <a:ext cx="4075046" cy="1583944"/>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ANSWERS</a:t>
            </a:r>
            <a:endParaRPr lang="en-US" sz="1200" dirty="0"/>
          </a:p>
          <a:p>
            <a:pPr indent="0" marL="0">
              <a:buNone/>
            </a:pPr>
            <a:r>
              <a:rPr lang="en-US" sz="1700" dirty="0">
                <a:solidFill>
                  <a:srgbClr val="18202D"/>
                </a:solidFill>
                <a:latin typeface="Consolas" pitchFamily="34" charset="0"/>
                <a:ea typeface="Consolas" pitchFamily="34" charset="-122"/>
                <a:cs typeface="Consolas" pitchFamily="34" charset="-120"/>
              </a:rPr>
              <a:t>StudyRoom :&gt; Room</a:t>
            </a:r>
            <a:pPr indent="0" marL="0">
              <a:buNone/>
            </a:pPr>
            <a:r>
              <a:rPr lang="en-US" sz="1700" dirty="0">
                <a:solidFill>
                  <a:srgbClr val="18202D"/>
                </a:solidFill>
                <a:latin typeface="Calibri" pitchFamily="34" charset="0"/>
                <a:ea typeface="Calibri" pitchFamily="34" charset="-122"/>
                <a:cs typeface="Calibri" pitchFamily="34" charset="-120"/>
              </a:rPr>
              <a:t> specializes; </a:t>
            </a:r>
            <a:pPr indent="0" marL="0">
              <a:buNone/>
            </a:pPr>
            <a:r>
              <a:rPr lang="en-US" sz="1700" dirty="0">
                <a:solidFill>
                  <a:srgbClr val="18202D"/>
                </a:solidFill>
                <a:latin typeface="Consolas" pitchFamily="34" charset="0"/>
                <a:ea typeface="Consolas" pitchFamily="34" charset="-122"/>
                <a:cs typeface="Consolas" pitchFamily="34" charset="-120"/>
              </a:rPr>
              <a:t>studyRooms … subsets rooms</a:t>
            </a:r>
            <a:pPr indent="0" marL="0">
              <a:buNone/>
            </a:pPr>
            <a:r>
              <a:rPr lang="en-US" sz="1700" dirty="0">
                <a:solidFill>
                  <a:srgbClr val="18202D"/>
                </a:solidFill>
                <a:latin typeface="Calibri" pitchFamily="34" charset="0"/>
                <a:ea typeface="Calibri" pitchFamily="34" charset="-122"/>
                <a:cs typeface="Calibri" pitchFamily="34" charset="-120"/>
              </a:rPr>
              <a:t>; at least four rooms, because the four study rooms are among the rooms.</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model organized in packages; a qualified name is the path of names from a package to a member.</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p.47; R80 p.56; R70 sl.5; R70 sl.9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Packages, namespaces and qualified names</a:t>
            </a:r>
            <a:endParaRPr lang="en-US" sz="3000" dirty="0"/>
          </a:p>
        </p:txBody>
      </p:sp>
      <p:pic>
        <p:nvPicPr>
          <p:cNvPr id="4" name="Image 0" descr="A nested package tree drawn as folder tabs. The outer package is labeled 'AeroLink Model v0.1'. Inside it, side by side, two packages: Context and Stakeholders. Inside Context: a box 'ENT-001 AeroLink Urban Mobility' and a box 'part context'. Inside Stakeholders: three boxes, 'STK-005 Vertiport operators', 'CON-006 Pad throughput and charging capacity' and 'REL-002'. A thick highlighted path runs from the outer package through Stakeholders to the STK-005 box; along it the text Stakeholders::'STK-005'. A second, thin path runs from Context to 'part context' with the text Context::context. Footnote under the tree: each package is a namespace for its members and a container for its owned members.">    </p:cNvPr>
          <p:cNvPicPr>
            <a:picLocks noChangeAspect="1"/>
          </p:cNvPicPr>
          <p:nvPr/>
        </p:nvPicPr>
        <p:blipFill>
          <a:blip r:embed="rId1"/>
          <a:stretch>
            <a:fillRect/>
          </a:stretch>
        </p:blipFill>
        <p:spPr>
          <a:xfrm>
            <a:off x="657226" y="1280160"/>
            <a:ext cx="6162116" cy="4411218"/>
          </a:xfrm>
          <a:prstGeom prst="rect">
            <a:avLst/>
          </a:prstGeom>
        </p:spPr>
      </p:pic>
      <p:sp>
        <p:nvSpPr>
          <p:cNvPr id="5" name="Text 2"/>
          <p:cNvSpPr/>
          <p:nvPr/>
        </p:nvSpPr>
        <p:spPr>
          <a:xfrm>
            <a:off x="7293689" y="1280160"/>
            <a:ext cx="4349366" cy="36200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namespace contains elements and names them</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package is a namespace used only to organize the model</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Qualified name: names joined by </a:t>
            </a:r>
            <a:pPr indent="0" marL="0">
              <a:buNone/>
            </a:pPr>
            <a:r>
              <a:rPr lang="en-US" sz="2000" dirty="0">
                <a:solidFill>
                  <a:srgbClr val="18202D"/>
                </a:solidFill>
                <a:latin typeface="Consolas" pitchFamily="34" charset="0"/>
                <a:ea typeface="Consolas" pitchFamily="34" charset="-122"/>
                <a:cs typeface="Consolas" pitchFamily="34" charset="-120"/>
              </a:rPr>
              <a: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Definitions and usages are namespaces too</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name with spaces or special characters is quoted</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AeroLink reference model’s root package imports the quantity, unit and scalar-value libraries privately, drawn in the graphical notation. Checked (PASS).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R70 sl.5–6; R80 p.60–61; R80 p.63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Imports and visibility</a:t>
            </a:r>
            <a:endParaRPr lang="en-US" sz="3000" dirty="0"/>
          </a:p>
        </p:txBody>
      </p:sp>
      <p:pic>
        <p:nvPicPr>
          <p:cNvPr id="4" name="Image 0" descr="Left, a package folder named 'AeroLink Reference Model', the root package. Three dashed arrows with open arrowheads run from it to three library package folders on the right, ISQ, SI and ScalarValues, each arrow labeled «private import»*. A note: every member of each library becomes usable by its short name; nothing is re-exported. Below, a key to the import label: «private import», one element, by its name; «private import»*, the members of a package; «private import»**, the members, recursively.">    </p:cNvPr>
          <p:cNvPicPr>
            <a:picLocks noChangeAspect="1"/>
          </p:cNvPicPr>
          <p:nvPr/>
        </p:nvPicPr>
        <p:blipFill>
          <a:blip r:embed="rId1"/>
          <a:stretch>
            <a:fillRect/>
          </a:stretch>
        </p:blipFill>
        <p:spPr>
          <a:xfrm>
            <a:off x="602347" y="1280160"/>
            <a:ext cx="6271874" cy="4411218"/>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onsolas" pitchFamily="34" charset="0"/>
                <a:ea typeface="Consolas" pitchFamily="34" charset="-122"/>
                <a:cs typeface="Consolas" pitchFamily="34" charset="-120"/>
              </a:rPr>
              <a:t>::*</a:t>
            </a:r>
            <a:pPr indent="0" marL="0">
              <a:buNone/>
            </a:pPr>
            <a:r>
              <a:rPr lang="en-US" sz="2000" dirty="0">
                <a:solidFill>
                  <a:srgbClr val="18202D"/>
                </a:solidFill>
                <a:latin typeface="Calibri" pitchFamily="34" charset="0"/>
                <a:ea typeface="Calibri" pitchFamily="34" charset="-122"/>
                <a:cs typeface="Calibri" pitchFamily="34" charset="-120"/>
              </a:rPr>
              <a:t> imports all members; </a:t>
            </a:r>
            <a:pPr indent="0" marL="0">
              <a:buNone/>
            </a:pPr>
            <a:r>
              <a:rPr lang="en-US" sz="2000" dirty="0">
                <a:solidFill>
                  <a:srgbClr val="18202D"/>
                </a:solidFill>
                <a:latin typeface="Consolas" pitchFamily="34" charset="0"/>
                <a:ea typeface="Consolas" pitchFamily="34" charset="-122"/>
                <a:cs typeface="Consolas" pitchFamily="34" charset="-120"/>
              </a:rPr>
              <a:t>::**</a:t>
            </a:r>
            <a:pPr indent="0" marL="0">
              <a:buNone/>
            </a:pPr>
            <a:r>
              <a:rPr lang="en-US" sz="2000" dirty="0">
                <a:solidFill>
                  <a:srgbClr val="18202D"/>
                </a:solidFill>
                <a:latin typeface="Calibri" pitchFamily="34" charset="0"/>
                <a:ea typeface="Calibri" pitchFamily="34" charset="-122"/>
                <a:cs typeface="Calibri" pitchFamily="34" charset="-120"/>
              </a:rPr>
              <a:t> imports recursively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Show visibility on every import; private unless re-export is needed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An import owned by a root namespace must be private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Recorded result: an import without visibility fails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One AeroLink stakeholder declaration taken apart: keyword, short name (the Phase I ID) and name; the same element as a box; a reference by short name; and the recorded failure of an unquoted ID from the intentionally invalid tool-proof file. Checked (PASS; the invalid file FAIL, as intended).</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p.49–50; R90 sl.22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Names and short names: carrying the Phase I IDs</a:t>
            </a:r>
            <a:endParaRPr lang="en-US" sz="3000" dirty="0"/>
          </a:p>
        </p:txBody>
      </p:sp>
      <p:pic>
        <p:nvPicPr>
          <p:cNvPr id="4" name="Image 0" descr="At the top, the declaration part def &lt;'STK-005'&gt; 'Vertiport operators' { in a code strip, with three brackets under it: keyword; short name: the Phase I ID; name: the register wording. A line explains: quoted: the ID has a hyphen, the name a space. Below, the same element in the graphical notation: a square-cornered box «part def» &lt;'STK-005'&gt; 'Vertiport operators'. Bottom left, a card: a reference uses the short name: Stakeholders::'STK-005'. Bottom right, a warning card: intentionally invalid (recorded FAIL): &lt;EXT-001&gt; unquoted, FAIL at the hyphen, 9:12.">    </p:cNvPr>
          <p:cNvPicPr>
            <a:picLocks noChangeAspect="1"/>
          </p:cNvPicPr>
          <p:nvPr/>
        </p:nvPicPr>
        <p:blipFill>
          <a:blip r:embed="rId1"/>
          <a:stretch>
            <a:fillRect/>
          </a:stretch>
        </p:blipFill>
        <p:spPr>
          <a:xfrm>
            <a:off x="770857" y="1280160"/>
            <a:ext cx="5934856" cy="4248531"/>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tool keeps the element ID; the text cannot write 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Declaration order: short name in </a:t>
            </a:r>
            <a:pPr indent="0" marL="0">
              <a:buNone/>
            </a:pPr>
            <a:r>
              <a:rPr lang="en-US" sz="2000" dirty="0">
                <a:solidFill>
                  <a:srgbClr val="18202D"/>
                </a:solidFill>
                <a:latin typeface="Consolas" pitchFamily="34" charset="0"/>
                <a:ea typeface="Consolas" pitchFamily="34" charset="-122"/>
                <a:cs typeface="Consolas" pitchFamily="34" charset="-120"/>
              </a:rPr>
              <a:t>&lt; &gt;</a:t>
            </a:r>
            <a:pPr indent="0" marL="0">
              <a:buNone/>
            </a:pPr>
            <a:r>
              <a:rPr lang="en-US" sz="2000" dirty="0">
                <a:solidFill>
                  <a:srgbClr val="18202D"/>
                </a:solidFill>
                <a:latin typeface="Calibri" pitchFamily="34" charset="0"/>
                <a:ea typeface="Calibri" pitchFamily="34" charset="-122"/>
                <a:cs typeface="Calibri" pitchFamily="34" charset="-120"/>
              </a:rPr>
              <a:t>, then name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Basic names: letters, digits, underscore; others quoted</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Course convention:</a:t>
            </a:r>
            <a:pPr indent="0" marL="0">
              <a:buNone/>
            </a:pPr>
            <a:r>
              <a:rPr lang="en-US" sz="2000" dirty="0">
                <a:solidFill>
                  <a:srgbClr val="18202D"/>
                </a:solidFill>
                <a:latin typeface="Calibri" pitchFamily="34" charset="0"/>
                <a:ea typeface="Calibri" pitchFamily="34" charset="-122"/>
                <a:cs typeface="Calibri" pitchFamily="34" charset="-120"/>
              </a:rPr>
              <a:t> each Phase I ID is a quoted short name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training deck’s comment, documentation and note examples (slides 7–8) as a diagram: the comment and the doc are in the model; the note is text only. Checked (PASS).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R70 sl.7–8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Comments, documentation and notes</a:t>
            </a:r>
            <a:endParaRPr lang="en-US" sz="3000" dirty="0"/>
          </a:p>
        </p:txBody>
      </p:sp>
      <p:pic>
        <p:nvPicPr>
          <p:cNvPr id="4" name="Image 0" descr="Two package folders side by side. Left, 'Comment Example': a square-cornered box «part def» Automobile joined by a dashed line to a comment note with a folded corner: This is an unnamed comment, annotating an explicitly specified element; labeled comment about Automobile: in the model. Right, 'Documentation Example': a box «part def» Automobile with a doc compartment: This is documentation of Automobile; labeled doc: owned by the element it documents. Below both, a dashed, greyed strip with the two note lines // This is a note. It is in the text, // but not part of the model, labeled note: text only, not in the model.">    </p:cNvPr>
          <p:cNvPicPr>
            <a:picLocks noChangeAspect="1"/>
          </p:cNvPicPr>
          <p:nvPr/>
        </p:nvPicPr>
        <p:blipFill>
          <a:blip r:embed="rId1"/>
          <a:stretch>
            <a:fillRect/>
          </a:stretch>
        </p:blipFill>
        <p:spPr>
          <a:xfrm>
            <a:off x="548640" y="1410307"/>
            <a:ext cx="6379289" cy="3988237"/>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onsolas" pitchFamily="34" charset="0"/>
                <a:ea typeface="Consolas" pitchFamily="34" charset="-122"/>
                <a:cs typeface="Consolas" pitchFamily="34" charset="-120"/>
              </a:rPr>
              <a:t>/* … */</a:t>
            </a:r>
            <a:pPr indent="0" marL="0">
              <a:buNone/>
            </a:pPr>
            <a:r>
              <a:rPr lang="en-US" sz="2000" dirty="0">
                <a:solidFill>
                  <a:srgbClr val="18202D"/>
                </a:solidFill>
                <a:latin typeface="Calibri" pitchFamily="34" charset="0"/>
                <a:ea typeface="Calibri" pitchFamily="34" charset="-122"/>
                <a:cs typeface="Calibri" pitchFamily="34" charset="-120"/>
              </a:rPr>
              <a:t> comment: part of the model</a:t>
            </a:r>
            <a:endParaRPr lang="en-US" sz="2000" dirty="0"/>
          </a:p>
          <a:p>
            <a:pPr marL="228600" indent="-228600">
              <a:spcBef>
                <a:spcPts val="600"/>
              </a:spcBef>
              <a:buSzPct val="100000"/>
              <a:buChar char="■"/>
            </a:pPr>
            <a:r>
              <a:rPr lang="en-US" sz="2000" dirty="0">
                <a:solidFill>
                  <a:srgbClr val="18202D"/>
                </a:solidFill>
                <a:latin typeface="Consolas" pitchFamily="34" charset="0"/>
                <a:ea typeface="Consolas" pitchFamily="34" charset="-122"/>
                <a:cs typeface="Consolas" pitchFamily="34" charset="-120"/>
              </a:rPr>
              <a:t>// …</a:t>
            </a:r>
            <a:pPr indent="0" marL="0">
              <a:buNone/>
            </a:pPr>
            <a:r>
              <a:rPr lang="en-US" sz="2000" dirty="0">
                <a:solidFill>
                  <a:srgbClr val="18202D"/>
                </a:solidFill>
                <a:latin typeface="Calibri" pitchFamily="34" charset="0"/>
                <a:ea typeface="Calibri" pitchFamily="34" charset="-122"/>
                <a:cs typeface="Calibri" pitchFamily="34" charset="-120"/>
              </a:rPr>
              <a:t> note: in the text, not in the model</a:t>
            </a:r>
            <a:endParaRPr lang="en-US" sz="2000" dirty="0"/>
          </a:p>
          <a:p>
            <a:pPr marL="228600" indent="-228600">
              <a:spcBef>
                <a:spcPts val="600"/>
              </a:spcBef>
              <a:buSzPct val="100000"/>
              <a:buChar char="■"/>
            </a:pPr>
            <a:r>
              <a:rPr lang="en-US" sz="2000" dirty="0">
                <a:solidFill>
                  <a:srgbClr val="18202D"/>
                </a:solidFill>
                <a:latin typeface="Consolas" pitchFamily="34" charset="0"/>
                <a:ea typeface="Consolas" pitchFamily="34" charset="-122"/>
                <a:cs typeface="Consolas" pitchFamily="34" charset="-120"/>
              </a:rPr>
              <a:t>doc /* … */</a:t>
            </a:r>
            <a:pPr indent="0" marL="0">
              <a:buNone/>
            </a:pPr>
            <a:r>
              <a:rPr lang="en-US" sz="2000" dirty="0">
                <a:solidFill>
                  <a:srgbClr val="18202D"/>
                </a:solidFill>
                <a:latin typeface="Calibri" pitchFamily="34" charset="0"/>
                <a:ea typeface="Calibri" pitchFamily="34" charset="-122"/>
                <a:cs typeface="Calibri" pitchFamily="34" charset="-120"/>
              </a:rPr>
              <a:t>: owned by the element it documents</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Course convention:</a:t>
            </a:r>
            <a:pPr indent="0" marL="0">
              <a:buNone/>
            </a:pPr>
            <a:r>
              <a:rPr lang="en-US" sz="2000" dirty="0">
                <a:solidFill>
                  <a:srgbClr val="18202D"/>
                </a:solidFill>
                <a:latin typeface="Calibri" pitchFamily="34" charset="0"/>
                <a:ea typeface="Calibri" pitchFamily="34" charset="-122"/>
                <a:cs typeface="Calibri" pitchFamily="34" charset="-120"/>
              </a:rPr>
              <a:t> register text with no modeled attribute goes into </a:t>
            </a:r>
            <a:pPr indent="0" marL="0">
              <a:buNone/>
            </a:pPr>
            <a:r>
              <a:rPr lang="en-US" sz="2000" dirty="0">
                <a:solidFill>
                  <a:srgbClr val="18202D"/>
                </a:solidFill>
                <a:latin typeface="Consolas" pitchFamily="34" charset="0"/>
                <a:ea typeface="Consolas" pitchFamily="34" charset="-122"/>
                <a:cs typeface="Consolas" pitchFamily="34" charset="-120"/>
              </a:rPr>
              <a:t>doc</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course toolchain (course convention): text in, checker decides validity, views and the Phase I export tool support the work.</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course toolchain</a:t>
            </a:r>
            <a:endParaRPr lang="en-US" sz="3000" dirty="0"/>
          </a:p>
        </p:txBody>
      </p:sp>
      <p:sp>
        <p:nvSpPr>
          <p:cNvPr id="4" name="Text 2"/>
          <p:cNvSpPr/>
          <p:nvPr/>
        </p:nvSpPr>
        <p:spPr>
          <a:xfrm>
            <a:off x="548640" y="1133856"/>
            <a:ext cx="11094415" cy="320040"/>
          </a:xfrm>
          <a:prstGeom prst="rect">
            <a:avLst/>
          </a:prstGeom>
          <a:noFill/>
          <a:ln/>
        </p:spPr>
        <p:txBody>
          <a:bodyPr wrap="square" lIns="0" tIns="0" rIns="0" bIns="0" rtlCol="0" anchor="ctr"/>
          <a:lstStyle/>
          <a:p>
            <a:pPr indent="0" marL="0">
              <a:buNone/>
            </a:pPr>
            <a:r>
              <a:rPr lang="en-US" sz="1600" dirty="0">
                <a:solidFill>
                  <a:srgbClr val="566071"/>
                </a:solidFill>
                <a:latin typeface="Calibri" pitchFamily="34" charset="0"/>
                <a:ea typeface="Calibri" pitchFamily="34" charset="-122"/>
                <a:cs typeface="Calibri" pitchFamily="34" charset="-120"/>
              </a:rPr>
              <a:t>What you type into, and what decides if it is valid</a:t>
            </a:r>
            <a:endParaRPr lang="en-US" sz="1600" dirty="0"/>
          </a:p>
        </p:txBody>
      </p:sp>
      <p:pic>
        <p:nvPicPr>
          <p:cNvPr id="5" name="Image 0" descr="On the left, a top-to-bottom flow of four boxes joined by arrows. Box 1: 'Editor or SysML notebook (textual notation)'. Arrow labeled 'save' to box 2: 'team-NN-model-v01.sysml (one file per version)'. Arrow labeled 'check' to box 3, drawn bold: 'Course-designated checker: OMG SysML v2 Pilot Implementation, release 2026-08 (pilot of the 2.1 Beta 2 texts)'. Arrow to box 4: 'Log: PASS or FAIL, with ERROR and WARNING lines'. On the right, a column of three boxes: at the top a dashed box 'Eclipse SysON (optional, graphical editing)' with a dashed arrow into box 2; below it box 5 'Phase I export tool (in this app): import your Phase I exports, mapping table, findings, preview, export .sysml' with an arrow into box 2 labeled 'generates the first draft'; below that box 6 'AeroLink engineering model page (instructor example)'. A footnote: grades follow the instructor's checker run.">    </p:cNvPr>
          <p:cNvPicPr>
            <a:picLocks noChangeAspect="1"/>
          </p:cNvPicPr>
          <p:nvPr/>
        </p:nvPicPr>
        <p:blipFill>
          <a:blip r:embed="rId1"/>
          <a:stretch>
            <a:fillRect/>
          </a:stretch>
        </p:blipFill>
        <p:spPr>
          <a:xfrm>
            <a:off x="548640" y="1710154"/>
            <a:ext cx="6379289" cy="3988237"/>
          </a:xfrm>
          <a:prstGeom prst="rect">
            <a:avLst/>
          </a:prstGeom>
        </p:spPr>
      </p:pic>
      <p:sp>
        <p:nvSpPr>
          <p:cNvPr id="6" name="Text 3"/>
          <p:cNvSpPr/>
          <p:nvPr/>
        </p:nvSpPr>
        <p:spPr>
          <a:xfrm>
            <a:off x="7293689" y="155448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Write the textual notation; one file per model version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course-designated checker decides validity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Phase I export tool imports your record and drafts the skeleton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Graphical editing (SysON) is optional, never graded</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Two columns: what the checker decides, and what only the team can decide.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R33b p.295–296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the checker decides, and what it cannot</a:t>
            </a:r>
            <a:endParaRPr lang="en-US" sz="3000" dirty="0"/>
          </a:p>
        </p:txBody>
      </p:sp>
      <p:pic>
        <p:nvPicPr>
          <p:cNvPr id="4" name="Image 0" descr="Two columns under one heading 'One file, two judgments'. Left column, headed with a gear icon 'The checker decides': three rows, 'Syntax: does the text parse?', 'Names: does every name resolve, in the file and the standard library?', 'Rules: does any validation rule fire? ERROR fails the file; WARNING does not'. Right column, headed with a person icon 'You decide': four rows, 'Meaning: is it the right construct (definition or usage, composite or referential)?', 'Completeness: is every register item there?', 'Fidelity: does each doc say what the register says?', 'Purpose: does the model serve the decisions it is for?'. At the bottom, across both columns, a strip: 'Session 1, item 3: an attribute definition owning a part — PASS, no message'.">    </p:cNvPr>
          <p:cNvPicPr>
            <a:picLocks noChangeAspect="1"/>
          </p:cNvPicPr>
          <p:nvPr/>
        </p:nvPicPr>
        <p:blipFill>
          <a:blip r:embed="rId1"/>
          <a:stretch>
            <a:fillRect/>
          </a:stretch>
        </p:blipFill>
        <p:spPr>
          <a:xfrm>
            <a:off x="548640" y="1384239"/>
            <a:ext cx="6379289" cy="4203060"/>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Checker: parses, resolves every name, runs its rules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An ERROR fails the file; a WARNING does not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It cannot judge meaning, completeness, fidelity or purpose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Recall: an attribute definition owning a part passed silently</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Every artifact of the package gets a home in the model; the Week 1 stakeholder register is modeled now, the rest is mapped to the week that models it (course convention). AROU: Assumptions, Risks, Opportunities and Unknowns.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R28 p.374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import is a mapping, not a copy</a:t>
            </a:r>
            <a:endParaRPr lang="en-US" sz="3000" dirty="0"/>
          </a:p>
        </p:txBody>
      </p:sp>
      <p:pic>
        <p:nvPicPr>
          <p:cNvPr id="4" name="Image 0" descr="Left: a document stack titled 'Systems Thinking Engineering Package (Week 7)' listing its parts: Week 1 register (ENT, EXT, PRT, STK, CON, REL, MGO, NEED); Week 2 ConOps and requirements; Week 3 technology, risk, trade study; Week 4 architecture; Week 5 components and interfaces; Week 6 roadmap. Right: a column of package boxes: Context, Stakeholders, Physical, Needs, Requirements, Behavior, Logical, Verification, Analysis, AROU (Assumptions, Risks, Opportunities and Unknowns), Evolution. Solid thick arrows run from the Week 1 register to Context, Stakeholders and Physical, labeled 'modeled now'. Dashed arrows run from the other parts to the other packages, each labeled with the week that models them: Needs and Requirements 'Week 9', Behavior and Logical 'Week 10', Physical components 'Week 11', Verification 'Week 12', Analysis and AROU 'Week 13', the Week 6 roadmap to Evolution 'Week 14'.">    </p:cNvPr>
          <p:cNvPicPr>
            <a:picLocks noChangeAspect="1"/>
          </p:cNvPicPr>
          <p:nvPr/>
        </p:nvPicPr>
        <p:blipFill>
          <a:blip r:embed="rId1"/>
          <a:stretch>
            <a:fillRect/>
          </a:stretch>
        </p:blipFill>
        <p:spPr>
          <a:xfrm>
            <a:off x="770857" y="1280160"/>
            <a:ext cx="5934856" cy="4248531"/>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Every artifact, by ID: a package and a construct, or a reason to wait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 8 models ENT, PRT, EXT, STK, CON, REL; it maps the rest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Nothing retyped from memory: the package is the source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Disagreements found while modeling are recorded, not silently fixed</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artifact-to-model mapping matrix</a:t>
            </a:r>
            <a:endParaRPr lang="en-US" sz="3000" dirty="0"/>
          </a:p>
        </p:txBody>
      </p:sp>
      <p:sp>
        <p:nvSpPr>
          <p:cNvPr id="3" name="Text 1"/>
          <p:cNvSpPr/>
          <p:nvPr/>
        </p:nvSpPr>
        <p:spPr>
          <a:xfrm>
            <a:off x="548640" y="1133856"/>
            <a:ext cx="11094415" cy="320040"/>
          </a:xfrm>
          <a:prstGeom prst="rect">
            <a:avLst/>
          </a:prstGeom>
          <a:noFill/>
          <a:ln/>
        </p:spPr>
        <p:txBody>
          <a:bodyPr wrap="square" lIns="0" tIns="0" rIns="0" bIns="0" rtlCol="0" anchor="ctr"/>
          <a:lstStyle/>
          <a:p>
            <a:pPr indent="0" marL="0">
              <a:buNone/>
            </a:pPr>
            <a:r>
              <a:rPr lang="en-US" sz="1600" dirty="0">
                <a:solidFill>
                  <a:srgbClr val="566071"/>
                </a:solidFill>
                <a:latin typeface="Calibri" pitchFamily="34" charset="0"/>
                <a:ea typeface="Calibri" pitchFamily="34" charset="-122"/>
                <a:cs typeface="Calibri" pitchFamily="34" charset="-120"/>
              </a:rPr>
              <a:t>Course convention: which Phase II week models each Phase I ID kind</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5547208"/>
                <a:gridCol w="5547208"/>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Modeled in</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Phase I ID kinds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Week 8 (modeled now)</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ENT, PRT, EXT, STK, CON, REL</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Week 9</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MGO, NEED, REQ-STK, REQ-SYS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Week 10</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SCN, CAP, FN, LOG</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Week 11</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INFO, PHY, IF</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Week 12</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MOE, MOP, VER, TPM</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Week 13</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TECH, A, U, R, O, ALT, CRIT, DEC</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Week 14</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INC</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696968"/>
            <a:ext cx="11094415" cy="274320"/>
          </a:xfrm>
          <a:prstGeom prst="rect">
            <a:avLst/>
          </a:prstGeom>
          <a:noFill/>
          <a:ln/>
        </p:spPr>
        <p:txBody>
          <a:bodyPr wrap="square" lIns="0" tIns="0" rIns="0" bIns="0" rtlCol="0" anchor="ctr"/>
          <a:lstStyle/>
          <a:p>
            <a:pPr indent="0" marL="0">
              <a:buNone/>
            </a:pPr>
            <a:r>
              <a:rPr lang="en-US" sz="1100" i="1" dirty="0">
                <a:solidFill>
                  <a:srgbClr val="566071"/>
                </a:solidFill>
                <a:latin typeface="Calibri" pitchFamily="34" charset="0"/>
                <a:ea typeface="Calibri" pitchFamily="34" charset="-122"/>
                <a:cs typeface="Calibri" pitchFamily="34" charset="-120"/>
              </a:rPr>
              <a:t>Course mapping (convention)</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Model v0.1: the course packages, with the week that fills each (course convention).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R70 sl.6; R70 sl.8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model’s package structure</a:t>
            </a:r>
            <a:endParaRPr lang="en-US" sz="3000" dirty="0"/>
          </a:p>
        </p:txBody>
      </p:sp>
      <p:pic>
        <p:nvPicPr>
          <p:cNvPr id="4" name="Image 0" descr="A root package box labeled 'Model v0.1' with a header strip 'doc: Purpose — who uses this model, for which decisions'. Inside, 11 package folders: a row of large folders for the packages filled in Week 8, drawn solid and shaded, each with what it holds and the label 'Week 8, modeled now'; below them two rows of smaller folders drawn with dashed outlines, each labeled 'filled in Week N'. Every package, with what it holds: Context (Week 8, modeled now: the enterprise, the external systems and the context part); Stakeholders (Week 8, modeled now: stakeholders, concerns and stakeholder relationships); Needs (Week 9: the mission, goals and needs; capabilities); Requirements (Week 9: stakeholder and system requirements); Behavior (Week 10: use cases for the scenarios; actions and states); Logical (Week 10: functions and logical elements); Physical (Week 8, modeled now: the system of interest and its parts; components, ports and interfaces); Verification (Week 12: verification cases); Analysis (Week 13: technologies, the trade study and its decision); AROU (Week 13: assumptions, risks, opportunities and unknowns); Evolution (Week 14: the roadmap increments).">    </p:cNvPr>
          <p:cNvPicPr>
            <a:picLocks noChangeAspect="1"/>
          </p:cNvPicPr>
          <p:nvPr/>
        </p:nvPicPr>
        <p:blipFill>
          <a:blip r:embed="rId1"/>
          <a:stretch>
            <a:fillRect/>
          </a:stretch>
        </p:blipFill>
        <p:spPr>
          <a:xfrm>
            <a:off x="565761" y="1280160"/>
            <a:ext cx="6345046" cy="4411218"/>
          </a:xfrm>
          <a:prstGeom prst="rect">
            <a:avLst/>
          </a:prstGeom>
        </p:spPr>
      </p:pic>
      <p:sp>
        <p:nvSpPr>
          <p:cNvPr id="5" name="Text 2"/>
          <p:cNvSpPr/>
          <p:nvPr/>
        </p:nvSpPr>
        <p:spPr>
          <a:xfrm>
            <a:off x="7293689" y="1280160"/>
            <a:ext cx="4349366" cy="260807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One root package; the purpose in its </a:t>
            </a:r>
            <a:pPr indent="0" marL="0">
              <a:buNone/>
            </a:pPr>
            <a:r>
              <a:rPr lang="en-US" sz="2000" dirty="0">
                <a:solidFill>
                  <a:srgbClr val="18202D"/>
                </a:solidFill>
                <a:latin typeface="Consolas" pitchFamily="34" charset="0"/>
                <a:ea typeface="Consolas" pitchFamily="34" charset="-122"/>
                <a:cs typeface="Consolas" pitchFamily="34" charset="-120"/>
              </a:rPr>
              <a:t>doc</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11 course packages, mirroring the matrix</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Every empty package says which week fills 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Private imports at the top</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training deck’s concern “system breakdown” (slide 115, adapted) in the graphical notation: the subject first, then two stakeholder parameters typed by part definitions. Checked (PASS).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R77 sl.115; R83 p.166–167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Stakeholders and concerns in SysML v2</a:t>
            </a:r>
            <a:endParaRPr lang="en-US" sz="3000" dirty="0"/>
          </a:p>
        </p:txBody>
      </p:sp>
      <p:pic>
        <p:nvPicPr>
          <p:cNvPr id="4" name="Image 0" descr="Left, a rounded box «concern» 'system breakdown' with two compartments: subject, holding system, marked with badge 1; and stakeholders, holding se : 'Systems Engineer' and ivv : 'IV&amp;V', marked with badge 2. Dashed accent arrows run from the two stakeholder lines to two square-cornered boxes on the right, «part def» 'Systems Engineer' and «part def» 'IV&amp;V'. Notes: 1, the subject comes first, before any stakeholder; 2, stakeholder parameters are part usages, each typed by a part definition.">    </p:cNvPr>
          <p:cNvPicPr>
            <a:picLocks noChangeAspect="1"/>
          </p:cNvPicPr>
          <p:nvPr/>
        </p:nvPicPr>
        <p:blipFill>
          <a:blip r:embed="rId1"/>
          <a:stretch>
            <a:fillRect/>
          </a:stretch>
        </p:blipFill>
        <p:spPr>
          <a:xfrm>
            <a:off x="548640" y="1818042"/>
            <a:ext cx="6379289" cy="3172768"/>
          </a:xfrm>
          <a:prstGeom prst="rect">
            <a:avLst/>
          </a:prstGeom>
        </p:spPr>
      </p:pic>
      <p:sp>
        <p:nvSpPr>
          <p:cNvPr id="5" name="Shape 2"/>
          <p:cNvSpPr/>
          <p:nvPr/>
        </p:nvSpPr>
        <p:spPr>
          <a:xfrm>
            <a:off x="7293689" y="1280160"/>
            <a:ext cx="4349366" cy="2802636"/>
          </a:xfrm>
          <a:prstGeom prst="rect">
            <a:avLst/>
          </a:prstGeom>
          <a:solidFill>
            <a:srgbClr val="E1EFF4"/>
          </a:solidFill>
          <a:ln w="12700">
            <a:solidFill>
              <a:srgbClr val="E1EFF4"/>
            </a:solidFill>
            <a:prstDash val="solid"/>
          </a:ln>
        </p:spPr>
      </p:sp>
      <p:sp>
        <p:nvSpPr>
          <p:cNvPr id="6" name="Shape 3"/>
          <p:cNvSpPr/>
          <p:nvPr/>
        </p:nvSpPr>
        <p:spPr>
          <a:xfrm>
            <a:off x="7293689" y="1280160"/>
            <a:ext cx="73152" cy="2802636"/>
          </a:xfrm>
          <a:prstGeom prst="rect">
            <a:avLst/>
          </a:prstGeom>
          <a:solidFill>
            <a:srgbClr val="0F6E8C"/>
          </a:solidFill>
          <a:ln w="12700">
            <a:solidFill>
              <a:srgbClr val="0F6E8C"/>
            </a:solidFill>
            <a:prstDash val="solid"/>
          </a:ln>
        </p:spPr>
      </p:sp>
      <p:sp>
        <p:nvSpPr>
          <p:cNvPr id="7" name="Text 4"/>
          <p:cNvSpPr/>
          <p:nvPr/>
        </p:nvSpPr>
        <p:spPr>
          <a:xfrm>
            <a:off x="7522289" y="1280160"/>
            <a:ext cx="3983606" cy="2802636"/>
          </a:xfrm>
          <a:prstGeom prst="rect">
            <a:avLst/>
          </a:prstGeom>
          <a:noFill/>
          <a:ln/>
        </p:spPr>
        <p:txBody>
          <a:bodyPr wrap="square" lIns="50800" tIns="50800" rIns="50800" bIns="50800" rtlCol="0" anchor="ctr"/>
          <a:lstStyle/>
          <a:p>
            <a:pPr indent="0" marL="0">
              <a:buNone/>
            </a:pPr>
            <a:r>
              <a:rPr lang="en-US" sz="1300" b="1" spc="100" kern="0" dirty="0">
                <a:solidFill>
                  <a:srgbClr val="18202D"/>
                </a:solidFill>
                <a:latin typeface="Calibri" pitchFamily="34" charset="0"/>
                <a:ea typeface="Calibri" pitchFamily="34" charset="-122"/>
                <a:cs typeface="Calibri" pitchFamily="34" charset="-120"/>
              </a:rPr>
              <a:t>STAKEHOLDER; CONCERN</a:t>
            </a:r>
            <a:endParaRPr lang="en-US" sz="1300" dirty="0"/>
          </a:p>
          <a:p>
            <a:pPr indent="0" marL="0">
              <a:buNone/>
            </a:pPr>
            <a:r>
              <a:rPr lang="en-US" sz="2100" dirty="0">
                <a:solidFill>
                  <a:srgbClr val="18202D"/>
                </a:solidFill>
                <a:latin typeface="Calibri" pitchFamily="34" charset="0"/>
                <a:ea typeface="Calibri" pitchFamily="34" charset="-122"/>
                <a:cs typeface="Calibri" pitchFamily="34" charset="-120"/>
              </a:rPr>
              <a:t>A stakeholder is a person, organization or other entity with concerns to be addressed. A concern is a specific topic that one or more stakeholders desire to be addressed.</a:t>
            </a:r>
            <a:endParaRPr lang="en-US" sz="1300" dirty="0"/>
          </a:p>
          <a:p>
            <a:pPr indent="0" marL="0">
              <a:spcBef>
                <a:spcPts val="600"/>
              </a:spcBef>
              <a:buNone/>
            </a:pPr>
            <a:r>
              <a:rPr lang="en-US" sz="1100" dirty="0">
                <a:solidFill>
                  <a:srgbClr val="0F6E8C"/>
                </a:solidFill>
                <a:latin typeface="Calibri" pitchFamily="34" charset="0"/>
                <a:ea typeface="Calibri" pitchFamily="34" charset="-122"/>
                <a:cs typeface="Calibri" pitchFamily="34" charset="-120"/>
              </a:rPr>
              <a:t>R77 · Seidewitz, Intro to the SysML v2 Language: Textual Notation (Release 2026-08), "Metadata", sl.115</a:t>
            </a:r>
            <a:endParaRPr lang="en-US" sz="1300" dirty="0"/>
          </a:p>
        </p:txBody>
      </p:sp>
      <p:sp>
        <p:nvSpPr>
          <p:cNvPr id="8" name="Text 5"/>
          <p:cNvSpPr/>
          <p:nvPr/>
        </p:nvSpPr>
        <p:spPr>
          <a:xfrm>
            <a:off x="7293689" y="4247388"/>
            <a:ext cx="4349366" cy="780796"/>
          </a:xfrm>
          <a:prstGeom prst="rect">
            <a:avLst/>
          </a:prstGeom>
          <a:noFill/>
          <a:ln/>
        </p:spPr>
        <p:txBody>
          <a:bodyPr wrap="square" lIns="25400" tIns="25400" rIns="25400" bIns="25400" rtlCol="0" anchor="t"/>
          <a:lstStyle/>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Declared like a requirement, keyword </a:t>
            </a:r>
            <a:pPr indent="0" marL="0">
              <a:buNone/>
            </a:pPr>
            <a:r>
              <a:rPr lang="en-US" sz="1900" dirty="0">
                <a:solidFill>
                  <a:srgbClr val="18202D"/>
                </a:solidFill>
                <a:latin typeface="Consolas" pitchFamily="34" charset="0"/>
                <a:ea typeface="Consolas" pitchFamily="34" charset="-122"/>
                <a:cs typeface="Consolas" pitchFamily="34" charset="-120"/>
              </a:rPr>
              <a:t>concern</a:t>
            </a:r>
            <a:endParaRPr lang="en-US" sz="19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From the AeroLink reference model: the need NEED-004 frames the Week 1 concern CON-006, in the graphical notation (the construct Week 9 teaches). Checked (PASS).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R83 p.167; R77 sl.116; R85 p.181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Where concerns go next: framed by needs and viewpoints</a:t>
            </a:r>
            <a:endParaRPr lang="en-US" sz="3000" dirty="0"/>
          </a:p>
        </p:txBody>
      </p:sp>
      <p:pic>
        <p:nvPicPr>
          <p:cNvPr id="4" name="Image 0" descr="At the top, a rounded box «requirement» &lt;'NEED-004'&gt; 'Pads not limited by turnaround' with a subject compartment, enterprise : Context::AeroLinkEnterprise, and a stakeholders compartment, vertiportOperators : Stakeholders::'STK-005'. A solid line with an open arrowhead, labeled «frame», runs down to a rounded, shaded box «concern» &lt;'CON-006'&gt; 'Pad throughput and charging capacity'. A note beside the arrow: satisfying the need includes addressing the concern. At the bottom: Week 9: needs frame your concerns. Week 14: viewpoints do.">    </p:cNvPr>
          <p:cNvPicPr>
            <a:picLocks noChangeAspect="1"/>
          </p:cNvPicPr>
          <p:nvPr/>
        </p:nvPicPr>
        <p:blipFill>
          <a:blip r:embed="rId1"/>
          <a:stretch>
            <a:fillRect/>
          </a:stretch>
        </p:blipFill>
        <p:spPr>
          <a:xfrm>
            <a:off x="561954" y="1280160"/>
            <a:ext cx="6352661" cy="4248531"/>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requirement can </a:t>
            </a:r>
            <a:pPr indent="0" marL="0">
              <a:buNone/>
            </a:pPr>
            <a:r>
              <a:rPr lang="en-US" sz="2000" dirty="0">
                <a:solidFill>
                  <a:srgbClr val="18202D"/>
                </a:solidFill>
                <a:latin typeface="Consolas" pitchFamily="34" charset="0"/>
                <a:ea typeface="Consolas" pitchFamily="34" charset="-122"/>
                <a:cs typeface="Consolas" pitchFamily="34" charset="-120"/>
              </a:rPr>
              <a:t>frame</a:t>
            </a:r>
            <a:pPr indent="0" marL="0">
              <a:buNone/>
            </a:pPr>
            <a:r>
              <a:rPr lang="en-US" sz="2000" dirty="0">
                <a:solidFill>
                  <a:srgbClr val="18202D"/>
                </a:solidFill>
                <a:latin typeface="Calibri" pitchFamily="34" charset="0"/>
                <a:ea typeface="Calibri" pitchFamily="34" charset="-122"/>
                <a:cs typeface="Calibri" pitchFamily="34" charset="-120"/>
              </a:rPr>
              <a:t> a concern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framed concern becomes a required constraint of its container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viewpoint frames the concerns a view must address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 9: needs frame your concerns; Week 14: viewpoints do</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AeroLink context in the generated Week 8 model, in the graphical notation (FICTIONAL): the enterprise ENT-001 as a part definition; the context part, which refers to the system of interest and holds 6 external systems as part usages with their IDs, named as systems. Checked (PASS).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p.64; R70 sl.9; R80 p.48–49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AeroLink worked example I: the context</a:t>
            </a:r>
            <a:endParaRPr lang="en-US" sz="3000" dirty="0"/>
          </a:p>
        </p:txBody>
      </p:sp>
      <p:pic>
        <p:nvPicPr>
          <p:cNvPr id="4" name="Image 0" descr="At the top, a square-cornered box «part def» &lt;'ENT-001'&gt; 'AeroLink Urban Mobility', labeled the enterprise: a part definition in the package Context. Below, a large rounded box «part» context. In its middle, a shaded rounded box «ref part» systemOfInterest :&gt; Physical::soi, labeled ref: refers to the system owned in Physical. Around it, 6 rounded boxes, labeled external systems: part usages, each with its Phase I ID: «part» &lt;'EXT-001'&gt; controlledAirspaceAirTrafficService : 'Controlled airspace (air traffic service)'; «part» &lt;'EXT-002'&gt; electricGrid : 'Electric grid'; «part» &lt;'EXT-003'&gt; weather : 'Weather'; «part» &lt;'EXT-004'&gt; aircraftAndSparesSupply : 'Aircraft and spares supply'; «part» &lt;'EXT-005'&gt; publicTransportNetwork : 'Public transport network'; «part» &lt;'EXT-006'&gt; emergencyResponseService : 'Emergency response service'}.">    </p:cNvPr>
          <p:cNvPicPr>
            <a:picLocks noChangeAspect="1"/>
          </p:cNvPicPr>
          <p:nvPr/>
        </p:nvPicPr>
        <p:blipFill>
          <a:blip r:embed="rId1"/>
          <a:stretch>
            <a:fillRect/>
          </a:stretch>
        </p:blipFill>
        <p:spPr>
          <a:xfrm>
            <a:off x="1236711" y="1280160"/>
            <a:ext cx="9718274" cy="4248531"/>
          </a:xfrm>
          <a:prstGeom prst="rect">
            <a:avLst/>
          </a:prstGeom>
        </p:spPr>
      </p:pic>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One stakeholder with its ratings, the conflict it is part of and one of its concerns, from the generated AeroLink model, in the graphical notation (FICTIONAL). Checked (PASS).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R77 sl.108–109; R80 p.50–51; R69 p.193; R83 p.166–167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AeroLink worked example II: stakeholders and concerns</a:t>
            </a:r>
            <a:endParaRPr lang="en-US" sz="3000" dirty="0"/>
          </a:p>
        </p:txBody>
      </p:sp>
      <p:pic>
        <p:nvPicPr>
          <p:cNvPr id="4" name="Image 0" descr="Top left, a square-cornered box «part def» &lt;'STK-004'&gt; 'Communities'. Top right, a square-cornered box «part def» &lt;'STK-005'&gt; 'Vertiport operators' with a compartment @StakeholderAssessment: interest = 5, influence = 4, support = 3. A dashed line with an open arrowhead runs from STK-004 to STK-005, labeled «conflictsWith» &lt;'REL-002'&gt;. A dashed accent arrow labeled ratings and reasons: metadata (course convention) points at the assessment compartment. Below, a wide rounded, shaded box «concern» &lt;'CON-006'&gt; 'Pad throughput and charging capacity' with a subject compartment, enterprise : Context::'ENT-001', and a stakeholders compartment, vertiportOperators : 'STK-005'.">    </p:cNvPr>
          <p:cNvPicPr>
            <a:picLocks noChangeAspect="1"/>
          </p:cNvPicPr>
          <p:nvPr/>
        </p:nvPicPr>
        <p:blipFill>
          <a:blip r:embed="rId1"/>
          <a:stretch>
            <a:fillRect/>
          </a:stretch>
        </p:blipFill>
        <p:spPr>
          <a:xfrm>
            <a:off x="548640" y="1344701"/>
            <a:ext cx="6379289" cy="4119449"/>
          </a:xfrm>
          <a:prstGeom prst="rect">
            <a:avLst/>
          </a:prstGeom>
        </p:spPr>
      </p:pic>
      <p:sp>
        <p:nvSpPr>
          <p:cNvPr id="5" name="Text 2"/>
          <p:cNvSpPr/>
          <p:nvPr/>
        </p:nvSpPr>
        <p:spPr>
          <a:xfrm>
            <a:off x="7293689" y="1280160"/>
            <a:ext cx="4349366" cy="221589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15 stakeholders as part definitions; 17 concerns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Ratings and reasons as metadata (course convention)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8 relationships as dependencies with a keyword</a:t>
            </a:r>
            <a:endParaRPr lang="en-US" sz="2000" dirty="0"/>
          </a:p>
        </p:txBody>
      </p:sp>
      <p:sp>
        <p:nvSpPr>
          <p:cNvPr id="6" name="Shape 3"/>
          <p:cNvSpPr/>
          <p:nvPr/>
        </p:nvSpPr>
        <p:spPr>
          <a:xfrm>
            <a:off x="7293689" y="3660648"/>
            <a:ext cx="4349366" cy="1583944"/>
          </a:xfrm>
          <a:prstGeom prst="roundRect">
            <a:avLst>
              <a:gd name="adj" fmla="val 3464"/>
            </a:avLst>
          </a:prstGeom>
          <a:solidFill>
            <a:srgbClr val="E1EFF4"/>
          </a:solidFill>
          <a:ln w="12700">
            <a:solidFill>
              <a:srgbClr val="0F6E8C"/>
            </a:solidFill>
            <a:prstDash val="solid"/>
          </a:ln>
        </p:spPr>
      </p:sp>
      <p:sp>
        <p:nvSpPr>
          <p:cNvPr id="7" name="Text 4"/>
          <p:cNvSpPr/>
          <p:nvPr/>
        </p:nvSpPr>
        <p:spPr>
          <a:xfrm>
            <a:off x="7430849" y="3660648"/>
            <a:ext cx="4075046" cy="1583944"/>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DIRECTION RULE</a:t>
            </a:r>
            <a:endParaRPr lang="en-US" sz="1200" dirty="0"/>
          </a:p>
          <a:p>
            <a:pPr indent="0" marL="0">
              <a:buNone/>
            </a:pPr>
            <a:r>
              <a:rPr lang="en-US" sz="1700" dirty="0">
                <a:solidFill>
                  <a:srgbClr val="18202D"/>
                </a:solidFill>
                <a:latin typeface="Consolas" pitchFamily="34" charset="0"/>
                <a:ea typeface="Consolas" pitchFamily="34" charset="-122"/>
                <a:cs typeface="Consolas" pitchFamily="34" charset="-120"/>
              </a:rPr>
              <a:t>from A to B</a:t>
            </a:r>
            <a:pPr indent="0" marL="0">
              <a:buNone/>
            </a:pPr>
            <a:r>
              <a:rPr lang="en-US" sz="1700" dirty="0">
                <a:solidFill>
                  <a:srgbClr val="18202D"/>
                </a:solidFill>
                <a:latin typeface="Calibri" pitchFamily="34" charset="0"/>
                <a:ea typeface="Calibri" pitchFamily="34" charset="-122"/>
                <a:cs typeface="Calibri" pitchFamily="34" charset="-120"/>
              </a:rPr>
              <a:t>: A, the client, depends on B, the supplier. FAA regulates OEM: </a:t>
            </a:r>
            <a:pPr indent="0" marL="0">
              <a:buNone/>
            </a:pPr>
            <a:r>
              <a:rPr lang="en-US" sz="1700" dirty="0">
                <a:solidFill>
                  <a:srgbClr val="18202D"/>
                </a:solidFill>
                <a:latin typeface="Consolas" pitchFamily="34" charset="0"/>
                <a:ea typeface="Consolas" pitchFamily="34" charset="-122"/>
                <a:cs typeface="Consolas" pitchFamily="34" charset="-120"/>
              </a:rPr>
              <a:t>#regulatedBy</a:t>
            </a:r>
            <a:pPr indent="0" marL="0">
              <a:buNone/>
            </a:pPr>
            <a:r>
              <a:rPr lang="en-US" sz="1700" dirty="0">
                <a:solidFill>
                  <a:srgbClr val="18202D"/>
                </a:solidFill>
                <a:latin typeface="Calibri" pitchFamily="34" charset="0"/>
                <a:ea typeface="Calibri" pitchFamily="34" charset="-122"/>
                <a:cs typeface="Calibri" pitchFamily="34" charset="-120"/>
              </a:rPr>
              <a:t> from </a:t>
            </a:r>
            <a:pPr indent="0" marL="0">
              <a:buNone/>
            </a:pPr>
            <a:r>
              <a:rPr lang="en-US" sz="1700" dirty="0">
                <a:solidFill>
                  <a:srgbClr val="18202D"/>
                </a:solidFill>
                <a:latin typeface="Consolas" pitchFamily="34" charset="0"/>
                <a:ea typeface="Consolas" pitchFamily="34" charset="-122"/>
                <a:cs typeface="Consolas" pitchFamily="34" charset="-120"/>
              </a:rPr>
              <a:t>STK-011</a:t>
            </a:r>
            <a:pPr indent="0" marL="0">
              <a:buNone/>
            </a:pPr>
            <a:r>
              <a:rPr lang="en-US" sz="1700" dirty="0">
                <a:solidFill>
                  <a:srgbClr val="18202D"/>
                </a:solidFill>
                <a:latin typeface="Calibri" pitchFamily="34" charset="0"/>
                <a:ea typeface="Calibri" pitchFamily="34" charset="-122"/>
                <a:cs typeface="Calibri" pitchFamily="34" charset="-120"/>
              </a:rPr>
              <a:t> to </a:t>
            </a:r>
            <a:pPr indent="0" marL="0">
              <a:buNone/>
            </a:pPr>
            <a:r>
              <a:rPr lang="en-US" sz="1700" dirty="0">
                <a:solidFill>
                  <a:srgbClr val="18202D"/>
                </a:solidFill>
                <a:latin typeface="Consolas" pitchFamily="34" charset="0"/>
                <a:ea typeface="Consolas" pitchFamily="34" charset="-122"/>
                <a:cs typeface="Consolas" pitchFamily="34" charset="-120"/>
              </a:rPr>
              <a:t>STK-002</a:t>
            </a:r>
            <a:pPr indent="0" marL="0">
              <a:buNone/>
            </a:pPr>
            <a:r>
              <a:rPr lang="en-US" sz="1700" dirty="0">
                <a:solidFill>
                  <a:srgbClr val="18202D"/>
                </a:solidFill>
                <a:latin typeface="Calibri" pitchFamily="34" charset="0"/>
                <a:ea typeface="Calibri" pitchFamily="34" charset="-122"/>
                <a:cs typeface="Calibri" pitchFamily="34" charset="-120"/>
              </a:rPr>
              <a:t>.</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four audit questions applied to the AeroLink import, with the result and the disposition of each (FICTIONAL).</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AeroLink worked example III: auditing the import</a:t>
            </a:r>
            <a:endParaRPr lang="en-US" sz="3000" dirty="0"/>
          </a:p>
        </p:txBody>
      </p:sp>
      <p:pic>
        <p:nvPicPr>
          <p:cNvPr id="4" name="Image 0" descr="A four-row checklist with columns Question, Result and disposition, and Status. Each row shows the opening of its result, cut with an ellipsis where it is long, then the disposition; the full text of each row follows. Row 'Completeness': 15 of 15 stakeholders, 17 of 17 concerns and 6 of 6 external systems are in the model, each once, with the register's ID and name. Disposition: None needed. Mark: check. Row 'Structure': Every concern has the enterprise as its subject and one stakeholder typed by a stakeholder part definition; 15 of 15 stakeholders hold at least one concern. 8 relationships are modeled, 1 of them a conflict. Disposition: None needed. Mark: check. Row 'Fidelity': Each concern’s documentation is the register text. Review found two differences from the Week 1 case in an earlier draft: the earlier CON-015 wording (delivery and certification progress) and four external systems named after the organizations behind them. Disposition: Logged, then corrected to the Week 1 wording (the case wording is canonical). Mark: check. Row 'Gaps': CON-015 has no need, by a decision recorded in Week 1 (the purchase-agreement gap). Disposition: Carried as is, with the reason recorded. Mark: gap. A side label spans rows 1 and 2: 'the tool answers'; a side label spans rows 3 and 4: 'the team answers'.">    </p:cNvPr>
          <p:cNvPicPr>
            <a:picLocks noChangeAspect="1"/>
          </p:cNvPicPr>
          <p:nvPr/>
        </p:nvPicPr>
        <p:blipFill>
          <a:blip r:embed="rId1"/>
          <a:stretch>
            <a:fillRect/>
          </a:stretch>
        </p:blipFill>
        <p:spPr>
          <a:xfrm>
            <a:off x="885013" y="1280160"/>
            <a:ext cx="5706543" cy="4573905"/>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Completeness: 15/15 stakeholders, 17/17 concerns, 6/6 external systems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Structure: every concern has a subject and a stakeholder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Fidelity: differences logged, then corrected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Gaps: each with a recorded disposition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concern modeled this week is framed by a need in Week 9 and by a viewpoint in Week 14.</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R83 p.167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Bridge: Week 9</a:t>
            </a:r>
            <a:endParaRPr lang="en-US" sz="3000" dirty="0"/>
          </a:p>
        </p:txBody>
      </p:sp>
      <p:pic>
        <p:nvPicPr>
          <p:cNvPr id="4" name="Image 0" descr="Three boxes left to right. Left, solid and highlighted: 'CON-006 Pad throughput and charging capacity (Week 8, modeled now)'. Middle, dashed: 'NEED-004 Pads not limited by turnaround (Week 9: requirement)' with an arrow to the left box labeled 'frame'. Below the middle box, a dashed box 'stakeholder and system requirements (Week 9)' with an arrow up to NEED-004 labeled 'derived from'. Right, dashed: 'Operator view viewpoint (Week 14)' with a long arrow to the left box labeled 'frame'.">    </p:cNvPr>
          <p:cNvPicPr>
            <a:picLocks noChangeAspect="1"/>
          </p:cNvPicPr>
          <p:nvPr/>
        </p:nvPicPr>
        <p:blipFill>
          <a:blip r:embed="rId1"/>
          <a:stretch>
            <a:fillRect/>
          </a:stretch>
        </p:blipFill>
        <p:spPr>
          <a:xfrm>
            <a:off x="1392208" y="1280160"/>
            <a:ext cx="9407280" cy="4411218"/>
          </a:xfrm>
          <a:prstGeom prst="rect">
            <a:avLst/>
          </a:prstGeom>
        </p:spPr>
      </p:pic>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Week 8 journey: each student works through Learn, Guided Practice and the Assessment; the team runs the Phase I export tool, which writes model v0.1 and the mapping matrix.</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This week: Learn, Practice, Assessment, export</a:t>
            </a:r>
            <a:endParaRPr lang="en-US" sz="3000" dirty="0"/>
          </a:p>
        </p:txBody>
      </p:sp>
      <p:sp>
        <p:nvSpPr>
          <p:cNvPr id="4" name="Text 2"/>
          <p:cNvSpPr/>
          <p:nvPr/>
        </p:nvSpPr>
        <p:spPr>
          <a:xfrm>
            <a:off x="548640" y="1133856"/>
            <a:ext cx="11094415" cy="320040"/>
          </a:xfrm>
          <a:prstGeom prst="rect">
            <a:avLst/>
          </a:prstGeom>
          <a:noFill/>
          <a:ln/>
        </p:spPr>
        <p:txBody>
          <a:bodyPr wrap="square" lIns="0" tIns="0" rIns="0" bIns="0" rtlCol="0" anchor="ctr"/>
          <a:lstStyle/>
          <a:p>
            <a:pPr indent="0" marL="0">
              <a:buNone/>
            </a:pPr>
            <a:r>
              <a:rPr lang="en-US" sz="1600" dirty="0">
                <a:solidFill>
                  <a:srgbClr val="566071"/>
                </a:solidFill>
                <a:latin typeface="Calibri" pitchFamily="34" charset="0"/>
                <a:ea typeface="Calibri" pitchFamily="34" charset="-122"/>
                <a:cs typeface="Calibri" pitchFamily="34" charset="-120"/>
              </a:rPr>
              <a:t>Due before Week 9 Session 1; your own enterprise, never AeroLink</a:t>
            </a:r>
            <a:endParaRPr lang="en-US" sz="1600" dirty="0"/>
          </a:p>
        </p:txBody>
      </p:sp>
      <p:pic>
        <p:nvPicPr>
          <p:cNvPr id="5" name="Image 0" descr="Top row, headed each student: three boxes joined by arrows. Learn: section by section. Guided Practice: graphical and textual tasks. Assessment: 12 items; a wrong answer shows a hint: try again. Second row, headed your team: a shaded box, Phase I export tool: your Phase I exports in, with an arrow to two file cards, team-NN-model-v01.sysml and team-NN-mapping-matrix.md, and an arrow on to model v0.1: Week 9 continues from it.">    </p:cNvPr>
          <p:cNvPicPr>
            <a:picLocks noChangeAspect="1"/>
          </p:cNvPicPr>
          <p:nvPr/>
        </p:nvPicPr>
        <p:blipFill>
          <a:blip r:embed="rId1"/>
          <a:stretch>
            <a:fillRect/>
          </a:stretch>
        </p:blipFill>
        <p:spPr>
          <a:xfrm>
            <a:off x="548640" y="1754740"/>
            <a:ext cx="6379289" cy="3736377"/>
          </a:xfrm>
          <a:prstGeom prst="rect">
            <a:avLst/>
          </a:prstGeom>
        </p:spPr>
      </p:pic>
      <p:sp>
        <p:nvSpPr>
          <p:cNvPr id="6" name="Text 3"/>
          <p:cNvSpPr/>
          <p:nvPr/>
        </p:nvSpPr>
        <p:spPr>
          <a:xfrm>
            <a:off x="7293689" y="155448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of you: Learn, then Guided Practice</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Assessment:</a:t>
            </a:r>
            <a:pPr indent="0" marL="0">
              <a:buNone/>
            </a:pPr>
            <a:r>
              <a:rPr lang="en-US" sz="2000" dirty="0">
                <a:solidFill>
                  <a:srgbClr val="18202D"/>
                </a:solidFill>
                <a:latin typeface="Calibri" pitchFamily="34" charset="0"/>
                <a:ea typeface="Calibri" pitchFamily="34" charset="-122"/>
                <a:cs typeface="Calibri" pitchFamily="34" charset="-120"/>
              </a:rPr>
              <a:t> 12 items, individual, formative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Your team: the </a:t>
            </a:r>
            <a:pPr indent="0" marL="0">
              <a:buNone/>
            </a:pPr>
            <a:r>
              <a:rPr lang="en-US" sz="2000" b="1" dirty="0">
                <a:solidFill>
                  <a:srgbClr val="18202D"/>
                </a:solidFill>
                <a:latin typeface="Calibri" pitchFamily="34" charset="0"/>
                <a:ea typeface="Calibri" pitchFamily="34" charset="-122"/>
                <a:cs typeface="Calibri" pitchFamily="34" charset="-120"/>
              </a:rPr>
              <a:t>Phase I export tool</a:t>
            </a:r>
            <a:pPr indent="0" marL="0">
              <a:buNone/>
            </a:pPr>
            <a:r>
              <a:rPr lang="en-US" sz="2000" dirty="0">
                <a:solidFill>
                  <a:srgbClr val="18202D"/>
                </a:solidFill>
                <a:latin typeface="Calibri" pitchFamily="34" charset="0"/>
                <a:ea typeface="Calibri" pitchFamily="34" charset="-122"/>
                <a:cs typeface="Calibri" pitchFamily="34" charset="-120"/>
              </a:rPr>
              <a:t> writes model v0.1 and the mapping matrix</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Validity: the course checker, one installation per team</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Phase I export tool in four steps: import, map, review the findings, preview and export.</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Team work: import, map and start the skeleton</a:t>
            </a:r>
            <a:endParaRPr lang="en-US" sz="3000" dirty="0"/>
          </a:p>
        </p:txBody>
      </p:sp>
      <p:sp>
        <p:nvSpPr>
          <p:cNvPr id="4" name="Text 2"/>
          <p:cNvSpPr/>
          <p:nvPr/>
        </p:nvSpPr>
        <p:spPr>
          <a:xfrm>
            <a:off x="548640" y="1133856"/>
            <a:ext cx="11094415" cy="320040"/>
          </a:xfrm>
          <a:prstGeom prst="rect">
            <a:avLst/>
          </a:prstGeom>
          <a:noFill/>
          <a:ln/>
        </p:spPr>
        <p:txBody>
          <a:bodyPr wrap="square" lIns="0" tIns="0" rIns="0" bIns="0" rtlCol="0" anchor="ctr"/>
          <a:lstStyle/>
          <a:p>
            <a:pPr indent="0" marL="0">
              <a:buNone/>
            </a:pPr>
            <a:r>
              <a:rPr lang="en-US" sz="1600" dirty="0">
                <a:solidFill>
                  <a:srgbClr val="566071"/>
                </a:solidFill>
                <a:latin typeface="Calibri" pitchFamily="34" charset="0"/>
                <a:ea typeface="Calibri" pitchFamily="34" charset="-122"/>
                <a:cs typeface="Calibri" pitchFamily="34" charset="-120"/>
              </a:rPr>
              <a:t>12 minutes, in teams, in the Phase I export tool</a:t>
            </a:r>
            <a:endParaRPr lang="en-US" sz="1600" dirty="0"/>
          </a:p>
        </p:txBody>
      </p:sp>
      <p:pic>
        <p:nvPicPr>
          <p:cNvPr id="5" name="Image 0" descr="Four numbered panels in a two-by-two grid, like screens. Panel 1 'Import': a file drop area labeled 'Week 1 model inputs (.json), versions 1 to 3; optional Week 2 model inputs', and a message line 'AeroLink records are refused: import your own'. Panel 2 'Map': a table with columns Kind, Package, Construct, Week, Count; rows for ENT, STK, CON marked 'modeled now', NEED marked 'Week 9', TECH marked 'enter count'. Panel 3 'Findings': four colored tags with labels: Defect (not imported), Gap (needs a disposition), Unmapped kind, Mapped for a later week; under the gap tag a text box 'disposition'. Panel 4 'Preview and export': a code preview with the first lines of a package and the purpose doc, and two buttons 'Export .sysml' and 'Export mapping matrix (.md)'.">    </p:cNvPr>
          <p:cNvPicPr>
            <a:picLocks noChangeAspect="1"/>
          </p:cNvPicPr>
          <p:nvPr/>
        </p:nvPicPr>
        <p:blipFill>
          <a:blip r:embed="rId1"/>
          <a:stretch>
            <a:fillRect/>
          </a:stretch>
        </p:blipFill>
        <p:spPr>
          <a:xfrm>
            <a:off x="735197" y="1554480"/>
            <a:ext cx="6006174" cy="4299585"/>
          </a:xfrm>
          <a:prstGeom prst="rect">
            <a:avLst/>
          </a:prstGeom>
        </p:spPr>
      </p:pic>
      <p:sp>
        <p:nvSpPr>
          <p:cNvPr id="6" name="Text 3"/>
          <p:cNvSpPr/>
          <p:nvPr/>
        </p:nvSpPr>
        <p:spPr>
          <a:xfrm>
            <a:off x="7293689" y="155448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Import your Week 1 export (and Week 2, if you have 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Enter counts for the Weeks 3–6 kinds; decide any unmapped kind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Read every defect and gap; draft a disposition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Write the purpose; preview the skeleton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fail file of the tool proof, numbered as in the file (its three header comment lines are not shown): an unquoted ID on line 9. The checker must reject it. Checked (FAIL, as intended).</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p.49–50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Checkpoint: prove the toolchain</a:t>
            </a:r>
            <a:endParaRPr lang="en-US" sz="3000" dirty="0"/>
          </a:p>
        </p:txBody>
      </p:sp>
      <p:sp>
        <p:nvSpPr>
          <p:cNvPr id="4" name="Text 2"/>
          <p:cNvSpPr/>
          <p:nvPr/>
        </p:nvSpPr>
        <p:spPr>
          <a:xfrm>
            <a:off x="548640" y="1133856"/>
            <a:ext cx="11094415" cy="320040"/>
          </a:xfrm>
          <a:prstGeom prst="rect">
            <a:avLst/>
          </a:prstGeom>
          <a:noFill/>
          <a:ln/>
        </p:spPr>
        <p:txBody>
          <a:bodyPr wrap="square" lIns="0" tIns="0" rIns="0" bIns="0" rtlCol="0" anchor="ctr"/>
          <a:lstStyle/>
          <a:p>
            <a:pPr indent="0" marL="0">
              <a:buNone/>
            </a:pPr>
            <a:r>
              <a:rPr lang="en-US" sz="1600" dirty="0">
                <a:solidFill>
                  <a:srgbClr val="566071"/>
                </a:solidFill>
                <a:latin typeface="Calibri" pitchFamily="34" charset="0"/>
                <a:ea typeface="Calibri" pitchFamily="34" charset="-122"/>
                <a:cs typeface="Calibri" pitchFamily="34" charset="-120"/>
              </a:rPr>
              <a:t>Every member shows two outputs: the pass file and the fail file</a:t>
            </a:r>
            <a:endParaRPr lang="en-US" sz="1600" dirty="0"/>
          </a:p>
        </p:txBody>
      </p:sp>
      <p:pic>
        <p:nvPicPr>
          <p:cNvPr id="5" name="Image 0" descr="Listing (file sysml/lectures/week08/invalid_tool_proof_unquoted_id.sysml, checked: FAIL): package ToolProofFail {     part def &lt;'ENT-001'&gt; 'Example Enterprise';     part def 'Road network';     part context {         // the next line breaks the course ID rule         part &lt;EXT-001&gt; roadNetwork : 'Road network';     } }">    </p:cNvPr>
          <p:cNvPicPr>
            <a:picLocks noChangeAspect="1"/>
          </p:cNvPicPr>
          <p:nvPr/>
        </p:nvPicPr>
        <p:blipFill>
          <a:blip r:embed="rId1"/>
          <a:stretch>
            <a:fillRect/>
          </a:stretch>
        </p:blipFill>
        <p:spPr>
          <a:xfrm>
            <a:off x="548640" y="2115528"/>
            <a:ext cx="6379289" cy="2852116"/>
          </a:xfrm>
          <a:prstGeom prst="rect">
            <a:avLst/>
          </a:prstGeom>
        </p:spPr>
      </p:pic>
      <p:sp>
        <p:nvSpPr>
          <p:cNvPr id="6" name="Text 3"/>
          <p:cNvSpPr/>
          <p:nvPr/>
        </p:nvSpPr>
        <p:spPr>
          <a:xfrm>
            <a:off x="7293689" y="155448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Pass file: expect PASS, no message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Fail file: expect FAIL at the unquoted ID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Keep both outputs for the checker log</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No working installation: team’s or lab machine today</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From today to Week 9: what is done, what comes next, and what is due before Week 9 Session 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Close: from today to Week 9</a:t>
            </a:r>
            <a:endParaRPr lang="en-US" sz="3000" dirty="0"/>
          </a:p>
        </p:txBody>
      </p:sp>
      <p:sp>
        <p:nvSpPr>
          <p:cNvPr id="4" name="Text 2"/>
          <p:cNvSpPr/>
          <p:nvPr/>
        </p:nvSpPr>
        <p:spPr>
          <a:xfrm>
            <a:off x="548640" y="1133856"/>
            <a:ext cx="11094415" cy="320040"/>
          </a:xfrm>
          <a:prstGeom prst="rect">
            <a:avLst/>
          </a:prstGeom>
          <a:noFill/>
          <a:ln/>
        </p:spPr>
        <p:txBody>
          <a:bodyPr wrap="square" lIns="0" tIns="0" rIns="0" bIns="0" rtlCol="0" anchor="ctr"/>
          <a:lstStyle/>
          <a:p>
            <a:pPr indent="0" marL="0">
              <a:buNone/>
            </a:pPr>
            <a:r>
              <a:rPr lang="en-US" sz="1600" dirty="0">
                <a:solidFill>
                  <a:srgbClr val="566071"/>
                </a:solidFill>
                <a:latin typeface="Calibri" pitchFamily="34" charset="0"/>
                <a:ea typeface="Calibri" pitchFamily="34" charset="-122"/>
                <a:cs typeface="Calibri" pitchFamily="34" charset="-120"/>
              </a:rPr>
              <a:t>Assessment (formative) and the Phase I export, both before Week 9 Session 1. Log your hours.</a:t>
            </a:r>
            <a:endParaRPr lang="en-US" sz="1600" dirty="0"/>
          </a:p>
        </p:txBody>
      </p:sp>
      <p:pic>
        <p:nvPicPr>
          <p:cNvPr id="5" name="Image 0" descr="Four columns joined by arrows. Session 1, done: MBSE and the core of SysML v2. After Session 1: Learn, section by section, then the Guided Practice tasks. Session 2, today: packages, toolchain, import, stakeholders and concerns. Before Week 9, Session 1, shaded: Assessment (individual, formative) and the Phase I export (team). A strip below: Phase I export tool: your exports in; team-NN-model-v01.sysml (model v0.1) and team-NN-mapping-matrix.md out. The checker: one installation per team, from Install and run the course checker. Log your hours. Week 9 models your needs and requirements in the packages model v0.1 created.">    </p:cNvPr>
          <p:cNvPicPr>
            <a:picLocks noChangeAspect="1"/>
          </p:cNvPicPr>
          <p:nvPr/>
        </p:nvPicPr>
        <p:blipFill>
          <a:blip r:embed="rId1"/>
          <a:stretch>
            <a:fillRect/>
          </a:stretch>
        </p:blipFill>
        <p:spPr>
          <a:xfrm>
            <a:off x="548640" y="1642414"/>
            <a:ext cx="11094415" cy="4123718"/>
          </a:xfrm>
          <a:prstGeom prst="rect">
            <a:avLst/>
          </a:prstGeom>
        </p:spPr>
      </p:pic>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References and credits</a:t>
            </a:r>
            <a:endParaRPr lang="en-US" sz="3000" dirty="0"/>
          </a:p>
        </p:txBody>
      </p:sp>
      <p:sp>
        <p:nvSpPr>
          <p:cNvPr id="3" name="Text 1"/>
          <p:cNvSpPr/>
          <p:nvPr/>
        </p:nvSpPr>
        <p:spPr>
          <a:xfrm>
            <a:off x="548640"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R28 · SEBoK v2.14 (2026), “Model-Based Systems Engineering (MBSE)”, p.370, 372–374</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R33b · SEBoK v2.14 (2026), “Why Model?”, p.295–296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R69 · OMG SysML v2.1 Beta 2, Part 1 (Release 2026-07), “7.27 Metadata”, p.193</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R70 · Seidewitz, Intro to the SysML v2 Language: Textual Notation (Release 2026-08), “Introduction to the SysML v2 Language”, sl.3–12, 15–16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R77 · Seidewitz, Intro to the SysML v2 Language: Textual Notation (Release 2026-08), “Metadata”, sl.108–109, 115–116</a:t>
            </a:r>
            <a:endParaRPr lang="en-US" sz="1200" dirty="0"/>
          </a:p>
        </p:txBody>
      </p:sp>
      <p:sp>
        <p:nvSpPr>
          <p:cNvPr id="4" name="Text 2"/>
          <p:cNvSpPr/>
          <p:nvPr/>
        </p:nvSpPr>
        <p:spPr>
          <a:xfrm>
            <a:off x="4236013"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R80 · OMG SysML v2.1 Beta 2, Part 1 (Release 2026-07), “7.1 Language Overview”, p.47–51, 56, 60–61, 63–66, 72–73, 77</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R83 · OMG SysML v2.1 Beta 2, Part 1 (Release 2026-07), “7.21 Requirements”, p.166–167</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R85 · OMG SysML v2.1 Beta 2, Part 1 (Release 2026-07), “7.26 Views and Viewpoints”, p.181</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R90 · Friedenthal, Intro to the SysML v2 Language: Graphical Notation (2023-03-07), “Systems Modeling Language”, sl.7–9, 12, 22</a:t>
            </a:r>
            <a:endParaRPr lang="en-US" sz="1200" dirty="0"/>
          </a:p>
        </p:txBody>
      </p:sp>
      <p:sp>
        <p:nvSpPr>
          <p:cNvPr id="5" name="Shape 3"/>
          <p:cNvSpPr/>
          <p:nvPr/>
        </p:nvSpPr>
        <p:spPr>
          <a:xfrm>
            <a:off x="7923386" y="1280160"/>
            <a:ext cx="54864" cy="4846320"/>
          </a:xfrm>
          <a:prstGeom prst="rect">
            <a:avLst/>
          </a:prstGeom>
          <a:solidFill>
            <a:srgbClr val="0F6E8C"/>
          </a:solidFill>
          <a:ln w="12700">
            <a:solidFill>
              <a:srgbClr val="0F6E8C"/>
            </a:solidFill>
            <a:prstDash val="solid"/>
          </a:ln>
        </p:spPr>
      </p:sp>
      <p:sp>
        <p:nvSpPr>
          <p:cNvPr id="6" name="Text 4"/>
          <p:cNvSpPr/>
          <p:nvPr/>
        </p:nvSpPr>
        <p:spPr>
          <a:xfrm>
            <a:off x="8060546" y="1280160"/>
            <a:ext cx="3582509" cy="4846320"/>
          </a:xfrm>
          <a:prstGeom prst="rect">
            <a:avLst/>
          </a:prstGeom>
          <a:noFill/>
          <a:ln/>
        </p:spPr>
        <p:txBody>
          <a:bodyPr wrap="square" lIns="25400" tIns="25400" rIns="25400" bIns="25400" rtlCol="0" anchor="t"/>
          <a:lstStyle/>
          <a:p>
            <a:pPr indent="0" marL="0">
              <a:buNone/>
            </a:pPr>
            <a:r>
              <a:rPr lang="en-US" sz="1200" b="1" spc="100" kern="0" dirty="0">
                <a:solidFill>
                  <a:srgbClr val="18202D"/>
                </a:solidFill>
                <a:latin typeface="Calibri" pitchFamily="34" charset="0"/>
                <a:ea typeface="Calibri" pitchFamily="34" charset="-122"/>
                <a:cs typeface="Calibri" pitchFamily="34" charset="-120"/>
              </a:rPr>
              <a:t>CREDITS AND LICENSES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Introduction to the SysML v2 Language, Textual Notation (Release 2026-08): Copyright © 2019–2026 Model Driven Solutions, Inc. Licensed under the Creative Commons Attribution 4.0 International License (CC BY 4.0).</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SEBoK v2.14: “This material is used under a Creative Commons Attribution-NonCommercial ShareAlike 3.0 Unported License from The Trustees of the Stevens Institute of Technology.” (SEBoK, “Bkcase Wiki:Copyright”, PDF p.31). Quotations are short and cited; no SEBoK figure or table is reproduced.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Figures are original drawings for this course; none redraws a figure from the sources.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AeroLink Urban Mobility is a fictional teaching case: every number, name and statement about it is a teaching value.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 Session 2: Import Systems Thinking Artifacts / Stakeholders</dc:title>
  <dc:subject>Systems Thinking and MBSE with SysML v2</dc:subject>
  <dc:creator>SysML Learning Studio (generated)</dc:creator>
  <cp:lastModifiedBy>SysML Learning Studio (generated)</cp:lastModifiedBy>
  <cp:revision>1</cp:revision>
  <dcterms:created xsi:type="dcterms:W3CDTF">2026-10-28T17:28:24Z</dcterms:created>
  <dcterms:modified xsi:type="dcterms:W3CDTF">2026-10-28T17:28:24Z</dcterms:modified>
</cp:coreProperties>
</file>