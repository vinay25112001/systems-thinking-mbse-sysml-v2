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unseen listing: a branch library and its rooms. Checked with the course-designated checker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sl.10–11; R80 p.64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read this listing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Packages, the toolchain, the import, stakeholders and concerns</a:t>
            </a:r>
            <a:endParaRPr lang="en-US" sz="1600" dirty="0"/>
          </a:p>
        </p:txBody>
      </p:sp>
      <p:pic>
        <p:nvPicPr>
          <p:cNvPr id="5" name="Image 0" descr="Listing (file sysml/lectures/week08/warmup_library_rooms.sysml, checked: PASS): package LibraryBranch {     abstract part def Room;     part def StudyRoom :&gt; Room;     part def Library {         part rooms : Room[1..*];         part studyRooms : StudyRoom[4] subsets rooms;     }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17967"/>
            <a:ext cx="6379289" cy="28099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 is a specialization?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 is a subsetting?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how many rooms does a library have?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93689" y="3315208"/>
            <a:ext cx="4349366" cy="1583944"/>
          </a:xfrm>
          <a:prstGeom prst="roundRect">
            <a:avLst>
              <a:gd name="adj" fmla="val 3464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30849" y="3315208"/>
            <a:ext cx="4075046" cy="15839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`StudyRoom :&gt; Room` specializes; `studyRooms … subsets rooms`; at least four rooms, because the four study rooms are among the rooms.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organized in packages; a qualified name is the path of names from a package to a member.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p.47; R80 p.56; R70 sl.5; R70 sl.9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Packages, namespaces and qualified names</a:t>
            </a:r>
            <a:endParaRPr lang="en-US" sz="3000" dirty="0"/>
          </a:p>
        </p:txBody>
      </p:sp>
      <p:pic>
        <p:nvPicPr>
          <p:cNvPr id="4" name="Image 0" descr="A nested package tree drawn as folder tabs. The outer package is labeled 'AeroLink Model v0.1'. Inside it, side by side, two packages: Context and Stakeholders. Inside Context: a box 'ENT-001 AeroLink Urban Mobility' and a box 'part context'. Inside Stakeholders: three boxes, 'STK-005 Vertiport operators', 'CON-006 Pad throughput and charging capacity' and 'REL-002'. A thick highlighted path runs from the outer package through Stakeholders to the STK-005 box; along it the text Stakeholders::'STK-005'. A second, thin path runs from Context to 'part context' with the text Context::context. Footnote under the tree: each package is a namespace for its members and a container for its owned membe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8837"/>
            <a:ext cx="6379289" cy="319386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namespace contains elements and names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package is a namespace used only to organize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name: names joined by `::`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and usages are namespaces too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with spaces or special characters is quoted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reference model opens with private imports of the quantity, unit and scalar-value libraries.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sl.5–6; R80 p.60–61; R80 p.63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and visibility</a:t>
            </a:r>
            <a:endParaRPr lang="en-US" sz="3000" dirty="0"/>
          </a:p>
        </p:txBody>
      </p:sp>
      <p:pic>
        <p:nvPicPr>
          <p:cNvPr id="4" name="Image 0" descr="Listing (file sysml/reference/aerolink_v01_skeleton.sysml, checked: PASS): package 'AeroLink Reference Model' {     doc /* … */     private import ISQ::*;     private import SI::*;     private import ScalarValues::*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4220"/>
            <a:ext cx="6379289" cy="1523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`::</a:t>
            </a:r>
            <a:pPr indent="0" marL="0">
              <a:buNone/>
            </a:pPr>
            <a:r>
              <a:rPr lang="en-US" sz="2000" i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 imports all members; `::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*` imports recursively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visibility on every import; private unless re-export is needed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import owned by a root namespace must be private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result: an import without visibility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stakeholder in the generated model: keyword, short name (the Phase I ID), name.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p.49–50; R90 sl.22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short names: carrying the Phase I IDs</a:t>
            </a:r>
            <a:endParaRPr lang="en-US" sz="3000" dirty="0"/>
          </a:p>
        </p:txBody>
      </p:sp>
      <p:pic>
        <p:nvPicPr>
          <p:cNvPr id="4" name="Image 0" descr="Listing (file sysml/lectures/week08/aerolink_context_stakeholders_v01.sysml, checked: PASS): part def &lt;'STK-005'&gt; 'Vertiport operators' {     doc /* … */     @StakeholderAssessment { interest = 5; influence = 4; influenceReason = &quot;Own a scarce capacity constraint (pads, chargers)&quot;; support = 3; supportReason = &quot;Gain traffic from the service; want throughput protected&quot;; }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91726"/>
            <a:ext cx="6379289" cy="13880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keeps the element ID; the text cannot write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 order: short name in `&lt; &gt;`, then name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names: letters, digits, underscore; others quoted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Phase I ID is a quoted short name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4362704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362704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result: `&lt;EXT-001&gt;` unquoted fails at the hyphen.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a note and documentation, quoted from the SysML v2 textual-notation training deck.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sl.7–8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documentation and notes</a:t>
            </a:r>
            <a:endParaRPr lang="en-US" sz="3000" dirty="0"/>
          </a:p>
        </p:txBody>
      </p:sp>
      <p:pic>
        <p:nvPicPr>
          <p:cNvPr id="4" name="Image 0" descr="Listing (file sysml/lectures/week08/deck_quotes_textual_notation.sysml, checked: PASS): /* This is comment, part of the model,  * annotating (by default) it's owning package. */ comment Comment1 /* This is a named comment. */ comment about Automobile /* This is an unnamed comment, annotating an  * explicitly specified element. */ part def Automobile; alias Car for Automobile {     /* This is a comment annotating its owning      * element. */ } // This is a note. It is in the text, but not part // of the model. alias Torque for ISQ::TorqueValue;  part def Automobile {     doc Document1     /* This is documentation of Automobile. *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0560"/>
            <a:ext cx="6379289" cy="38104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</a:t>
            </a:r>
            <a:pPr indent="0" marL="0">
              <a:buNone/>
            </a:pPr>
            <a:r>
              <a:rPr lang="en-US" sz="2000" i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… 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/` comment: part of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`// …` note: in the text, not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`doc /</a:t>
            </a:r>
            <a:pPr indent="0" marL="0">
              <a:buNone/>
            </a:pPr>
            <a:r>
              <a:rPr lang="en-US" sz="2000" i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… 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/`: owned by the element it documents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register text with no modeled attribute goes into `doc`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toolchain (course convention): text in, checker decides validity, views and the lab tool support the work.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toolchain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type into, and what decides if it is valid</a:t>
            </a:r>
            <a:endParaRPr lang="en-US" sz="1600" dirty="0"/>
          </a:p>
        </p:txBody>
      </p:sp>
      <p:pic>
        <p:nvPicPr>
          <p:cNvPr id="5" name="Image 0" descr="A left-to-right flow of five boxes joined by arrows. Box 1: 'Editor or SysML notebook (textual notation)'. Arrow labeled 'save' to box 2: 'team-NN-model-v01.sysml (one file per version)'. Arrow labeled 'check' to box 3, drawn bold: 'Course-designated checker: OMG SysML v2 Pilot Implementation, release 2026-08 (pilot of the 2.1 Beta 2 texts)'. Arrow to box 4: 'Log: PASS or FAIL, with ERROR and WARNING lines'. Under the flow, a second row: box 5 'Week 8 lab tool (in this app): import the Team Record, mapping table, findings, preview, export .sysml' with an arrow up into box 2 labeled 'generates the first draft'; beside it box 6 'AeroLink engineering model page (instructor example)'. Above box 1, a dashed box 'Eclipse SysON (optional, graphical editing)' with a dashed arrow into box 2. A footnote: grades follow the instructor's checker ru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3098"/>
            <a:ext cx="6379289" cy="32423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textual notation; one file per model version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course-designated checker decides validity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8 lab tool imports your record and drafts the skeleton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editing (SysON) is optional, never graded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columns: what the checker decides, and what only the team can decide.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R33b p.295–296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decides, and what it cannot</a:t>
            </a:r>
            <a:endParaRPr lang="en-US" sz="3000" dirty="0"/>
          </a:p>
        </p:txBody>
      </p:sp>
      <p:pic>
        <p:nvPicPr>
          <p:cNvPr id="4" name="Image 0" descr="Two columns under one heading 'One file, two judgments'. Left column, headed with a gear icon 'The checker decides': three rows, 'Syntax: does the text parse?', 'Names: does every name resolve, in the file and the standard library?', 'Rules: does any validation rule fire? ERROR fails the file; WARNING does not'. Right column, headed with a person icon 'You decide': four rows, 'Meaning: is it the right construct (definition or usage, composite or referential)?', 'Completeness: is every register item there?', 'Fidelity: does each doc say what the register says?', 'Purpose: does the model serve the decisions it is for?'. At the bottom, across both columns, a strip: 'Session 1, item 3: an attribute definition owning a part — PASS, no message'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1798"/>
            <a:ext cx="6379289" cy="33879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Checker: parses, resolves every name, runs its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ERROR fails the file; a WARNING does not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judge meaning, completeness, fidelity or purpose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an attribute definition owning a part passed silently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of the package gets a home in the model; the Week 1 stakeholder register is modeled now, the rest is mapped to the week that models it (course convention).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R28 p.374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 is a mapping, not a copy</a:t>
            </a:r>
            <a:endParaRPr lang="en-US" sz="3000" dirty="0"/>
          </a:p>
        </p:txBody>
      </p:sp>
      <p:pic>
        <p:nvPicPr>
          <p:cNvPr id="4" name="Image 0" descr="Left: a document stack titled 'Systems Thinking Engineering Package (Week 7)' listing its parts: Week 1 register (ENT, EXT, PRT, STK, CON, REL, MGO, NEED); Week 2 ConOps and requirements; Week 3 technology, risk, trade study; Week 4 architecture; Week 5 components and interfaces; Week 6 roadmap. Right: a column of package boxes: Context, Stakeholders, Physical, Needs, Requirements, Behavior, Logical, Verification, Analysis, AROU, Evolution. Solid thick arrows run from the Week 1 register to Context, Stakeholders and Physical, labeled 'modeled now'. Dashed arrows run from the other parts to the other packages, each labeled with the week that models them: Needs and Requirements 'Week 9', Behavior and Logical 'Week 10', Physical components 'Week 11', Verification 'Week 12', Analysis and AROU 'Week 13', the Week 6 roadmap to Evolution 'Week 14'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1935"/>
            <a:ext cx="6379289" cy="34849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artifact, by ID: a package and a construct, or a reason to wait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models ENT, PRT, EXT, STK, CON, REL; it maps the rest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retyped from memory: the package is the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 found while modeling are recorded, not silently fixed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artifact-to-model mapping matrix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which Phase II week models each Phase I ID kind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Modeled 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 ID kinds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8 (modeled now)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ENT, PRT, EXT, STK, CON, REL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MGO, NEED, REQ-STK, REQ-SYS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SCN, CAP, FN, LOG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INFO, PHY, IF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MOE, MOP, VER, TPM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TECH, A, U, R, O, ALT, CRIT, DEC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969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mapping (convention)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v0.1: the course packages, with the week that fills each (course convention).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sl.6; R70 sl.8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model’s package structure</a:t>
            </a:r>
            <a:endParaRPr lang="en-US" sz="3000" dirty="0"/>
          </a:p>
        </p:txBody>
      </p:sp>
      <p:pic>
        <p:nvPicPr>
          <p:cNvPr id="4" name="Image 0" descr="A root package box labeled 'Model v0.1' with a header strip 'doc: Purpose — who uses this model, for which decisions'. Inside, 11 package tabs in two rows: Context (Week 8, modeled now: the enterprise, the external systems and the context part); Stakeholders (Week 8, modeled now: stakeholders, concerns and stakeholder relationships); Needs (Week 9: the mission, goals and needs; capabilities); Requirements (Week 9: stakeholder and system requirements); Behavior (Week 10: use cases for the scenarios; actions and states); Logical (Week 10: functions and logical elements); Physical (Week 8, modeled now: the system of interest and its parts; components, ports and interfaces); Verification (Week 12: verification cases); Analysis (Week 13: technologies, the trade study and its decision); AROU (Week 13: assumptions, risks, opportunities and unknowns); Evolution (Week 14: the roadmap increments). Packages filled in Week 8 are drawn solid and shaded; the others are drawn with dashed outlines and a small doc label 'filled in Week N'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81658"/>
            <a:ext cx="6379289" cy="300822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 package; the purpose in its `doc`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course packages, mirroring the matrix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empty package says which week fills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imports at the top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concerns with their subject and stakeholders, adapted from the SysML v2 textual-notation training deck.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sl.115; R83 p.166–167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concerns in SysML v2</a:t>
            </a:r>
            <a:endParaRPr lang="en-US" sz="3000" dirty="0"/>
          </a:p>
        </p:txBody>
      </p:sp>
      <p:pic>
        <p:nvPicPr>
          <p:cNvPr id="4" name="Image 0" descr="Listing (file sysml/lectures/week08/stakeholders_concerns_adapted.sysml, checked: PASS): package StakeholdersAndConcerns {     part def 'Systems Engineer';     part def 'IV&amp;V';     concern 'system breakdown' {         doc /* To ensure that a system covers all its required capabilities, it is necessary to understand how it is          * broken down into subsystems and components that provide those capabilities. */         subject system;         stakeholder se : 'Systems Engineer';         stakeholder ivv : 'IV&amp;V';     }     concern modularity {         doc /* There should be well defined interfaces between the parts of a system. */         subject system;         stakeholder 'Systems Engineer';     }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6809"/>
            <a:ext cx="6379289" cy="3117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8991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8991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89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STAKEHOLDER; CONCERN</a:t>
            </a:r>
            <a:endParaRPr lang="en-US" sz="9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stakeholder is a person, organization or other entity with concerns to be addressed. A concern is a specific topic that one or more stakeholders desire to be addressed.</a:t>
            </a:r>
            <a:endParaRPr lang="en-US" sz="9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· Seidewitz, Intro to the SysML v2 Language: Textual Notation (Release 2026-08), "Metadata", sl.115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293689" y="3534664"/>
            <a:ext cx="4349366" cy="1441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like a requirement, keyword `concern`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first, before any stakeholder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parameters are part usages, typed by part definitions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AeroLink reference model: a need that frames a Week 1 concern (the construct Week 9 teaches).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p.167; R77 sl.116; R85 p.181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concerns go next: framed by needs and viewpoints</a:t>
            </a:r>
            <a:endParaRPr lang="en-US" sz="3000" dirty="0"/>
          </a:p>
        </p:txBody>
      </p:sp>
      <p:pic>
        <p:nvPicPr>
          <p:cNvPr id="4" name="Image 0" descr="Listing (file sysml/reference/aerolink_v01_skeleton.sysml, checked: PASS): requirement &lt;'NEED-004'&gt; 'Pads not limited by turnaround' {     doc /* … */     subject enterprise : Context::AeroLinkEnterprise;     stakeholder vertiportOperators : Stakeholders::'STK-005';     frame Stakeholders::'CON-006';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91726"/>
            <a:ext cx="6379289" cy="13880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`frame` a concern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framed concern becomes a required constraint of its container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viewpoint frames the concerns a view must address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needs frame your concerns; Week 14: viewpoints do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context in the generated Week 8 model (FICTIONAL): the enterprise, the system of interest and six external systems.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p.64; R70 sl.9; R80 p.48–49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context</a:t>
            </a:r>
            <a:endParaRPr lang="en-US" sz="3000" dirty="0"/>
          </a:p>
        </p:txBody>
      </p:sp>
      <p:pic>
        <p:nvPicPr>
          <p:cNvPr id="4" name="Image 0" descr="Listing (file sysml/lectures/week08/aerolink_context_stakeholders_v01.sysml, checked: PASS): part def &lt;'ENT-001'&gt; 'AeroLink Urban Mobility' {     doc /* … */ } part context {     doc /* The operating context: the system of interest and 6 external system(s). */     ref part systemOfInterest :&gt; Physical::soi;     part &lt;'EXT-001'&gt; controlledAirspaceAirTrafficService : 'Controlled airspace (air traffic service)' { doc /* … */ }     part &lt;'EXT-002'&gt; electricGrid : 'Electric grid' { doc /* … */ }     part &lt;'EXT-003'&gt; weather : 'Weather' { doc /* … */ }     part &lt;'EXT-004'&gt; aircraftAndSparesSupply : 'Aircraft and spares supply' { doc /* … */ }     part &lt;'EXT-005'&gt; publicTransportNetwork : 'Public transport network' { doc /* … */ }     part &lt;'EXT-006'&gt; emergencyResponseService : 'Emergency response service' { doc /* … */ }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91354"/>
            <a:ext cx="6379289" cy="27888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ENT-001: a part definition, the enterprise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part refers to the system of interest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external systems: part usages with their IDs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as systems, not as the organizations behind them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stakeholder, one of its concerns and the conflict it is part of, from the generated AeroLink model (FICTIONAL). Checked (PASS).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sl.108–109; R80 p.50–51; R69 p.193; R83 p.166–167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II: stakeholders, concerns, ratings, relationships</a:t>
            </a:r>
            <a:endParaRPr lang="en-US" sz="3000" dirty="0"/>
          </a:p>
        </p:txBody>
      </p:sp>
      <p:pic>
        <p:nvPicPr>
          <p:cNvPr id="4" name="Image 0" descr="Listing (file sysml/lectures/week08/aerolink_context_stakeholders_v01.sysml, checked: PASS): part def &lt;'STK-005'&gt; 'Vertiport operators' {     doc /* … */     @StakeholderAssessment { interest = 5; influence = 4; influenceReason = &quot;Own a scarce capacity constraint (pads, chargers)&quot;; support = 3; supportReason = &quot;Gain traffic from the service; want throughput protected&quot;; } } concern &lt;'CON-006'&gt; 'Pad throughput and charging capacity' {     doc /* … */     subject enterprise : Context::'ENT-001';     stakeholder vertiportOperators : 'STK-005'; } #conflictsWith dependency &lt;'REL-002'&gt; from 'STK-004' to 'STK-005' {     doc /* STK-004 conflicts with STK-005. Noise and siting vs throughput. *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0037"/>
            <a:ext cx="6379289" cy="2531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stakeholders as part definitions; 17 concerns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and reasons as metadata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relationships as dependencies with a keyword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847342"/>
          </a:xfrm>
          <a:prstGeom prst="roundRect">
            <a:avLst>
              <a:gd name="adj" fmla="val 2970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84734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RULE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`from A to B`: A, the client, depends on B, the supplier; a change to B may change A (SysML v2.1 Beta 2, Part 1, 7.3). FAA regulates OEM: `#regulatedBy … from STK-011 to STK-002`.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audit questions applied to the AeroLink import, with the result and the disposition of each (FICTIONAL).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III: auditing the import</a:t>
            </a:r>
            <a:endParaRPr lang="en-US" sz="3000" dirty="0"/>
          </a:p>
        </p:txBody>
      </p:sp>
      <p:pic>
        <p:nvPicPr>
          <p:cNvPr id="4" name="Image 0" descr="A four-row checklist table with columns Question, Result, Disposition and a status mark. Row 'Completeness': 15 of 15 stakeholders, 17 of 17 concerns and 6 of 6 external systems are in the model, each once, with the register's ID and name. Disposition: None needed. Mark: check. Row 'Structure': Every concern has the enterprise as its subject and one stakeholder typed by a stakeholder part definition; 15 of 15 stakeholders hold at least one concern. 8 relationships are modeled, 1 of them a conflict. Disposition: None needed. Mark: check. Row 'Fidelity': Each concern’s documentation is the register text. The instructor reference SysML files carried the earlier CON-015 wording (delivery and certification progress) and named four external systems after the organizations behind them. Disposition: Logged and corrected in the reference files in Week 8, after review (the case wording is canonical). Mark: check. Row 'Gaps': STK-015 and CON-017 are in this model but not yet in the shared reference baseline that the later-week tools read; CON-015 has no need, by a recorded decision (the purchase-agreement gap of Week 1). Disposition: STK-015 and CON-017 join the reference when the Week 12 and 13 tools are rebuilt; the CON-015 decision is carried as is. Mark: gap. A side label spans rows 1 and 2: 'the tool answers'; a side label spans rows 3 and 4: 'the team answers'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92318"/>
            <a:ext cx="6379289" cy="31495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15/15 stakeholders, 17/17 concerns, 6/6 external systems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every concern has a subject and a stakeholder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Fidelity: differences logged, then corrected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Gaps: each with a recorded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concern modeled this week is framed by a need in Week 9 and by a viewpoint in Week 14.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9</a:t>
            </a:r>
            <a:endParaRPr lang="en-US" sz="3000" dirty="0"/>
          </a:p>
        </p:txBody>
      </p:sp>
      <p:pic>
        <p:nvPicPr>
          <p:cNvPr id="4" name="Image 0" descr="Three boxes left to right. Left, solid and highlighted: 'CON-006 Pad throughput and charging capacity (Week 8, modeled now)'. Middle, dashed: 'NEED-004 Pads not limited by turnaround (Week 9: requirement)' with an arrow to the left box labeled 'frame'. Below the middle box, a dashed box 'stakeholder and system requirements (Week 9)' with an arrow up to NEED-004 labeled 'derived from'. Right, dashed: 'Operator view viewpoint (Week 14)' with a long arrow to the left box labeled 'frame'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5439" y="1280160"/>
            <a:ext cx="9380818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L8 deliverables: three files, one upload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L8: model v0.1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9 Session 1, on the LMS; your own enterprise, never AeroLink</a:t>
            </a:r>
            <a:endParaRPr lang="en-US" sz="1600" dirty="0"/>
          </a:p>
        </p:txBody>
      </p:sp>
      <p:pic>
        <p:nvPicPr>
          <p:cNvPr id="5" name="Image 0" descr="Three file cards side by side. Card 1: 'team-NN-model-v01.sysml' — model v0.1: the package skeleton with the purpose statement, the Context and Stakeholders packages fully modeled, every later package present with a note of the week that fills it. Card 2: 'team-NN-mapping-matrix.md' — the artifact-to-model mapping matrix for the whole Systems Thinking package, with a reason for every non-obvious choice, and the import audit with a disposition for every gap. Card 3: 'team-NN-checker-log.txt' — the checker output: the tool proof (the pass file and the fail file) and the final run of model v0.1 with zero errors, every warning explained. Under the cards a strip: 'One upload by one member, before Week 9, Session 1. AI usage statement included in the mapping matrix file.'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04380"/>
            <a:ext cx="6379289" cy="299978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team-NN-model-v01.sysml, team-NN-mapping-matrix.md,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 in the final run;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9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tool in four steps: import, map, review the findings, preview and export.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import, map and start the skeleton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8 lab tool</a:t>
            </a:r>
            <a:endParaRPr lang="en-US" sz="1600" dirty="0"/>
          </a:p>
        </p:txBody>
      </p:sp>
      <p:pic>
        <p:nvPicPr>
          <p:cNvPr id="5" name="Image 0" descr="Four numbered panels left to right, like screens. Panel 1 'Import': a file drop area labeled 'Week 1 model inputs (.json), versions 1 to 3; optional Week 2 model inputs', and a message line 'AeroLink records are refused: import your own'. Panel 2 'Map': a table with columns Kind, Package, Construct, Week, Count; rows for ENT, STK, CON marked 'modeled now', NEED marked 'Week 9', TECH marked 'enter count'. Panel 3 'Findings': four colored tags with labels: Defect (not imported), Gap (needs a disposition), Unmapped kind, Mapped for a later week; beside each gap a text box 'disposition'. Panel 4 'Preview and export': a code preview with the first lines of a package and the purpose doc, and two buttons 'Export .sysml' and 'Export mapping matrix (.md)'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7341"/>
            <a:ext cx="6379289" cy="31938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 export (and Week 2, if you have it)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counts for the Weeks 3–6 kinds; decide any unmapped kind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defect and gap; draft a disposition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purpose; preview the skeleton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 file of the tool proof, numbered as in the file (its three header comment lines are not shown): an unquoted ID on line 9. The checker must reject it. Checked (FAIL, as intended).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p.49–50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prove the toolchain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member shows two outputs: the pass file and the fail file</a:t>
            </a:r>
            <a:endParaRPr lang="en-US" sz="1600" dirty="0"/>
          </a:p>
        </p:txBody>
      </p:sp>
      <p:pic>
        <p:nvPicPr>
          <p:cNvPr id="5" name="Image 0" descr="Listing (file sysml/lectures/week08/invalid_tool_proof_unquoted_id.sysml, checked: FAIL): package ToolProofFail {     part def &lt;'ENT-001'&gt; 'Example Enterprise';     part def 'Road network';     part context {         // the next line breaks the course ID rule         part &lt;EXT-001&gt; roadNetwork : 'Road network';     }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5528"/>
            <a:ext cx="6379289" cy="28521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file: expect PASS, no message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file: expect FAIL at the unquoted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both outputs for the checker log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working installation: team’s or lab machine today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L8, with the lead role for each task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Q8 and the applied exercise open today. Log your hours.</a:t>
            </a:r>
            <a:endParaRPr lang="en-US" sz="1600" dirty="0"/>
          </a:p>
        </p:txBody>
      </p:sp>
      <p:pic>
        <p:nvPicPr>
          <p:cNvPr id="5" name="Image 0" descr="A timeline of days 1 to 7 with bars. Days 1–2: mapping matrix and skeleton with purpose, Architecture; each member writes the doc of at least one package. Day 3: Context package, Architecture. Days 3–4: Stakeholders package (stakeholders, concerns, ratings), Requirements &amp; Compliance; relationships, Architecture. Day 5: import audit with dispositions, Verification &amp; Validation. Day 6: checker runs to zero errors, AI &amp; Data runs, owners fix; AI usage statement. Day 7: integration review and upload, Verification &amp;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413" y="1554480"/>
            <a:ext cx="7720870" cy="42995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R28 · SEBoK v2.14 (2026), “Model-Based Systems Engineering (MBSE)”, p.370, 372–374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R33b · SEBoK v2.14 (2026), “Why Model?”, p.295–296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R69 · OMG SysML v2.1 Beta 2, Part 1 (Release 2026-07), “7.27 Metadata”, p.193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sl.3–12, 15–16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· Seidewitz, Intro to the SysML v2 Language: Textual Notation (Release 2026-08), “Metadata”, sl.108–109, 115–116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p.47–51, 56, 60–61, 63–66, 72–73, 77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p.166–167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R85 · OMG SysML v2.1 Beta 2, Part 1 (Release 2026-07), “7.26 Views and Viewpoints”, p.181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R90 · Friedenthal, Intro to the SysML v2 Language: Graphical Notation (2023-03-07), “Systems Modeling Language”, sl.7–9, 12, 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8, Session 2: Import Systems Thinking Artifacts / Stakeholders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2026-10-27T14:48:08Z</dcterms:created>
  <dcterms:modified xsi:type="dcterms:W3CDTF">2026-10-27T14:48:08Z</dcterms:modified>
</cp:coreProperties>
</file>