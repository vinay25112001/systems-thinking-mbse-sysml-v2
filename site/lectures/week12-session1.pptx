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 fills the Verification package of your model: Requirements was filled in Week 9, Logical and Behavior in Week 10, Physical in Week 11.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Thread / V&amp;V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1: Verification, validation and verification cases</a:t>
            </a:r>
            <a:endParaRPr lang="en-US" sz="1600" dirty="0"/>
          </a:p>
        </p:txBody>
      </p:sp>
      <p:pic>
        <p:nvPicPr>
          <p:cNvPr id="5" name="Image 0" descr="Three faint cards at the top: Requirements, Week 9; Logical and Behavior, Week 10; Physical, Week 11. A thick arrow runs down to a strong box, Verification. Below, a row labeled Phase II with the week numbers 8 to 14, number 12 highlighted, and the line: model v0.5 of your enterpri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8622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verification, validation and verification cases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the digital thread, coverage, change and baselines, the Lab L12 launch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output: model v0.5 of your own enterprise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parcel locker with a design value, a requirement on its unlock time, a satisfy line and a verification case (lines shortened for display).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question: the checker accepts this. What has been shown?</a:t>
            </a:r>
            <a:endParaRPr lang="en-US" sz="3000" dirty="0"/>
          </a:p>
        </p:txBody>
      </p:sp>
      <p:pic>
        <p:nvPicPr>
          <p:cNvPr id="4" name="Image 0" descr="A code card with these lines: part lockerA : Locker { / attribute :&gt;&gt; unlockTime = 2.4 [s]; / } / requirement &lt;'REQ-SYS-004'&gt; unlockTime { / doc /* The locker shall unlock within 3 s of a valid code. */ / subject locker : Locker; / require constraint { locker.unlockTime &lt;= 3 [s] } / } / satisfy unlockTime by lockerA; / verification def &lt;'VER-004'&gt; UnlockTimeTest { / subject locker : Locker; / objective { / doc /* Pass when: 50 valid codes each unlock in &lt;= 3.0 s. */ / verify unlockTime; / } / metadata VerificationMethod { kind = VerificationMethodKind::test; } / return verdict : VerdictKind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checker accepts this file. Which is true?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REQ-SYS-004 is verified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The design is shown to satisfy REQ-SYS-004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The model claims it and plans a test; nothing is shown yet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The checker rejects the file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of this week and the package they enter: model v0.4 with its requirements (method and criterion), satisfy claims and design elements, and the optional Week 6 file with risks, unknowns and increments.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12 imports</a:t>
            </a:r>
            <a:endParaRPr lang="en-US" sz="3000" dirty="0"/>
          </a:p>
        </p:txBody>
      </p:sp>
      <p:pic>
        <p:nvPicPr>
          <p:cNvPr id="4" name="Image 0" descr="Top row, titled What enters the model: a wide card, Model v0.4, and a dashed card, Week 6 file. A thick arrow runs down from Model v0.4, labeled REQ: method, criterion; satisfy claims; PHY, IF, LOG. A dashed grey arrow runs down from the Week 6 file, labeled R, U, INC. Both end in a wide strong box, Verification, the package Week 12 fill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9: each requirement with a method and a success criterion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10 and 11: functions, logical and physical parts, interfaces; the first satisfy claims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Week 6 file: risks, unknowns, increments, interface change requests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IDs throughout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p.634; R23b p.646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and validation: two definitions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94415" cy="153212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80160"/>
            <a:ext cx="73152" cy="153212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280160"/>
            <a:ext cx="10728655" cy="1532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(SEBOK)</a:t>
            </a:r>
            <a:endParaRPr lang="en-US" sz="1300" dirty="0"/>
          </a:p>
          <a:p>
            <a:pPr indent="0" marL="0">
              <a:buNone/>
            </a:pPr>
            <a:r>
              <a:rPr lang="en-US" sz="2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confirmation, through the provision of objective evidence, that specified requirements have been fulfilled”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· SEBoK v2.14 (2026), "System Verification", p.634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976880"/>
            <a:ext cx="11094415" cy="153212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976880"/>
            <a:ext cx="73152" cy="153212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976880"/>
            <a:ext cx="10728655" cy="1532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(SEBOK)</a:t>
            </a:r>
            <a:endParaRPr lang="en-US" sz="1300" dirty="0"/>
          </a:p>
          <a:p>
            <a:pPr indent="0" marL="0">
              <a:buNone/>
            </a:pPr>
            <a:r>
              <a:rPr lang="en-US" sz="2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confirmation, through the provision of objective evidence, that the requirements for a specific intended use or application have been fulfilled”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R23b · SEBoK v2.14 (2026), "System Validation", p.646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R23b p.648; R23a p.636; R49 p.149–150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right, or the right system?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 faults (supplier)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acquire confidence (end user)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design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and stakeholder requirements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Basic method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fine-tooth comb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traceability matrix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49605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SEBoK’s table of differences (may vary with context)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3962400"/>
            <a:ext cx="11094415" cy="793750"/>
          </a:xfrm>
          <a:prstGeom prst="roundRect">
            <a:avLst>
              <a:gd name="adj" fmla="val 6912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3962400"/>
            <a:ext cx="10820095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“Did you build the system correctly?” versus “Is it the right solution to the problem?” (DoD)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checks with three references: the requirement against the characteristics of a good requirement, the system against the requirement, the system in use against the need.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p.635; R23b p.648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different checks</a:t>
            </a:r>
            <a:endParaRPr lang="en-US" sz="3000" dirty="0"/>
          </a:p>
        </p:txBody>
      </p:sp>
      <p:pic>
        <p:nvPicPr>
          <p:cNvPr id="4" name="Image 0" descr="Three wide cards stacked. Top, faint: Verify a requirement (Week 9), well written: verifiable, singular. Middle, strong: Verify the system, built right: meets the requirement. Bottom, green: Validate, the right system: meets the need in u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requirement: checked against the characteristics of a good requirement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checked against its requirements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in use: checked against the need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cases do the second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p.639; R49 p.149–150; R117 p.539–540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verification methods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relies 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Library literal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observation, simple measurement; no stimuli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calculation, models, simulation; no intervention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analyze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Demonstration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observed operation, little or no instrumentation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controlled conditions; quantitative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22757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and the DoD guidebook; the literals of VerificationMethodKind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verification cases of model v0.5 by method, counted from the generated model.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p.637; R23a p.640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method</a:t>
            </a:r>
            <a:endParaRPr lang="en-US" sz="3000" dirty="0"/>
          </a:p>
        </p:txBody>
      </p:sp>
      <p:pic>
        <p:nvPicPr>
          <p:cNvPr id="4" name="Image 0" descr="Four horizontal bars: inspection 4, analysis 5, demonstration 11, test 14. Below: 34 AeroLink cas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evidence does the criterion need: a number, an observation, a document?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can it be had: design, integration, operation?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strategy: a justified selection against risk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Pitfall: use only testing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parts of a SysML v2 verification case as the course uses them: the subject, the objective with its verified requirements, the method and the verdict.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p.173; R75 sl.96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verification case: subject, objective, verdict</a:t>
            </a:r>
            <a:endParaRPr lang="en-US" sz="3000" dirty="0"/>
          </a:p>
        </p:txBody>
      </p:sp>
      <p:pic>
        <p:nvPicPr>
          <p:cNvPr id="4" name="Image 0" descr="Four wide cards stacked: subject, the unit under verification; objective, verify: the requirements to check (drawn strong); method, inspect, analyze, demo or test; result, a verdict: pass, fail, inconclusive, error (drawn green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965960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96596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9659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CASE DEFINITION (SYSML V2.1 BETA 2)</a:t>
            </a:r>
            <a:endParaRPr lang="en-US" sz="1100" dirty="0"/>
          </a:p>
          <a:p>
            <a:pPr indent="0" marL="0">
              <a:buNone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kind of case definition … whose result is a verdict on whether the subject of the case satisfies certain requirements”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"7.23 Analysis Cases", p.173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410712"/>
            <a:ext cx="4349366" cy="16736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Subject: the unit under verification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the requirements to verify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pass, fail, inconclusive or error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VER-001 in AeroLink model v0.5, with its long record line shortened.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p.174–176; R117 p.539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AeroLink verification case in the textual notation</a:t>
            </a:r>
            <a:endParaRPr lang="en-US" sz="3000" dirty="0"/>
          </a:p>
        </p:txBody>
      </p:sp>
      <p:pic>
        <p:nvPicPr>
          <p:cNvPr id="4" name="Image 0" descr="Listing (course file sysml/lectures/week12/aerolink_verification_v05.sysml, checked: PASS): verification def &lt;'VER-001'&gt; 'Turnaround charge-time test' { / doc /* Verifies REQ-SYS-001 (Charge to dispatch … */ / subject chargers : Physical::'Chargers'; / objective { / doc /* Pass when: All 30 charges from 20 % (+0/-1 … */ / verify Requirements::'REQ-SYS-001'; / } / metadata VerificationMethod { kind = VerificationMethodKind::test; } / @VerificationRecord { level = &quot;system element&quot;; environment = … } / return verdict : VerdictKind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58417"/>
            <a:ext cx="6379289" cy="205470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def, the objective, verify, return verdict: SysML v2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VerificationMethod: library metadata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conventions: the VER ID as short name; the subject typed by the requirement’s subject; the VerificationRecord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satisfy claim of Week 11 and three verification usages of AeroLink model v0.5: one bound to the claimed part, one to a logical part, one left on the enterprise (excerpt).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p.176; R75 sl.98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the subject to the element under verification</a:t>
            </a:r>
            <a:endParaRPr lang="en-US" sz="3000" dirty="0"/>
          </a:p>
        </p:txBody>
      </p:sp>
      <p:pic>
        <p:nvPicPr>
          <p:cNvPr id="4" name="Image 0" descr="Listing (course file sysml/lectures/week12/aerolink_verification_v05.sysml, checked: PASS): satisfy Requirements::'REQ-SYS-001' by physicalArchitecture.chargingSystems { doc /* Basis: … */ } / part verificationContext { / verification turnaroundChargeTimeTest : Verification::'Turnaround charge-time test' { subject chargers = Physical::physicalArchitecture.chargingSystems; } / verification landingEnergyReserveAnalysis : Verification::'Landing energy reserve analysis' { subject flightOperations = Logical::logicalArchitecture.flightOperations; } / verification stepFreeBoardingInspection : Verification::'Step-free boarding inspection'; / …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29404"/>
            <a:ext cx="6379289" cy="23500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84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verified requirement is evaluated on the case’s subject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one verification usage per case, in verificationContext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the element the satisfy claim names; otherwise the part whose type is the requirement’s subject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stakeholder requirement stays on the enterprise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satisfy claim asserts that the requirement holds and rests on a basis; a verification case, once run, gives a verdict with its evidence.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p.168; R74 sl.91; R84 p.173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claim is not evidence: satisfy and verify</a:t>
            </a:r>
            <a:endParaRPr lang="en-US" sz="3000" dirty="0"/>
          </a:p>
        </p:txBody>
      </p:sp>
      <p:pic>
        <p:nvPicPr>
          <p:cNvPr id="4" name="Image 0" descr="Left: a card titled satisfy, a claim the model asserts as true, above a dashed card titled basis, an estimate. Right: a strong card titled verification case, a check, planned or run, with an arrow down to a green card titled verdict, with its evidence. At the bottom: a claim is not eviden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satisfy: an assertion that the requirement is met when its subject is bound to the element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the requirement a case checks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a verdict from a run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vote: C. Claimed and planned; nothing shown yet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parcel-locker verification case whose steps collect the worst unlock time and evaluate it with PassIf, and a usage bound to one locker.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p.174; R117 p.536–537; R75 sl.97–98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steps of a case and its verdict</a:t>
            </a:r>
            <a:endParaRPr lang="en-US" sz="3000" dirty="0"/>
          </a:p>
        </p:txBody>
      </p:sp>
      <p:pic>
        <p:nvPicPr>
          <p:cNvPr id="4" name="Image 0" descr="Listing (course file sysml/lectures/week12/verification_steps_passif.sysml, checked: PASS): verification def UnlockTimeTest { / subject locker : Locker; / objective { / verify unlockTime; / } / metadata VerificationMethod { kind = VerificationMethodKind::test; } / action collectData { / in part locker : Locker = UnlockTimeTest::locker; / out worstUnlock : DurationValue; / } / action evaluateData { / in worstUnlock : DurationValue = collectData.worstUnlock; / out verdict : VerdictKind = PassIf(unlockTime(locker = UnlockTimeTest::locker, measured = worstUnlock)); / } / return verdict : VerdictKind = evaluateData.verdict; / } / verification unlockTestLockerA : UnlockTimeTest { / subject locker = lockerA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3519"/>
            <a:ext cx="6379289" cy="29618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data with a method; analyze it; evaluate it against the objective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PassIf: pass or fail from a Boolean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steps are actions; a verification system can perform them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models plans, so most cases carry no steps yet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analysis case used as the evidence step of a verification case whose method is analysis; its result decides the verdict.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R75 sl.92; R84 p.174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analysis case as evidence</a:t>
            </a:r>
            <a:endParaRPr lang="en-US" sz="3000" dirty="0"/>
          </a:p>
        </p:txBody>
      </p:sp>
      <p:pic>
        <p:nvPicPr>
          <p:cNvPr id="4" name="Image 0" descr="Listing (course file sysml/lectures/week12/analysis_as_evidence.sysml, checked: PASS): analysis def BackupEnduranceAnalysis { / subject locker : Locker; / return enduranceHours : Real; / } / verification def BackupBatteryAnalysis { / subject locker : Locker; / objective { / doc /* Pass when: the computed endurance on the worst-case … */ / verify backupBattery; / } / metadata VerificationMethod { kind = VerificationMethodKind::analyze; } / analysis endurance : BackupEnduranceAnalysis { / subject locker = BackupBatteryAnalysis::locker; / } / return verdict : VerdictKind = PassIf(endurance.enduranceHours &gt;= 8.0)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46203"/>
            <a:ext cx="6379289" cy="267913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analysis: the evidence is a computed result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analysis case computes it; PassIf turns it into a verdict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cases, constraints and trade studies: Week 13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VER-003 in AeroLink model v0.5, the one case already run: its record line with the plan’s fields and part of the evidence left out (…).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p.173; R117 p.537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verdicts: pass, fail, inconclusive, error</a:t>
            </a:r>
            <a:endParaRPr lang="en-US" sz="3000" dirty="0"/>
          </a:p>
        </p:txBody>
      </p:sp>
      <p:pic>
        <p:nvPicPr>
          <p:cNvPr id="4" name="Image 0" descr="Listing (course file sysml/lectures/week12/aerolink_verification_v05.sysml, checked: PASS): verification def &lt;'VER-003'&gt; 'Landing energy reserve analysis' { / … / verify Requirements::'REQ-SYS-003'; / … / @VerificationRecord { level = &quot;logical element&quot;; … status = &quot;run&quot;; verdict = VerdictKind::inconclusive; evidence = &quot;TPM-003 energy analysis of the design trip … (INFO-002).&quot;; risks = &quot;R-002&quot;; } / return verdict : VerdictKind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69042"/>
            <a:ext cx="6379289" cy="167076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Pass: determined to satisfy; fail: determined not to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Inconclusive: no determination could be made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Error: the verification itself went wrong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VER-003: inconclusive, with its evidence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p.640; R23b p.655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pass and inconclusive conditions first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VER-001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 criterion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 time from 20 % reserve to dispatch threshold &lt;= 20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when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30 charges from 20 % (+0/-1 %) state of charge reach the dispatch threshold in &lt;= 20.0 min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Inconclusive when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820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than 30 valid charges, or start state of charge outside tolerance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9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59359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v0.5 (FICTIONAL)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4059936"/>
            <a:ext cx="11094415" cy="501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in advance when the run cannot decide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R23b p.649; R23a p.635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level by level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9883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element is verified before it is integrated into the level above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are checked as aggregates are integrated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result is definitive until the system runs in its real environment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record states the level: enterprise, system element, component, interface, logical element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p.173–176; R23a p.637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from REQ-SYS-001 to VER-001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993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9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Requirement: </a:t>
            </a:r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REQ-SYS-001: method test</a:t>
            </a:r>
            <a:endParaRPr lang="en-US" sz="19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9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Element: </a:t>
            </a:r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PHY-003, the part the satisfy claim names</a:t>
            </a:r>
            <a:endParaRPr lang="en-US" sz="19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9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Conditions: </a:t>
            </a:r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and inconclusive, from the criterion</a:t>
            </a:r>
            <a:endParaRPr lang="en-US" sz="19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9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Environment: </a:t>
            </a:r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vertiport, ambient 0-35 C</a:t>
            </a:r>
            <a:endParaRPr lang="en-US" sz="19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9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Record: </a:t>
            </a:r>
            <a:pPr indent="0" marL="0">
              <a:buNone/>
            </a:pPr>
            <a:r>
              <a:rPr lang="en-US" sz="19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planned; risk and evidence when known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fragments of parcel-locker files around one requirement, shown without their checker results.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which does the checker reject?</a:t>
            </a:r>
            <a:endParaRPr lang="en-US" sz="3000" dirty="0"/>
          </a:p>
        </p:txBody>
      </p:sp>
      <p:pic>
        <p:nvPicPr>
          <p:cNvPr id="4" name="Image 0" descr="A card titled Which does the checker reject? Below a shared line, requirement unlockTime { subject locker : Locker; }, three fragments: A, verify unlockTime by lockerA;; B, subject screen : KioskScreen; / objective { verify unlockTime; }; C, verification unlockTestScreen : UnlockTimeTest { / subject locker = screenA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A, B and C: rejected, warned about, or accepted without a message?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894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word for each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B and C: is the case right?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10 course files: what it rejects, and what it accepts, one of them with a warning.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p.176; R117 p.540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checks, and what it cannot</a:t>
            </a:r>
            <a:endParaRPr lang="en-US" sz="3000" dirty="0"/>
          </a:p>
        </p:txBody>
      </p:sp>
      <p:pic>
        <p:nvPicPr>
          <p:cNvPr id="4" name="Image 0" descr="Two columns. Left, headed checker rejects: verify outside an objective; verify written like satisfy; method the library lacks. Right, headed checker accepts: warns: usage bound to the wrong part; subject of the wrong type; no subject; Boolean verdict; verify of a constraint; requirement, no case; claimed, nothing run. The recorded messages are in the notes and the less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84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 card: A rejected, C warned about, B silent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verify outside an objective, verify like satisfy, an unknown method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checked: a case’s subject type, verdict type, coverage, method fit, criterion, verdict truth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errors is necessary, never sufficient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cases to coverage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model v0.5: 34 of 36 requirements have a case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cases: inspection 4, analysis 5, demonstration 11, test 14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run; the others planned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requirements wait, each with a disposition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p.634; R23b p.646; R84 p.173; R83 p.168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9883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against the specified requirements; validation: against the intended use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method from the evidence the criterion needs and the risk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verification case: subject, objective with verify, method, verdict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satisfy line is a claim; a run with evidence shows it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exit card: five fields to fill for one requirement of your team’s model.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plan one case for one of your requirements</a:t>
            </a:r>
            <a:endParaRPr lang="en-US" sz="3000" dirty="0"/>
          </a:p>
        </p:txBody>
      </p:sp>
      <p:pic>
        <p:nvPicPr>
          <p:cNvPr id="4" name="Image 0" descr="A card with five labeled boxes: requirement, method, element under verification, pass when, inconclusive when. At the bottom a tag: one requirement of y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system requirement of your model v0.4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keep the recorded one, or give a reason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under verification: the satisfying part, or the part of the subject type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when; inconclusive when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R23a · SEBoK v2.14 (2026), “System Verification”, p.634–640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R23b · SEBoK v2.14 (2026), “System Validation”, p.646, 648–649, 651–652, 654–655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R49 · OUSD(R&amp;E) Systems Engineering Guidebook (2021/2022), “Verification Process”, p.149–150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R74 · Seidewitz, Intro to the SysML v2 Language: Textual Notation (Release 2026-08), “Requirement Definitions”, sl.91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R75 · Seidewitz, Intro to the SysML v2 Language: Textual Notation (Release 2026-08), “Analysis Case Definitions”, sl.92, 96–98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R83 · OMG SysML v2.1 Beta 2, Part 1 (Release 2026-07), “7.21 Requirements”, p.168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R84 · OMG SysML v2.1 Beta 2, Part 1 (Release 2026-07), “7.23 Analysis Cases”, p.173–176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R117 · OMG SysML v2.1 Beta 2, Part 1 (Release 2026-07), “9.2.17 Verification Cases”, p.536–537, 539–540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12, Session 1: Digital Thread / V&amp;V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2026-10-27T14:48:10Z</dcterms:created>
  <dcterms:modified xsi:type="dcterms:W3CDTF">2026-10-27T14:48:10Z</dcterms:modified>
</cp:coreProperties>
</file>