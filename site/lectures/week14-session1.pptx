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a:p>
            <a:r>
              <a:rPr lang="en-US" dirty="0"/>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p>
          <a:p>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a:p>
            <a:endParaRPr lang="en-US" dirty="0"/>
          </a:p>
          <a:p>
            <a:r>
              <a:rPr lang="en-US" dirty="0" b="1"/>
              <a:t/>
            </a:r>
          </a:p>
          <a:p>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p>
          <a:p>
            <a:r>
              <a:rPr lang="en-US" dirty="0"/>
              <a:t/>
            </a:r>
          </a:p>
          <a:p>
            <a:r>
              <a:rPr lang="en-US" dirty="0"/>
              <a:t/>
            </a:r>
          </a:p>
          <a:p>
            <a:endParaRPr lang="en-US" dirty="0"/>
          </a:p>
          <a:p>
            <a:r>
              <a:rPr lang="en-US" dirty="0" b="1"/>
              <a:t/>
            </a:r>
          </a:p>
          <a:p>
            <a:r>
              <a:rPr lang="en-US" dirty="0"/>
              <a:t/>
            </a:r>
          </a:p>
          <a:p>
            <a:endParaRPr lang="en-US" dirty="0"/>
          </a:p>
          <a:p>
            <a:r>
              <a:rPr lang="en-US" dirty="0" b="1"/>
              <a:t/>
            </a:r>
            <a:r>
              <a:rPr lang="en-US" dirty="0"/>
              <a:t/>
            </a:r>
          </a:p>
          <a:p>
            <a:endParaRPr lang="en-US" dirty="0"/>
          </a:p>
          <a:p>
            <a:r>
              <a:rPr lang="en-US" dirty="0" b="1"/>
              <a:t/>
            </a:r>
            <a:r>
              <a:rPr lang="en-US" dirty="0"/>
              <a:t/>
            </a:r>
          </a:p>
        </p:txBody>
      </p:sp>
      <p:sp>
        <p:nvSpPr>
          <p:cNvPr id="4" name="Slide Number Placeholder 3"/>
          <p:cNvSpPr>
            <a:spLocks noGrp="1"/>
          </p:cNvSpPr>
          <p:nvPr>
            <p:ph type="sldNum" sz="quarter" idx="10"/>
          </p:nvPr>
        </p:nvSpPr>
        <p:spPr/>
        <p:txBody>
          <a:bodyPr/>
          <a:lstStyle/>
          <a:p>
            <a:fld id="{F7021451-1387-4CA6-816F-3879F97B5CBC}" type="slidenum">
              <a:rPr lang="en-US"/>
              <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CTUR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F6E8C"/>
          </a:solidFill>
          <a:ln/>
        </p:spPr>
      </p:sp>
      <p:sp>
        <p:nvSpPr>
          <p:cNvPr id="3" name="Shape 1"/>
          <p:cNvSpPr/>
          <p:nvPr/>
        </p:nvSpPr>
        <p:spPr>
          <a:xfrm>
            <a:off x="548640" y="1097280"/>
            <a:ext cx="11094415" cy="0"/>
          </a:xfrm>
          <a:prstGeom prst="line">
            <a:avLst/>
          </a:prstGeom>
          <a:noFill/>
          <a:ln w="31750">
            <a:solidFill>
              <a:srgbClr val="0F6E8C"/>
            </a:solidFill>
            <a:prstDash val="solid"/>
          </a:ln>
        </p:spPr>
      </p:sp>
      <p:sp>
        <p:nvSpPr>
          <p:cNvPr id="4" name="Shape 2"/>
          <p:cNvSpPr/>
          <p:nvPr/>
        </p:nvSpPr>
        <p:spPr>
          <a:xfrm>
            <a:off x="548640" y="6355080"/>
            <a:ext cx="11094415" cy="0"/>
          </a:xfrm>
          <a:prstGeom prst="line">
            <a:avLst/>
          </a:prstGeom>
          <a:noFill/>
          <a:ln w="9525">
            <a:solidFill>
              <a:srgbClr val="D3D9E1"/>
            </a:solidFill>
            <a:prstDash val="solid"/>
          </a:ln>
        </p:spPr>
      </p:sp>
      <p:sp>
        <p:nvSpPr>
          <p:cNvPr id="5" name="Text 3"/>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6" name="Text 4"/>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14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320040" cy="6858000"/>
          </a:xfrm>
          <a:prstGeom prst="rect">
            <a:avLst/>
          </a:prstGeom>
          <a:solidFill>
            <a:srgbClr val="0F6E8C"/>
          </a:solidFill>
          <a:ln/>
        </p:spPr>
      </p:sp>
      <p:sp>
        <p:nvSpPr>
          <p:cNvPr id="3" name="Shape 1"/>
          <p:cNvSpPr/>
          <p:nvPr/>
        </p:nvSpPr>
        <p:spPr>
          <a:xfrm>
            <a:off x="548640" y="6355080"/>
            <a:ext cx="11094415" cy="0"/>
          </a:xfrm>
          <a:prstGeom prst="line">
            <a:avLst/>
          </a:prstGeom>
          <a:noFill/>
          <a:ln w="9525">
            <a:solidFill>
              <a:srgbClr val="D3D9E1"/>
            </a:solidFill>
            <a:prstDash val="solid"/>
          </a:ln>
        </p:spPr>
      </p:sp>
      <p:sp>
        <p:nvSpPr>
          <p:cNvPr id="4" name="Text 2"/>
          <p:cNvSpPr/>
          <p:nvPr/>
        </p:nvSpPr>
        <p:spPr>
          <a:xfrm>
            <a:off x="548640" y="6400800"/>
            <a:ext cx="5486400" cy="320040"/>
          </a:xfrm>
          <a:prstGeom prst="rect">
            <a:avLst/>
          </a:prstGeom>
          <a:noFill/>
          <a:ln/>
        </p:spPr>
        <p:txBody>
          <a:bodyPr wrap="square" lIns="0" tIns="0" rIns="0" bIns="0" rtlCol="0" anchor="ctr"/>
          <a:lstStyle/>
          <a:p>
            <a:pPr indent="0" marL="0">
              <a:buNone/>
            </a:pPr>
            <a:r>
              <a:rPr lang="en-US" sz="1100" dirty="0">
                <a:solidFill>
                  <a:srgbClr val="566071"/>
                </a:solidFill>
                <a:latin typeface="Calibri" pitchFamily="34" charset="0"/>
                <a:ea typeface="Calibri" pitchFamily="34" charset="-122"/>
                <a:cs typeface="Calibri" pitchFamily="34" charset="-120"/>
              </a:rPr>
              <a:t>Systems Thinking and MBSE with SysML v2</a:t>
            </a:r>
            <a:endParaRPr lang="en-US" sz="1100" dirty="0"/>
          </a:p>
        </p:txBody>
      </p:sp>
      <p:sp>
        <p:nvSpPr>
          <p:cNvPr id="5" name="Text 3"/>
          <p:cNvSpPr/>
          <p:nvPr/>
        </p:nvSpPr>
        <p:spPr>
          <a:xfrm>
            <a:off x="4724248" y="6400800"/>
            <a:ext cx="2743200" cy="320040"/>
          </a:xfrm>
          <a:prstGeom prst="rect">
            <a:avLst/>
          </a:prstGeom>
          <a:noFill/>
          <a:ln/>
        </p:spPr>
        <p:txBody>
          <a:bodyPr wrap="square" lIns="0" tIns="0" rIns="0" bIns="0" rtlCol="0" anchor="ctr"/>
          <a:lstStyle/>
          <a:p>
            <a:pPr algn="ctr" indent="0" marL="0">
              <a:buNone/>
            </a:pPr>
            <a:r>
              <a:rPr lang="en-US" sz="1100" dirty="0">
                <a:solidFill>
                  <a:srgbClr val="566071"/>
                </a:solidFill>
                <a:latin typeface="Calibri" pitchFamily="34" charset="0"/>
                <a:ea typeface="Calibri" pitchFamily="34" charset="-122"/>
                <a:cs typeface="Calibri" pitchFamily="34" charset="-120"/>
              </a:rPr>
              <a:t>Week 14 · Session 1</a:t>
            </a:r>
            <a:endParaRPr lang="en-US" sz="11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Week 14 closes Phase II: today you make the model ready, the paired team reviews a frozen copy, and Session 2 is the final review. Course illustration, not SysML v2 graphical notation.</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Final Presentation</a:t>
            </a:r>
            <a:endParaRPr lang="en-US" sz="3000" dirty="0"/>
          </a:p>
        </p:txBody>
      </p:sp>
      <p:sp>
        <p:nvSpPr>
          <p:cNvPr id="4" name="Text 2"/>
          <p:cNvSpPr/>
          <p:nvPr/>
        </p:nvSpPr>
        <p:spPr>
          <a:xfrm>
            <a:off x="548640" y="1133856"/>
            <a:ext cx="11094415" cy="320040"/>
          </a:xfrm>
          <a:prstGeom prst="rect">
            <a:avLst/>
          </a:prstGeom>
          <a:noFill/>
          <a:ln/>
        </p:spPr>
        <p:txBody>
          <a:bodyPr wrap="square" lIns="0" tIns="0" rIns="0" bIns="0" rtlCol="0" anchor="ctr"/>
          <a:lstStyle/>
          <a:p>
            <a:pPr indent="0" marL="0">
              <a:buNone/>
            </a:pPr>
            <a:r>
              <a:rPr lang="en-US" sz="1600" dirty="0">
                <a:solidFill>
                  <a:srgbClr val="566071"/>
                </a:solidFill>
                <a:latin typeface="Calibri" pitchFamily="34" charset="0"/>
                <a:ea typeface="Calibri" pitchFamily="34" charset="-122"/>
                <a:cs typeface="Calibri" pitchFamily="34" charset="-120"/>
              </a:rPr>
              <a:t>Session 1: The coherent model, views for stakeholders, the evolution increment and the review</a:t>
            </a:r>
            <a:endParaRPr lang="en-US" sz="1600" dirty="0"/>
          </a:p>
        </p:txBody>
      </p:sp>
      <p:pic>
        <p:nvPicPr>
          <p:cNvPr id="5" name="Image 0" descr="A strip labeled Phase II with the week numbers 8 to 14, number 14 highlighted. Below it four cards joined by arrows: today, ready; freeze the copy; peer findings; Session 2, the review.">    </p:cNvPr>
          <p:cNvPicPr>
            <a:picLocks noChangeAspect="1"/>
          </p:cNvPicPr>
          <p:nvPr/>
        </p:nvPicPr>
        <p:blipFill>
          <a:blip r:embed="rId1"/>
          <a:stretch>
            <a:fillRect/>
          </a:stretch>
        </p:blipFill>
        <p:spPr>
          <a:xfrm>
            <a:off x="548640" y="1758622"/>
            <a:ext cx="6379289" cy="3728615"/>
          </a:xfrm>
          <a:prstGeom prst="rect">
            <a:avLst/>
          </a:prstGeom>
        </p:spPr>
      </p:pic>
      <p:sp>
        <p:nvSpPr>
          <p:cNvPr id="6" name="Text 3"/>
          <p:cNvSpPr/>
          <p:nvPr/>
        </p:nvSpPr>
        <p:spPr>
          <a:xfrm>
            <a:off x="7293689" y="155448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Today: the coherent model, stakeholder views, the evolution increment, the review</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Then: a frozen review copy, findings from a paired team</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Session 2: the final review of your own model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question an AeroLink investor asks in the review (FICTIONAL). Course illustration, not SysML v2 graphical notation.</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Driving question: where does the answer live?</a:t>
            </a:r>
            <a:endParaRPr lang="en-US" sz="3000" dirty="0"/>
          </a:p>
        </p:txBody>
      </p:sp>
      <p:pic>
        <p:nvPicPr>
          <p:cNvPr id="4" name="Image 0" descr="A question card headed “An investor asks” with the question: Why does the Year-2 step add aircraft and hub charging rather than a new vertiport, and what would change that choice? Under it: where does the answer live?">    </p:cNvPr>
          <p:cNvPicPr>
            <a:picLocks noChangeAspect="1"/>
          </p:cNvPicPr>
          <p:nvPr/>
        </p:nvPicPr>
        <p:blipFill>
          <a:blip r:embed="rId1"/>
          <a:stretch>
            <a:fillRect/>
          </a:stretch>
        </p:blipFill>
        <p:spPr>
          <a:xfrm>
            <a:off x="548640" y="1702805"/>
            <a:ext cx="6379289" cy="3728615"/>
          </a:xfrm>
          <a:prstGeom prst="rect">
            <a:avLst/>
          </a:prstGeom>
        </p:spPr>
      </p:pic>
      <p:sp>
        <p:nvSpPr>
          <p:cNvPr id="5" name="Shape 2"/>
          <p:cNvSpPr/>
          <p:nvPr/>
        </p:nvSpPr>
        <p:spPr>
          <a:xfrm>
            <a:off x="7293689" y="1280160"/>
            <a:ext cx="4349366" cy="1057148"/>
          </a:xfrm>
          <a:prstGeom prst="roundRect">
            <a:avLst>
              <a:gd name="adj" fmla="val 5190"/>
            </a:avLst>
          </a:prstGeom>
          <a:solidFill>
            <a:srgbClr val="ECEFF3"/>
          </a:solidFill>
          <a:ln w="12700">
            <a:solidFill>
              <a:srgbClr val="D3D9E1"/>
            </a:solidFill>
            <a:prstDash val="solid"/>
          </a:ln>
        </p:spPr>
      </p:sp>
      <p:sp>
        <p:nvSpPr>
          <p:cNvPr id="6" name="Text 3"/>
          <p:cNvSpPr/>
          <p:nvPr/>
        </p:nvSpPr>
        <p:spPr>
          <a:xfrm>
            <a:off x="7430849" y="1280160"/>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VOTE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Where does the answer live in a Phase II team’s work?</a:t>
            </a:r>
            <a:endParaRPr lang="en-US" sz="1200" dirty="0"/>
          </a:p>
        </p:txBody>
      </p:sp>
      <p:sp>
        <p:nvSpPr>
          <p:cNvPr id="7" name="Text 4"/>
          <p:cNvSpPr/>
          <p:nvPr/>
        </p:nvSpPr>
        <p:spPr>
          <a:xfrm>
            <a:off x="7293689" y="2501900"/>
            <a:ext cx="4349366" cy="198831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 The requirements package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B · The analysis package: the decision record and its traces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 · A slide in the review deck</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 · Nowhere yet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Elements with an ID declared in each AeroLink model version, v0.1 (Week 8) to v0.6 (Week 13), counted by the Week 14 audit. Course illustration, not SysML v2 graphical notation.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R29 p.1383</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Phase II built, week by week</a:t>
            </a:r>
            <a:endParaRPr lang="en-US" sz="3000" dirty="0"/>
          </a:p>
        </p:txBody>
      </p:sp>
      <p:pic>
        <p:nvPicPr>
          <p:cNvPr id="4" name="Image 0" descr="A bar chart of elements declared per version: v0.1 (Week 8) 47, v0.2 (Week 9) 109, v0.3 (Week 10) 169, v0.4 (Week 11) 211, v0.5 (Week 12) 245, v0.6 (Week 13) 278.">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week modeled one part of the Phase I package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ID kept the number it was given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Week 14: the roadmap increment and the stakeholder views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Coherent, as the course uses the word: four tests stacked from the first to the last. Correct is above them: only verification and validation can support it. Course illustration, not SysML v2 graphical notation.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R29 p.1383–1384</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“coherent” means for the final model</a:t>
            </a:r>
            <a:endParaRPr lang="en-US" sz="3000" dirty="0"/>
          </a:p>
        </p:txBody>
      </p:sp>
      <p:pic>
        <p:nvPicPr>
          <p:cNvPr id="4" name="Image 0" descr="Four stacked bands, bottom to top: accepted by the checker; consistent, one value per fact; traced, gaps owned; faithful to the Phase I IDs. Above them, dashed: correct? only verification and validation can say.">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91795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Accepted: zero errors, warnings explained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Consistent: one value per fact, no claim the model contradicts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Traced: the course links complete, each gap owned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Faithful: every element keeps its Phase I ID</a:t>
            </a:r>
            <a:endParaRPr lang="en-US" sz="2000" dirty="0"/>
          </a:p>
        </p:txBody>
      </p:sp>
      <p:sp>
        <p:nvSpPr>
          <p:cNvPr id="6" name="Shape 3"/>
          <p:cNvSpPr/>
          <p:nvPr/>
        </p:nvSpPr>
        <p:spPr>
          <a:xfrm>
            <a:off x="7293689" y="4362704"/>
            <a:ext cx="4349366" cy="1057148"/>
          </a:xfrm>
          <a:prstGeom prst="roundRect">
            <a:avLst>
              <a:gd name="adj" fmla="val 5190"/>
            </a:avLst>
          </a:prstGeom>
          <a:solidFill>
            <a:srgbClr val="E1EFF4"/>
          </a:solidFill>
          <a:ln w="12700">
            <a:solidFill>
              <a:srgbClr val="0F6E8C"/>
            </a:solidFill>
            <a:prstDash val="solid"/>
          </a:ln>
        </p:spPr>
      </p:sp>
      <p:sp>
        <p:nvSpPr>
          <p:cNvPr id="7" name="Text 4"/>
          <p:cNvSpPr/>
          <p:nvPr/>
        </p:nvSpPr>
        <p:spPr>
          <a:xfrm>
            <a:off x="7430849" y="4362704"/>
            <a:ext cx="4075046" cy="1057148"/>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KEY POINT</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Course convention. A clean checker run is the first test, not the last.</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p.387</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final model audit</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Audit line (course convention)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AeroLink model v0.6</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IDs kept since first issued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all; none removed or renamed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Defects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Gaps to disposition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Complete threads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26 of 36 requirements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Cases with a pass (reported)</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0 of 34</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5828538"/>
            <a:ext cx="11094415" cy="435102"/>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thread through REQ-SYS-001 in AeroLink model v0.6, as the Week 14 audit walks it; each hop names the relationship followed. Course illustration, not SysML v2 graphical notation. (FICTIONAL)</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A complete thread, hop by hop</a:t>
            </a:r>
            <a:endParaRPr lang="en-US" sz="3000" dirty="0"/>
          </a:p>
        </p:txBody>
      </p:sp>
      <p:pic>
        <p:nvPicPr>
          <p:cNvPr id="4" name="Image 0" descr="Eight rows, top to bottom, each an ID and the relationship that reached it: STK-005, holds the concern; CON-006, held by the stakeholder; NEED-004, frames the concern; REQ-STK-005, derived from the need; REQ-SYS-001, derived from the stakeholder requirement (the anchor); FN-006, allocated from the requirement; PHY-003, performs the function; VER-001, verifies the requirement.">    </p:cNvPr>
          <p:cNvPicPr>
            <a:picLocks noChangeAspect="1"/>
          </p:cNvPicPr>
          <p:nvPr/>
        </p:nvPicPr>
        <p:blipFill>
          <a:blip r:embed="rId1"/>
          <a:stretch>
            <a:fillRect/>
          </a:stretch>
        </p:blipFill>
        <p:spPr>
          <a:xfrm>
            <a:off x="548640" y="1621462"/>
            <a:ext cx="6379289" cy="3728615"/>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Up: stakeholder, concern, need, stakeholder requirement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Down: function, physical element, verification case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Say the relationship at every hop</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One model, several views: each view exposes part of the model and renders it for one stakeholder’s concern; the model underneath is unchanged. Course illustration, not SysML v2 graphical notation.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R85 p.181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Model versus view, made precise</a:t>
            </a:r>
            <a:endParaRPr lang="en-US" sz="3000" dirty="0"/>
          </a:p>
        </p:txBody>
      </p:sp>
      <p:pic>
        <p:nvPicPr>
          <p:cNvPr id="4" name="Image 0" descr="At the bottom a wide box labeled one model. Above it two cards, investor view and FAA view, each joined to the model by an arrow labeled expose. Above each card its viewpoint, framing a concern.">    </p:cNvPr>
          <p:cNvPicPr>
            <a:picLocks noChangeAspect="1"/>
          </p:cNvPicPr>
          <p:nvPr/>
        </p:nvPicPr>
        <p:blipFill>
          <a:blip r:embed="rId1"/>
          <a:stretch>
            <a:fillRect/>
          </a:stretch>
        </p:blipFill>
        <p:spPr>
          <a:xfrm>
            <a:off x="548640" y="1540118"/>
            <a:ext cx="6379289" cy="3728615"/>
          </a:xfrm>
          <a:prstGeom prst="rect">
            <a:avLst/>
          </a:prstGeom>
        </p:spPr>
      </p:pic>
      <p:sp>
        <p:nvSpPr>
          <p:cNvPr id="5" name="Shape 2"/>
          <p:cNvSpPr/>
          <p:nvPr/>
        </p:nvSpPr>
        <p:spPr>
          <a:xfrm>
            <a:off x="7293689" y="1280160"/>
            <a:ext cx="4349366" cy="1826514"/>
          </a:xfrm>
          <a:prstGeom prst="rect">
            <a:avLst/>
          </a:prstGeom>
          <a:solidFill>
            <a:srgbClr val="E1EFF4"/>
          </a:solidFill>
          <a:ln w="12700">
            <a:solidFill>
              <a:srgbClr val="E1EFF4"/>
            </a:solidFill>
            <a:prstDash val="solid"/>
          </a:ln>
        </p:spPr>
      </p:sp>
      <p:sp>
        <p:nvSpPr>
          <p:cNvPr id="6" name="Shape 3"/>
          <p:cNvSpPr/>
          <p:nvPr/>
        </p:nvSpPr>
        <p:spPr>
          <a:xfrm>
            <a:off x="7293689" y="1280160"/>
            <a:ext cx="73152" cy="1826514"/>
          </a:xfrm>
          <a:prstGeom prst="rect">
            <a:avLst/>
          </a:prstGeom>
          <a:solidFill>
            <a:srgbClr val="0F6E8C"/>
          </a:solidFill>
          <a:ln w="12700">
            <a:solidFill>
              <a:srgbClr val="0F6E8C"/>
            </a:solidFill>
            <a:prstDash val="solid"/>
          </a:ln>
        </p:spPr>
      </p:sp>
      <p:sp>
        <p:nvSpPr>
          <p:cNvPr id="7" name="Text 4"/>
          <p:cNvSpPr/>
          <p:nvPr/>
        </p:nvSpPr>
        <p:spPr>
          <a:xfrm>
            <a:off x="7522289" y="1280160"/>
            <a:ext cx="3983606" cy="1826514"/>
          </a:xfrm>
          <a:prstGeom prst="rect">
            <a:avLst/>
          </a:prstGeom>
          <a:noFill/>
          <a:ln/>
        </p:spPr>
        <p:txBody>
          <a:bodyPr wrap="square" lIns="50800" tIns="50800" rIns="50800" bIns="50800" rtlCol="0" anchor="ctr"/>
          <a:lstStyle/>
          <a:p>
            <a:pPr indent="0" marL="0">
              <a:buNone/>
            </a:pPr>
            <a:r>
              <a:rPr lang="en-US" sz="1300" b="1" spc="100" kern="0" dirty="0">
                <a:solidFill>
                  <a:srgbClr val="18202D"/>
                </a:solidFill>
                <a:latin typeface="Calibri" pitchFamily="34" charset="0"/>
                <a:ea typeface="Calibri" pitchFamily="34" charset="-122"/>
                <a:cs typeface="Calibri" pitchFamily="34" charset="-120"/>
              </a:rPr>
              <a:t>VIEWPOINT DEFINITION</a:t>
            </a:r>
            <a:endParaRPr lang="en-US" sz="1300" dirty="0"/>
          </a:p>
          <a:p>
            <a:pPr indent="0" marL="0">
              <a:buNone/>
            </a:pPr>
            <a:r>
              <a:rPr lang="en-US" sz="2100" dirty="0">
                <a:solidFill>
                  <a:srgbClr val="18202D"/>
                </a:solidFill>
                <a:latin typeface="Calibri" pitchFamily="34" charset="0"/>
                <a:ea typeface="Calibri" pitchFamily="34" charset="-122"/>
                <a:cs typeface="Calibri" pitchFamily="34" charset="-120"/>
              </a:rPr>
              <a:t>A kind of requirement definition that frames the concerns of one or more stakeholders.</a:t>
            </a:r>
            <a:endParaRPr lang="en-US" sz="1300" dirty="0"/>
          </a:p>
          <a:p>
            <a:pPr indent="0" marL="0">
              <a:spcBef>
                <a:spcPts val="600"/>
              </a:spcBef>
              <a:buNone/>
            </a:pPr>
            <a:r>
              <a:rPr lang="en-US" sz="1100" dirty="0">
                <a:solidFill>
                  <a:srgbClr val="0F6E8C"/>
                </a:solidFill>
                <a:latin typeface="Calibri" pitchFamily="34" charset="0"/>
                <a:ea typeface="Calibri" pitchFamily="34" charset="-122"/>
                <a:cs typeface="Calibri" pitchFamily="34" charset="-120"/>
              </a:rPr>
              <a:t>R85 · OMG SysML v2.1 Beta 2, Part 1 (Release 2026-07), "7.26 Views and Viewpoints", p.181</a:t>
            </a:r>
            <a:endParaRPr lang="en-US" sz="1300" dirty="0"/>
          </a:p>
        </p:txBody>
      </p:sp>
      <p:sp>
        <p:nvSpPr>
          <p:cNvPr id="8" name="Text 5"/>
          <p:cNvSpPr/>
          <p:nvPr/>
        </p:nvSpPr>
        <p:spPr>
          <a:xfrm>
            <a:off x="7293689" y="3271266"/>
            <a:ext cx="4349366" cy="1746250"/>
          </a:xfrm>
          <a:prstGeom prst="rect">
            <a:avLst/>
          </a:prstGeom>
          <a:noFill/>
          <a:ln/>
        </p:spPr>
        <p:txBody>
          <a:bodyPr wrap="square" lIns="25400" tIns="25400" rIns="25400" bIns="25400" rtlCol="0" anchor="t"/>
          <a:lstStyle/>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View definition: a kind of part definition; view conditions and a rendering</a:t>
            </a:r>
            <a:endParaRPr lang="en-US" sz="1900" dirty="0"/>
          </a:p>
          <a:p>
            <a:pPr marL="228600" indent="-228600">
              <a:spcBef>
                <a:spcPts val="600"/>
              </a:spcBef>
              <a:buSzPct val="100000"/>
              <a:buChar char="■"/>
            </a:pPr>
            <a:r>
              <a:rPr lang="en-US" sz="1900" dirty="0">
                <a:solidFill>
                  <a:srgbClr val="18202D"/>
                </a:solidFill>
                <a:latin typeface="Calibri" pitchFamily="34" charset="0"/>
                <a:ea typeface="Calibri" pitchFamily="34" charset="-122"/>
                <a:cs typeface="Calibri" pitchFamily="34" charset="-120"/>
              </a:rPr>
              <a:t>View usage: exposes a portion of the model</a:t>
            </a:r>
            <a:endParaRPr lang="en-US" sz="19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 model v1.0: the stakeholder views package imports the Views library; the viewpoint definition frames the investors’ concern, and a viewpoint usage is typed by it. Checked: PASS.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R77 sl.115–116; R85 p.181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Stakeholders, concerns and viewpoints</a:t>
            </a:r>
            <a:endParaRPr lang="en-US" sz="3000" dirty="0"/>
          </a:p>
        </p:txBody>
      </p:sp>
      <p:pic>
        <p:nvPicPr>
          <p:cNvPr id="4" name="Image 0" descr="Listing (course file sysml/lectures/week14/aerolink_final_model_v10.sysml, checked: PASS): package StakeholderViews { / private import Views::*; / viewpoint def 'VIEW-001 viewpoint' { / doc /* For Investors (STK-003), a non-technical reviewer. … */ / frame Stakeholders::'CON-005'; / } / viewpoint viewpoint001 : 'VIEW-001 viewpoint';">    </p:cNvPr>
          <p:cNvPicPr>
            <a:picLocks noChangeAspect="1"/>
          </p:cNvPicPr>
          <p:nvPr/>
        </p:nvPicPr>
        <p:blipFill>
          <a:blip r:embed="rId1"/>
          <a:stretch>
            <a:fillRect/>
          </a:stretch>
        </p:blipFill>
        <p:spPr>
          <a:xfrm>
            <a:off x="548640" y="2626000"/>
            <a:ext cx="6379289" cy="1556850"/>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concern: a specific topic stakeholders want addressed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viewpoint frames concerns you modeled in Week 8</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Course pattern: a viewpoint definition, then a usage typed by it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AeroLink model v1.0: the investor view definition (satisfy, filter, render) and the view usage that exposes the Analysis package recursively. Checked: PASS.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R85 p.184; R77 sl.117–118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View definitions and view usages: filter, render, expose</a:t>
            </a:r>
            <a:endParaRPr lang="en-US" sz="3000" dirty="0"/>
          </a:p>
        </p:txBody>
      </p:sp>
      <p:pic>
        <p:nvPicPr>
          <p:cNvPr id="4" name="Image 0" descr="Listing (course file sysml/lectures/week14/aerolink_final_model_v10.sysml, checked: PASS): view def 'VIEW-001 view' { / satisfy viewpoint001; / filter @SysML::AnalysisCaseUsage; / render asElementTable; / } / view &lt;'VIEW-001'&gt; view001 : 'VIEW-001 view' { / doc /* Answer read from the view: The table lists the … */ / expose Analysis::**; / }">    </p:cNvPr>
          <p:cNvPicPr>
            <a:picLocks noChangeAspect="1"/>
          </p:cNvPicPr>
          <p:nvPr/>
        </p:nvPicPr>
        <p:blipFill>
          <a:blip r:embed="rId1"/>
          <a:stretch>
            <a:fillRect/>
          </a:stretch>
        </p:blipFill>
        <p:spPr>
          <a:xfrm>
            <a:off x="548640" y="2431921"/>
            <a:ext cx="6379289" cy="1945008"/>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Definition: satisfy a viewpoint, filter, render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Usage: inherits them, exposes what to include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An expose is written like an import, with no visibility keyword</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R125 p.541–543; R125 p.548; R125 p.551; R85 p.186</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Standard views and renderings</a:t>
            </a:r>
            <a:endParaRPr lang="en-US" sz="3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Standard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Short name</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General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Interconnection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iv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Action Flow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afv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State Transition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stv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Sequence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sv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Geometry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gev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Grid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grv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Browser View</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bv</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4928812"/>
            <a:ext cx="11094415" cy="793750"/>
          </a:xfrm>
          <a:prstGeom prst="roundRect">
            <a:avLst>
              <a:gd name="adj" fmla="val 6912"/>
            </a:avLst>
          </a:prstGeom>
          <a:solidFill>
            <a:srgbClr val="ECEFF3"/>
          </a:solidFill>
          <a:ln w="12700">
            <a:solidFill>
              <a:srgbClr val="D3D9E1"/>
            </a:solidFill>
            <a:prstDash val="solid"/>
          </a:ln>
        </p:spPr>
      </p:sp>
      <p:sp>
        <p:nvSpPr>
          <p:cNvPr id="6" name="Text 3"/>
          <p:cNvSpPr/>
          <p:nvPr/>
        </p:nvSpPr>
        <p:spPr>
          <a:xfrm>
            <a:off x="685800" y="4928812"/>
            <a:ext cx="10820095" cy="793750"/>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NOTE</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Renderings: tree diagram, interconnection diagram, textual notation, element table.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What the AeroLink investor view lists (the Analysis package, analysis usages, as an element table): the decision record, which states the ranking, and its sensitivity check, which states the condition that reverses it. Course illustration, not SysML v2 graphical notation.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R85 p.181</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 the investor view</a:t>
            </a:r>
            <a:endParaRPr lang="en-US" sz="3000" dirty="0"/>
          </a:p>
        </p:txBody>
      </p:sp>
      <p:pic>
        <p:nvPicPr>
          <p:cNvPr id="4" name="Image 0" descr="A table of 3 analyses: DEC-001 decision, no ID sensitivityOfCapitalCost, no ID worstCaseOfTPM003. DEC-001 is highlighted. Under the table: the DEC-001 record ranks ALT-004 0.670, ALT-005 0.624; the sensitivity check: the leader changes if the capital cost weight falls below 0.149.">    </p:cNvPr>
          <p:cNvPicPr>
            <a:picLocks noChangeAspect="1"/>
          </p:cNvPicPr>
          <p:nvPr/>
        </p:nvPicPr>
        <p:blipFill>
          <a:blip r:embed="rId1"/>
          <a:stretch>
            <a:fillRect/>
          </a:stretch>
        </p:blipFill>
        <p:spPr>
          <a:xfrm>
            <a:off x="548640" y="1540118"/>
            <a:ext cx="6379289" cy="3728615"/>
          </a:xfrm>
          <a:prstGeom prst="rect">
            <a:avLst/>
          </a:prstGeom>
        </p:spPr>
      </p:pic>
      <p:sp>
        <p:nvSpPr>
          <p:cNvPr id="5" name="Shape 2"/>
          <p:cNvSpPr/>
          <p:nvPr/>
        </p:nvSpPr>
        <p:spPr>
          <a:xfrm>
            <a:off x="7293689" y="1280160"/>
            <a:ext cx="4349366" cy="1320546"/>
          </a:xfrm>
          <a:prstGeom prst="roundRect">
            <a:avLst>
              <a:gd name="adj" fmla="val 4155"/>
            </a:avLst>
          </a:prstGeom>
          <a:solidFill>
            <a:srgbClr val="E1EFF4"/>
          </a:solidFill>
          <a:ln w="12700">
            <a:solidFill>
              <a:srgbClr val="0F6E8C"/>
            </a:solidFill>
            <a:prstDash val="solid"/>
          </a:ln>
        </p:spPr>
      </p:sp>
      <p:sp>
        <p:nvSpPr>
          <p:cNvPr id="6" name="Text 3"/>
          <p:cNvSpPr/>
          <p:nvPr/>
        </p:nvSpPr>
        <p:spPr>
          <a:xfrm>
            <a:off x="7430849" y="1280160"/>
            <a:ext cx="4075046" cy="1320546"/>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ANSWER: B</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The decision record and its traces, in the analysis package. The view selects it; it adds nothing.</a:t>
            </a:r>
            <a:endParaRPr lang="en-US" sz="1200" dirty="0"/>
          </a:p>
        </p:txBody>
      </p:sp>
      <p:sp>
        <p:nvSpPr>
          <p:cNvPr id="7" name="Text 4"/>
          <p:cNvSpPr/>
          <p:nvPr/>
        </p:nvSpPr>
        <p:spPr>
          <a:xfrm>
            <a:off x="7293689" y="2765298"/>
            <a:ext cx="4349366" cy="190601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ALT-004 0.670; ALT-005 0.624</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Reverses if the capital cost weight falls below 0.149</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If a view needs a fact the model lacks, fix the model</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What the AeroLink regulator view lists today: the verification case definitions and their status, read from model v0.6. Course illustration, not SysML v2 graphical notation.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R83 p.168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 a regulator view</a:t>
            </a:r>
            <a:endParaRPr lang="en-US" sz="3000" dirty="0"/>
          </a:p>
        </p:txBody>
      </p:sp>
      <p:pic>
        <p:nvPicPr>
          <p:cNvPr id="4" name="Image 0" descr="Three numbers: 34 cases listed; 1 run, VER-003, verdict inconclusive; 33 planned. Under them: a satisfy is a claim, a verdict is evidence. At the bottom: cases with a pass: 0.">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Frames airworthiness and operational safety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Keeps verification case definitions only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satisfy is a claim; the verdict is the evidence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Two ways to put a roadmap increment in the model: dependencies from each changed element to the increment (the course pattern), or a variation whose variants are the allowed choices (optional). Course illustration, not SysML v2 graphical notation.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R80 p.50–51; R80 p.75; R26 p.682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Two light ways to model an increment</a:t>
            </a:r>
            <a:endParaRPr lang="en-US" sz="3000" dirty="0"/>
          </a:p>
        </p:txBody>
      </p:sp>
      <p:pic>
        <p:nvPicPr>
          <p:cNvPr id="4" name="Image 0" descr="Two panels. Left, pattern 1, course: an arrow labeled #changedBy runs from a changed element, the client, to the increment, the supplier. Right, pattern 2, optional: a variation with two variants, piloted and remote, one selected by the baseline.">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83565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Pattern 1 (course): the increment in the Evolution package, one #changedBy dependency per changed element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From the changed element (client) to the increment (supplier)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Pattern 2 (optional): a variation and its variants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The AeroLink increment INC-003 in model v1.0: the elements it changes, the affected set one trace hop away, and the verification cases to run again. Course illustration, not SysML v2 graphical notation.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R26 p.682</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Worked example III: the AeroLink autonomy increment</a:t>
            </a:r>
            <a:endParaRPr lang="en-US" sz="3000" dirty="0"/>
          </a:p>
        </p:txBody>
      </p:sp>
      <p:pic>
        <p:nvPicPr>
          <p:cNvPr id="4" name="Image 0" descr="Three columns joined by arrows: changed, 3 elements (PHY-001, PHY-004, IF-002); affected, 28 elements one hop away; regression, 2 cases (VER-002, VER-033). Above: INC-003, Remote or autonomous flight operations, inserting TECH-003 at TRL 4.">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21589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Remote or autonomous flight operations: far horizon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Changes 3 elements; 28 affected one hop away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Regression set: 2 verification cases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A technical review as SEBoK describes it: entry criteria confirmed first, the review against pre-established criteria, then exit criteria and actions. Course illustration, not SysML v2 graphical notation.</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p.386–388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What a technical review is for</a:t>
            </a:r>
            <a:endParaRPr lang="en-US" sz="3000" dirty="0"/>
          </a:p>
        </p:txBody>
      </p:sp>
      <p:pic>
        <p:nvPicPr>
          <p:cNvPr id="4" name="Image 0" descr="Four boxes top to bottom joined by arrows: entry criteria, confirmed before; the review, against pre-established criteria; exit criteria met; actions recorded.">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52577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Knowledgeable reviewers judge work products against agreed criteria</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Entry criteria are confirmed before the review starts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The review closes when its exit criteria are met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final review format</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Segment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Min</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0F6E8C"/>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The enterprise and the system of interest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Complete threads, walked live in the model</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The key decision and its sensitivity</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2</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One what-if question answered from the model</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The stakeholder views and the evolution increment</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Dispositions of the peer findings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1</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18202D"/>
                          </a:solidFill>
                          <a:latin typeface="Calibri" pitchFamily="34" charset="0"/>
                          <a:ea typeface="Calibri" pitchFamily="34" charset="-122"/>
                          <a:cs typeface="Calibri" pitchFamily="34" charset="-120"/>
                        </a:rPr>
                        <a:t>Individual questions</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c>
                  <a:txBody>
                    <a:bodyPr/>
                    <a:lstStyle/>
                    <a:p>
                      <a:pPr indent="0" marL="0">
                        <a:buNone/>
                      </a:pPr>
                      <a:r>
                        <a:rPr lang="en-US" sz="1600" dirty="0">
                          <a:solidFill>
                            <a:srgbClr val="18202D"/>
                          </a:solidFill>
                          <a:latin typeface="Calibri" pitchFamily="34" charset="0"/>
                          <a:ea typeface="Calibri" pitchFamily="34" charset="-122"/>
                          <a:cs typeface="Calibri" pitchFamily="34" charset="-120"/>
                        </a:rPr>
                        <a:t>3</a:t>
                      </a:r>
                      <a:endParaRPr lang="en-US" sz="1600" dirty="0">
                        <a:latin typeface="Calibri" charset="0"/>
                        <a:ea typeface="Calibri" charset="0"/>
                        <a:cs typeface="Calibri" charset="0"/>
                      </a:endParaRPr>
                    </a:p>
                  </a:txBody>
                  <a:tcPr marL="54864" marR="54864" marT="54864" marB="54864" anchor="ctr">
                    <a:lnL w="9525" cap="flat" cmpd="sng" algn="ctr">
                      <a:solidFill>
                        <a:srgbClr val="D3D9E1"/>
                      </a:solidFill>
                      <a:prstDash val="solid"/>
                      <a:round/>
                      <a:headEnd type="none" w="med" len="med"/>
                      <a:tailEnd type="none" w="med" len="med"/>
                    </a:lnL>
                    <a:lnR w="9525" cap="flat" cmpd="sng" algn="ctr">
                      <a:solidFill>
                        <a:srgbClr val="D3D9E1"/>
                      </a:solidFill>
                      <a:prstDash val="solid"/>
                      <a:round/>
                      <a:headEnd type="none" w="med" len="med"/>
                      <a:tailEnd type="none" w="med" len="med"/>
                    </a:lnR>
                    <a:lnT w="9525" cap="flat" cmpd="sng" algn="ctr">
                      <a:solidFill>
                        <a:srgbClr val="D3D9E1"/>
                      </a:solidFill>
                      <a:prstDash val="solid"/>
                      <a:round/>
                      <a:headEnd type="none" w="med" len="med"/>
                      <a:tailEnd type="none" w="med" len="med"/>
                    </a:lnT>
                    <a:lnB w="9525" cap="flat" cmpd="sng" algn="ctr">
                      <a:solidFill>
                        <a:srgbClr val="D3D9E1"/>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Live demonstration: navigating a thread</a:t>
            </a:r>
            <a:endParaRPr lang="en-US" sz="3000" dirty="0"/>
          </a:p>
        </p:txBody>
      </p:sp>
      <p:sp>
        <p:nvSpPr>
          <p:cNvPr id="3" name="Text 1"/>
          <p:cNvSpPr/>
          <p:nvPr/>
        </p:nvSpPr>
        <p:spPr>
          <a:xfrm>
            <a:off x="548640" y="1280160"/>
            <a:ext cx="11094415" cy="15961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Start from the reviewer’s concern, not the package tree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“Which case verifies this requirement, and what is its verdict?” Answer from the model</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Rehearse the route; have the checker log and a static rendering ready</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5665851"/>
            <a:ext cx="11094415" cy="597789"/>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Figure. </a:t>
            </a:r>
            <a:pPr indent="0" marL="0">
              <a:buNone/>
            </a:pPr>
            <a:r>
              <a:rPr lang="en-US" sz="1050" dirty="0">
                <a:solidFill>
                  <a:srgbClr val="566071"/>
                </a:solidFill>
                <a:latin typeface="Calibri" pitchFamily="34" charset="0"/>
                <a:ea typeface="Calibri" pitchFamily="34" charset="-122"/>
                <a:cs typeface="Calibri" pitchFamily="34" charset="-120"/>
              </a:rPr>
              <a:t>What a satisfy asserts and what supports it: the AeroLink requirement REQ-SYS-001, its satisfy claim in the model, and the status of its verification case. Course illustration, not SysML v2 graphical notation. (FICTIONAL)</a:t>
            </a:r>
            <a:endParaRPr lang="en-US" sz="1050" dirty="0"/>
          </a:p>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R83 p.168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Individual questions: owning your elements</a:t>
            </a:r>
            <a:endParaRPr lang="en-US" sz="3000" dirty="0"/>
          </a:p>
        </p:txBody>
      </p:sp>
      <p:pic>
        <p:nvPicPr>
          <p:cNvPr id="4" name="Image 0" descr="Two cards. Left, headed the model asserts: PHY-003 satisfies REQ-SYS-001. Right, headed the evidence: VER-001, planned. An unlabeled arrow runs from the left card to the right card. Under them: a claim needs a verdict.">    </p:cNvPr>
          <p:cNvPicPr>
            <a:picLocks noChangeAspect="1"/>
          </p:cNvPicPr>
          <p:nvPr/>
        </p:nvPicPr>
        <p:blipFill>
          <a:blip r:embed="rId1"/>
          <a:stretch>
            <a:fillRect/>
          </a:stretch>
        </p:blipFill>
        <p:spPr>
          <a:xfrm>
            <a:off x="548640" y="1540118"/>
            <a:ext cx="6379289" cy="3728615"/>
          </a:xfrm>
          <a:prstGeom prst="rect">
            <a:avLst/>
          </a:prstGeom>
        </p:spPr>
      </p:pic>
      <p:sp>
        <p:nvSpPr>
          <p:cNvPr id="5" name="Text 2"/>
          <p:cNvSpPr/>
          <p:nvPr/>
        </p:nvSpPr>
        <p:spPr>
          <a:xfrm>
            <a:off x="7293689" y="1280160"/>
            <a:ext cx="4349366" cy="229819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You answer on elements you own</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does this satisfy assert?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evidence supports it, and what is its status?</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What changes if this value changes?</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The AI usage and validation statement</a:t>
            </a:r>
            <a:endParaRPr lang="en-US" sz="3000" dirty="0"/>
          </a:p>
        </p:txBody>
      </p:sp>
      <p:sp>
        <p:nvSpPr>
          <p:cNvPr id="3" name="Text 1"/>
          <p:cNvSpPr/>
          <p:nvPr/>
        </p:nvSpPr>
        <p:spPr>
          <a:xfrm>
            <a:off x="548640" y="1280160"/>
            <a:ext cx="11094415"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Tool, purpose, example prompts, what it produced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How you checked it, and what you contributed</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Every accepted fragment passes the checker and has an owner who can explain 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AI output is never evidence of a trace, a margin or a verdict</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Team readiness check</a:t>
            </a:r>
            <a:endParaRPr lang="en-US" sz="3000" dirty="0"/>
          </a:p>
        </p:txBody>
      </p:sp>
      <p:sp>
        <p:nvSpPr>
          <p:cNvPr id="3" name="Text 1"/>
          <p:cNvSpPr/>
          <p:nvPr/>
        </p:nvSpPr>
        <p:spPr>
          <a:xfrm>
            <a:off x="548640" y="1280160"/>
            <a:ext cx="11094415" cy="2070608"/>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A team audit of your own model, not a quiz</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Import model v0.6, your earlier versions and your Week 6 file; read the audit</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defect: who corrects it. Each gap: fix or reason, and an owner</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Choose your 3 threads; check each is complete</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Name the stakeholders your views will serve</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48640" y="5991225"/>
            <a:ext cx="11094415" cy="272415"/>
          </a:xfrm>
          <a:prstGeom prst="rect">
            <a:avLst/>
          </a:prstGeom>
          <a:noFill/>
          <a:ln/>
        </p:spPr>
        <p:txBody>
          <a:bodyPr wrap="square" lIns="0" tIns="0" rIns="0" bIns="0" rtlCol="0" anchor="b"/>
          <a:lstStyle/>
          <a:p>
            <a:pPr indent="0" marL="0">
              <a:buNone/>
            </a:pPr>
            <a:r>
              <a:rPr lang="en-US" sz="1050" b="1" dirty="0">
                <a:solidFill>
                  <a:srgbClr val="18202D"/>
                </a:solidFill>
                <a:latin typeface="Calibri" pitchFamily="34" charset="0"/>
                <a:ea typeface="Calibri" pitchFamily="34" charset="-122"/>
                <a:cs typeface="Calibri" pitchFamily="34" charset="-120"/>
              </a:rPr>
              <a:t>Sources: </a:t>
            </a:r>
            <a:pPr indent="0" marL="0">
              <a:buNone/>
            </a:pPr>
            <a:r>
              <a:rPr lang="en-US" sz="1050" dirty="0">
                <a:solidFill>
                  <a:srgbClr val="566071"/>
                </a:solidFill>
                <a:latin typeface="Calibri" pitchFamily="34" charset="0"/>
                <a:ea typeface="Calibri" pitchFamily="34" charset="-122"/>
                <a:cs typeface="Calibri" pitchFamily="34" charset="-120"/>
              </a:rPr>
              <a:t>R06c p.388</a:t>
            </a:r>
            <a:endParaRPr lang="en-US" sz="1050" dirty="0"/>
          </a:p>
        </p:txBody>
      </p:sp>
      <p:sp>
        <p:nvSpPr>
          <p:cNvPr id="3" name="Text 1"/>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Peer review pairing and order</a:t>
            </a:r>
            <a:endParaRPr lang="en-US" sz="3000" dirty="0"/>
          </a:p>
        </p:txBody>
      </p:sp>
      <p:sp>
        <p:nvSpPr>
          <p:cNvPr id="4" name="Text 2"/>
          <p:cNvSpPr/>
          <p:nvPr/>
        </p:nvSpPr>
        <p:spPr>
          <a:xfrm>
            <a:off x="548640" y="1280160"/>
            <a:ext cx="11094415" cy="1678432"/>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Freeze a review copy at the latest 4 days before Session 2; record its hash</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Write at least 3 findings on your paired team’s copy</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Each finding: where, which rule it breaks, a proposed fix</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Disposition every finding you receive before Session 2</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Exit card</a:t>
            </a:r>
            <a:endParaRPr lang="en-US" sz="3000" dirty="0"/>
          </a:p>
        </p:txBody>
      </p:sp>
      <p:sp>
        <p:nvSpPr>
          <p:cNvPr id="3" name="Shape 1"/>
          <p:cNvSpPr/>
          <p:nvPr/>
        </p:nvSpPr>
        <p:spPr>
          <a:xfrm>
            <a:off x="548640" y="1280160"/>
            <a:ext cx="11094415" cy="793750"/>
          </a:xfrm>
          <a:prstGeom prst="roundRect">
            <a:avLst>
              <a:gd name="adj" fmla="val 6912"/>
            </a:avLst>
          </a:prstGeom>
          <a:solidFill>
            <a:srgbClr val="ECEFF3"/>
          </a:solidFill>
          <a:ln w="12700">
            <a:solidFill>
              <a:srgbClr val="D3D9E1"/>
            </a:solidFill>
            <a:prstDash val="solid"/>
          </a:ln>
        </p:spPr>
      </p:sp>
      <p:sp>
        <p:nvSpPr>
          <p:cNvPr id="4" name="Text 2"/>
          <p:cNvSpPr/>
          <p:nvPr/>
        </p:nvSpPr>
        <p:spPr>
          <a:xfrm>
            <a:off x="685800" y="1280160"/>
            <a:ext cx="10820095" cy="793750"/>
          </a:xfrm>
          <a:prstGeom prst="rect">
            <a:avLst/>
          </a:prstGeom>
          <a:noFill/>
          <a:ln/>
        </p:spPr>
        <p:txBody>
          <a:bodyPr wrap="square" lIns="38100" tIns="38100" rIns="38100" bIns="38100" rtlCol="0" anchor="ctr"/>
          <a:lstStyle/>
          <a:p>
            <a:pPr indent="0" marL="0">
              <a:buNone/>
            </a:pPr>
            <a:r>
              <a:rPr lang="en-US" sz="1200" b="1" spc="100" kern="0" dirty="0">
                <a:solidFill>
                  <a:srgbClr val="18202D"/>
                </a:solidFill>
                <a:latin typeface="Calibri" pitchFamily="34" charset="0"/>
                <a:ea typeface="Calibri" pitchFamily="34" charset="-122"/>
                <a:cs typeface="Calibri" pitchFamily="34" charset="-120"/>
              </a:rPr>
              <a:t>EXIT CARD</a:t>
            </a:r>
            <a:endParaRPr lang="en-US" sz="1200" dirty="0"/>
          </a:p>
          <a:p>
            <a:pPr indent="0" marL="0">
              <a:buNone/>
            </a:pPr>
            <a:r>
              <a:rPr lang="en-US" sz="1700" dirty="0">
                <a:solidFill>
                  <a:srgbClr val="18202D"/>
                </a:solidFill>
                <a:latin typeface="Calibri" pitchFamily="34" charset="0"/>
                <a:ea typeface="Calibri" pitchFamily="34" charset="-122"/>
                <a:cs typeface="Calibri" pitchFamily="34" charset="-120"/>
              </a:rPr>
              <a:t>One question a reviewer could ask that your model cannot yet answer, and who on your team fixes it.</a:t>
            </a:r>
            <a:endParaRPr lang="en-US" sz="1200" dirty="0"/>
          </a:p>
        </p:txBody>
      </p:sp>
      <p:sp>
        <p:nvSpPr>
          <p:cNvPr id="5" name="Text 3"/>
          <p:cNvSpPr/>
          <p:nvPr/>
        </p:nvSpPr>
        <p:spPr>
          <a:xfrm>
            <a:off x="548640" y="2238502"/>
            <a:ext cx="11094415" cy="1596136"/>
          </a:xfrm>
          <a:prstGeom prst="rect">
            <a:avLst/>
          </a:prstGeom>
          <a:noFill/>
          <a:ln/>
        </p:spPr>
        <p:txBody>
          <a:bodyPr wrap="square" lIns="25400" tIns="25400" rIns="25400" bIns="25400" rtlCol="0" anchor="t"/>
          <a:lstStyle/>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Review copy frozen: at the latest 4 days before Session 2</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Findings to your paired team: within 48 hours of receiving the copy, at the latest 2 days before Session 2</a:t>
            </a:r>
            <a:endParaRPr lang="en-US" sz="2000" dirty="0"/>
          </a:p>
          <a:p>
            <a:pPr marL="228600" indent="-228600">
              <a:spcBef>
                <a:spcPts val="600"/>
              </a:spcBef>
              <a:buSzPct val="100000"/>
              <a:buChar char="■"/>
            </a:pPr>
            <a:r>
              <a:rPr lang="en-US" sz="2000" dirty="0">
                <a:solidFill>
                  <a:srgbClr val="18202D"/>
                </a:solidFill>
                <a:latin typeface="Calibri" pitchFamily="34" charset="0"/>
                <a:ea typeface="Calibri" pitchFamily="34" charset="-122"/>
                <a:cs typeface="Calibri" pitchFamily="34" charset="-120"/>
              </a:rPr>
              <a:t>Session 2: the final review</a:t>
            </a:r>
            <a:endParaRPr lang="en-US" sz="20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48640" y="292608"/>
            <a:ext cx="11094415" cy="731520"/>
          </a:xfrm>
          <a:prstGeom prst="rect">
            <a:avLst/>
          </a:prstGeom>
          <a:noFill/>
          <a:ln/>
        </p:spPr>
        <p:txBody>
          <a:bodyPr wrap="square" lIns="0" tIns="0" rIns="0" bIns="0" rtlCol="0" anchor="b"/>
          <a:lstStyle/>
          <a:p>
            <a:pPr indent="0" marL="0">
              <a:buNone/>
            </a:pPr>
            <a:r>
              <a:rPr lang="en-US" sz="3000" b="1" dirty="0">
                <a:solidFill>
                  <a:srgbClr val="18202D"/>
                </a:solidFill>
                <a:latin typeface="Calibri" pitchFamily="34" charset="0"/>
                <a:ea typeface="Calibri" pitchFamily="34" charset="-122"/>
                <a:cs typeface="Calibri" pitchFamily="34" charset="-120"/>
              </a:rPr>
              <a:t>References and credits</a:t>
            </a:r>
            <a:endParaRPr lang="en-US" sz="3000" dirty="0"/>
          </a:p>
        </p:txBody>
      </p:sp>
      <p:sp>
        <p:nvSpPr>
          <p:cNvPr id="3" name="Text 1"/>
          <p:cNvSpPr/>
          <p:nvPr/>
        </p:nvSpPr>
        <p:spPr>
          <a:xfrm>
            <a:off x="548640"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R06c · SEBoK v2.14 (2026), “Technical Reviews and Audits”, p.386–388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R26 · SEBoK v2.14 (2026), “Capability Updates, Upgrades, and Modernization”, p.682</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R29 · SEBoK v2.14 (2026), “Transitioning Systems Engineering to a Model-based Discipline”, p.1383–1384</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R77 · Seidewitz, Intro to the SysML v2 Language: Textual Notation (Release 2026-08), “Metadata”, sl.115–118</a:t>
            </a:r>
            <a:endParaRPr lang="en-US" sz="1200" dirty="0"/>
          </a:p>
        </p:txBody>
      </p:sp>
      <p:sp>
        <p:nvSpPr>
          <p:cNvPr id="4" name="Text 2"/>
          <p:cNvSpPr/>
          <p:nvPr/>
        </p:nvSpPr>
        <p:spPr>
          <a:xfrm>
            <a:off x="4236013" y="1280160"/>
            <a:ext cx="3413053" cy="4846320"/>
          </a:xfrm>
          <a:prstGeom prst="rect">
            <a:avLst/>
          </a:prstGeom>
          <a:noFill/>
          <a:ln/>
        </p:spPr>
        <p:txBody>
          <a:bodyPr wrap="square" lIns="25400" tIns="25400" rIns="25400" bIns="25400" rtlCol="0" anchor="t"/>
          <a:lstStyle/>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R80 · OMG SysML v2.1 Beta 2, Part 1 (Release 2026-07), “7.1 Language Overview”, p.50–51, 75</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R83 · OMG SysML v2.1 Beta 2, Part 1 (Release 2026-07), “7.21 Requirements”, p.168</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R85 · OMG SysML v2.1 Beta 2, Part 1 (Release 2026-07), “7.26 Views and Viewpoints”, p.181, 184, 186</a:t>
            </a:r>
            <a:endParaRPr lang="en-US" sz="1200" dirty="0"/>
          </a:p>
          <a:p>
            <a:pPr indent="0" marL="0">
              <a:spcAft>
                <a:spcPts val="200"/>
              </a:spcAft>
              <a:buNone/>
            </a:pPr>
            <a:r>
              <a:rPr lang="en-US" sz="1200" dirty="0">
                <a:solidFill>
                  <a:srgbClr val="18202D"/>
                </a:solidFill>
                <a:latin typeface="Calibri" pitchFamily="34" charset="0"/>
                <a:ea typeface="Calibri" pitchFamily="34" charset="-122"/>
                <a:cs typeface="Calibri" pitchFamily="34" charset="-120"/>
              </a:rPr>
              <a:t>R125 · OMG SysML v2.1 Beta 2, Part 1 (Release 2026-07), “Views library and Standard View Definitions (9.2.19-9.2.20)”, p.541–543, 548, 551</a:t>
            </a:r>
            <a:endParaRPr lang="en-US" sz="1200" dirty="0"/>
          </a:p>
        </p:txBody>
      </p:sp>
      <p:sp>
        <p:nvSpPr>
          <p:cNvPr id="5" name="Shape 3"/>
          <p:cNvSpPr/>
          <p:nvPr/>
        </p:nvSpPr>
        <p:spPr>
          <a:xfrm>
            <a:off x="7923386" y="1280160"/>
            <a:ext cx="54864" cy="4846320"/>
          </a:xfrm>
          <a:prstGeom prst="rect">
            <a:avLst/>
          </a:prstGeom>
          <a:solidFill>
            <a:srgbClr val="0F6E8C"/>
          </a:solidFill>
          <a:ln w="12700">
            <a:solidFill>
              <a:srgbClr val="0F6E8C"/>
            </a:solidFill>
            <a:prstDash val="solid"/>
          </a:ln>
        </p:spPr>
      </p:sp>
      <p:sp>
        <p:nvSpPr>
          <p:cNvPr id="6" name="Text 4"/>
          <p:cNvSpPr/>
          <p:nvPr/>
        </p:nvSpPr>
        <p:spPr>
          <a:xfrm>
            <a:off x="8060546" y="1280160"/>
            <a:ext cx="3582509" cy="4846320"/>
          </a:xfrm>
          <a:prstGeom prst="rect">
            <a:avLst/>
          </a:prstGeom>
          <a:noFill/>
          <a:ln/>
        </p:spPr>
        <p:txBody>
          <a:bodyPr wrap="square" lIns="25400" tIns="25400" rIns="25400" bIns="25400" rtlCol="0" anchor="t"/>
          <a:lstStyle/>
          <a:p>
            <a:pPr indent="0" marL="0">
              <a:buNone/>
            </a:pPr>
            <a:r>
              <a:rPr lang="en-US" sz="1200" b="1" spc="100" kern="0" dirty="0">
                <a:solidFill>
                  <a:srgbClr val="18202D"/>
                </a:solidFill>
                <a:latin typeface="Calibri" pitchFamily="34" charset="0"/>
                <a:ea typeface="Calibri" pitchFamily="34" charset="-122"/>
                <a:cs typeface="Calibri" pitchFamily="34" charset="-120"/>
              </a:rPr>
              <a:t>CREDITS AND LICENSES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Introduction to the SysML v2 Language, Textual Notation (Release 2026-08): Copyright © 2019–2026 Model Driven Solutions, Inc. Licensed under the Creative Commons Attribution 4.0 International License (CC BY 4.0).</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SEBoK v2.14: “This material is used under a Creative Commons Attribution-NonCommercial ShareAlike 3.0 Unported License from The Trustees of the Stevens Institute of Technology.” (SEBoK, “Bkcase Wiki:Copyright”, PDF p.31). Quotations are short and cited; no SEBoK figure or table is reproduced.</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Figures are original drawings for this course; none redraws a figure from the sources.</a:t>
            </a:r>
            <a:endParaRPr lang="en-US" sz="1200" dirty="0"/>
          </a:p>
          <a:p>
            <a:pPr marL="152400" indent="-152400">
              <a:spcBef>
                <a:spcPts val="400"/>
              </a:spcBef>
              <a:buSzPct val="100000"/>
              <a:buChar char="■"/>
            </a:pPr>
            <a:r>
              <a:rPr lang="en-US" sz="1200" dirty="0">
                <a:solidFill>
                  <a:srgbClr val="18202D"/>
                </a:solidFill>
                <a:latin typeface="Calibri" pitchFamily="34" charset="0"/>
                <a:ea typeface="Calibri" pitchFamily="34" charset="-122"/>
                <a:cs typeface="Calibri" pitchFamily="34" charset="-120"/>
              </a:rPr>
              <a:t>AeroLink Urban Mobility is a fictional teaching case: every number, name and statement about it is a teaching value.</a:t>
            </a:r>
            <a:endParaRPr lang="en-US" sz="1200" dirty="0"/>
          </a:p>
        </p:txBody>
      </p:sp>
      <p:sp>
        <p:nvSpPr>
          <p:cNvPr id="25" name="Slide Number Placeholder 0"/>
          <p:cNvSpPr>
            <a:spLocks noGrp="1"/>
          </p:cNvSpPr>
          <p:nvPr>
            <p:ph type="sldNum" sz="quarter" idx="4294967295"/>
          </p:nvPr>
        </p:nvSpPr>
        <p:spPr>
          <a:xfrm>
            <a:off x="10728655" y="6400800"/>
            <a:ext cx="91440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18202D"/>
                </a:solidFill>
                <a:latin typeface="Calibri"/>
                <a:ea typeface="Calibri"/>
                <a:cs typeface="Calibri"/>
              </a:defRPr>
            </a:lvl1pPr>
          </a:lstStyle>
          <a:p>
            <a:pPr algn="r"/>
            <a:fld id="{F7021451-1387-4CA6-816F-3879F97B5CBC}" type="slidenum">
              <a:rPr b="1" lang="en-US"/>
              <a:t>23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Wright State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14, Session 1: Final Presentation</dc:title>
  <dc:subject>Systems Thinking and MBSE with SysML v2</dc:subject>
  <dc:creator>SysML Learning Studio (generated)</dc:creator>
  <cp:lastModifiedBy>SysML Learning Studio (generated)</cp:lastModifiedBy>
  <cp:revision>1</cp:revision>
  <dcterms:created xsi:type="dcterms:W3CDTF">2026-10-28T13:15:39Z</dcterms:created>
  <dcterms:modified xsi:type="dcterms:W3CDTF">2026-10-28T13:15:39Z</dcterms:modified>
</cp:coreProperties>
</file>