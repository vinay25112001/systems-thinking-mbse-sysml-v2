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CTUR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E8C"/>
          </a:solidFill>
          <a:ln/>
        </p:spPr>
      </p:sp>
      <p:sp>
        <p:nvSpPr>
          <p:cNvPr id="3" name="Shape 1"/>
          <p:cNvSpPr/>
          <p:nvPr/>
        </p:nvSpPr>
        <p:spPr>
          <a:xfrm>
            <a:off x="548640" y="1097280"/>
            <a:ext cx="11094415" cy="0"/>
          </a:xfrm>
          <a:prstGeom prst="line">
            <a:avLst/>
          </a:prstGeom>
          <a:noFill/>
          <a:ln w="31750">
            <a:solidFill>
              <a:srgbClr val="0F6E8C"/>
            </a:solidFill>
            <a:prstDash val="solid"/>
          </a:ln>
        </p:spPr>
      </p:sp>
      <p:sp>
        <p:nvSpPr>
          <p:cNvPr id="4" name="Shape 2"/>
          <p:cNvSpPr/>
          <p:nvPr/>
        </p:nvSpPr>
        <p:spPr>
          <a:xfrm>
            <a:off x="548640" y="6355080"/>
            <a:ext cx="11094415" cy="0"/>
          </a:xfrm>
          <a:prstGeom prst="line">
            <a:avLst/>
          </a:prstGeom>
          <a:noFill/>
          <a:ln w="9525">
            <a:solidFill>
              <a:srgbClr val="D3D9E1"/>
            </a:solidFill>
            <a:prstDash val="solid"/>
          </a:ln>
        </p:spPr>
      </p:sp>
      <p:sp>
        <p:nvSpPr>
          <p:cNvPr id="5" name="Text 3"/>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6" name="Text 4"/>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3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6E8C"/>
          </a:solidFill>
          <a:ln/>
        </p:spPr>
      </p:sp>
      <p:sp>
        <p:nvSpPr>
          <p:cNvPr id="3" name="Shape 1"/>
          <p:cNvSpPr/>
          <p:nvPr/>
        </p:nvSpPr>
        <p:spPr>
          <a:xfrm>
            <a:off x="548640" y="6355080"/>
            <a:ext cx="11094415" cy="0"/>
          </a:xfrm>
          <a:prstGeom prst="line">
            <a:avLst/>
          </a:prstGeom>
          <a:noFill/>
          <a:ln w="9525">
            <a:solidFill>
              <a:srgbClr val="D3D9E1"/>
            </a:solidFill>
            <a:prstDash val="solid"/>
          </a:ln>
        </p:spPr>
      </p:sp>
      <p:sp>
        <p:nvSpPr>
          <p:cNvPr id="4" name="Text 2"/>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5" name="Text 3"/>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3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005840" y="1234440"/>
            <a:ext cx="9144000" cy="365760"/>
          </a:xfrm>
          <a:prstGeom prst="rect">
            <a:avLst/>
          </a:prstGeom>
          <a:noFill/>
          <a:ln/>
        </p:spPr>
        <p:txBody>
          <a:bodyPr wrap="square" lIns="0" tIns="0" rIns="0" bIns="0" rtlCol="0" anchor="ctr"/>
          <a:lstStyle/>
          <a:p>
            <a:pPr indent="0" marL="0">
              <a:buNone/>
            </a:pPr>
            <a:r>
              <a:rPr lang="en-US" sz="1600" b="1" spc="200" kern="0" dirty="0">
                <a:solidFill>
                  <a:srgbClr val="0F6E8C"/>
                </a:solidFill>
                <a:latin typeface="Calibri" pitchFamily="34" charset="0"/>
                <a:ea typeface="Calibri" pitchFamily="34" charset="-122"/>
                <a:cs typeface="Calibri" pitchFamily="34" charset="-120"/>
              </a:rPr>
              <a:t>WEEK 3 · SESSION 1</a:t>
            </a:r>
            <a:endParaRPr lang="en-US" sz="1600" dirty="0"/>
          </a:p>
        </p:txBody>
      </p:sp>
      <p:sp>
        <p:nvSpPr>
          <p:cNvPr id="3" name="Text 1"/>
          <p:cNvSpPr/>
          <p:nvPr/>
        </p:nvSpPr>
        <p:spPr>
          <a:xfrm>
            <a:off x="1005840" y="1645920"/>
            <a:ext cx="10058400" cy="1463040"/>
          </a:xfrm>
          <a:prstGeom prst="rect">
            <a:avLst/>
          </a:prstGeom>
          <a:noFill/>
          <a:ln/>
        </p:spPr>
        <p:txBody>
          <a:bodyPr wrap="square" lIns="0" tIns="0" rIns="0" bIns="0" rtlCol="0" anchor="t"/>
          <a:lstStyle/>
          <a:p>
            <a:pPr indent="0" marL="0">
              <a:buNone/>
            </a:pPr>
            <a:r>
              <a:rPr lang="en-US" sz="4400" b="1" dirty="0">
                <a:solidFill>
                  <a:srgbClr val="18202D"/>
                </a:solidFill>
                <a:latin typeface="Calibri" pitchFamily="34" charset="0"/>
                <a:ea typeface="Calibri" pitchFamily="34" charset="-122"/>
                <a:cs typeface="Calibri" pitchFamily="34" charset="-120"/>
              </a:rPr>
              <a:t>Technology Assessment / Risk Management / Trade Study</a:t>
            </a:r>
            <a:endParaRPr lang="en-US" sz="4400" dirty="0"/>
          </a:p>
        </p:txBody>
      </p:sp>
      <p:sp>
        <p:nvSpPr>
          <p:cNvPr id="4" name="Text 2"/>
          <p:cNvSpPr/>
          <p:nvPr/>
        </p:nvSpPr>
        <p:spPr>
          <a:xfrm>
            <a:off x="1005840" y="3200400"/>
            <a:ext cx="10058400" cy="548640"/>
          </a:xfrm>
          <a:prstGeom prst="rect">
            <a:avLst/>
          </a:prstGeom>
          <a:noFill/>
          <a:ln/>
        </p:spPr>
        <p:txBody>
          <a:bodyPr wrap="square" lIns="0" tIns="0" rIns="0" bIns="0" rtlCol="0" anchor="ctr"/>
          <a:lstStyle/>
          <a:p>
            <a:pPr indent="0" marL="0">
              <a:buNone/>
            </a:pPr>
            <a:r>
              <a:rPr lang="en-US" sz="2200" dirty="0">
                <a:solidFill>
                  <a:srgbClr val="566071"/>
                </a:solidFill>
                <a:latin typeface="Calibri" pitchFamily="34" charset="0"/>
                <a:ea typeface="Calibri" pitchFamily="34" charset="-122"/>
                <a:cs typeface="Calibri" pitchFamily="34" charset="-120"/>
              </a:rPr>
              <a:t>Session 1: Readiness, risk and the measures that track it</a:t>
            </a:r>
            <a:endParaRPr lang="en-US" sz="2200" dirty="0"/>
          </a:p>
        </p:txBody>
      </p:sp>
      <p:sp>
        <p:nvSpPr>
          <p:cNvPr id="5" name="Text 3"/>
          <p:cNvSpPr/>
          <p:nvPr/>
        </p:nvSpPr>
        <p:spPr>
          <a:xfrm>
            <a:off x="1005840" y="3931920"/>
            <a:ext cx="7772400" cy="2029968"/>
          </a:xfrm>
          <a:prstGeom prst="rect">
            <a:avLst/>
          </a:prstGeom>
          <a:noFill/>
          <a:ln/>
        </p:spPr>
        <p:txBody>
          <a:bodyPr wrap="square" lIns="25400" tIns="25400" rIns="25400" bIns="25400" rtlCol="0" anchor="t"/>
          <a:lstStyle/>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Today: technology readiness, the risk register, technical performance measures</a:t>
            </a:r>
            <a:endParaRPr lang="en-US" sz="1800" dirty="0"/>
          </a:p>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Session 2: the trade study, worked in full, and the Lab L3 launch</a:t>
            </a:r>
            <a:endParaRPr lang="en-US" sz="1800" dirty="0"/>
          </a:p>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Your Team Record grows: readiness assessment, risk register, TPMs, trade study</a:t>
            </a:r>
            <a:endParaRPr lang="en-US" sz="18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Waits are forecast to grow as Year-2 demand reaches 240 trips/day. The board proposes six more aircraft. (FICTIONAL)</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driving question: should AeroLink buy six more aircraft?</a:t>
            </a:r>
            <a:endParaRPr lang="en-US" sz="3000" dirty="0"/>
          </a:p>
        </p:txBody>
      </p:sp>
      <p:pic>
        <p:nvPicPr>
          <p:cNvPr id="4" name="Image 0" descr="Eighteen small aircraft silhouettes, twelve in solid outline and six in dashed outline labeled plus 6 proposed, lined up toward two charger symbols at a hub. A queue of aircraft waits at the chargers, with a large question mark above the queue. A caption bar reads Year-2 demand 240 trips per day.">    </p:cNvPr>
          <p:cNvPicPr>
            <a:picLocks noChangeAspect="1"/>
          </p:cNvPicPr>
          <p:nvPr/>
        </p:nvPicPr>
        <p:blipFill>
          <a:blip r:embed="rId1"/>
          <a:stretch>
            <a:fillRect/>
          </a:stretch>
        </p:blipFill>
        <p:spPr>
          <a:xfrm>
            <a:off x="548640" y="1702805"/>
            <a:ext cx="6379289" cy="3728615"/>
          </a:xfrm>
          <a:prstGeom prst="rect">
            <a:avLst/>
          </a:prstGeom>
        </p:spPr>
      </p:pic>
      <p:sp>
        <p:nvSpPr>
          <p:cNvPr id="5" name="Shape 2"/>
          <p:cNvSpPr/>
          <p:nvPr/>
        </p:nvSpPr>
        <p:spPr>
          <a:xfrm>
            <a:off x="7293689" y="1280160"/>
            <a:ext cx="4349366" cy="1320546"/>
          </a:xfrm>
          <a:prstGeom prst="roundRect">
            <a:avLst>
              <a:gd name="adj" fmla="val 4155"/>
            </a:avLst>
          </a:prstGeom>
          <a:solidFill>
            <a:srgbClr val="ECEFF3"/>
          </a:solidFill>
          <a:ln w="12700">
            <a:solidFill>
              <a:srgbClr val="D3D9E1"/>
            </a:solidFill>
            <a:prstDash val="solid"/>
          </a:ln>
        </p:spPr>
      </p:sp>
      <p:sp>
        <p:nvSpPr>
          <p:cNvPr id="6" name="Text 3"/>
          <p:cNvSpPr/>
          <p:nvPr/>
        </p:nvSpPr>
        <p:spPr>
          <a:xfrm>
            <a:off x="7430849" y="1280160"/>
            <a:ext cx="4075046" cy="1320546"/>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SCENARIO (FICTIONAL)</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Demand will reach 240 trips/day. The board proposes 6 more aircraft: 18 in all.</a:t>
            </a:r>
            <a:endParaRPr lang="en-US" sz="1200" dirty="0"/>
          </a:p>
        </p:txBody>
      </p:sp>
      <p:sp>
        <p:nvSpPr>
          <p:cNvPr id="7" name="Text 4"/>
          <p:cNvSpPr/>
          <p:nvPr/>
        </p:nvSpPr>
        <p:spPr>
          <a:xfrm>
            <a:off x="7293689" y="2765298"/>
            <a:ext cx="4349366" cy="2298192"/>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A</a:t>
            </a:r>
            <a:pPr indent="0" marL="0">
              <a:buNone/>
            </a:pPr>
            <a:r>
              <a:rPr lang="en-US" sz="2000" dirty="0">
                <a:solidFill>
                  <a:srgbClr val="18202D"/>
                </a:solidFill>
                <a:latin typeface="Calibri" pitchFamily="34" charset="0"/>
                <a:ea typeface="Calibri" pitchFamily="34" charset="-122"/>
                <a:cs typeface="Calibri" pitchFamily="34" charset="-120"/>
              </a:rPr>
              <a:t> · Yes: more aircraft, shorter waits</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B</a:t>
            </a:r>
            <a:pPr indent="0" marL="0">
              <a:buNone/>
            </a:pPr>
            <a:r>
              <a:rPr lang="en-US" sz="2000" dirty="0">
                <a:solidFill>
                  <a:srgbClr val="18202D"/>
                </a:solidFill>
                <a:latin typeface="Calibri" pitchFamily="34" charset="0"/>
                <a:ea typeface="Calibri" pitchFamily="34" charset="-122"/>
                <a:cs typeface="Calibri" pitchFamily="34" charset="-120"/>
              </a:rPr>
              <a:t> · Only with more charging</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a:t>
            </a:r>
            <a:pPr indent="0" marL="0">
              <a:buNone/>
            </a:pPr>
            <a:r>
              <a:rPr lang="en-US" sz="2000" dirty="0">
                <a:solidFill>
                  <a:srgbClr val="18202D"/>
                </a:solidFill>
                <a:latin typeface="Calibri" pitchFamily="34" charset="0"/>
                <a:ea typeface="Calibri" pitchFamily="34" charset="-122"/>
                <a:cs typeface="Calibri" pitchFamily="34" charset="-120"/>
              </a:rPr>
              <a:t> · Build a seventh vertiport instead</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D</a:t>
            </a:r>
            <a:pPr indent="0" marL="0">
              <a:buNone/>
            </a:pPr>
            <a:r>
              <a:rPr lang="en-US" sz="2000" dirty="0">
                <a:solidFill>
                  <a:srgbClr val="18202D"/>
                </a:solidFill>
                <a:latin typeface="Calibri" pitchFamily="34" charset="0"/>
                <a:ea typeface="Calibri" pitchFamily="34" charset="-122"/>
                <a:cs typeface="Calibri" pitchFamily="34" charset="-120"/>
              </a:rPr>
              <a:t> · Cannot tell yet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Technical assessment, risk management and decision management overlap; what they share is uncertainty. One AeroLink artifact in each.</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R17 p.481; R17 p.485; R39s p.1668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Three processes, one subject: uncertainty</a:t>
            </a:r>
            <a:endParaRPr lang="en-US" sz="3000" dirty="0"/>
          </a:p>
        </p:txBody>
      </p:sp>
      <p:pic>
        <p:nvPicPr>
          <p:cNvPr id="4" name="Image 0" descr="Three overlapping circles labeled Technical assessment, Risk management and Decision management. The shared center reads uncertainty. Inside each circle one example: high-power charging at TRL 6 in technical assessment; charging capacity lags fleet growth in risk management; the Year-2 capacity decision in decision management. Arrows between circles read measures feed risk analysis and decisions select and treat risks.">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Risk: the effect of uncertainty on objectives, or probability and severity of harm</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Uncertainty: not having accurate or sufficient knowledge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Measurement gives indicators for risk analysis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Decision management evaluates alternatives that treat risks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Risks and opportunities sit strictly between probability 0 and 1; an issue sits at exactly 1. Assumptions and unknowns are about knowledge.</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R39q p.1610; R39r p.1582; R46 p.127; R13 p.565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Five kinds of entry: assumption, risk, opportunity, unknown, issue</a:t>
            </a:r>
            <a:endParaRPr lang="en-US" sz="3000" dirty="0"/>
          </a:p>
        </p:txBody>
      </p:sp>
      <p:pic>
        <p:nvPicPr>
          <p:cNvPr id="4" name="Image 0" descr="A horizontal probability axis from 0 to 1. Between the ends, two bands: risk (negative consequence) and opportunity (positive consequence). At exactly 1 a marker labeled issue: has occurred or is certain. Above the axis, on a separate band labeled knowledge, two boxes: assumption, taken as true and to be validated; unknown, information not yet available, written as TBD or TBR in a requirement.">    </p:cNvPr>
          <p:cNvPicPr>
            <a:picLocks noChangeAspect="1"/>
          </p:cNvPicPr>
          <p:nvPr/>
        </p:nvPicPr>
        <p:blipFill>
          <a:blip r:embed="rId1"/>
          <a:stretch>
            <a:fillRect/>
          </a:stretch>
        </p:blipFill>
        <p:spPr>
          <a:xfrm>
            <a:off x="548640" y="1691062"/>
            <a:ext cx="6379289" cy="3589413"/>
          </a:xfrm>
          <a:prstGeom prst="rect">
            <a:avLst/>
          </a:prstGeom>
        </p:spPr>
      </p:pic>
      <p:sp>
        <p:nvSpPr>
          <p:cNvPr id="5" name="Text 2"/>
          <p:cNvSpPr/>
          <p:nvPr/>
        </p:nvSpPr>
        <p:spPr>
          <a:xfrm>
            <a:off x="7293689" y="1280160"/>
            <a:ext cx="4349366" cy="36200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Risk</a:t>
            </a:r>
            <a:pPr indent="0" marL="0">
              <a:buNone/>
            </a:pPr>
            <a:r>
              <a:rPr lang="en-US" sz="2000" dirty="0">
                <a:solidFill>
                  <a:srgbClr val="18202D"/>
                </a:solidFill>
                <a:latin typeface="Calibri" pitchFamily="34" charset="0"/>
                <a:ea typeface="Calibri" pitchFamily="34" charset="-122"/>
                <a:cs typeface="Calibri" pitchFamily="34" charset="-120"/>
              </a:rPr>
              <a:t>: 0 &lt; probability &lt; 1, consequence &gt; 0, in the future</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Issue</a:t>
            </a:r>
            <a:pPr indent="0" marL="0">
              <a:buNone/>
            </a:pPr>
            <a:r>
              <a:rPr lang="en-US" sz="2000" dirty="0">
                <a:solidFill>
                  <a:srgbClr val="18202D"/>
                </a:solidFill>
                <a:latin typeface="Calibri" pitchFamily="34" charset="0"/>
                <a:ea typeface="Calibri" pitchFamily="34" charset="-122"/>
                <a:cs typeface="Calibri" pitchFamily="34" charset="-120"/>
              </a:rPr>
              <a:t>: has occurred or is certain (probability 1)</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Opportunity</a:t>
            </a:r>
            <a:pPr indent="0" marL="0">
              <a:buNone/>
            </a:pPr>
            <a:r>
              <a:rPr lang="en-US" sz="2000" dirty="0">
                <a:solidFill>
                  <a:srgbClr val="18202D"/>
                </a:solidFill>
                <a:latin typeface="Calibri" pitchFamily="34" charset="0"/>
                <a:ea typeface="Calibri" pitchFamily="34" charset="-122"/>
                <a:cs typeface="Calibri" pitchFamily="34" charset="-120"/>
              </a:rPr>
              <a:t>: an outcome better than expected</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Assumption</a:t>
            </a:r>
            <a:pPr indent="0" marL="0">
              <a:buNone/>
            </a:pPr>
            <a:r>
              <a:rPr lang="en-US" sz="2000" dirty="0">
                <a:solidFill>
                  <a:srgbClr val="18202D"/>
                </a:solidFill>
                <a:latin typeface="Calibri" pitchFamily="34" charset="0"/>
                <a:ea typeface="Calibri" pitchFamily="34" charset="-122"/>
                <a:cs typeface="Calibri" pitchFamily="34" charset="-120"/>
              </a:rPr>
              <a:t>: taken as true; must be validated</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Unknown</a:t>
            </a:r>
            <a:pPr indent="0" marL="0">
              <a:buNone/>
            </a:pPr>
            <a:r>
              <a:rPr lang="en-US" sz="2000" dirty="0">
                <a:solidFill>
                  <a:srgbClr val="18202D"/>
                </a:solidFill>
                <a:latin typeface="Calibri" pitchFamily="34" charset="0"/>
                <a:ea typeface="Calibri" pitchFamily="34" charset="-122"/>
                <a:cs typeface="Calibri" pitchFamily="34" charset="-120"/>
              </a:rPr>
              <a:t>: information not yet available (TBD/TBR)</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nine technology readiness levels as a staircase, grouped by the environment in which the technology has been shown to work.</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R16 p.766; R44 p.112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a readiness assessment is for</a:t>
            </a:r>
            <a:endParaRPr lang="en-US" sz="3000" dirty="0"/>
          </a:p>
        </p:txBody>
      </p:sp>
      <p:pic>
        <p:nvPicPr>
          <p:cNvPr id="4" name="Image 0" descr="A staircase of nine numbered steps rising left to right. Steps 1 and 2 are labeled concept; steps 3 and 4 laboratory; steps 5 and 6 relevant environment; steps 7 to 9 operational. The words laboratory, relevant and operational are highlighted. Step 9 carries the label proven in mission operations.">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353771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Qualifies technology development and supports investment decisions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TRL summarizes a technology’s degree of maturity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Nine levels: basic principles (1) to proven in mission operations (9)</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Assess maturity and risk of the critical technologies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TRL measures demonstrated maturity in an environment. Producibility, integration and changed environments need other questions.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R16 p.767; R16 p.768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scale, read exactly, and what it does not tell you</a:t>
            </a:r>
            <a:endParaRPr lang="en-US" sz="3000" dirty="0"/>
          </a:p>
        </p:txBody>
      </p:sp>
      <p:pic>
        <p:nvPicPr>
          <p:cNvPr id="4" name="Image 0" descr="The TRL staircase with levels 4 to 7 enlarged and labeled with their SEBoK wording. Three side rails: on the right, can it be produced affordably, labeled manufacturing readiness level; above, does it integrate with the rest of the system, labeled integration readiness and system readiness; below, a warning sign reading off-the-shelf item used beyond its design limits, the TRL changes.">    </p:cNvPr>
          <p:cNvPicPr>
            <a:picLocks noChangeAspect="1"/>
          </p:cNvPicPr>
          <p:nvPr/>
        </p:nvPicPr>
        <p:blipFill>
          <a:blip r:embed="rId1"/>
          <a:stretch>
            <a:fillRect/>
          </a:stretch>
        </p:blipFill>
        <p:spPr>
          <a:xfrm>
            <a:off x="548640" y="1550428"/>
            <a:ext cx="6379289" cy="3870683"/>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293689" y="1280160"/>
          <a:ext cx="4349366" cy="914400"/>
        </p:xfrm>
        <a:graphic>
          <a:graphicData uri="http://schemas.openxmlformats.org/drawingml/2006/table">
            <a:tbl>
              <a:tblPr/>
              <a:tblGrid>
                <a:gridCol w="2174683"/>
                <a:gridCol w="2174683"/>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TRL</a:t>
                      </a:r>
                      <a:endParaRPr lang="en-US" sz="13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SEBoK wording</a:t>
                      </a:r>
                      <a:endParaRPr lang="en-US" sz="13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r>
              <a:tr h="0">
                <a:tc>
                  <a:txBody>
                    <a:bodyPr/>
                    <a:lstStyle/>
                    <a:p>
                      <a:pPr indent="0" marL="0">
                        <a:buNone/>
                      </a:pPr>
                      <a:r>
                        <a:rPr lang="en-US" sz="1300" b="1" dirty="0">
                          <a:solidFill>
                            <a:srgbClr val="18202D"/>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300" dirty="0">
                          <a:solidFill>
                            <a:srgbClr val="18202D"/>
                          </a:solidFill>
                          <a:latin typeface="Calibri" pitchFamily="34" charset="0"/>
                          <a:ea typeface="Calibri" pitchFamily="34" charset="-122"/>
                          <a:cs typeface="Calibri" pitchFamily="34" charset="-120"/>
                        </a:rPr>
                        <a:t>Component validation in laboratory environment</a:t>
                      </a:r>
                      <a:endParaRPr lang="en-US" sz="13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8202D"/>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300" dirty="0">
                          <a:solidFill>
                            <a:srgbClr val="18202D"/>
                          </a:solidFill>
                          <a:latin typeface="Calibri" pitchFamily="34" charset="0"/>
                          <a:ea typeface="Calibri" pitchFamily="34" charset="-122"/>
                          <a:cs typeface="Calibri" pitchFamily="34" charset="-120"/>
                        </a:rPr>
                        <a:t>Component validation in relevant environment</a:t>
                      </a:r>
                      <a:endParaRPr lang="en-US" sz="13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8202D"/>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300" dirty="0">
                          <a:solidFill>
                            <a:srgbClr val="18202D"/>
                          </a:solidFill>
                          <a:latin typeface="Calibri" pitchFamily="34" charset="0"/>
                          <a:ea typeface="Calibri" pitchFamily="34" charset="-122"/>
                          <a:cs typeface="Calibri" pitchFamily="34" charset="-120"/>
                        </a:rPr>
                        <a:t>Prototype demonstration in a relevant environment</a:t>
                      </a:r>
                      <a:endParaRPr lang="en-US" sz="13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8202D"/>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300" dirty="0">
                          <a:solidFill>
                            <a:srgbClr val="18202D"/>
                          </a:solidFill>
                          <a:latin typeface="Calibri" pitchFamily="34" charset="0"/>
                          <a:ea typeface="Calibri" pitchFamily="34" charset="-122"/>
                          <a:cs typeface="Calibri" pitchFamily="34" charset="-120"/>
                        </a:rPr>
                        <a:t>Prototype demonstration in an operational environment</a:t>
                      </a:r>
                      <a:endParaRPr lang="en-US" sz="13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6" name="Text 2"/>
          <p:cNvSpPr/>
          <p:nvPr/>
        </p:nvSpPr>
        <p:spPr>
          <a:xfrm>
            <a:off x="7293689" y="4115878"/>
            <a:ext cx="4349366" cy="982218"/>
          </a:xfrm>
          <a:prstGeom prst="rect">
            <a:avLst/>
          </a:prstGeom>
          <a:noFill/>
          <a:ln/>
        </p:spPr>
        <p:txBody>
          <a:bodyPr wrap="square" lIns="25400" tIns="25400" rIns="25400" bIns="25400" rtlCol="0" anchor="t"/>
          <a:lstStyle/>
          <a:p>
            <a:pPr marL="228600" indent="-228600">
              <a:spcBef>
                <a:spcPts val="600"/>
              </a:spcBef>
              <a:buSzPct val="100000"/>
              <a:buChar char="■"/>
            </a:pPr>
            <a:r>
              <a:rPr lang="en-US" sz="1700" b="1" dirty="0">
                <a:solidFill>
                  <a:srgbClr val="18202D"/>
                </a:solidFill>
                <a:latin typeface="Calibri" pitchFamily="34" charset="0"/>
                <a:ea typeface="Calibri" pitchFamily="34" charset="-122"/>
                <a:cs typeface="Calibri" pitchFamily="34" charset="-120"/>
              </a:rPr>
              <a:t>Not measured</a:t>
            </a:r>
            <a:pPr indent="0" marL="0">
              <a:buNone/>
            </a:pPr>
            <a:r>
              <a:rPr lang="en-US" sz="1700" dirty="0">
                <a:solidFill>
                  <a:srgbClr val="18202D"/>
                </a:solidFill>
                <a:latin typeface="Calibri" pitchFamily="34" charset="0"/>
                <a:ea typeface="Calibri" pitchFamily="34" charset="-122"/>
                <a:cs typeface="Calibri" pitchFamily="34" charset="-120"/>
              </a:rPr>
              <a:t>: producibility, integration, criticality, changed environments</a:t>
            </a:r>
            <a:endParaRPr lang="en-US" sz="17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Technology matures along an s-curve; TRL is the accepted way to measure its rising slope. Hype often runs ahead of maturity.</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R60 p.524; R60 p.525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Maturity in practice: hype, the s-curve and shared meanings</a:t>
            </a:r>
            <a:endParaRPr lang="en-US" sz="3000" dirty="0"/>
          </a:p>
        </p:txBody>
      </p:sp>
      <p:pic>
        <p:nvPicPr>
          <p:cNvPr id="4" name="Image 0" descr="A performance-versus-time s-curve divided into four regions labeled new, improving, mature and aging. A dashed hype curve rises steeply above the early part of the s-curve, peaks and falls back. An annotation on the rising slope reads TRL measures this slope. A side note reads relevant environment must be agreed by users, program office and developer.">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Hype can draw funding to unsuitable technology: assess before committing</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TRL measures the rising slope of the s-curve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Agree what “relevant environment” means for your system</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TRL does not say how well a technology fits your architecture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Two acceptable TRL claims and one that is not: cite the evidence, or record the claim as an assumption with an owner and a validation action.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R60 p.525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Evidence, or a labeled assumption</a:t>
            </a:r>
            <a:endParaRPr lang="en-US" sz="3000" dirty="0"/>
          </a:p>
        </p:txBody>
      </p:sp>
      <p:pic>
        <p:nvPicPr>
          <p:cNvPr id="4" name="Image 0" descr="Three cards for the same technology claiming TRL 6. The first carries a report icon and the citation of a test report. The second carries an assumption tag with an owner and a validation action, to be confirmed by the supplier test report. The third has neither and is struck through in red.">    </p:cNvPr>
          <p:cNvPicPr>
            <a:picLocks noChangeAspect="1"/>
          </p:cNvPicPr>
          <p:nvPr/>
        </p:nvPicPr>
        <p:blipFill>
          <a:blip r:embed="rId1"/>
          <a:stretch>
            <a:fillRect/>
          </a:stretch>
        </p:blipFill>
        <p:spPr>
          <a:xfrm>
            <a:off x="548640" y="1691062"/>
            <a:ext cx="6379289" cy="3589413"/>
          </a:xfrm>
          <a:prstGeom prst="rect">
            <a:avLst/>
          </a:prstGeom>
        </p:spPr>
      </p:pic>
      <p:sp>
        <p:nvSpPr>
          <p:cNvPr id="5" name="Shape 2"/>
          <p:cNvSpPr/>
          <p:nvPr/>
        </p:nvSpPr>
        <p:spPr>
          <a:xfrm>
            <a:off x="7293689" y="1280160"/>
            <a:ext cx="4349366" cy="1320546"/>
          </a:xfrm>
          <a:prstGeom prst="roundRect">
            <a:avLst>
              <a:gd name="adj" fmla="val 4155"/>
            </a:avLst>
          </a:prstGeom>
          <a:solidFill>
            <a:srgbClr val="E1EFF4"/>
          </a:solidFill>
          <a:ln w="12700">
            <a:solidFill>
              <a:srgbClr val="0F6E8C"/>
            </a:solidFill>
            <a:prstDash val="solid"/>
          </a:ln>
        </p:spPr>
      </p:sp>
      <p:sp>
        <p:nvSpPr>
          <p:cNvPr id="6" name="Text 3"/>
          <p:cNvSpPr/>
          <p:nvPr/>
        </p:nvSpPr>
        <p:spPr>
          <a:xfrm>
            <a:off x="7430849" y="1280160"/>
            <a:ext cx="4075046" cy="1320546"/>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COURSE RULE</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Every TRL cites evidence, or is recorded as an assumption with an owner and a validation action.</a:t>
            </a:r>
            <a:endParaRPr lang="en-US" sz="1200" dirty="0"/>
          </a:p>
        </p:txBody>
      </p:sp>
      <p:sp>
        <p:nvSpPr>
          <p:cNvPr id="7" name="Text 4"/>
          <p:cNvSpPr/>
          <p:nvPr/>
        </p:nvSpPr>
        <p:spPr>
          <a:xfrm>
            <a:off x="7293689" y="2765298"/>
            <a:ext cx="4349366" cy="1513840"/>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Most student TRLs will be assumptions: acceptable when labeled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Interpret the environment words for your system</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AeroLink’s readiness assessment. The lowest TRL among the critical technologies leads the summary. Every TRL rests on an assumption.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R16 p.767; R60 p.525; R60 p.526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 AeroLink’s three enabling technologies</a:t>
            </a:r>
            <a:endParaRPr lang="en-US" sz="3000" dirty="0"/>
          </a:p>
        </p:txBody>
      </p:sp>
      <p:pic>
        <p:nvPicPr>
          <p:cNvPr id="4" name="Image 0" descr="A three-row assessment table with columns technology, TRL, basis, critical and maturity risk. High-power charging: TRL 6, assumption A-003, critical, risk R-005. Battery cell technology: TRL 5, assumption A-004, critical, risk R-002; this row is boxed and labeled lowest critical TRL. Detect-and-avoid and autonomy enablers: TRL 4, assumption A-005, not critical for the piloted baseline, risk R-006 accepted.">    </p:cNvPr>
          <p:cNvPicPr>
            <a:picLocks noChangeAspect="1"/>
          </p:cNvPicPr>
          <p:nvPr/>
        </p:nvPicPr>
        <p:blipFill>
          <a:blip r:embed="rId1"/>
          <a:stretch>
            <a:fillRect/>
          </a:stretch>
        </p:blipFill>
        <p:spPr>
          <a:xfrm>
            <a:off x="2201547" y="1280160"/>
            <a:ext cx="7788602" cy="2730132"/>
          </a:xfrm>
          <a:prstGeom prst="rect">
            <a:avLst/>
          </a:prstGeom>
        </p:spPr>
      </p:pic>
      <p:sp>
        <p:nvSpPr>
          <p:cNvPr id="5" name="Text 2"/>
          <p:cNvSpPr/>
          <p:nvPr/>
        </p:nvSpPr>
        <p:spPr>
          <a:xfrm>
            <a:off x="548640" y="4147452"/>
            <a:ext cx="11094415" cy="1430528"/>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Select: </a:t>
            </a:r>
            <a:pPr indent="0" marL="0">
              <a:buNone/>
            </a:pPr>
            <a:r>
              <a:rPr lang="en-US" sz="1600" dirty="0">
                <a:solidFill>
                  <a:srgbClr val="18202D"/>
                </a:solidFill>
                <a:latin typeface="Calibri" pitchFamily="34" charset="0"/>
                <a:ea typeface="Calibri" pitchFamily="34" charset="-122"/>
                <a:cs typeface="Calibri" pitchFamily="34" charset="-120"/>
              </a:rPr>
              <a:t>the critical technologies the requirements depend on</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Rate: </a:t>
            </a:r>
            <a:pPr indent="0" marL="0">
              <a:buNone/>
            </a:pPr>
            <a:r>
              <a:rPr lang="en-US" sz="1600" dirty="0">
                <a:solidFill>
                  <a:srgbClr val="18202D"/>
                </a:solidFill>
                <a:latin typeface="Calibri" pitchFamily="34" charset="0"/>
                <a:ea typeface="Calibri" pitchFamily="34" charset="-122"/>
                <a:cs typeface="Calibri" pitchFamily="34" charset="-120"/>
              </a:rPr>
              <a:t>each on the scale, with evidence or a labeled assumption</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Judge: </a:t>
            </a:r>
            <a:pPr indent="0" marL="0">
              <a:buNone/>
            </a:pPr>
            <a:r>
              <a:rPr lang="en-US" sz="1600" dirty="0">
                <a:solidFill>
                  <a:srgbClr val="18202D"/>
                </a:solidFill>
                <a:latin typeface="Calibri" pitchFamily="34" charset="0"/>
                <a:ea typeface="Calibri" pitchFamily="34" charset="-122"/>
                <a:cs typeface="Calibri" pitchFamily="34" charset="-120"/>
              </a:rPr>
              <a:t>criticality and what the TRL does not tell</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Summarize: </a:t>
            </a:r>
            <a:pPr indent="0" marL="0">
              <a:buNone/>
            </a:pPr>
            <a:r>
              <a:rPr lang="en-US" sz="1600" dirty="0">
                <a:solidFill>
                  <a:srgbClr val="18202D"/>
                </a:solidFill>
                <a:latin typeface="Calibri" pitchFamily="34" charset="0"/>
                <a:ea typeface="Calibri" pitchFamily="34" charset="-122"/>
                <a:cs typeface="Calibri" pitchFamily="34" charset="-120"/>
              </a:rPr>
              <a:t>the lowest critical TRL and its maturity risk</a:t>
            </a:r>
            <a:endParaRPr lang="en-US" sz="16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risk process as a loop: each activity answers one question and produces something the next one uses.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R17 p.482; R46 p.124; R46 p.125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risk process: five activities and what each produces</a:t>
            </a:r>
            <a:endParaRPr lang="en-US" sz="3000" dirty="0"/>
          </a:p>
        </p:txBody>
      </p:sp>
      <p:pic>
        <p:nvPicPr>
          <p:cNvPr id="4" name="Image 0" descr="A five-step loop. Planning: what is our process; produces likelihood and consequence criteria. Identification: what can go wrong; produces if-then risk statements. Analysis: how likely and how severe; produces ratings and the register. Mitigation: accept, avoid, transfer or control; produces plans and a burn-down. Monitoring: how has the risk changed; produces register updates and closures. An arrow returns from monitoring to identification.">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36200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Planning</a:t>
            </a:r>
            <a:pPr indent="0" marL="0">
              <a:buNone/>
            </a:pPr>
            <a:r>
              <a:rPr lang="en-US" sz="2000" dirty="0">
                <a:solidFill>
                  <a:srgbClr val="18202D"/>
                </a:solidFill>
                <a:latin typeface="Calibri" pitchFamily="34" charset="0"/>
                <a:ea typeface="Calibri" pitchFamily="34" charset="-122"/>
                <a:cs typeface="Calibri" pitchFamily="34" charset="-120"/>
              </a:rPr>
              <a:t>: what is our process, and our scales?</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Identification</a:t>
            </a:r>
            <a:pPr indent="0" marL="0">
              <a:buNone/>
            </a:pPr>
            <a:r>
              <a:rPr lang="en-US" sz="2000" dirty="0">
                <a:solidFill>
                  <a:srgbClr val="18202D"/>
                </a:solidFill>
                <a:latin typeface="Calibri" pitchFamily="34" charset="0"/>
                <a:ea typeface="Calibri" pitchFamily="34" charset="-122"/>
                <a:cs typeface="Calibri" pitchFamily="34" charset="-120"/>
              </a:rPr>
              <a:t>: what can go wrong?</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Analysis</a:t>
            </a:r>
            <a:pPr indent="0" marL="0">
              <a:buNone/>
            </a:pPr>
            <a:r>
              <a:rPr lang="en-US" sz="2000" dirty="0">
                <a:solidFill>
                  <a:srgbClr val="18202D"/>
                </a:solidFill>
                <a:latin typeface="Calibri" pitchFamily="34" charset="0"/>
                <a:ea typeface="Calibri" pitchFamily="34" charset="-122"/>
                <a:cs typeface="Calibri" pitchFamily="34" charset="-120"/>
              </a:rPr>
              <a:t>: how likely, how severe?</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Mitigation</a:t>
            </a:r>
            <a:pPr indent="0" marL="0">
              <a:buNone/>
            </a:pPr>
            <a:r>
              <a:rPr lang="en-US" sz="2000" dirty="0">
                <a:solidFill>
                  <a:srgbClr val="18202D"/>
                </a:solidFill>
                <a:latin typeface="Calibri" pitchFamily="34" charset="0"/>
                <a:ea typeface="Calibri" pitchFamily="34" charset="-122"/>
                <a:cs typeface="Calibri" pitchFamily="34" charset="-120"/>
              </a:rPr>
              <a:t>: accept, avoid, transfer or control?</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Monitoring</a:t>
            </a:r>
            <a:pPr indent="0" marL="0">
              <a:buNone/>
            </a:pPr>
            <a:r>
              <a:rPr lang="en-US" sz="2000" dirty="0">
                <a:solidFill>
                  <a:srgbClr val="18202D"/>
                </a:solidFill>
                <a:latin typeface="Calibri" pitchFamily="34" charset="0"/>
                <a:ea typeface="Calibri" pitchFamily="34" charset="-122"/>
                <a:cs typeface="Calibri" pitchFamily="34" charset="-120"/>
              </a:rPr>
              <a:t>: how has the risk changed?</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risk in the condition–if–then form, with the most common defect struck out: a mitigation written into the statement.</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R17 p.483; R46 p.125; R61a p.630; R61a p.631; R61a p.633</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Writing a risk: condition, if, then</a:t>
            </a:r>
            <a:endParaRPr lang="en-US" sz="3000" dirty="0"/>
          </a:p>
        </p:txBody>
      </p:sp>
      <p:pic>
        <p:nvPicPr>
          <p:cNvPr id="4" name="Image 0" descr="A risk statement typeset in three colored parts. Condition, in grey: cells are fast-charged about 20 times per aircraft per day and their fade at this duty is known only from assumed supplier data. If, in amber: usable capacity fades by more than 10 % before pack replacement. Then, in red: the 20 % landing reserve cannot be held on the design trip. Below, a struck-out fourth clause reads so we will sample-test packs, labeled mitigation does not belong here.">    </p:cNvPr>
          <p:cNvPicPr>
            <a:picLocks noChangeAspect="1"/>
          </p:cNvPicPr>
          <p:nvPr/>
        </p:nvPicPr>
        <p:blipFill>
          <a:blip r:embed="rId1"/>
          <a:stretch>
            <a:fillRect/>
          </a:stretch>
        </p:blipFill>
        <p:spPr>
          <a:xfrm>
            <a:off x="548640" y="1914152"/>
            <a:ext cx="6379289" cy="3143234"/>
          </a:xfrm>
          <a:prstGeom prst="rect">
            <a:avLst/>
          </a:prstGeom>
        </p:spPr>
      </p:pic>
      <p:sp>
        <p:nvSpPr>
          <p:cNvPr id="5" name="Text 2"/>
          <p:cNvSpPr/>
          <p:nvPr/>
        </p:nvSpPr>
        <p:spPr>
          <a:xfrm>
            <a:off x="7293689" y="1280160"/>
            <a:ext cx="4349366" cy="2608072"/>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Condition</a:t>
            </a:r>
            <a:pPr indent="0" marL="0">
              <a:buNone/>
            </a:pPr>
            <a:r>
              <a:rPr lang="en-US" sz="2000" dirty="0">
                <a:solidFill>
                  <a:srgbClr val="18202D"/>
                </a:solidFill>
                <a:latin typeface="Calibri" pitchFamily="34" charset="0"/>
                <a:ea typeface="Calibri" pitchFamily="34" charset="-122"/>
                <a:cs typeface="Calibri" pitchFamily="34" charset="-120"/>
              </a:rPr>
              <a:t>: what is known today, the root cause</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If</a:t>
            </a:r>
            <a:pPr indent="0" marL="0">
              <a:buNone/>
            </a:pPr>
            <a:r>
              <a:rPr lang="en-US" sz="2000" dirty="0">
                <a:solidFill>
                  <a:srgbClr val="18202D"/>
                </a:solidFill>
                <a:latin typeface="Calibri" pitchFamily="34" charset="0"/>
                <a:ea typeface="Calibri" pitchFamily="34" charset="-122"/>
                <a:cs typeface="Calibri" pitchFamily="34" charset="-120"/>
              </a:rPr>
              <a:t>: the uncertain risk event</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Then</a:t>
            </a:r>
            <a:pPr indent="0" marL="0">
              <a:buNone/>
            </a:pPr>
            <a:r>
              <a:rPr lang="en-US" sz="2000" dirty="0">
                <a:solidFill>
                  <a:srgbClr val="18202D"/>
                </a:solidFill>
                <a:latin typeface="Calibri" pitchFamily="34" charset="0"/>
                <a:ea typeface="Calibri" pitchFamily="34" charset="-122"/>
                <a:cs typeface="Calibri" pitchFamily="34" charset="-120"/>
              </a:rPr>
              <a:t>: the consequences if it occurs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Never write the mitigation into the statement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5 × 5 reporting matrix with AeroLink’s 11 risks plotted by likelihood and consequence. Cell levels as in DoD Figure 4-9. (FICTIONAL ratings)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R17 p.483; R46 p.125; R46 p.126; R61b p.635; R61b p.637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Rating risks: defined scales and the reporting matrix</a:t>
            </a:r>
            <a:endParaRPr lang="en-US" sz="3000" dirty="0"/>
          </a:p>
        </p:txBody>
      </p:sp>
      <p:pic>
        <p:nvPicPr>
          <p:cNvPr id="4" name="Image 0" descr="A five-by-five grid, likelihood 1 to 5 upward and consequence 1 to 5 to the right, cells shaded low, moderate or high as in the DoD reporting matrix. Risk identifiers are placed in cells: R-001 at 3 by 4; R-002 at 3 by 4; R-003 at 2 by 5; R-004 at 3 by 4; R-005 at 2 by 4; R-006 at 3 by 2; R-007 at 2 by 4; R-008 at 2 by 5; R-009 at 2 by 5; R-010 at 2 by 5; R-011 at 1 by 4. Crowded cells show the risk number only, with a legend (03 means R-003). A side note asks: 2 by 5 or 3 by 4, which is worse?">    </p:cNvPr>
          <p:cNvPicPr>
            <a:picLocks noChangeAspect="1"/>
          </p:cNvPicPr>
          <p:nvPr/>
        </p:nvPicPr>
        <p:blipFill>
          <a:blip r:embed="rId1"/>
          <a:stretch>
            <a:fillRect/>
          </a:stretch>
        </p:blipFill>
        <p:spPr>
          <a:xfrm>
            <a:off x="548640" y="1550428"/>
            <a:ext cx="6379289" cy="3870683"/>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293689" y="1280160"/>
          <a:ext cx="4349366" cy="914400"/>
        </p:xfrm>
        <a:graphic>
          <a:graphicData uri="http://schemas.openxmlformats.org/drawingml/2006/table">
            <a:tbl>
              <a:tblPr/>
              <a:tblGrid>
                <a:gridCol w="2174683"/>
                <a:gridCol w="2174683"/>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Likelihood</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Probability band</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1 Not likely</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&gt; 1 % to ≤ 20 %</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2 Low likelihood</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&gt; 20 % to ≤ 40 %</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3 Likely</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&gt; 40 % to ≤ 60 %</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4 Highly likely</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&gt; 60 % to ≤ 80 %</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5 Near certainty</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&gt; 80 % to ≤ 99 %</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6" name="Text 2"/>
          <p:cNvSpPr/>
          <p:nvPr/>
        </p:nvSpPr>
        <p:spPr>
          <a:xfrm>
            <a:off x="7293689" y="3761232"/>
            <a:ext cx="4349366" cy="1431544"/>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Consequence</a:t>
            </a:r>
            <a:pPr indent="0" marL="0">
              <a:buNone/>
            </a:pPr>
            <a:r>
              <a:rPr lang="en-US" sz="2000" dirty="0">
                <a:solidFill>
                  <a:srgbClr val="18202D"/>
                </a:solidFill>
                <a:latin typeface="Calibri" pitchFamily="34" charset="0"/>
                <a:ea typeface="Calibri" pitchFamily="34" charset="-122"/>
                <a:cs typeface="Calibri" pitchFamily="34" charset="-120"/>
              </a:rPr>
              <a:t>: deviation from the performance, schedule or cost baseline, tailored to the program</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product of two ordinal ratings ranks a safety risk below a performance risk, and gives the same number to cells the matrix treats differently.</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R17 p.483; R17 p.486; R61b p.636; R61b p.637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the matrix cannot say: ordinal scales are not numbers</a:t>
            </a:r>
            <a:endParaRPr lang="en-US" sz="3000" dirty="0"/>
          </a:p>
        </p:txBody>
      </p:sp>
      <p:pic>
        <p:nvPicPr>
          <p:cNvPr id="4" name="Image 0" descr="Two panels. Left: two cells, likelihood 1 by consequence 5 and likelihood 5 by consequence 1, both with product 5; the first is shaded moderate, the second low. Right: battery fade at 3 by 4, product 12, and thermal runaway at 2 by 5, product 10; both shaded moderate. A bar labeled product ranks fade above thermal runaway; a bar labeled course rule ranks thermal runaway first by consequence.">    </p:cNvPr>
          <p:cNvPicPr>
            <a:picLocks noChangeAspect="1"/>
          </p:cNvPicPr>
          <p:nvPr/>
        </p:nvPicPr>
        <p:blipFill>
          <a:blip r:embed="rId1"/>
          <a:stretch>
            <a:fillRect/>
          </a:stretch>
        </p:blipFill>
        <p:spPr>
          <a:xfrm>
            <a:off x="2201547" y="1280160"/>
            <a:ext cx="7788602" cy="2730132"/>
          </a:xfrm>
          <a:prstGeom prst="rect">
            <a:avLst/>
          </a:prstGeom>
        </p:spPr>
      </p:pic>
      <p:sp>
        <p:nvSpPr>
          <p:cNvPr id="5" name="Text 2"/>
          <p:cNvSpPr/>
          <p:nvPr/>
        </p:nvSpPr>
        <p:spPr>
          <a:xfrm>
            <a:off x="548640" y="4147452"/>
            <a:ext cx="11094415" cy="1430528"/>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Same product: </a:t>
            </a:r>
            <a:pPr indent="0" marL="0">
              <a:buNone/>
            </a:pPr>
            <a:r>
              <a:rPr lang="en-US" sz="1600" dirty="0">
                <a:solidFill>
                  <a:srgbClr val="18202D"/>
                </a:solidFill>
                <a:latin typeface="Calibri" pitchFamily="34" charset="0"/>
                <a:ea typeface="Calibri" pitchFamily="34" charset="-122"/>
                <a:cs typeface="Calibri" pitchFamily="34" charset="-120"/>
              </a:rPr>
              <a:t>1 × 5 = 5 × 1 = 5, but the cells differ</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Wrong order: </a:t>
            </a:r>
            <a:pPr indent="0" marL="0">
              <a:buNone/>
            </a:pPr>
            <a:r>
              <a:rPr lang="en-US" sz="1600" dirty="0">
                <a:solidFill>
                  <a:srgbClr val="18202D"/>
                </a:solidFill>
                <a:latin typeface="Calibri" pitchFamily="34" charset="0"/>
                <a:ea typeface="Calibri" pitchFamily="34" charset="-122"/>
                <a:cs typeface="Calibri" pitchFamily="34" charset="-120"/>
              </a:rPr>
              <a:t>fade 3 × 4 = 12 outranks runaway 2 × 5 = 10</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Course rule: </a:t>
            </a:r>
            <a:pPr indent="0" marL="0">
              <a:buNone/>
            </a:pPr>
            <a:r>
              <a:rPr lang="en-US" sz="1600" dirty="0">
                <a:solidFill>
                  <a:srgbClr val="18202D"/>
                </a:solidFill>
                <a:latin typeface="Calibri" pitchFamily="34" charset="0"/>
                <a:ea typeface="Calibri" pitchFamily="34" charset="-122"/>
                <a:cs typeface="Calibri" pitchFamily="34" charset="-120"/>
              </a:rPr>
              <a:t>rank by cell level, then consequence</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Cardinal: </a:t>
            </a:r>
            <a:pPr indent="0" marL="0">
              <a:buNone/>
            </a:pPr>
            <a:r>
              <a:rPr lang="en-US" sz="1600" dirty="0">
                <a:solidFill>
                  <a:srgbClr val="18202D"/>
                </a:solidFill>
                <a:latin typeface="Calibri" pitchFamily="34" charset="0"/>
                <a:ea typeface="Calibri" pitchFamily="34" charset="-122"/>
                <a:cs typeface="Calibri" pitchFamily="34" charset="-120"/>
              </a:rPr>
              <a:t>multiply only measured quantities</a:t>
            </a:r>
            <a:endParaRPr lang="en-US" sz="16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Four handling options, each shown with one AeroLink risk. Transfer changes who pays, not what passengers experience.</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R17 p.484; R17 p.485; R46 p.126; R61c p.642; R61c p.644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Handling options: evaluate all four before choosing</a:t>
            </a:r>
            <a:endParaRPr lang="en-US" sz="3000" dirty="0"/>
          </a:p>
        </p:txBody>
      </p:sp>
      <p:pic>
        <p:nvPicPr>
          <p:cNvPr id="4" name="Image 0" descr="Four doors side by side. Avoid: commit a hub site only where the utility confirms capacity (grid connection risk). Control: cell-temperature monitoring stops charging (thermal runaway). Transfer: a performance guarantee in the purchase contract (weather limits). Accept: the piloted baseline does not depend on detect-and-avoid. Under the transfer door a note reads consequence for passengers unchanged.">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36200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Avoid</a:t>
            </a:r>
            <a:pPr indent="0" marL="0">
              <a:buNone/>
            </a:pPr>
            <a:r>
              <a:rPr lang="en-US" sz="2000" dirty="0">
                <a:solidFill>
                  <a:srgbClr val="18202D"/>
                </a:solidFill>
                <a:latin typeface="Calibri" pitchFamily="34" charset="0"/>
                <a:ea typeface="Calibri" pitchFamily="34" charset="-122"/>
                <a:cs typeface="Calibri" pitchFamily="34" charset="-120"/>
              </a:rPr>
              <a:t>: change requirements or plans so the risk goes away</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Control</a:t>
            </a:r>
            <a:pPr indent="0" marL="0">
              <a:buNone/>
            </a:pPr>
            <a:r>
              <a:rPr lang="en-US" sz="2000" dirty="0">
                <a:solidFill>
                  <a:srgbClr val="18202D"/>
                </a:solidFill>
                <a:latin typeface="Calibri" pitchFamily="34" charset="0"/>
                <a:ea typeface="Calibri" pitchFamily="34" charset="-122"/>
                <a:cs typeface="Calibri" pitchFamily="34" charset="-120"/>
              </a:rPr>
              <a:t>: reduce likelihood, consequence or both</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Transfer</a:t>
            </a:r>
            <a:pPr indent="0" marL="0">
              <a:buNone/>
            </a:pPr>
            <a:r>
              <a:rPr lang="en-US" sz="2000" dirty="0">
                <a:solidFill>
                  <a:srgbClr val="18202D"/>
                </a:solidFill>
                <a:latin typeface="Calibri" pitchFamily="34" charset="0"/>
                <a:ea typeface="Calibri" pitchFamily="34" charset="-122"/>
                <a:cs typeface="Calibri" pitchFamily="34" charset="-120"/>
              </a:rPr>
              <a:t>: move accountability to a willing party</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Accept</a:t>
            </a:r>
            <a:pPr indent="0" marL="0">
              <a:buNone/>
            </a:pPr>
            <a:r>
              <a:rPr lang="en-US" sz="2000" dirty="0">
                <a:solidFill>
                  <a:srgbClr val="18202D"/>
                </a:solidFill>
                <a:latin typeface="Calibri" pitchFamily="34" charset="0"/>
                <a:ea typeface="Calibri" pitchFamily="34" charset="-122"/>
                <a:cs typeface="Calibri" pitchFamily="34" charset="-120"/>
              </a:rPr>
              <a:t>: a deliberate, approved decision; then monitor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Evaluate all four; do not default to mitigation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Adversity, whether attack, fault or outage, degrades capability. Resilience aims to avoid, withstand and recover; security limits loss of assets.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R24 p.1203; R24 p.1204; R24 p.1208; R25 p.1229; R25 p.1231; R39q p.1610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Security and resilience risks belong in the same register</a:t>
            </a:r>
            <a:endParaRPr lang="en-US" sz="3000" dirty="0"/>
          </a:p>
        </p:txBody>
      </p:sp>
      <p:pic>
        <p:nvPicPr>
          <p:cNvPr id="4" name="Image 0" descr="A capability-over-time chart. A flat line at required capability drops when an adversity arrives, holds at a reduced level, then climbs back. Three bands are labeled avoid before the drop, withstand during the reduced level and recover during the climb. Three AeroLink risks are pinned to the chart, each card labeled Security or Resilience: intrusion into the operations platform, altered charger commands, and a regional grid outage. A legend lists the assets at stake: system capability, data and information, infrastructure, people.">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36200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Resilience: provide required capability when facing adversity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Objectives: </a:t>
            </a:r>
            <a:pPr indent="0" marL="0">
              <a:buNone/>
            </a:pPr>
            <a:r>
              <a:rPr lang="en-US" sz="2000" b="1" dirty="0">
                <a:solidFill>
                  <a:srgbClr val="18202D"/>
                </a:solidFill>
                <a:latin typeface="Calibri" pitchFamily="34" charset="0"/>
                <a:ea typeface="Calibri" pitchFamily="34" charset="-122"/>
                <a:cs typeface="Calibri" pitchFamily="34" charset="-120"/>
              </a:rPr>
              <a:t>avoid</a:t>
            </a:r>
            <a:pPr indent="0" marL="0">
              <a:buNone/>
            </a:pPr>
            <a:r>
              <a:rPr lang="en-US" sz="2000" dirty="0">
                <a:solidFill>
                  <a:srgbClr val="18202D"/>
                </a:solidFill>
                <a:latin typeface="Calibri" pitchFamily="34" charset="0"/>
                <a:ea typeface="Calibri" pitchFamily="34" charset="-122"/>
                <a:cs typeface="Calibri" pitchFamily="34" charset="-120"/>
              </a:rPr>
              <a:t>, </a:t>
            </a:r>
            <a:pPr indent="0" marL="0">
              <a:buNone/>
            </a:pPr>
            <a:r>
              <a:rPr lang="en-US" sz="2000" b="1" dirty="0">
                <a:solidFill>
                  <a:srgbClr val="18202D"/>
                </a:solidFill>
                <a:latin typeface="Calibri" pitchFamily="34" charset="0"/>
                <a:ea typeface="Calibri" pitchFamily="34" charset="-122"/>
                <a:cs typeface="Calibri" pitchFamily="34" charset="-120"/>
              </a:rPr>
              <a:t>withstand</a:t>
            </a:r>
            <a:pPr indent="0" marL="0">
              <a:buNone/>
            </a:pPr>
            <a:r>
              <a:rPr lang="en-US" sz="2000" dirty="0">
                <a:solidFill>
                  <a:srgbClr val="18202D"/>
                </a:solidFill>
                <a:latin typeface="Calibri" pitchFamily="34" charset="0"/>
                <a:ea typeface="Calibri" pitchFamily="34" charset="-122"/>
                <a:cs typeface="Calibri" pitchFamily="34" charset="-120"/>
              </a:rPr>
              <a:t>, </a:t>
            </a:r>
            <a:pPr indent="0" marL="0">
              <a:buNone/>
            </a:pPr>
            <a:r>
              <a:rPr lang="en-US" sz="2000" b="1" dirty="0">
                <a:solidFill>
                  <a:srgbClr val="18202D"/>
                </a:solidFill>
                <a:latin typeface="Calibri" pitchFamily="34" charset="0"/>
                <a:ea typeface="Calibri" pitchFamily="34" charset="-122"/>
                <a:cs typeface="Calibri" pitchFamily="34" charset="-120"/>
              </a:rPr>
              <a:t>recover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Security: freedom from conditions that lead to loss of assets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Adversity includes attacks, faults and outages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Plan risk management to take these risks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Two register entries expanded: the condition–if–then parts, the ratings with reasons, the handling, and the requirements each threatens.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R61a p.630; R17 p.484; R46 p.126; R24 p.1206; R25 p.1231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II: writing, rating and handling two risks</a:t>
            </a:r>
            <a:endParaRPr lang="en-US" sz="3000" dirty="0"/>
          </a:p>
        </p:txBody>
      </p:sp>
      <p:pic>
        <p:nvPicPr>
          <p:cNvPr id="4" name="Image 0" descr="Two cards. Card one, Altered charger commands or configuration: condition, networked and remotely configurable chargers; if, commands or configuration altered by an unauthorized party or a faulty update; then, power limit exceeded or charge past cell limits. Rated 2 by 5, moderate; handling control, with signed configurations and a local temperature interlock; arrows to REQ-SYS-010, REQ-SYS-001, CAP-010, SCN-003. Card two, Weather limits lower than planned: condition, limits unpublished; if, approved limits lower than planned; then, holds above 5 % and capacity below the requirement. Rated 3 by 4; handling transfer by contract guarantee; arrows to REQ-SYS-004, REQ-STK-004, SCN-005.">    </p:cNvPr>
          <p:cNvPicPr>
            <a:picLocks noChangeAspect="1"/>
          </p:cNvPicPr>
          <p:nvPr/>
        </p:nvPicPr>
        <p:blipFill>
          <a:blip r:embed="rId1"/>
          <a:stretch>
            <a:fillRect/>
          </a:stretch>
        </p:blipFill>
        <p:spPr>
          <a:xfrm>
            <a:off x="2201547" y="1280160"/>
            <a:ext cx="7788602" cy="2730132"/>
          </a:xfrm>
          <a:prstGeom prst="rect">
            <a:avLst/>
          </a:prstGeom>
        </p:spPr>
      </p:pic>
      <p:sp>
        <p:nvSpPr>
          <p:cNvPr id="5" name="Text 2"/>
          <p:cNvSpPr/>
          <p:nvPr/>
        </p:nvSpPr>
        <p:spPr>
          <a:xfrm>
            <a:off x="548640" y="4147452"/>
            <a:ext cx="11094415" cy="1430528"/>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Write: </a:t>
            </a:r>
            <a:pPr indent="0" marL="0">
              <a:buNone/>
            </a:pPr>
            <a:r>
              <a:rPr lang="en-US" sz="1600" dirty="0">
                <a:solidFill>
                  <a:srgbClr val="18202D"/>
                </a:solidFill>
                <a:latin typeface="Calibri" pitchFamily="34" charset="0"/>
                <a:ea typeface="Calibri" pitchFamily="34" charset="-122"/>
                <a:cs typeface="Calibri" pitchFamily="34" charset="-120"/>
              </a:rPr>
              <a:t>condition, if, then; no treatment inside</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Rate: </a:t>
            </a:r>
            <a:pPr indent="0" marL="0">
              <a:buNone/>
            </a:pPr>
            <a:r>
              <a:rPr lang="en-US" sz="1600" dirty="0">
                <a:solidFill>
                  <a:srgbClr val="18202D"/>
                </a:solidFill>
                <a:latin typeface="Calibri" pitchFamily="34" charset="0"/>
                <a:ea typeface="Calibri" pitchFamily="34" charset="-122"/>
                <a:cs typeface="Calibri" pitchFamily="34" charset="-120"/>
              </a:rPr>
              <a:t>likelihood and consequence, each with a reason</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Handle: </a:t>
            </a:r>
            <a:pPr indent="0" marL="0">
              <a:buNone/>
            </a:pPr>
            <a:r>
              <a:rPr lang="en-US" sz="1600" dirty="0">
                <a:solidFill>
                  <a:srgbClr val="18202D"/>
                </a:solidFill>
                <a:latin typeface="Calibri" pitchFamily="34" charset="0"/>
                <a:ea typeface="Calibri" pitchFamily="34" charset="-122"/>
                <a:cs typeface="Calibri" pitchFamily="34" charset="-120"/>
              </a:rPr>
              <a:t>compare all four options; owner, treatment, trigger</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Link: </a:t>
            </a:r>
            <a:pPr indent="0" marL="0">
              <a:buNone/>
            </a:pPr>
            <a:r>
              <a:rPr lang="en-US" sz="1600" dirty="0">
                <a:solidFill>
                  <a:srgbClr val="18202D"/>
                </a:solidFill>
                <a:latin typeface="Calibri" pitchFamily="34" charset="0"/>
                <a:ea typeface="Calibri" pitchFamily="34" charset="-122"/>
                <a:cs typeface="Calibri" pitchFamily="34" charset="-120"/>
              </a:rPr>
              <a:t>to the requirements and scenarios it threatens</a:t>
            </a:r>
            <a:endParaRPr lang="en-US" sz="16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burn-down for battery fade: planned and actual risk level over time, the trigger on its TPM, and the “sea of green” trap.</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R17 p.484; R17 p.485; R17 p.486; R46 p.127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Monitoring, triggers and the pitfalls to avoid</a:t>
            </a:r>
            <a:endParaRPr lang="en-US" sz="3000" dirty="0"/>
          </a:p>
        </p:txBody>
      </p:sp>
      <p:pic>
        <p:nvPicPr>
          <p:cNvPr id="4" name="Image 0" descr="A chart of risk level against months. A planned burn-down line steps down from moderate to low over 18 months. An actual line follows the plan at first, then flattens. Beside it, a column of green status lights for staffing, budget and test schedule, labeled sea of green: the plan looks on track while the risk is not falling. A dashed horizontal marker on a small inset reads trigger: TPM margin below 1 point.">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36200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Monitor with metrics, including TPMs, against a burn-down</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Sea of green</a:t>
            </a:r>
            <a:pPr indent="0" marL="0">
              <a:buNone/>
            </a:pPr>
            <a:r>
              <a:rPr lang="en-US" sz="2000" dirty="0">
                <a:solidFill>
                  <a:srgbClr val="18202D"/>
                </a:solidFill>
                <a:latin typeface="Calibri" pitchFamily="34" charset="0"/>
                <a:ea typeface="Calibri" pitchFamily="34" charset="-122"/>
                <a:cs typeface="Calibri" pitchFamily="34" charset="-120"/>
              </a:rPr>
              <a:t>: track the risk, not the plan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Done only for reviews → keep the register continuous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Automatic mitigation → evaluate all four options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Band-aid treatment → address the root cause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AeroLink’s register entries on the left, the Week 2 artifacts they affect on the right. Unknowns link to the TBDs of the requirements.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R13 p.565; R17 p.483</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III: the register, linked to the package</a:t>
            </a:r>
            <a:endParaRPr lang="en-US" sz="3000" dirty="0"/>
          </a:p>
        </p:txBody>
      </p:sp>
      <p:pic>
        <p:nvPicPr>
          <p:cNvPr id="4" name="Image 0" descr="A network diagram. Left column groups: assumptions A-001 to A-008; risks R-001, R-002, R-003, R-004, R-005, R-006, R-007, R-008, R-009, R-010, R-011; opportunities O-001 and O-002; unknowns U-001, U-002, U-003, U-004, U-005, U-006. Right column: requirements, capabilities and scenarios. Lines labeled affects connect them, for example charging capacity lags fleet growth to CAP-003, REQ-STK-001 and REQ-STK-004, and the weather-limits unknown to the TBD in REQ-STK-003. Below, separate, the issue log with one entry.">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Every entry </a:t>
            </a:r>
            <a:pPr indent="0" marL="0">
              <a:buNone/>
            </a:pPr>
            <a:r>
              <a:rPr lang="en-US" sz="2000" b="1" dirty="0">
                <a:solidFill>
                  <a:srgbClr val="18202D"/>
                </a:solidFill>
                <a:latin typeface="Calibri" pitchFamily="34" charset="0"/>
                <a:ea typeface="Calibri" pitchFamily="34" charset="-122"/>
                <a:cs typeface="Calibri" pitchFamily="34" charset="-120"/>
              </a:rPr>
              <a:t>affects</a:t>
            </a:r>
            <a:pPr indent="0" marL="0">
              <a:buNone/>
            </a:pPr>
            <a:r>
              <a:rPr lang="en-US" sz="2000" dirty="0">
                <a:solidFill>
                  <a:srgbClr val="18202D"/>
                </a:solidFill>
                <a:latin typeface="Calibri" pitchFamily="34" charset="0"/>
                <a:ea typeface="Calibri" pitchFamily="34" charset="-122"/>
                <a:cs typeface="Calibri" pitchFamily="34" charset="-120"/>
              </a:rPr>
              <a:t> named requirements, capabilities or scenarios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Week 2 TBD or TBR links to an unknown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Issues kept in a separate log</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Owners and triggers make the register actionable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measures hierarchy with the TPM level added: a TPM tracks, over development, a design parameter behind an MOP.</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R15 p.532; R44 p.113; R44 p.116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From MOE and MOP to TPM</a:t>
            </a:r>
            <a:endParaRPr lang="en-US" sz="3000" dirty="0"/>
          </a:p>
        </p:txBody>
      </p:sp>
      <p:pic>
        <p:nvPicPr>
          <p:cNvPr id="4" name="Image 0" descr="A three-level pyramid. Top: measure of effectiveness, passenger wait (MOE-001). Middle: measure of performance, charge time to dispatch threshold (MOP-002). Bottom, newly filled: technical performance measure, charge time tracked through design maturity (TPM-001), measuring REQ-SYS-001. A side arrow labeled over time points along the bottom level.">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353771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TPMs: measures collected over time to see trends and forecast progress to plan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Estimated early from models; replaced by demonstrated data</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Leading indicators of deficiencies and risk</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Good TPM: quantifiable, routine, planned profile, tied to a risk</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For a lower-is-better TPM: the current best estimate, plus contingency to the worst case, then margin up to the threshold. The objective lies below.</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R44 p.117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Current estimate, contingency, worst case and margin</a:t>
            </a:r>
            <a:endParaRPr lang="en-US" sz="3000" dirty="0"/>
          </a:p>
        </p:txBody>
      </p:sp>
      <p:pic>
        <p:nvPicPr>
          <p:cNvPr id="4" name="Image 0" descr="A vertical bar for a lower-is-better measure. From the bottom: the objective line; above it the current best estimate; a hatched contingency band up to the worst-case estimate; an open band labeled margin up to the threshold line at the top. Arrows label contingency decreases as the design matures and margin is trade space.">    </p:cNvPr>
          <p:cNvPicPr>
            <a:picLocks noChangeAspect="1"/>
          </p:cNvPicPr>
          <p:nvPr/>
        </p:nvPicPr>
        <p:blipFill>
          <a:blip r:embed="rId1"/>
          <a:stretch>
            <a:fillRect/>
          </a:stretch>
        </p:blipFill>
        <p:spPr>
          <a:xfrm>
            <a:off x="2201547" y="1280160"/>
            <a:ext cx="7788602" cy="2730132"/>
          </a:xfrm>
          <a:prstGeom prst="rect">
            <a:avLst/>
          </a:prstGeom>
        </p:spPr>
      </p:pic>
      <p:sp>
        <p:nvSpPr>
          <p:cNvPr id="5" name="Shape 2"/>
          <p:cNvSpPr/>
          <p:nvPr/>
        </p:nvSpPr>
        <p:spPr>
          <a:xfrm>
            <a:off x="548640" y="4147452"/>
            <a:ext cx="11094415" cy="1124712"/>
          </a:xfrm>
          <a:prstGeom prst="rect">
            <a:avLst/>
          </a:prstGeom>
          <a:solidFill>
            <a:srgbClr val="ECEFF3"/>
          </a:solidFill>
          <a:ln w="9525">
            <a:solidFill>
              <a:srgbClr val="D3D9E1"/>
            </a:solidFill>
            <a:prstDash val="solid"/>
          </a:ln>
        </p:spPr>
      </p:sp>
      <p:sp>
        <p:nvSpPr>
          <p:cNvPr id="6" name="Text 3"/>
          <p:cNvSpPr/>
          <p:nvPr/>
        </p:nvSpPr>
        <p:spPr>
          <a:xfrm>
            <a:off x="548640" y="4220604"/>
            <a:ext cx="11094415" cy="640080"/>
          </a:xfrm>
          <a:prstGeom prst="rect">
            <a:avLst/>
          </a:prstGeom>
          <a:noFill/>
          <a:ln/>
        </p:spPr>
        <p:txBody>
          <a:bodyPr wrap="square" rtlCol="0" anchor="ctr"/>
          <a:lstStyle/>
          <a:p>
            <a:pPr algn="ctr" indent="0" marL="0">
              <a:buNone/>
            </a:pPr>
            <a:r>
              <a:rPr lang="en-US" sz="1900" dirty="0">
                <a:solidFill>
                  <a:srgbClr val="18202D"/>
                </a:solidFill>
                <a:latin typeface="Cambria Math" pitchFamily="34" charset="0"/>
                <a:ea typeface="Cambria Math" pitchFamily="34" charset="-122"/>
                <a:cs typeface="Cambria Math" pitchFamily="34" charset="-120"/>
              </a:rPr>
              <a:t>WCE = CBE + contingency      margin = threshold − WCE</a:t>
            </a:r>
            <a:endParaRPr lang="en-US" sz="1900" dirty="0"/>
          </a:p>
        </p:txBody>
      </p:sp>
      <p:sp>
        <p:nvSpPr>
          <p:cNvPr id="7" name="Text 4"/>
          <p:cNvSpPr/>
          <p:nvPr/>
        </p:nvSpPr>
        <p:spPr>
          <a:xfrm>
            <a:off x="548640" y="4842396"/>
            <a:ext cx="11094415" cy="310896"/>
          </a:xfrm>
          <a:prstGeom prst="rect">
            <a:avLst/>
          </a:prstGeom>
          <a:noFill/>
          <a:ln/>
        </p:spPr>
        <p:txBody>
          <a:bodyPr wrap="square" lIns="0" tIns="0" rIns="0" bIns="0" rtlCol="0" anchor="ctr"/>
          <a:lstStyle/>
          <a:p>
            <a:pPr algn="ctr" indent="0" marL="0">
              <a:buNone/>
            </a:pPr>
            <a:r>
              <a:rPr lang="en-US" sz="900" i="1" dirty="0">
                <a:solidFill>
                  <a:srgbClr val="566071"/>
                </a:solidFill>
                <a:latin typeface="Calibri" pitchFamily="34" charset="0"/>
                <a:ea typeface="Calibri" pitchFamily="34" charset="-122"/>
                <a:cs typeface="Calibri" pitchFamily="34" charset="-120"/>
              </a:rPr>
              <a:t>CBE = current best estimate     contingency = allowance for uncertainty; shrinks as the design matures     margin = growth still possible within the threshold</a:t>
            </a:r>
            <a:endParaRPr lang="en-US" sz="900" dirty="0"/>
          </a:p>
        </p:txBody>
      </p:sp>
      <p:sp>
        <p:nvSpPr>
          <p:cNvPr id="8" name="Shape 5"/>
          <p:cNvSpPr/>
          <p:nvPr/>
        </p:nvSpPr>
        <p:spPr>
          <a:xfrm>
            <a:off x="548640" y="5436756"/>
            <a:ext cx="11094415" cy="716280"/>
          </a:xfrm>
          <a:prstGeom prst="roundRect">
            <a:avLst>
              <a:gd name="adj" fmla="val 7660"/>
            </a:avLst>
          </a:prstGeom>
          <a:solidFill>
            <a:srgbClr val="ECEFF3"/>
          </a:solidFill>
          <a:ln w="12700">
            <a:solidFill>
              <a:srgbClr val="D3D9E1"/>
            </a:solidFill>
            <a:prstDash val="solid"/>
          </a:ln>
        </p:spPr>
      </p:sp>
      <p:sp>
        <p:nvSpPr>
          <p:cNvPr id="9" name="Text 6"/>
          <p:cNvSpPr/>
          <p:nvPr/>
        </p:nvSpPr>
        <p:spPr>
          <a:xfrm>
            <a:off x="685800" y="5436756"/>
            <a:ext cx="10820095" cy="716280"/>
          </a:xfrm>
          <a:prstGeom prst="rect">
            <a:avLst/>
          </a:prstGeom>
          <a:noFill/>
          <a:ln/>
        </p:spPr>
        <p:txBody>
          <a:bodyPr wrap="square" lIns="38100" tIns="38100" rIns="38100" bIns="38100" rtlCol="0" anchor="ctr"/>
          <a:lstStyle/>
          <a:p>
            <a:pPr indent="0" marL="0">
              <a:buNone/>
            </a:pPr>
            <a:r>
              <a:rPr lang="en-US" sz="900" b="1" spc="100" kern="0" dirty="0">
                <a:solidFill>
                  <a:srgbClr val="18202D"/>
                </a:solidFill>
                <a:latin typeface="Calibri" pitchFamily="34" charset="0"/>
                <a:ea typeface="Calibri" pitchFamily="34" charset="-122"/>
                <a:cs typeface="Calibri" pitchFamily="34" charset="-120"/>
              </a:rPr>
              <a:t>NOTE</a:t>
            </a:r>
            <a:endParaRPr lang="en-US" sz="900" dirty="0"/>
          </a:p>
          <a:p>
            <a:pPr indent="0" marL="0">
              <a:buNone/>
            </a:pPr>
            <a:r>
              <a:rPr lang="en-US" sz="1200" dirty="0">
                <a:solidFill>
                  <a:srgbClr val="18202D"/>
                </a:solidFill>
                <a:latin typeface="Calibri" pitchFamily="34" charset="0"/>
                <a:ea typeface="Calibri" pitchFamily="34" charset="-122"/>
                <a:cs typeface="Calibri" pitchFamily="34" charset="-120"/>
              </a:rPr>
              <a:t>Higher-is-better: subtract contingency, and margin = WCE − threshold.</a:t>
            </a:r>
            <a:endParaRPr lang="en-US" sz="9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Landing energy reserve: planned worst case at five reviews against the 20 % threshold, and a hypothetical month-6 reading that crosses the trigger.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R44 p.116; R44 p.117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IV: AeroLink’s TPMs, margins and planned profile</a:t>
            </a:r>
            <a:endParaRPr lang="en-US" sz="3000" dirty="0"/>
          </a:p>
        </p:txBody>
      </p:sp>
      <p:pic>
        <p:nvPicPr>
          <p:cNvPr id="4" name="Image 0" descr="A line chart of landing energy reserve in percent against months 0, 6, 12, 18 and 24. A horizontal threshold line at 20 % and an objective line at 25 %. The planned worst-case line runs 21.5, 22.0, 22.2, 22.5, 22.5 across the five reviews. A red point at month 6 shows a hypothetical reading of 20.25 %, with a dashed marker at 21 % labeled trigger: margin below 1 point.">    </p:cNvPr>
          <p:cNvPicPr>
            <a:picLocks noChangeAspect="1"/>
          </p:cNvPicPr>
          <p:nvPr/>
        </p:nvPicPr>
        <p:blipFill>
          <a:blip r:embed="rId1"/>
          <a:stretch>
            <a:fillRect/>
          </a:stretch>
        </p:blipFill>
        <p:spPr>
          <a:xfrm>
            <a:off x="2352385" y="1280160"/>
            <a:ext cx="7486925" cy="2624385"/>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4041705"/>
          <a:ext cx="11094415" cy="914400"/>
        </p:xfrm>
        <a:graphic>
          <a:graphicData uri="http://schemas.openxmlformats.org/drawingml/2006/table">
            <a:tbl>
              <a:tblPr/>
              <a:tblGrid>
                <a:gridCol w="2218883"/>
                <a:gridCol w="2218883"/>
                <a:gridCol w="2218883"/>
                <a:gridCol w="2218883"/>
                <a:gridCol w="2218883"/>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TPM</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CBE</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WCE</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Margin</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r>
              <a:tr h="0">
                <a:tc>
                  <a:txBody>
                    <a:bodyPr/>
                    <a:lstStyle/>
                    <a:p>
                      <a:pPr indent="0" marL="0">
                        <a:buNone/>
                      </a:pPr>
                      <a:r>
                        <a:rPr lang="en-US" sz="1200" b="1" dirty="0">
                          <a:solidFill>
                            <a:srgbClr val="18202D"/>
                          </a:solidFill>
                          <a:latin typeface="Calibri" pitchFamily="34" charset="0"/>
                          <a:ea typeface="Calibri" pitchFamily="34" charset="-122"/>
                          <a:cs typeface="Calibri" pitchFamily="34" charset="-120"/>
                        </a:rPr>
                        <a:t>Charge time to dispatch threshold (min)</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8202D"/>
                          </a:solidFill>
                          <a:latin typeface="Calibri" pitchFamily="34" charset="0"/>
                          <a:ea typeface="Calibri" pitchFamily="34" charset="-122"/>
                          <a:cs typeface="Calibri" pitchFamily="34" charset="-120"/>
                        </a:rPr>
                        <a:t>Pad-edge noise (dBA)</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63.5</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64.5</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8202D"/>
                          </a:solidFill>
                          <a:latin typeface="Calibri" pitchFamily="34" charset="0"/>
                          <a:ea typeface="Calibri" pitchFamily="34" charset="-122"/>
                          <a:cs typeface="Calibri" pitchFamily="34" charset="-120"/>
                        </a:rPr>
                        <a:t>Landing energy reserve on the design trip (%)</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21.5</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00" dirty="0">
                          <a:solidFill>
                            <a:srgbClr val="18202D"/>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6" name="Text 2"/>
          <p:cNvSpPr/>
          <p:nvPr/>
        </p:nvSpPr>
        <p:spPr>
          <a:xfrm>
            <a:off x="548640" y="5822956"/>
            <a:ext cx="11094415" cy="708152"/>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400" b="1" dirty="0">
                <a:solidFill>
                  <a:srgbClr val="18202D"/>
                </a:solidFill>
                <a:latin typeface="Calibri" pitchFamily="34" charset="0"/>
                <a:ea typeface="Calibri" pitchFamily="34" charset="-122"/>
                <a:cs typeface="Calibri" pitchFamily="34" charset="-120"/>
              </a:rPr>
              <a:t>Compute: </a:t>
            </a:r>
            <a:pPr indent="0" marL="0">
              <a:buNone/>
            </a:pPr>
            <a:r>
              <a:rPr lang="en-US" sz="1400" dirty="0">
                <a:solidFill>
                  <a:srgbClr val="18202D"/>
                </a:solidFill>
                <a:latin typeface="Calibri" pitchFamily="34" charset="0"/>
                <a:ea typeface="Calibri" pitchFamily="34" charset="-122"/>
                <a:cs typeface="Calibri" pitchFamily="34" charset="-120"/>
              </a:rPr>
              <a:t>worst case and margin</a:t>
            </a:r>
            <a:endParaRPr lang="en-US" sz="1400" dirty="0"/>
          </a:p>
          <a:p>
            <a:pPr marL="342900" indent="-342900">
              <a:spcBef>
                <a:spcPts val="600"/>
              </a:spcBef>
              <a:buSzPct val="100000"/>
              <a:buFont typeface="+mj-lt"/>
              <a:buAutoNum type="arabicPeriod" startAt="1"/>
            </a:pPr>
            <a:r>
              <a:rPr lang="en-US" sz="1400" b="1" dirty="0">
                <a:solidFill>
                  <a:srgbClr val="18202D"/>
                </a:solidFill>
                <a:latin typeface="Calibri" pitchFamily="34" charset="0"/>
                <a:ea typeface="Calibri" pitchFamily="34" charset="-122"/>
                <a:cs typeface="Calibri" pitchFamily="34" charset="-120"/>
              </a:rPr>
              <a:t>Read: </a:t>
            </a:r>
            <a:pPr indent="0" marL="0">
              <a:buNone/>
            </a:pPr>
            <a:r>
              <a:rPr lang="en-US" sz="1400" dirty="0">
                <a:solidFill>
                  <a:srgbClr val="18202D"/>
                </a:solidFill>
                <a:latin typeface="Calibri" pitchFamily="34" charset="0"/>
                <a:ea typeface="Calibri" pitchFamily="34" charset="-122"/>
                <a:cs typeface="Calibri" pitchFamily="34" charset="-120"/>
              </a:rPr>
              <a:t>the planned profile</a:t>
            </a:r>
            <a:endParaRPr lang="en-US" sz="14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Battery cells (TRL 5) → capacity fade risk → landing-energy TPM → planned landing reserve → assurance of flight within safety limits. A test result propagates along the chain.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R44 p.113; R17 p.484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One chain through all three instruments</a:t>
            </a:r>
            <a:endParaRPr lang="en-US" sz="3000" dirty="0"/>
          </a:p>
        </p:txBody>
      </p:sp>
      <p:pic>
        <p:nvPicPr>
          <p:cNvPr id="4" name="Image 0" descr="Five linked cards left to right: TECH-002, R-002, TPM-003, REQ-SYS-003, NEED-002. Under each card one line: TRL 5 on an assumption; rated 3 by 4, mitigate; margin 1.5 points, trigger below 1; at least 20 % usable energy on landing; the need for flight within safety limits. A red dashed arc runs from the TPM card back over the risk card to the technology card, labeled 12 % fade at month 6.">    </p:cNvPr>
          <p:cNvPicPr>
            <a:picLocks noChangeAspect="1"/>
          </p:cNvPicPr>
          <p:nvPr/>
        </p:nvPicPr>
        <p:blipFill>
          <a:blip r:embed="rId1"/>
          <a:stretch>
            <a:fillRect/>
          </a:stretch>
        </p:blipFill>
        <p:spPr>
          <a:xfrm>
            <a:off x="548640" y="1609719"/>
            <a:ext cx="6379289" cy="3589413"/>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Technology → risk → TPM → requirement → need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12 % fade: reserve 21.25 %, margin 0.25: trigger fires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15 % fade: reserve 18.5 %, below the threshold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One result changes the whole chain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trade study frame with two sockets highlighted: maturity and risk enter as criteria, as must-meet screens, or as conditions on the decision.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p.464; R24 p.1208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Session 2 needs from today</a:t>
            </a:r>
            <a:endParaRPr lang="en-US" sz="3000" dirty="0"/>
          </a:p>
        </p:txBody>
      </p:sp>
      <p:pic>
        <p:nvPicPr>
          <p:cNvPr id="4" name="Image 0" descr="An outline of a trade-study frame with labeled slots: decision, alternatives, criteria, weights, scores, sensitivity, recommendation. Two sockets are highlighted: maturity from the readiness assessment and risk from the register, each with three arrows into the frame labeled criterion, screen and condition.">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Identify uncertainty and assess risk for each decision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Maturity and risk enter as criteria, screens or conditions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Resilience can be a criterion; security a must-meet screen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Bring your enterprise’s technologies and one decision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Exit: retrieval and preparation</a:t>
            </a:r>
            <a:endParaRPr lang="en-US" sz="3000" dirty="0"/>
          </a:p>
        </p:txBody>
      </p:sp>
      <p:sp>
        <p:nvSpPr>
          <p:cNvPr id="3" name="Shape 1"/>
          <p:cNvSpPr/>
          <p:nvPr/>
        </p:nvSpPr>
        <p:spPr>
          <a:xfrm>
            <a:off x="548640" y="1280160"/>
            <a:ext cx="6379289" cy="1057148"/>
          </a:xfrm>
          <a:prstGeom prst="roundRect">
            <a:avLst>
              <a:gd name="adj" fmla="val 5190"/>
            </a:avLst>
          </a:prstGeom>
          <a:solidFill>
            <a:srgbClr val="E1EFF4"/>
          </a:solidFill>
          <a:ln w="12700">
            <a:solidFill>
              <a:srgbClr val="0F6E8C"/>
            </a:solidFill>
            <a:prstDash val="solid"/>
          </a:ln>
        </p:spPr>
      </p:sp>
      <p:sp>
        <p:nvSpPr>
          <p:cNvPr id="4" name="Text 2"/>
          <p:cNvSpPr/>
          <p:nvPr/>
        </p:nvSpPr>
        <p:spPr>
          <a:xfrm>
            <a:off x="685800" y="1280160"/>
            <a:ext cx="6104969" cy="1057148"/>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ONE-MINUTE PAPER</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Rewrite as condition–if–then: “The new app might be late.”</a:t>
            </a:r>
            <a:endParaRPr lang="en-US" sz="1200" dirty="0"/>
          </a:p>
        </p:txBody>
      </p:sp>
      <p:sp>
        <p:nvSpPr>
          <p:cNvPr id="5" name="Text 3"/>
          <p:cNvSpPr/>
          <p:nvPr/>
        </p:nvSpPr>
        <p:spPr>
          <a:xfrm>
            <a:off x="7293689" y="1280160"/>
            <a:ext cx="4349366" cy="252577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member: two technologies your enterprise depends on, a first TRL and its basis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One decision your team will soon face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Read the trade-study pages listed on the week page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References and credits</a:t>
            </a:r>
            <a:endParaRPr lang="en-US" sz="3000" dirty="0"/>
          </a:p>
        </p:txBody>
      </p:sp>
      <p:sp>
        <p:nvSpPr>
          <p:cNvPr id="3" name="Text 1"/>
          <p:cNvSpPr/>
          <p:nvPr/>
        </p:nvSpPr>
        <p:spPr>
          <a:xfrm>
            <a:off x="548640"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R13 · SEBoK v2.14 (2026), “System Requirements Definition”, p.565</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R15 · SEBoK v2.14 (2026), “Measurement”, p.532</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R16 · SEBoK v2.14 (2026), “Product Systems Engineering Special Activities”, p.766–768</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R17 · SEBoK v2.14 (2026), “Risk Management”, p.481–486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R18 · SEBoK v2.14 (2026), “Decision Management”, p.463–474</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R24 · SEBoK v2.14 (2026), “System Resilience”, p.1203–1204, 1206, 1208–1209</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R25 · SEBoK v2.14 (2026), “System Security”, p.1229, 1231–1232</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R39q · SEBoK v2.14 (2026), “Risk (glossary)”, p.1610</a:t>
            </a:r>
            <a:endParaRPr lang="en-US" sz="1200" dirty="0"/>
          </a:p>
        </p:txBody>
      </p:sp>
      <p:sp>
        <p:nvSpPr>
          <p:cNvPr id="4" name="Text 2"/>
          <p:cNvSpPr/>
          <p:nvPr/>
        </p:nvSpPr>
        <p:spPr>
          <a:xfrm>
            <a:off x="4236013"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R39r · SEBoK v2.14 (2026), “Opportunity (glossary)”, p.1582</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R39s · SEBoK v2.14 (2026), “Uncertainty (glossary)”, p.1668</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R44 · OUSD(R&amp;E) Systems Engineering Guidebook (2021/2022), “Technical Assessment Process”, p.112–114, 116–117</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R46 · OUSD(R&amp;E) Systems Engineering Guidebook (2021/2022), “Risk Management Process”, p.124–127</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R60 · The MITRE Systems Engineering Guide (2014), “Assessing Technical Maturity”, p.524–526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R61a · The MITRE Systems Engineering Guide (2014), “Risk Identification”, p.630–631, 633</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R61b · The MITRE Systems Engineering Guide (2014), “Risk Impact Assessment and Prioritization”, p.635–637</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R61c · The MITRE Systems Engineering Guide (2014), “Risk Mitigation Planning, Implementation, and Progress Monitoring”, p.642, 644</a:t>
            </a:r>
            <a:endParaRPr lang="en-US" sz="1200" dirty="0"/>
          </a:p>
        </p:txBody>
      </p:sp>
      <p:sp>
        <p:nvSpPr>
          <p:cNvPr id="5" name="Shape 3"/>
          <p:cNvSpPr/>
          <p:nvPr/>
        </p:nvSpPr>
        <p:spPr>
          <a:xfrm>
            <a:off x="7923386" y="1280160"/>
            <a:ext cx="54864" cy="4846320"/>
          </a:xfrm>
          <a:prstGeom prst="rect">
            <a:avLst/>
          </a:prstGeom>
          <a:solidFill>
            <a:srgbClr val="0F6E8C"/>
          </a:solidFill>
          <a:ln w="12700">
            <a:solidFill>
              <a:srgbClr val="0F6E8C"/>
            </a:solidFill>
            <a:prstDash val="solid"/>
          </a:ln>
        </p:spPr>
      </p:sp>
      <p:sp>
        <p:nvSpPr>
          <p:cNvPr id="6" name="Text 4"/>
          <p:cNvSpPr/>
          <p:nvPr/>
        </p:nvSpPr>
        <p:spPr>
          <a:xfrm>
            <a:off x="8060546" y="1280160"/>
            <a:ext cx="3582509" cy="4846320"/>
          </a:xfrm>
          <a:prstGeom prst="rect">
            <a:avLst/>
          </a:prstGeom>
          <a:noFill/>
          <a:ln/>
        </p:spPr>
        <p:txBody>
          <a:bodyPr wrap="square" lIns="25400" tIns="25400" rIns="25400" bIns="25400" rtlCol="0" anchor="t"/>
          <a:lstStyle/>
          <a:p>
            <a:pPr indent="0" marL="0">
              <a:buNone/>
            </a:pPr>
            <a:r>
              <a:rPr lang="en-US" sz="1200" b="1" spc="100" kern="0" dirty="0">
                <a:solidFill>
                  <a:srgbClr val="18202D"/>
                </a:solidFill>
                <a:latin typeface="Calibri" pitchFamily="34" charset="0"/>
                <a:ea typeface="Calibri" pitchFamily="34" charset="-122"/>
                <a:cs typeface="Calibri" pitchFamily="34" charset="-120"/>
              </a:rPr>
              <a:t>CREDITS AND LICENSES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SEBoK v2.14: “This material is used under a Creative Commons Attribution-NonCommercial ShareAlike 3.0 Unported License from The Trustees of the Stevens Institute of Technology.” (SEBoK, “Bkcase Wiki:Copyright”, PDF p.31). Quotations are short and cited; no SEBoK figure or table is reproduced.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OUSD(R&amp;E) Systems Engineering Guidebook: Distribution Statement A. Approved for public release. Distribution is unlimited.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The MITRE Systems Engineering Guide: © 2014 by The MITRE Corporation. All rights reserved. Approved for public release; distribution unlimited (Case Numbers 10-4072 and 12-1089). Quoted briefly with attribution.</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Figures are original drawings for this course; none redraws a figure from the sources.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AeroLink Urban Mobility is a fictional teaching case: every number, name and statement about it is a teaching value.</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 Session 1: Technology Assessment / Risk Management / Trade Study</dc:title>
  <dc:subject>Systems Thinking and MBSE with SysML v2</dc:subject>
  <dc:creator>SysML Learning Studio (generated)</dc:creator>
  <cp:lastModifiedBy>SysML Learning Studio (generated)</cp:lastModifiedBy>
  <cp:revision>1</cp:revision>
  <dcterms:created xsi:type="dcterms:W3CDTF">2026-10-27T14:48:06Z</dcterms:created>
  <dcterms:modified xsi:type="dcterms:W3CDTF">2026-10-27T14:48:06Z</dcterms:modified>
</cp:coreProperties>
</file>