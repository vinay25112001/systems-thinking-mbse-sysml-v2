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3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3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Warm-up: three retrieval cards</a:t>
            </a:r>
            <a:endParaRPr lang="en-US" sz="3000" dirty="0"/>
          </a:p>
        </p:txBody>
      </p:sp>
      <p:sp>
        <p:nvSpPr>
          <p:cNvPr id="3" name="Text 1"/>
          <p:cNvSpPr/>
          <p:nvPr/>
        </p:nvSpPr>
        <p:spPr>
          <a:xfrm>
            <a:off x="548640" y="128016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1</a:t>
            </a:r>
            <a:pPr indent="0" marL="0">
              <a:buNone/>
            </a:pPr>
            <a:r>
              <a:rPr lang="en-US" sz="2000" dirty="0">
                <a:solidFill>
                  <a:srgbClr val="18202D"/>
                </a:solidFill>
                <a:latin typeface="Calibri" pitchFamily="34" charset="0"/>
                <a:ea typeface="Calibri" pitchFamily="34" charset="-122"/>
                <a:cs typeface="Calibri" pitchFamily="34" charset="-120"/>
              </a:rPr>
              <a:t> · “Weather limits not yet published”: a risk, an unknown or an issue?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2</a:t>
            </a:r>
            <a:pPr indent="0" marL="0">
              <a:buNone/>
            </a:pPr>
            <a:r>
              <a:rPr lang="en-US" sz="2000" dirty="0">
                <a:solidFill>
                  <a:srgbClr val="18202D"/>
                </a:solidFill>
                <a:latin typeface="Calibri" pitchFamily="34" charset="0"/>
                <a:ea typeface="Calibri" pitchFamily="34" charset="-122"/>
                <a:cs typeface="Calibri" pitchFamily="34" charset="-120"/>
              </a:rPr>
              <a:t> · Weather limits were handled by transfer. What did transfer </a:t>
            </a:r>
            <a:pPr indent="0" marL="0">
              <a:buNone/>
            </a:pPr>
            <a:r>
              <a:rPr lang="en-US" sz="2000" i="1" dirty="0">
                <a:solidFill>
                  <a:srgbClr val="18202D"/>
                </a:solidFill>
                <a:latin typeface="Calibri" pitchFamily="34" charset="0"/>
                <a:ea typeface="Calibri" pitchFamily="34" charset="-122"/>
                <a:cs typeface="Calibri" pitchFamily="34" charset="-120"/>
              </a:rPr>
              <a:t>not</a:t>
            </a:r>
            <a:pPr indent="0" marL="0">
              <a:buNone/>
            </a:pPr>
            <a:r>
              <a:rPr lang="en-US" sz="2000" dirty="0">
                <a:solidFill>
                  <a:srgbClr val="18202D"/>
                </a:solidFill>
                <a:latin typeface="Calibri" pitchFamily="34" charset="0"/>
                <a:ea typeface="Calibri" pitchFamily="34" charset="-122"/>
                <a:cs typeface="Calibri" pitchFamily="34" charset="-120"/>
              </a:rPr>
              <a:t> change?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3</a:t>
            </a:r>
            <a:pPr indent="0" marL="0">
              <a:buNone/>
            </a:pPr>
            <a:r>
              <a:rPr lang="en-US" sz="2000" dirty="0">
                <a:solidFill>
                  <a:srgbClr val="18202D"/>
                </a:solidFill>
                <a:latin typeface="Calibri" pitchFamily="34" charset="0"/>
                <a:ea typeface="Calibri" pitchFamily="34" charset="-122"/>
                <a:cs typeface="Calibri" pitchFamily="34" charset="-120"/>
              </a:rPr>
              <a:t> · Margin is the threshold minus what?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R46 p.127; R61c p.644; R44 p.117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Warm-up: the answers</a:t>
            </a:r>
            <a:endParaRPr lang="en-US" sz="3000" dirty="0"/>
          </a:p>
        </p:txBody>
      </p:sp>
      <p:sp>
        <p:nvSpPr>
          <p:cNvPr id="4" name="Text 2"/>
          <p:cNvSpPr/>
          <p:nvPr/>
        </p:nvSpPr>
        <p:spPr>
          <a:xfrm>
            <a:off x="548640" y="128016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1</a:t>
            </a:r>
            <a:pPr indent="0" marL="0">
              <a:buNone/>
            </a:pPr>
            <a:r>
              <a:rPr lang="en-US" sz="2000" dirty="0">
                <a:solidFill>
                  <a:srgbClr val="18202D"/>
                </a:solidFill>
                <a:latin typeface="Calibri" pitchFamily="34" charset="0"/>
                <a:ea typeface="Calibri" pitchFamily="34" charset="-122"/>
                <a:cs typeface="Calibri" pitchFamily="34" charset="-120"/>
              </a:rPr>
              <a:t> · An unknown: information not yet available (a TBD in the requirement)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2</a:t>
            </a:r>
            <a:pPr indent="0" marL="0">
              <a:buNone/>
            </a:pPr>
            <a:r>
              <a:rPr lang="en-US" sz="2000" dirty="0">
                <a:solidFill>
                  <a:srgbClr val="18202D"/>
                </a:solidFill>
                <a:latin typeface="Calibri" pitchFamily="34" charset="0"/>
                <a:ea typeface="Calibri" pitchFamily="34" charset="-122"/>
                <a:cs typeface="Calibri" pitchFamily="34" charset="-120"/>
              </a:rPr>
              <a:t> · The consequence for passengers: transfer moves the cost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3</a:t>
            </a:r>
            <a:pPr indent="0" marL="0">
              <a:buNone/>
            </a:pPr>
            <a:r>
              <a:rPr lang="en-US" sz="2000" dirty="0">
                <a:solidFill>
                  <a:srgbClr val="18202D"/>
                </a:solidFill>
                <a:latin typeface="Calibri" pitchFamily="34" charset="0"/>
                <a:ea typeface="Calibri" pitchFamily="34" charset="-122"/>
                <a:cs typeface="Calibri" pitchFamily="34" charset="-120"/>
              </a:rPr>
              <a:t> · The worst-case estimate: current estimate plus contingency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decision-analysis steps as a ring, an original drawing from the DoD step list, with the Lab L3 steps mapped onto 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p.463; R18 p.464; R43 p.110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decision management is for</a:t>
            </a:r>
            <a:endParaRPr lang="en-US" sz="3000" dirty="0"/>
          </a:p>
        </p:txBody>
      </p:sp>
      <p:pic>
        <p:nvPicPr>
          <p:cNvPr id="4" name="Image 0" descr="A ring of eleven arrow segments: identify the problem; review requirements and assumptions; frame the decision; choose methods and tools; develop criteria and weights; record assumptions; define alternatives; assess alternatives; synthesize results; analyze sensitivities; brief and recommend. Filled nodes mark the steps the lab uses, each with a Lab line under its label: decision statement, alternatives, criteria and weights, scores, sensitivity, recommendation. In the center: the decision maker keeps full responsibility.">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structured framework to evaluate alternatives and select the most beneficial course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trade study is the method most commonly used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master decision model; value-focused thinking; uncertainty and risk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decision maker keeps full responsibility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objectives hierarchy: the decision at the top, four objectives, each with its measure and the MOE it traces to.</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Framing the decision, objectives and measures</a:t>
            </a:r>
            <a:endParaRPr lang="en-US" sz="3000" dirty="0"/>
          </a:p>
        </p:txBody>
      </p:sp>
      <p:pic>
        <p:nvPicPr>
          <p:cNvPr id="4" name="Image 0" descr="A tree. Root: provide the Year-2 capacity objective. Four branches: Wait at Year-2 demand measured in min, traced to MOE-001; Capital cost measured in USD M, traced to MOE-005; Capacity retained after loss of a hub measured in %, traced to MOE-006; Community noise exposure measured in movements/h, traced to MOE-003. A note under the tree reads cost and risk handled explicitly.">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State the decision in life-cycle terms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Objectives: essential, controllable, complete, non-redundant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Measures: unambiguous, comprehensive, direct, operational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rule: every criterion traces to an MOE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linear value functions from the AeroLink case, with walk-away (value 0) and stretch goal (value 1). Other shapes exist and must be justified.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 R18 p.466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Value functions: from measure space to value space</a:t>
            </a:r>
            <a:endParaRPr lang="en-US" sz="3000" dirty="0"/>
          </a:p>
        </p:txBody>
      </p:sp>
      <p:pic>
        <p:nvPicPr>
          <p:cNvPr id="4" name="Image 0" descr="Two small charts. Left: value of wait, 1 at 5 minutes falling linearly to 0 at 60 minutes and staying 0 beyond, walk-away and stretch labeled. Right: value of capacity retained after loss of a hub, 0 at 50 % rising linearly to 1 at 100 %. A faint concave curve on the right is labeled other shapes exist.">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2981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value function maps a measure to value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Walk-away</a:t>
            </a:r>
            <a:pPr indent="0" marL="0">
              <a:buNone/>
            </a:pPr>
            <a:r>
              <a:rPr lang="en-US" sz="2000" dirty="0">
                <a:solidFill>
                  <a:srgbClr val="18202D"/>
                </a:solidFill>
                <a:latin typeface="Calibri" pitchFamily="34" charset="0"/>
                <a:ea typeface="Calibri" pitchFamily="34" charset="-122"/>
                <a:cs typeface="Calibri" pitchFamily="34" charset="-120"/>
              </a:rPr>
              <a:t> point → value 0</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Stretch</a:t>
            </a:r>
            <a:pPr indent="0" marL="0">
              <a:buNone/>
            </a:pPr>
            <a:r>
              <a:rPr lang="en-US" sz="2000" dirty="0">
                <a:solidFill>
                  <a:srgbClr val="18202D"/>
                </a:solidFill>
                <a:latin typeface="Calibri" pitchFamily="34" charset="0"/>
                <a:ea typeface="Calibri" pitchFamily="34" charset="-122"/>
                <a:cs typeface="Calibri" pitchFamily="34" charset="-120"/>
              </a:rPr>
              <a:t> goal → value 1 (or 100)</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Document why the curve has its shape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Swing weights for the AeroLink trade: each bar is the swing from walk-away to stretch; ranked swings get points, normalized to sum to one.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p.466; R18 p.467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Swing weights: importance and range</a:t>
            </a:r>
            <a:endParaRPr lang="en-US" sz="3000" dirty="0"/>
          </a:p>
        </p:txBody>
      </p:sp>
      <p:pic>
        <p:nvPicPr>
          <p:cNvPr id="4" name="Image 0" descr="Four horizontal bars, ranked from top: Wait at Year-2 demand, swing 60 to 5 min, 100 points, weight 0.40; Capital cost, swing 20 to 0 USD M, 75 points, weight 0.30; Capacity retained after loss of a hub, swing 50 to 100 %, 40 points, weight 0.16; Community noise exposure, swing 10 to 5 movements/h, 35 points, weight 0.14. A sum line reads 250 points, weights sum to 1.">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Weights depend on importance </a:t>
            </a:r>
            <a:pPr indent="0" marL="0">
              <a:buNone/>
            </a:pPr>
            <a:r>
              <a:rPr lang="en-US" sz="2000" b="1" dirty="0">
                <a:solidFill>
                  <a:srgbClr val="18202D"/>
                </a:solidFill>
                <a:latin typeface="Calibri" pitchFamily="34" charset="0"/>
                <a:ea typeface="Calibri" pitchFamily="34" charset="-122"/>
                <a:cs typeface="Calibri" pitchFamily="34" charset="-120"/>
              </a:rPr>
              <a:t>and</a:t>
            </a:r>
            <a:pPr indent="0" marL="0">
              <a:buNone/>
            </a:pPr>
            <a:r>
              <a:rPr lang="en-US" sz="2000" dirty="0">
                <a:solidFill>
                  <a:srgbClr val="18202D"/>
                </a:solidFill>
                <a:latin typeface="Calibri" pitchFamily="34" charset="0"/>
                <a:ea typeface="Calibri" pitchFamily="34" charset="-122"/>
                <a:cs typeface="Calibri" pitchFamily="34" charset="-120"/>
              </a:rPr>
              <a:t> range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top swing gets 100; assess the others against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Normalize: weight = points ÷ total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AeroLink: 100, 75, 40, 35 → 0.40, 0.30, 0.16, 0.14</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morphological box for AeroLink capacity: each alternative is one path through the choices. Nine paths; six are listed alternatives, and the other three fail a screen straight from the box.</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p.467; R18 p.468; R18 p.469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Alternatives and the additive value model</a:t>
            </a:r>
            <a:endParaRPr lang="en-US" sz="3000" dirty="0"/>
          </a:p>
        </p:txBody>
      </p:sp>
      <p:pic>
        <p:nvPicPr>
          <p:cNvPr id="4" name="Image 0" descr="A grid with two rows of choices. Fleet: keep 12, add 4, add 6. Hubs: keep 3, upgrade a spoke to a fourth hub, build a seventh vertiport as a fourth hub. Six colored paths cross the grid, one per listed alternative: baseline: no added capacity; additional aircraft only; additional vertiport only; balanced: aircraft plus hub charging; aircraft plus a new hub vertiport; six aircraft plus hub charging. A note lists the three unlisted paths and why each fails: keep 12 with upgrade a spoke to a fourth hub, 240 trips a day; add 4 with keep 3 hubs, 288 trips a day; add 6 with new vertiport as a fourth hub, USD 24.0 M, past the 20 M walk-away.">    </p:cNvPr>
          <p:cNvPicPr>
            <a:picLocks noChangeAspect="1"/>
          </p:cNvPicPr>
          <p:nvPr/>
        </p:nvPicPr>
        <p:blipFill>
          <a:blip r:embed="rId1"/>
          <a:stretch>
            <a:fillRect/>
          </a:stretch>
        </p:blipFill>
        <p:spPr>
          <a:xfrm>
            <a:off x="2070409" y="1280160"/>
            <a:ext cx="8050878" cy="2822067"/>
          </a:xfrm>
          <a:prstGeom prst="rect">
            <a:avLst/>
          </a:prstGeom>
        </p:spPr>
      </p:pic>
      <p:sp>
        <p:nvSpPr>
          <p:cNvPr id="5" name="Shape 2"/>
          <p:cNvSpPr/>
          <p:nvPr/>
        </p:nvSpPr>
        <p:spPr>
          <a:xfrm>
            <a:off x="548640" y="4239387"/>
            <a:ext cx="11094415" cy="1124712"/>
          </a:xfrm>
          <a:prstGeom prst="rect">
            <a:avLst/>
          </a:prstGeom>
          <a:solidFill>
            <a:srgbClr val="ECEFF3"/>
          </a:solidFill>
          <a:ln w="9525">
            <a:solidFill>
              <a:srgbClr val="D3D9E1"/>
            </a:solidFill>
            <a:prstDash val="solid"/>
          </a:ln>
        </p:spPr>
      </p:sp>
      <p:sp>
        <p:nvSpPr>
          <p:cNvPr id="6" name="Text 3"/>
          <p:cNvSpPr/>
          <p:nvPr/>
        </p:nvSpPr>
        <p:spPr>
          <a:xfrm>
            <a:off x="548640" y="4312539"/>
            <a:ext cx="11094415" cy="640080"/>
          </a:xfrm>
          <a:prstGeom prst="rect">
            <a:avLst/>
          </a:prstGeom>
          <a:noFill/>
          <a:ln/>
        </p:spPr>
        <p:txBody>
          <a:bodyPr wrap="square" rtlCol="0" anchor="ctr"/>
          <a:lstStyle/>
          <a:p>
            <a:pPr algn="ctr" indent="0" marL="0">
              <a:buNone/>
            </a:pPr>
            <a:r>
              <a:rPr lang="en-US" sz="2600" dirty="0">
                <a:solidFill>
                  <a:srgbClr val="18202D"/>
                </a:solidFill>
                <a:latin typeface="Cambria Math" pitchFamily="34" charset="0"/>
                <a:ea typeface="Cambria Math" pitchFamily="34" charset="-122"/>
                <a:cs typeface="Cambria Math" pitchFamily="34" charset="-120"/>
              </a:rPr>
              <a:t>v(x) = Σ wᵢ · vᵢ(xᵢ),   Σ wᵢ = 1</a:t>
            </a:r>
            <a:endParaRPr lang="en-US" sz="2600" dirty="0"/>
          </a:p>
        </p:txBody>
      </p:sp>
      <p:sp>
        <p:nvSpPr>
          <p:cNvPr id="7" name="Text 4"/>
          <p:cNvSpPr/>
          <p:nvPr/>
        </p:nvSpPr>
        <p:spPr>
          <a:xfrm>
            <a:off x="548640" y="4934331"/>
            <a:ext cx="11094415" cy="310896"/>
          </a:xfrm>
          <a:prstGeom prst="rect">
            <a:avLst/>
          </a:prstGeom>
          <a:noFill/>
          <a:ln/>
        </p:spPr>
        <p:txBody>
          <a:bodyPr wrap="square" lIns="0" tIns="0" rIns="0" bIns="0" rtlCol="0" anchor="ctr"/>
          <a:lstStyle/>
          <a:p>
            <a:pPr algn="ctr" indent="0" marL="0">
              <a:buNone/>
            </a:pPr>
            <a:r>
              <a:rPr lang="en-US" sz="1300" i="1" dirty="0">
                <a:solidFill>
                  <a:srgbClr val="566071"/>
                </a:solidFill>
                <a:latin typeface="Calibri" pitchFamily="34" charset="0"/>
                <a:ea typeface="Calibri" pitchFamily="34" charset="-122"/>
                <a:cs typeface="Calibri" pitchFamily="34" charset="-120"/>
              </a:rPr>
              <a:t>xᵢ = the alternative’s score on measure i     vᵢ = the value function of measure i     wᵢ = the swing weight of measure i</a:t>
            </a:r>
            <a:endParaRPr lang="en-US" sz="13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Each alternative plotted by its fleet limit (aircraft × 20) and charger limit (chargers × 48). Capacity is the lower of the two.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 R43 p.110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the frame and the capacities</a:t>
            </a:r>
            <a:endParaRPr lang="en-US" sz="3000" dirty="0"/>
          </a:p>
        </p:txBody>
      </p:sp>
      <p:pic>
        <p:nvPicPr>
          <p:cNvPr id="4" name="Image 0" descr="A chart with fleet limit in trips per day on the horizontal axis and charger limit on the vertical axis. A diagonal line marks where the two limits are equal. A dashed line marks the required 300 trips per day. Six points: Baseline: no added capacity, fleet 240, chargers 288, capacity 240; Additional aircraft only, fleet 360, chargers 288, capacity 288; Additional vertiport only, fleet 240, chargers 384, capacity 240; Balanced: aircraft plus hub charging, fleet 320, chargers 384, capacity 320; Aircraft plus a new hub vertiport, fleet 320, chargers 384, capacity 320; Six aircraft plus hub charging, fleet 360, chargers 384, capacity 360. Three points lie above 300 on both limits: balanced: aircraft plus hub charging, aircraft plus a new hub vertiport, six aircraft plus hub charging.">    </p:cNvPr>
          <p:cNvPicPr>
            <a:picLocks noChangeAspect="1"/>
          </p:cNvPicPr>
          <p:nvPr/>
        </p:nvPicPr>
        <p:blipFill>
          <a:blip r:embed="rId1"/>
          <a:stretch>
            <a:fillRect/>
          </a:stretch>
        </p:blipFill>
        <p:spPr>
          <a:xfrm>
            <a:off x="2201547" y="1280160"/>
            <a:ext cx="7788602"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Decide: </a:t>
            </a:r>
            <a:pPr indent="0" marL="0">
              <a:buNone/>
            </a:pPr>
            <a:r>
              <a:rPr lang="en-US" sz="1600" dirty="0">
                <a:solidFill>
                  <a:srgbClr val="18202D"/>
                </a:solidFill>
                <a:latin typeface="Calibri" pitchFamily="34" charset="0"/>
                <a:ea typeface="Calibri" pitchFamily="34" charset="-122"/>
                <a:cs typeface="Calibri" pitchFamily="34" charset="-120"/>
              </a:rPr>
              <a:t>how to provide 300 trips/day by month 24</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Assume: </a:t>
            </a:r>
            <a:pPr indent="0" marL="0">
              <a:buNone/>
            </a:pPr>
            <a:r>
              <a:rPr lang="en-US" sz="1600" dirty="0">
                <a:solidFill>
                  <a:srgbClr val="18202D"/>
                </a:solidFill>
                <a:latin typeface="Calibri" pitchFamily="34" charset="0"/>
                <a:ea typeface="Calibri" pitchFamily="34" charset="-122"/>
                <a:cs typeface="Calibri" pitchFamily="34" charset="-120"/>
              </a:rPr>
              <a:t>demand 240 trips/day for every alternative</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Rule: </a:t>
            </a:r>
            <a:pPr indent="0" marL="0">
              <a:buNone/>
            </a:pPr>
            <a:r>
              <a:rPr lang="en-US" sz="1600" dirty="0">
                <a:solidFill>
                  <a:srgbClr val="18202D"/>
                </a:solidFill>
                <a:latin typeface="Calibri" pitchFamily="34" charset="0"/>
                <a:ea typeface="Calibri" pitchFamily="34" charset="-122"/>
                <a:cs typeface="Calibri" pitchFamily="34" charset="-120"/>
              </a:rPr>
              <a:t>capacity = min(aircraft × 20, chargers × 48)</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Compute: </a:t>
            </a:r>
            <a:pPr indent="0" marL="0">
              <a:buNone/>
            </a:pPr>
            <a:r>
              <a:rPr lang="en-US" sz="1600" dirty="0">
                <a:solidFill>
                  <a:srgbClr val="18202D"/>
                </a:solidFill>
                <a:latin typeface="Calibri" pitchFamily="34" charset="0"/>
                <a:ea typeface="Calibri" pitchFamily="34" charset="-122"/>
                <a:cs typeface="Calibri" pitchFamily="34" charset="-120"/>
              </a:rPr>
              <a:t>six alternatives, including the baseline</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 R18 p.466; R24 p.1208; R24 p.1209; R25 p.1229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criteria, screens and weights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Criterion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Walk-away → stretch</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Weight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Wait at Year-2 demand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MOE-001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60 → 5 min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Capital cost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MOE-005</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20 → 0 USD M</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0.30</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Capacity retained after loss of a hub</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MOE-006</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50 → 100 %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0.16</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Community noise exposure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MOE-003</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10 → 5 movements/h</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0.14</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614928"/>
            <a:ext cx="11094415" cy="1057148"/>
          </a:xfrm>
          <a:prstGeom prst="roundRect">
            <a:avLst>
              <a:gd name="adj" fmla="val 5190"/>
            </a:avLst>
          </a:prstGeom>
          <a:solidFill>
            <a:srgbClr val="E1EFF4"/>
          </a:solidFill>
          <a:ln w="12700">
            <a:solidFill>
              <a:srgbClr val="0F6E8C"/>
            </a:solidFill>
            <a:prstDash val="solid"/>
          </a:ln>
        </p:spPr>
      </p:sp>
      <p:sp>
        <p:nvSpPr>
          <p:cNvPr id="6" name="Text 3"/>
          <p:cNvSpPr/>
          <p:nvPr/>
        </p:nvSpPr>
        <p:spPr>
          <a:xfrm>
            <a:off x="685800" y="3614928"/>
            <a:ext cx="10820095"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SCREENS, BEFORE ANY WEIGHT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Capacity ≥ 300 trips/day; inside every walk-away; charger control authenticated; no new unauthenticated interface.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Value component chart: each bar is an alternative’s total value, split into the weighted value from each criterion.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p.469; R18 p.470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scores, values and totals</a:t>
            </a:r>
            <a:endParaRPr lang="en-US" sz="3000" dirty="0"/>
          </a:p>
        </p:txBody>
      </p:sp>
      <p:pic>
        <p:nvPicPr>
          <p:cNvPr id="4" name="Image 0" descr="Three stacked horizontal bars, one per alternative that passed the screens. Balanced: aircraft plus hub charging: total 0.670, wait 0.378, cost 0.108, retained capacity 0.128, noise 0.056; Aircraft plus a new hub vertiport: total 0.624, wait 0.378, cost 0.030, retained capacity 0.128, noise 0.088; Six aircraft plus hub charging: total 0.563, wait 0.393, cost 0.018, retained capacity 0.096, noise 0.056.">    </p:cNvPr>
          <p:cNvPicPr>
            <a:picLocks noChangeAspect="1"/>
          </p:cNvPicPr>
          <p:nvPr/>
        </p:nvPicPr>
        <p:blipFill>
          <a:blip r:embed="rId1"/>
          <a:stretch>
            <a:fillRect/>
          </a:stretch>
        </p:blipFill>
        <p:spPr>
          <a:xfrm>
            <a:off x="2201547" y="1280160"/>
            <a:ext cx="7788602" cy="2730132"/>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147452"/>
          <a:ext cx="11094415" cy="914400"/>
        </p:xfrm>
        <a:graphic>
          <a:graphicData uri="http://schemas.openxmlformats.org/drawingml/2006/table">
            <a:tbl>
              <a:tblPr/>
              <a:tblGrid>
                <a:gridCol w="1849069"/>
                <a:gridCol w="1849069"/>
                <a:gridCol w="1849069"/>
                <a:gridCol w="1849069"/>
                <a:gridCol w="1849069"/>
                <a:gridCol w="1849069"/>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Alternative</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Wait</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Kept</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Noise</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Balanced</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90.0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0.670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Aircraft plus a new hub vertiport</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90.0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0.624</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Six aircraft plus hub charging</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80.0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0.563</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928703"/>
            <a:ext cx="11094415" cy="708152"/>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Value: </a:t>
            </a:r>
            <a:pPr indent="0" marL="0">
              <a:buNone/>
            </a:pPr>
            <a:r>
              <a:rPr lang="en-US" sz="1400" dirty="0">
                <a:solidFill>
                  <a:srgbClr val="18202D"/>
                </a:solidFill>
                <a:latin typeface="Calibri" pitchFamily="34" charset="0"/>
                <a:ea typeface="Calibri" pitchFamily="34" charset="-122"/>
                <a:cs typeface="Calibri" pitchFamily="34" charset="-120"/>
              </a:rPr>
              <a:t>each score through its function</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Sum: </a:t>
            </a:r>
            <a:pPr indent="0" marL="0">
              <a:buNone/>
            </a:pPr>
            <a:r>
              <a:rPr lang="en-US" sz="1400" dirty="0">
                <a:solidFill>
                  <a:srgbClr val="18202D"/>
                </a:solidFill>
                <a:latin typeface="Calibri" pitchFamily="34" charset="0"/>
                <a:ea typeface="Calibri" pitchFamily="34" charset="-122"/>
                <a:cs typeface="Calibri" pitchFamily="34" charset="-120"/>
              </a:rPr>
              <a:t>weight × value</a:t>
            </a:r>
            <a:endParaRPr lang="en-US" sz="14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Line diagram: each feasible alternative’s total value as the cost weight varies from 0 to 1, the others rescaled in proportion. The leader changes at 0.150.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p.471; R18 p.472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IV: sensitivity and rank reversal</a:t>
            </a:r>
            <a:endParaRPr lang="en-US" sz="3000" dirty="0"/>
          </a:p>
        </p:txBody>
      </p:sp>
      <p:pic>
        <p:nvPicPr>
          <p:cNvPr id="4" name="Image 0" descr="A chart with cost weight from 0 to 1 on the horizontal axis and total value on the vertical axis. Three straight lines, one per alternative that passed the screens. The balanced alternative’s line is highest at the base weight of 0.30, marked by a vertical line. To the left, as the cost weight falls, the line of aircraft plus a new hub vertiport crosses it at 0.150, marked with a circle.">    </p:cNvPr>
          <p:cNvPicPr>
            <a:picLocks noChangeAspect="1"/>
          </p:cNvPicPr>
          <p:nvPr/>
        </p:nvPicPr>
        <p:blipFill>
          <a:blip r:embed="rId1"/>
          <a:stretch>
            <a:fillRect/>
          </a:stretch>
        </p:blipFill>
        <p:spPr>
          <a:xfrm>
            <a:off x="2234535" y="1280160"/>
            <a:ext cx="7722626" cy="2707005"/>
          </a:xfrm>
          <a:prstGeom prst="rect">
            <a:avLst/>
          </a:prstGeom>
        </p:spPr>
      </p:pic>
      <p:sp>
        <p:nvSpPr>
          <p:cNvPr id="5" name="Text 2"/>
          <p:cNvSpPr/>
          <p:nvPr/>
        </p:nvSpPr>
        <p:spPr>
          <a:xfrm>
            <a:off x="548640" y="4124325"/>
            <a:ext cx="11094415" cy="1239774"/>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900" b="1" dirty="0">
                <a:solidFill>
                  <a:srgbClr val="18202D"/>
                </a:solidFill>
                <a:latin typeface="Calibri" pitchFamily="34" charset="0"/>
                <a:ea typeface="Calibri" pitchFamily="34" charset="-122"/>
                <a:cs typeface="Calibri" pitchFamily="34" charset="-120"/>
              </a:rPr>
              <a:t>Vary: </a:t>
            </a:r>
            <a:pPr indent="0" marL="0">
              <a:buNone/>
            </a:pPr>
            <a:r>
              <a:rPr lang="en-US" sz="1900" dirty="0">
                <a:solidFill>
                  <a:srgbClr val="18202D"/>
                </a:solidFill>
                <a:latin typeface="Calibri" pitchFamily="34" charset="0"/>
                <a:ea typeface="Calibri" pitchFamily="34" charset="-122"/>
                <a:cs typeface="Calibri" pitchFamily="34" charset="-120"/>
              </a:rPr>
              <a:t>one weight; rescale the others to keep Σw = 1</a:t>
            </a:r>
            <a:endParaRPr lang="en-US" sz="1900" dirty="0"/>
          </a:p>
          <a:p>
            <a:pPr marL="342900" indent="-342900">
              <a:spcBef>
                <a:spcPts val="600"/>
              </a:spcBef>
              <a:buSzPct val="100000"/>
              <a:buFont typeface="+mj-lt"/>
              <a:buAutoNum type="arabicPeriod" startAt="1"/>
            </a:pPr>
            <a:r>
              <a:rPr lang="en-US" sz="1900" b="1" dirty="0">
                <a:solidFill>
                  <a:srgbClr val="18202D"/>
                </a:solidFill>
                <a:latin typeface="Calibri" pitchFamily="34" charset="0"/>
                <a:ea typeface="Calibri" pitchFamily="34" charset="-122"/>
                <a:cs typeface="Calibri" pitchFamily="34" charset="-120"/>
              </a:rPr>
              <a:t>Solve: </a:t>
            </a:r>
            <a:pPr indent="0" marL="0">
              <a:buNone/>
            </a:pPr>
            <a:r>
              <a:rPr lang="en-US" sz="1900" dirty="0">
                <a:solidFill>
                  <a:srgbClr val="18202D"/>
                </a:solidFill>
                <a:latin typeface="Calibri" pitchFamily="34" charset="0"/>
                <a:ea typeface="Calibri" pitchFamily="34" charset="-122"/>
                <a:cs typeface="Calibri" pitchFamily="34" charset="-120"/>
              </a:rPr>
              <a:t>where two totals are equal</a:t>
            </a:r>
            <a:endParaRPr lang="en-US" sz="1900" dirty="0"/>
          </a:p>
          <a:p>
            <a:pPr marL="342900" indent="-342900">
              <a:spcBef>
                <a:spcPts val="600"/>
              </a:spcBef>
              <a:buSzPct val="100000"/>
              <a:buFont typeface="+mj-lt"/>
              <a:buAutoNum type="arabicPeriod" startAt="1"/>
            </a:pPr>
            <a:r>
              <a:rPr lang="en-US" sz="1900" b="1" dirty="0">
                <a:solidFill>
                  <a:srgbClr val="18202D"/>
                </a:solidFill>
                <a:latin typeface="Calibri" pitchFamily="34" charset="0"/>
                <a:ea typeface="Calibri" pitchFamily="34" charset="-122"/>
                <a:cs typeface="Calibri" pitchFamily="34" charset="-120"/>
              </a:rPr>
              <a:t>Report: </a:t>
            </a:r>
            <a:pPr indent="0" marL="0">
              <a:buNone/>
            </a:pPr>
            <a:r>
              <a:rPr lang="en-US" sz="1900" dirty="0">
                <a:solidFill>
                  <a:srgbClr val="18202D"/>
                </a:solidFill>
                <a:latin typeface="Calibri" pitchFamily="34" charset="0"/>
                <a:ea typeface="Calibri" pitchFamily="34" charset="-122"/>
                <a:cs typeface="Calibri" pitchFamily="34" charset="-120"/>
              </a:rPr>
              <a:t>cost ↓ 0.150; noise ↑ 0.284; wait ↑ 0.848; resilience: none</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With values scaled to the best and worst alternative in the set, removing one alternative reverses the other two. Fixed anchors do not.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 R18 p.466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Weighted-sum pitfalls: normalization, compensation, double counting</a:t>
            </a:r>
            <a:endParaRPr lang="en-US" sz="3000" dirty="0"/>
          </a:p>
        </p:txBody>
      </p:sp>
      <p:pic>
        <p:nvPicPr>
          <p:cNvPr id="4" name="Image 0" descr="Two small bar charts. Left, min–max scaling over the three feasible alternatives: balanced: aircraft plus hub charging 0.460, aircraft plus a new hub vertiport 0.340, six aircraft plus hub charging 0.400. Right, the same scaling with the balanced alternative removed: aircraft plus a new hub vertiport 0.600, six aircraft plus hub charging 0.400. Highlighted rows, rank numbers and a banner show the two swapping places.">    </p:cNvPr>
          <p:cNvPicPr>
            <a:picLocks noChangeAspect="1"/>
          </p:cNvPicPr>
          <p:nvPr/>
        </p:nvPicPr>
        <p:blipFill>
          <a:blip r:embed="rId1"/>
          <a:stretch>
            <a:fillRect/>
          </a:stretch>
        </p:blipFill>
        <p:spPr>
          <a:xfrm>
            <a:off x="548640" y="1691062"/>
            <a:ext cx="6379289" cy="3589413"/>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Normalization</a:t>
            </a:r>
            <a:pPr indent="0" marL="0">
              <a:buNone/>
            </a:pPr>
            <a:r>
              <a:rPr lang="en-US" sz="2000" dirty="0">
                <a:solidFill>
                  <a:srgbClr val="18202D"/>
                </a:solidFill>
                <a:latin typeface="Calibri" pitchFamily="34" charset="0"/>
                <a:ea typeface="Calibri" pitchFamily="34" charset="-122"/>
                <a:cs typeface="Calibri" pitchFamily="34" charset="-120"/>
              </a:rPr>
              <a:t>: anchor values to walk-away and stretch, not to the set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Compensation</a:t>
            </a:r>
            <a:pPr indent="0" marL="0">
              <a:buNone/>
            </a:pPr>
            <a:r>
              <a:rPr lang="en-US" sz="2000" dirty="0">
                <a:solidFill>
                  <a:srgbClr val="18202D"/>
                </a:solidFill>
                <a:latin typeface="Calibri" pitchFamily="34" charset="0"/>
                <a:ea typeface="Calibri" pitchFamily="34" charset="-122"/>
                <a:cs typeface="Calibri" pitchFamily="34" charset="-120"/>
              </a:rPr>
              <a:t>: a high score can hide a fatal one; screen first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Double counting</a:t>
            </a:r>
            <a:pPr indent="0" marL="0">
              <a:buNone/>
            </a:pPr>
            <a:r>
              <a:rPr lang="en-US" sz="2000" dirty="0">
                <a:solidFill>
                  <a:srgbClr val="18202D"/>
                </a:solidFill>
                <a:latin typeface="Calibri" pitchFamily="34" charset="0"/>
                <a:ea typeface="Calibri" pitchFamily="34" charset="-122"/>
                <a:cs typeface="Calibri" pitchFamily="34" charset="-120"/>
              </a:rPr>
              <a:t>: one MOE, one criterion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Range-free “importance” weights break the scale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one-page decision record: decision, recommendation, conditions, residual risk and what would change it.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p.472; R18 p.473; R43 p.110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V: the recommendation, with conditions</a:t>
            </a:r>
            <a:endParaRPr lang="en-US" sz="3000" dirty="0"/>
          </a:p>
        </p:txBody>
      </p:sp>
      <p:pic>
        <p:nvPicPr>
          <p:cNvPr id="4" name="Image 0" descr="A page with five labeled boxes, the box text shortened on the drawing. Decision: How should AeroLink provide the Year-2 capacity objective (MGO-007; REQ-STK-004, at least 300 trips/day by month 24)? Recommendation: Balanced: aircraft plus hub charging, 320 trips per day, value 0.670. Conditions: the capital weight stays above about 0.15 and the noise weight below about 0.28 (past either, ALT-005, the new hub vertiport, ranks first); Year-2 demand stays near 240 trips/day (A-006); the spoke site’s grid connection supports two high-power chargers (U-002, R-005); the two upgraded chargers are replaced to the signed-configuration specification, not retrofitted (SCREEN-1, R-010). Residual risk: R-001 reduced but not removed; R-005 at the converted hub; R-002 rises with more fast-charge cycles (watch TPM-003); R-010 grows with two more networked high-power chargers. Would change if: the demand forecast falls to 192 trips/day or less (240 trips/day would then meet the 80 % utilization rule, and the baseline provides 240); the capital weight falls below 0.150 or the noise weight rises above 0.284 (ALT-005 ranks first); the wait weight rises above 0.848 (ALT-006 ranks first; far from the base of 0.40); the connection limit (TBD-02) rules out converting the spoke: ALT-005 is then the recommendation, subject to its own grid connection, a seventh site (U-005) and a change to the six-vertiport wording of REQ-STK-004.">    </p:cNvPr>
          <p:cNvPicPr>
            <a:picLocks noChangeAspect="1"/>
          </p:cNvPicPr>
          <p:nvPr/>
        </p:nvPicPr>
        <p:blipFill>
          <a:blip r:embed="rId1"/>
          <a:stretch>
            <a:fillRect/>
          </a:stretch>
        </p:blipFill>
        <p:spPr>
          <a:xfrm>
            <a:off x="548640" y="1796017"/>
            <a:ext cx="6379289" cy="3379504"/>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Recommend</a:t>
            </a:r>
            <a:pPr indent="0" marL="0">
              <a:buNone/>
            </a:pPr>
            <a:r>
              <a:rPr lang="en-US" sz="2000" dirty="0">
                <a:solidFill>
                  <a:srgbClr val="18202D"/>
                </a:solidFill>
                <a:latin typeface="Calibri" pitchFamily="34" charset="0"/>
                <a:ea typeface="Calibri" pitchFamily="34" charset="-122"/>
                <a:cs typeface="Calibri" pitchFamily="34" charset="-120"/>
              </a:rPr>
              <a:t> the balanced alternative: 320 ≥ 300 trips/day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Conditions</a:t>
            </a:r>
            <a:pPr indent="0" marL="0">
              <a:buNone/>
            </a:pPr>
            <a:r>
              <a:rPr lang="en-US" sz="2000" dirty="0">
                <a:solidFill>
                  <a:srgbClr val="18202D"/>
                </a:solidFill>
                <a:latin typeface="Calibri" pitchFamily="34" charset="0"/>
                <a:ea typeface="Calibri" pitchFamily="34" charset="-122"/>
                <a:cs typeface="Calibri" pitchFamily="34" charset="-120"/>
              </a:rPr>
              <a:t>: capital and noise weights, demand, grid connection, charger security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Residual risk</a:t>
            </a:r>
            <a:pPr indent="0" marL="0">
              <a:buNone/>
            </a:pPr>
            <a:r>
              <a:rPr lang="en-US" sz="2000" dirty="0">
                <a:solidFill>
                  <a:srgbClr val="18202D"/>
                </a:solidFill>
                <a:latin typeface="Calibri" pitchFamily="34" charset="0"/>
                <a:ea typeface="Calibri" pitchFamily="34" charset="-122"/>
                <a:cs typeface="Calibri" pitchFamily="34" charset="-120"/>
              </a:rPr>
              <a:t>: charging lag, grid, battery fade, charger security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Would change if</a:t>
            </a:r>
            <a:pPr indent="0" marL="0">
              <a:buNone/>
            </a:pPr>
            <a:r>
              <a:rPr lang="en-US" sz="2000" dirty="0">
                <a:solidFill>
                  <a:srgbClr val="18202D"/>
                </a:solidFill>
                <a:latin typeface="Calibri" pitchFamily="34" charset="0"/>
                <a:ea typeface="Calibri" pitchFamily="34" charset="-122"/>
                <a:cs typeface="Calibri" pitchFamily="34" charset="-120"/>
              </a:rPr>
              <a:t>: demand, weights or grid change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Session 1 queue redrawn for the balanced alternative: four aircraft added and a fourth hub’s chargers.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Answering the driving question</a:t>
            </a:r>
            <a:endParaRPr lang="en-US" sz="3000" dirty="0"/>
          </a:p>
        </p:txBody>
      </p:sp>
      <p:pic>
        <p:nvPicPr>
          <p:cNvPr id="4" name="Image 0" descr="The queue picture from Session 1 redrawn. Sixteen aircraft, the four new ones drawn dashed at the converted hub, now spread across four hubs with two chargers each; the queue in front of the chargers is gone. A tag on the converted hub reads conditions: grid connection confirmed, chargers to the signed-configuration specification.">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B</a:t>
            </a:r>
            <a:pPr indent="0" marL="0">
              <a:buNone/>
            </a:pPr>
            <a:r>
              <a:rPr lang="en-US" sz="2000" dirty="0">
                <a:solidFill>
                  <a:srgbClr val="18202D"/>
                </a:solidFill>
                <a:latin typeface="Calibri" pitchFamily="34" charset="0"/>
                <a:ea typeface="Calibri" pitchFamily="34" charset="-122"/>
                <a:cs typeface="Calibri" pitchFamily="34" charset="-120"/>
              </a:rPr>
              <a:t>: only with more charging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Six aircraft alone: 288 trips/day, charger-limited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Four aircraft and a fourth hub: 320 trips/day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Charger maturity and grid capacity are conditions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ways to read a finished trade: which option won, or what would an ideal option look like and can we get closer?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p.472; R18 p.473; R18 p.474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Cognitive bias and value-focused thinking</a:t>
            </a:r>
            <a:endParaRPr lang="en-US" sz="3000" dirty="0"/>
          </a:p>
        </p:txBody>
      </p:sp>
      <p:pic>
        <p:nvPicPr>
          <p:cNvPr id="4" name="Image 0" descr="Two thought bubbles over a trade table. The left bubble reads which option wins? The right bubble reads what would the ideal look like, and can we design closer to it? A small note below lists confirmation bias, independent review and premortem.">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Mine results to improve alternatives: value-focused thinking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Confirmation bias distorts decisions; self-mitigation rarely works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Mitigate with independent review and a premortem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practice: nobody scores their own alternative alone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decision record and the register flow into the architecture, the interfaces and the roadmap, then into the model’s digital thread and analysis cases.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R48 p.146; R78 sl.147; R75 sl.95; R78 sl.152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Why these methods: what they feed in Weeks 4–6, 12 and 13</a:t>
            </a:r>
            <a:endParaRPr lang="en-US" sz="3000" dirty="0"/>
          </a:p>
        </p:txBody>
      </p:sp>
      <p:pic>
        <p:nvPicPr>
          <p:cNvPr id="4" name="Image 0" descr="A decision card in the center with arrows outward, box text shortened on the drawing: Week 4: Decision record (16 aircraft, four hubs), the starting configuration of the architecture and its information view; Weeks 4–5: Derived requirements from the decision (charger rating and signed configuration at the converted hub), allocated to components and written into interface definitions; Weeks 5–6: Security and resilience risks and treatments, interfaces that need authentication; on-site storage and autonomy in the evolution roadmap; Week 12: Risks, assumptions and unknowns with their links; TPMs as evidence, risk metadata on model elements; TPMs and requirements verified through the digital thread; Week 13: Trade study (criteria, value functions, weights, sensitivity) and TPM thresholds, redone as analysis cases with the thresholds as constraints.">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Decision, derived requirements → Weeks 4–5 architecture and interfaces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Security and resilience risks → Weeks 5–6 interfaces and roadmap</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Register and TPMs → Week 12 digital thread and V&amp;V</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Trade study → Week 13 analysis cases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Lab L3 at a glance: the four parts added to the Team Record and their minimums for a team of four.</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Lab L3 brief: readiness, risk, TPMs and a trade study</a:t>
            </a:r>
            <a:endParaRPr lang="en-US" sz="3000" dirty="0"/>
          </a:p>
        </p:txBody>
      </p:sp>
      <p:pic>
        <p:nvPicPr>
          <p:cNvPr id="4" name="Image 0" descr="A checklist with four sections. Readiness: 3 technologies, each with a TRL and its basis. Register: 6 risks including at least 1 security and 1 resilience risk, 1 opportunity, every Week 2 TBD linked to an unknown, issues separate. TPMs: 2, with contingency, margin and a planned profile. Trade study: 3 alternatives including the baseline, 4 criteria traced to MOEs, swing weights, sensitivity with the reversal point, a recommendation with conditions.">    </p:cNvPr>
          <p:cNvPicPr>
            <a:picLocks noChangeAspect="1"/>
          </p:cNvPicPr>
          <p:nvPr/>
        </p:nvPicPr>
        <p:blipFill>
          <a:blip r:embed="rId1"/>
          <a:stretch>
            <a:fillRect/>
          </a:stretch>
        </p:blipFill>
        <p:spPr>
          <a:xfrm>
            <a:off x="548640" y="1631771"/>
            <a:ext cx="6379289" cy="3870683"/>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3 technologies; 6 risks (≥ 1 security, ≥ 1 resilience)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2 TPMs; 3 alternatives incl. baseline; 4 criteria</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Team of three: 2, 4, 1, 3, 3</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enterprise, never AeroLink; due before Week 4</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Team work: choose the decision and the technologies</a:t>
            </a:r>
            <a:endParaRPr lang="en-US" sz="3000" dirty="0"/>
          </a:p>
        </p:txBody>
      </p:sp>
      <p:sp>
        <p:nvSpPr>
          <p:cNvPr id="4" name="Shape 2"/>
          <p:cNvSpPr/>
          <p:nvPr/>
        </p:nvSpPr>
        <p:spPr>
          <a:xfrm>
            <a:off x="548640" y="1280160"/>
            <a:ext cx="6379289" cy="1057148"/>
          </a:xfrm>
          <a:prstGeom prst="roundRect">
            <a:avLst>
              <a:gd name="adj" fmla="val 5190"/>
            </a:avLst>
          </a:prstGeom>
          <a:solidFill>
            <a:srgbClr val="E1EFF4"/>
          </a:solidFill>
          <a:ln w="12700">
            <a:solidFill>
              <a:srgbClr val="0F6E8C"/>
            </a:solidFill>
            <a:prstDash val="solid"/>
          </a:ln>
        </p:spPr>
      </p:sp>
      <p:sp>
        <p:nvSpPr>
          <p:cNvPr id="5" name="Text 3"/>
          <p:cNvSpPr/>
          <p:nvPr/>
        </p:nvSpPr>
        <p:spPr>
          <a:xfrm>
            <a:off x="685800" y="1280160"/>
            <a:ext cx="6104969"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DECISION STATEMENT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How should [enterprise] [achieve objective X] given [constraint]?</a:t>
            </a:r>
            <a:endParaRPr lang="en-US" sz="1200" dirty="0"/>
          </a:p>
        </p:txBody>
      </p:sp>
      <p:sp>
        <p:nvSpPr>
          <p:cNvPr id="6" name="Text 4"/>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Choose the technologies to assess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Choose one decision that matters to a stakeholder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Draft three genuinely different alternatives, including the baseline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the MOE behind your most important criterion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checkpoint card: three checks and three possible decisions.</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Instructor checkpoint: decision and alternatives</a:t>
            </a:r>
            <a:endParaRPr lang="en-US" sz="3000" dirty="0"/>
          </a:p>
        </p:txBody>
      </p:sp>
      <p:pic>
        <p:nvPicPr>
          <p:cNvPr id="4" name="Image 0" descr="A card with three check boxes: the baseline (status quo) is one of the alternatives; the alternatives are genuinely different, not strawmen; the decision traces to a requirement or objective in the record. Below, three outcomes: approve, approve with conditions, revise with a reason.">    </p:cNvPr>
          <p:cNvPicPr>
            <a:picLocks noChangeAspect="1"/>
          </p:cNvPicPr>
          <p:nvPr/>
        </p:nvPicPr>
        <p:blipFill>
          <a:blip r:embed="rId1"/>
          <a:stretch>
            <a:fillRect/>
          </a:stretch>
        </p:blipFill>
        <p:spPr>
          <a:xfrm>
            <a:off x="548640" y="2189574"/>
            <a:ext cx="6379289" cy="2755076"/>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baseline (status quo) is one of the alternatives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alternatives are genuinely different, not strawmen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decision traces to a requirement or objective in the record</a:t>
            </a:r>
            <a:endParaRPr lang="en-US" sz="2000" dirty="0"/>
          </a:p>
        </p:txBody>
      </p:sp>
      <p:sp>
        <p:nvSpPr>
          <p:cNvPr id="6" name="Shape 3"/>
          <p:cNvSpPr/>
          <p:nvPr/>
        </p:nvSpPr>
        <p:spPr>
          <a:xfrm>
            <a:off x="7293689" y="3970528"/>
            <a:ext cx="4349366" cy="1057148"/>
          </a:xfrm>
          <a:prstGeom prst="roundRect">
            <a:avLst>
              <a:gd name="adj" fmla="val 5190"/>
            </a:avLst>
          </a:prstGeom>
          <a:solidFill>
            <a:srgbClr val="ECEFF3"/>
          </a:solidFill>
          <a:ln w="12700">
            <a:solidFill>
              <a:srgbClr val="D3D9E1"/>
            </a:solidFill>
            <a:prstDash val="solid"/>
          </a:ln>
        </p:spPr>
      </p:sp>
      <p:sp>
        <p:nvSpPr>
          <p:cNvPr id="7" name="Text 4"/>
          <p:cNvSpPr/>
          <p:nvPr/>
        </p:nvSpPr>
        <p:spPr>
          <a:xfrm>
            <a:off x="7430849" y="3970528"/>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NOTE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Approve, approve with conditions, or revise with a reason.</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seven-day plan for Lab L3, with the lead role for each step.</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Close: the next seven days</a:t>
            </a:r>
            <a:endParaRPr lang="en-US" sz="3000" dirty="0"/>
          </a:p>
        </p:txBody>
      </p:sp>
      <p:pic>
        <p:nvPicPr>
          <p:cNvPr id="4" name="Image 0" descr="A timeline of seven days. Days 1 and 2: readiness assessment, one technology per member. Days 2 and 3: risk workshop, each member brings two risks including security and resilience. Day 3: register links and TPMs. Day 4: criteria, value functions and weights. Day 5: scores, computation and sensitivity. Day 6: recommendation, derived requirements and the AI usage statement. Day 7: integration review and upload.">    </p:cNvPr>
          <p:cNvPicPr>
            <a:picLocks noChangeAspect="1"/>
          </p:cNvPicPr>
          <p:nvPr/>
        </p:nvPicPr>
        <p:blipFill>
          <a:blip r:embed="rId1"/>
          <a:stretch>
            <a:fillRect/>
          </a:stretch>
        </p:blipFill>
        <p:spPr>
          <a:xfrm>
            <a:off x="548640" y="1631771"/>
            <a:ext cx="6379289" cy="3870683"/>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Days 1–3: readiness, risk workshop, register, TPMs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Days 4–6: criteria, weights, scores, sensitivity, recommendation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 7: integration review and upload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Quiz Q3 and the applied exercise open now</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R16 · SEBoK v2.14 (2026), “Product Systems Engineering Special Activities”, p.766–768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R18 · SEBoK v2.14 (2026), “Decision Management”, p.463–474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R24 · SEBoK v2.14 (2026), “System Resilience”, p.1203–1204, 1206, 1208–1209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R25 · SEBoK v2.14 (2026), “System Security”, p.1229, 1231–1232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R43 · OUSD(R&amp;E) Systems Engineering Guidebook (2021/2022), “Decision Analysis Process”, p.110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R44 · OUSD(R&amp;E) Systems Engineering Guidebook (2021/2022), “Technical Assessment Process”, p.112–114, 116–117</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R46 · OUSD(R&amp;E) Systems Engineering Guidebook (2021/2022), “Risk Management Process”, p.124–127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R48 · OUSD(R&amp;E) Systems Engineering Guidebook (2021/2022), “Stakeholder Requirements Definition Process”, p.146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R61a · The MITRE Systems Engineering Guide (2014), “Risk Identification”, p.630–631, 633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R61c · The MITRE Systems Engineering Guide (2014), “Risk Mitigation Planning, Implementation, and Progress Monitoring”, p.642, 644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R75 · Seidewitz, Intro to the SysML v2 Language: Textual Notation (Release 2026-08), “Analysis Case Definitions”, sl.95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R78 · Seidewitz, Intro to the SysML v2 Language: Textual Notation (Release 2026-08), “Standard View Definitions and Domain Libraries (metadata, analysis, cause and effect, requirements derivation)”, sl.147, 152</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100" b="1" spc="100" kern="0" dirty="0">
                <a:solidFill>
                  <a:srgbClr val="18202D"/>
                </a:solidFill>
                <a:latin typeface="Calibri" pitchFamily="34" charset="0"/>
                <a:ea typeface="Calibri" pitchFamily="34" charset="-122"/>
                <a:cs typeface="Calibri" pitchFamily="34" charset="-120"/>
              </a:rPr>
              <a:t>CREDITS AND LICENSES</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Introduction to the SysML v2 Language, Textual Notation (Release 2026-08): Copyright © 2019–2026 Model Driven Solutions, Inc. Licensed under the Creative Commons Attribution 4.0 International License (CC BY 4.0).</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100" dirty="0"/>
          </a:p>
          <a:p>
            <a:pPr marL="152400" indent="-152400">
              <a:spcBef>
                <a:spcPts val="400"/>
              </a:spcBef>
              <a:buSzPct val="100000"/>
              <a:buChar char="■"/>
            </a:pPr>
            <a:r>
              <a:rPr lang="en-US" sz="11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Session 2: Technology Assessment / Risk Management / Trade Study</dc:title>
  <dc:subject>Systems Thinking and MBSE with SysML v2</dc:subject>
  <dc:creator>SysML Learning Studio (generated)</dc:creator>
  <cp:lastModifiedBy>SysML Learning Studio (generated)</cp:lastModifiedBy>
  <cp:revision>1</cp:revision>
  <dcterms:created xsi:type="dcterms:W3CDTF">2026-10-29T01:56:42Z</dcterms:created>
  <dcterms:modified xsi:type="dcterms:W3CDTF">2026-10-29T01:56:42Z</dcterms:modified>
</cp:coreProperties>
</file>