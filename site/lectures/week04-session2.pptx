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</a:p>
          <a:p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  <a:p>
            <a:endParaRPr lang="en-US" dirty="0"/>
          </a:p>
          <a:p>
            <a:r>
              <a:rPr lang="en-US" dirty="0" b="1"/>
              <a:t/>
            </a:r>
            <a:r>
              <a:rPr lang="en-US" dirty="0"/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/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11094415" cy="0"/>
          </a:xfrm>
          <a:prstGeom prst="line">
            <a:avLst/>
          </a:prstGeom>
          <a:noFill/>
          <a:ln w="31750">
            <a:solidFill>
              <a:srgbClr val="0F6E8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CTURE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6E8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355080"/>
            <a:ext cx="11094415" cy="0"/>
          </a:xfrm>
          <a:prstGeom prst="line">
            <a:avLst/>
          </a:prstGeom>
          <a:noFill/>
          <a:ln w="9525">
            <a:solidFill>
              <a:srgbClr val="D3D9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Thinking and MBSE with SysML v2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24248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Session 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p.587; R20c p.602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three questions from Session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94415" cy="1286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“Charger” a good function name? Why not?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allocation pitfall skips a plane?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What does a decision record hold besides the choice?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eight verbs of the 15288 information management purpose, with the AeroLink weather item placed at each stage.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p.510; R21 p.511; R21 p.512; R66 p.112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management is for</a:t>
            </a:r>
            <a:endParaRPr lang="en-US" sz="3000" dirty="0"/>
          </a:p>
        </p:txBody>
      </p:sp>
      <p:pic>
        <p:nvPicPr>
          <p:cNvPr id="4" name="Image 0" descr="A ring of eight stages: generate, obtain, confirm, transform, retain, retrieve, disseminate, dispose. Beside each stage a short note about the weather item: the service generates it, the operations center obtains and confirms it, transforms it into a hold decision, retains it, retrieves it for review, disseminates the hold to dispatch, and disposes of the forecast once it is out of dat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Relevant, complete, verified, protected, distributed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Generate, obtain, confirm, transform … dispose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analytics and decision-making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becomes useful information for decisions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readings, to information in context, to a decision.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p.511; R21 p.512; R66 p.113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versus information</a:t>
            </a:r>
            <a:endParaRPr lang="en-US" sz="3000" dirty="0"/>
          </a:p>
        </p:txBody>
      </p:sp>
      <p:pic>
        <p:nvPicPr>
          <p:cNvPr id="4" name="Image 0" descr="A three-step strip. Left, data: a column of raw readings, work-order entries, deferral records and charge-session logs. Middle, information: each aircraft’s go / no-go status and its packs’ capacity trend. Right, decision: release or withhold an aircraft. Arrows labeled structure and analyze, then decid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0155"/>
            <a:ext cx="6379289" cy="34512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93689" y="1280160"/>
            <a:ext cx="4349366" cy="2554732"/>
          </a:xfrm>
          <a:prstGeom prst="rect">
            <a:avLst/>
          </a:prstGeom>
          <a:solidFill>
            <a:srgbClr val="E1EFF4"/>
          </a:solidFill>
          <a:ln w="12700">
            <a:solidFill>
              <a:srgbClr val="E1EFF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93689" y="1280160"/>
            <a:ext cx="73152" cy="2554732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22289" y="1280160"/>
            <a:ext cx="3983606" cy="25547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INFORMATION</a:t>
            </a:r>
            <a:endParaRPr lang="en-US" sz="1300" dirty="0"/>
          </a:p>
          <a:p>
            <a:pPr indent="0" marL="0">
              <a:buNone/>
            </a:pPr>
            <a:r>
              <a:rPr lang="en-US" sz="2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are raw unstructured values, and information is structured data in context that has been analyzed and interpreted</a:t>
            </a:r>
            <a:endParaRPr lang="en-US" sz="1300" dirty="0"/>
          </a:p>
          <a:p>
            <a:pPr indent="0" marL="0">
              <a:spcBef>
                <a:spcPts val="600"/>
              </a:spcBef>
              <a:buNone/>
            </a:pPr>
            <a:r>
              <a:rPr lang="en-US" sz="1100" dirty="0">
                <a:solidFill>
                  <a:srgbClr val="0F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· SEBoK v2.14 (2026), "Information Management", p.512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293689" y="3999484"/>
            <a:ext cx="4349366" cy="1513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draw the line slightly differently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without context has no value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three-box template for every information item; an empty decision box means the item is not information yet.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p.515; R62 p.345; R62 p.346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method: producer → consumer → decision</a:t>
            </a:r>
            <a:endParaRPr lang="en-US" sz="3000" dirty="0"/>
          </a:p>
        </p:txBody>
      </p:sp>
      <p:pic>
        <p:nvPicPr>
          <p:cNvPr id="4" name="Image 0" descr="Three boxes joined by arrows: producer, information item, consumer. Under the consumer, a fourth box labeled decision supported, highlighted and empty, with the note: if this stays empty, ask who needs i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60155"/>
            <a:ext cx="6379289" cy="34512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Producer: the element that creates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Consumer: the element or AI capability that uses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what it supports, with the ID it serves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decision? Data not yet information, or not needed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agreement line between two elements carries no data; a flow needs an information interface, or a recorded relay of them.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p.345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flows check the physical view</a:t>
            </a:r>
            <a:endParaRPr lang="en-US" sz="3000" dirty="0"/>
          </a:p>
        </p:txBody>
      </p:sp>
      <p:pic>
        <p:nvPicPr>
          <p:cNvPr id="4" name="Image 0" descr="Two element boxes joined only by a dashed double line labeled agreement; a data arrow between them ends in a red question mark. Below, the same two boxes joined by a solid line labeled information interface, with the data arrow riding on it and a green tick. Bottom, a relay: three boxes, two interfaces, one arrow passing through the middle box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views must be consistent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between elements crosses an information interface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 recorded relay of them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organizational agreement carries no flow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INFO-001 Passenger information with its metadata strip and a lock for its sensitivity.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p.513; R21 p.514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and sensitive information</a:t>
            </a:r>
            <a:endParaRPr lang="en-US" sz="3000" dirty="0"/>
          </a:p>
        </p:txBody>
      </p:sp>
      <p:pic>
        <p:nvPicPr>
          <p:cNvPr id="4" name="Image 0" descr="A card for INFO-001 Passenger information. A strip along the top lists metadata: owner, producer, status, provenance. A lock icon carries the label personal: identifies individuals and records accessibility need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99385"/>
            <a:ext cx="6379289" cy="31727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5257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data about data (title, author, provenance, status)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starts by defining sensitive information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information: personal: identifies individuals and records accessibility needs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capability between information items, with a human decision downstream and the failure modes beside it.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R31 p.1370; R31 p.1371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capabilities in the information view</a:t>
            </a:r>
            <a:endParaRPr lang="en-US" sz="3000" dirty="0"/>
          </a:p>
        </p:txBody>
      </p:sp>
      <p:pic>
        <p:nvPicPr>
          <p:cNvPr id="4" name="Image 0" descr="An input information item flows into an AI capability box; its output flows to a diamond labeled human decision, then on to the action. Beside the AI box, a tag lists failure modes: missed prediction, false alarm, shift in the data. A note under the input reads only as good as the dat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062"/>
            <a:ext cx="6379289" cy="3589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validates what the system learned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 good as the data it was trained 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failure modes, including distributional shift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card: inputs, outputs, oversight, failure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information items from their producers to their consumers; the class supplies each item’s decision before the instructor reveals it.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p.512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I: AeroLink’s information items</a:t>
            </a:r>
            <a:endParaRPr lang="en-US" sz="3000" dirty="0"/>
          </a:p>
        </p:txBody>
      </p:sp>
      <p:pic>
        <p:nvPicPr>
          <p:cNvPr id="4" name="Image 0" descr="A graph with producers on the left, information items in the middle and consumers on the right. Passenger information: from PHY-007 and PHY-002 to PHY-004 and AI-002. Flight data: from PHY-001 to PHY-004 and PHY-005. Maintenance data: from PHY-005 and PHY-003 to PHY-004 and AI-001. Weather data: from EXT-007 to PHY-004. Financial data: from PHY-007 and PHY-004 to PHY-004. Operational evidence: from PHY-001 and PHY-005 and PHY-008 to PHY-004. Service status and disruption decisions: from PHY-004 to PHY-007. Flight release and plan: from PHY-004 to PHY-001. Flight intent: from PHY-004 and EXT-001 to EXT-001 and PHY-004. Pad fire alarm: from PHY-008 to EXT-006. One producer line, from PHY-008 to operational evidence, is dashed red: it has no interface. The decisions are not draw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608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items, each with producer, consumer and decision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of 20 function flows between elements carried by an item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of 17 producer–consumer routes covered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items corrected; five new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Session 1 scene redrawn: what crosses an information interface into the operations center, and what is decided inside it before the release.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p.345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Answering the driving question</a:t>
            </a:r>
            <a:endParaRPr lang="en-US" sz="3000" dirty="0"/>
          </a:p>
        </p:txBody>
      </p:sp>
      <p:pic>
        <p:nvPicPr>
          <p:cNvPr id="4" name="Image 0" descr="Left, the producers outside the operations center, each with the data it sends and the interface: EXT-007 sends the weather data over IF-011; PHY-001 sends the energy state over IF-002; PHY-005 sends the go / no-go status over IF-012; PHY-003 sends the charge-complete status over IF-010. Right, a panel for PHY-004, the operations center, holding FN-004 (weather-hold state, decided by the duty manager), FN-003 (flight plan), FN-002 (assignment), each with an arrow into FN-011 Dispatch aircraft. From FN-011 an arrow runs back to the aircraft: release, flight plan and accepted flight intent over IF-002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Decides: dispatch aircraft, at the operations center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inputs cross an interface; three are made inside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data cross; the hold is a decision made inside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History: the trace once found a missing interface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AI-001 Predictive maintenance and AI-002 Demand forecasting, each with inputs, outputs, oversight and failure modes.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R31 p.1370; R31 p.1371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II: two AI capability cards</a:t>
            </a:r>
            <a:endParaRPr lang="en-US" sz="3000" dirty="0"/>
          </a:p>
        </p:txBody>
      </p:sp>
      <p:pic>
        <p:nvPicPr>
          <p:cNvPr id="4" name="Image 0" descr="Two cards side by side. AI-001 Predictive maintenance, hosted on PHY-005: inputs INFO-003; outputs a ranked list of aircraft and battery packs at risk, with the predicted time to limit; oversight: a certifying technician decides every withdrawal; the model never releases an aircraft; failure: a missed prediction leaves the reactive fault path of fn-008 as the safety net; false alarms withdraw good aircraft and cost availability (mop-006). AI-002 Demand forecasting, hosted on PHY-004: inputs INFO-001; outputs an hourly demand forecast per vertiport pair and the year-2 re-forecast; oversight: network planning reviews the forecast each quarter before it feeds a capacity decision; failure: an over-forecast strands capital; an under-forecast repeats the charging limit; demand patterns that shift once the network is reconfigured make past data misleading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maintenance: technicians decide every withdrawal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forecasting: planners review before any capacity decision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names what it may not do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names its data-quality weakness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findings, each with its proposed fix: a natural system as producer and a flow from a logical element into a decision record, both in the reference, and a route with no interface in the new evidence item.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p.345; R21 p.514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Auditing the view: two reference defects and one new gap</a:t>
            </a:r>
            <a:endParaRPr lang="en-US" sz="3000" dirty="0"/>
          </a:p>
        </p:txBody>
      </p:sp>
      <p:pic>
        <p:nvPicPr>
          <p:cNvPr id="4" name="Image 0" descr="Three red boxes on the left, each joined by an arrow to a green box with the proposed fix. F1 at INFO-004, IF-011: The weather item’s producer and the interface end were Weather (EXT-003), a natural system with no owner; the weather service appeared only in a note. A system can only exchange information with another system. Fix: Make the weather information service an external system of its own (EXT-007), the producer and the end of IF-011: a refinement of the reference’s note, not a reversal. F2 at INFO-005: The financial item flowed from a logical element to a decision record, mixing three kinds of element in one flow. Fix: Producers PHY-007 and PHY-004, consumer PHY-004 (network planning); the decision named in the decision field. IF-008 must then also carry fare revenue (Week 5). F3 at INFO-006, FN-016: Pad incident records from the fire detection system have no route to the evidence log: no interface joins PHY-008 and PHY-004. This gap is in the item Week 4 proposes, not in the reference. Fix: Week 5 decides: a new information interface, or a relay through the vertiport system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719"/>
            <a:ext cx="6379289" cy="3589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weather as a producer, with no owner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a logical element feeding a decision record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item: incident records with no route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fix proposed; the instructor confirms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665851"/>
            <a:ext cx="11094415" cy="59778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requirement, TPM or risk with its verdict; four rows are open. What each row is allocated to, and its evidence, are in the notes and the lesson table. (FICTIONAL)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p.592; R20c p.599; R56 p.386; R56 p.387; R44 p.115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architecture against requirements and TPMs</a:t>
            </a:r>
            <a:endParaRPr lang="en-US" sz="3000" dirty="0"/>
          </a:p>
        </p:txBody>
      </p:sp>
      <p:pic>
        <p:nvPicPr>
          <p:cNvPr id="4" name="Image 0" descr="A matrix with two columns, item and verdict. Rows: REQ-STK-004 capacity of at least 300 trips/day, meets; TPM-001 Charge time to dispatch threshold (REQ-SYS-001), margin; TPM-002 Pad-edge noise (REQ-SYS-002), margin; TPM-003 Landing energy reserve on the design trip (REQ-SYS-003), margin; REQ-SYS-008 no-go flag within 2 min, open; R-007 dispatch platform outage, open; R-009 intrusion into the operations platform, open; CRIT-003 capacity retained after loss of one hub, meets; REQ-STK-016 auditable record of every flight, ope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9084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candidates against criteria from the requirements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each requirement to the elements that meet it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TPMs are allocated down the hierarchy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rows open, each with an owner week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views around one register of IDs; each spoke is one of the four consistency checks.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p.344; R62 p.345; R20b p.594; R20c p.602; R31 p.1370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views consistent, and common errors</a:t>
            </a:r>
            <a:endParaRPr lang="en-US" sz="3000" dirty="0"/>
          </a:p>
        </p:txBody>
      </p:sp>
      <p:pic>
        <p:nvPicPr>
          <p:cNvPr id="4" name="Image 0" descr="Four view icons, functional, logical and physical, information, operational, around a central box labeled one register of IDs. Each spoke carries a check: every function derives from a capability and, unless it is a planning function, from a scenario; every function is allocated to one physical element that its logical element reaches; every system requirement is allocated to a function or a physical element; every information item has a producer, a consumer and the decision it support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21462"/>
            <a:ext cx="6379289" cy="372861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Errors: physical names in the functional view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without inputs and outputs; too deep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without a criterion; no logical plane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with no decision; AI with no oversight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artifacts and the weeks that consume them.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sl.30; R85 p.181; R20a p.581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week feeds, and what it does not do</a:t>
            </a:r>
            <a:endParaRPr lang="en-US" sz="3000" dirty="0"/>
          </a:p>
        </p:txBody>
      </p:sp>
      <p:pic>
        <p:nvPicPr>
          <p:cNvPr id="4" name="Image 0" descr="A set of lanes from the Week 4 box: Physical view and the information routes to Week 5; Enterprise view and DEC-002 to Week 6; The whole architecture description to Week 7; Functions, scenarios and logical elements to Week 10; Physical elements and the allocations to Week 11; Information items and their decisions to Week 12; The viewpoints and their purposes to Week 14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5: components and every interface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as-is and to-be views; Week 7: the package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10–12: actions, parts, allocations, the thread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yet: interfaces, sequences, modes, timing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L4 at a glance: the four parts added to the Team Record and their minimums for a team of four.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L4 brief: your architecture description</a:t>
            </a:r>
            <a:endParaRPr lang="en-US" sz="3000" dirty="0"/>
          </a:p>
        </p:txBody>
      </p:sp>
      <p:pic>
        <p:nvPicPr>
          <p:cNvPr id="4" name="Image 0" descr="A checklist with four sections. Views: 5 viewpoints including operational, functional, physical, information, enterprise, each with a purpose and concerns. Functions: 10 functions with inputs and outputs under at least 3 first-level functions. Allocation: at least 4 logical and 4 physical elements, every function allocated with a criterion, 1 decision record. Information: 5 items with producer, consumer and decision; 1 AI capability car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72406"/>
            <a:ext cx="6379289" cy="35894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viewpoints; 10 functions; 4 logical, 4 physical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decision; 5 information items; 1 AI card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of three: 7 functions, 3 items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enterprise, never AeroLink; due before Week 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828538"/>
            <a:ext cx="11094415" cy="4351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in-class template: one purpose question per view, then one scenario walked into functions.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p.344; R20b p.594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work: view purposes and the first scenario walk</a:t>
            </a:r>
            <a:endParaRPr lang="en-US" sz="3000" dirty="0"/>
          </a:p>
        </p:txBody>
      </p:sp>
      <p:pic>
        <p:nvPicPr>
          <p:cNvPr id="4" name="Image 0" descr="A two-part worksheet. Top: five rows, one per required view, with columns purpose question, stakeholders and concerns. Bottom: a scenario strip with steps on the left and a function column on the right, each function written verb and object with an input and an output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0428"/>
            <a:ext cx="6379289" cy="38706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purpose question per required view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stakeholders and concerns each serves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one Week 2 scenario into functions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 + object, with an input and an output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 card: three questions for every scenario walk.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check: one scenario walk per team</a:t>
            </a:r>
            <a:endParaRPr lang="en-US" sz="3000" dirty="0"/>
          </a:p>
        </p:txBody>
      </p:sp>
      <p:pic>
        <p:nvPicPr>
          <p:cNvPr id="4" name="Image 0" descr="A card with three check boxes: every function is named as an action, verb and object; every function has an input and an output; every step is served by a function, or a new function or gap is record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0344"/>
            <a:ext cx="6379289" cy="303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215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an action: verb + object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 with an input and an output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served, or a gap recorded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91225"/>
            <a:ext cx="11094415" cy="27241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5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Figure. </a:t>
            </a:r>
            <a:pPr indent="0" marL="0">
              <a:buNone/>
            </a:pPr>
            <a:r>
              <a:rPr lang="en-US" sz="1050" dirty="0">
                <a:solidFill>
                  <a:srgbClr val="5660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seven-day plan for Lab L4, with the lead role for each step.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the next seven days</a:t>
            </a:r>
            <a:endParaRPr lang="en-US" sz="3000" dirty="0"/>
          </a:p>
        </p:txBody>
      </p:sp>
      <p:pic>
        <p:nvPicPr>
          <p:cNvPr id="4" name="Image 0" descr="A timeline of seven days. Days 1 and 2: remaining scenario walks, each member walks one. Day 2: capability trace and decomposition. Days 3 and 4: logical and physical elements and allocation with criteria. Day 4: the decision record. Days 4 and 5: information view. Day 5: AI capability card. Day 6: consistency checks and the AI usage statement. Day 7: integration and uploa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050344"/>
            <a:ext cx="6379289" cy="303353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93689" y="1280160"/>
            <a:ext cx="4349366" cy="29179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1–2: scenario walks; trace and decomposition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3–4: allocation with criteria; the decision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4–6: information view, AI card, checks</a:t>
            </a:r>
            <a:endParaRPr lang="en-US" sz="2000" dirty="0"/>
          </a:p>
          <a:p>
            <a:pPr marL="228600" indent="-228600">
              <a:spcBef>
                <a:spcPts val="600"/>
              </a:spcBef>
              <a:buSzPct val="100000"/>
              <a:buChar char="■"/>
            </a:pPr>
            <a:r>
              <a:rPr lang="en-US" sz="20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7: integration and upload; quiz Q4 opens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and credits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R20a · SEBoK v2.14 (2026), “Functional Architecture”, p.580–582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R20b · SEBoK v2.14 (2026), “Logical Architecture”, p.587, 591–594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R20c · SEBoK v2.14 (2026), “Physical Architecture”, p.596–600, 602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R21 · SEBoK v2.14 (2026), “Information Management”, p.510–515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R31 · SEBoK v2.14 (2026), “Artificial Intelligence”, p.1370–1371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R44 · OUSD(R&amp;E) Systems Engineering Guidebook (2021/2022), “Technical Assessment Process”, p.115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36013" y="1280160"/>
            <a:ext cx="3413053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R56 · The MITRE Systems Engineering Guide (2014), “Assess the Design”, p.386–387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R62 · The MITRE Systems Engineering Guide (2014), “Architectural Frameworks, Models, and Views”, p.341–342, 344–346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R66 · The MITRE Systems Engineering Guide (2014), “Information and Data Management”, p.112–113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R72 · Seidewitz, Intro to the SysML v2 Language: Textual Notation (Release 2026-08), “Action Definition”, sl.30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R85 · OMG SysML v2.1 Beta 2, Part 1 (Release 2026-07), “7.26 Views and Viewpoints”, p.181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23386" y="1280160"/>
            <a:ext cx="54864" cy="4846320"/>
          </a:xfrm>
          <a:prstGeom prst="rect">
            <a:avLst/>
          </a:prstGeom>
          <a:solidFill>
            <a:srgbClr val="0F6E8C"/>
          </a:solidFill>
          <a:ln w="12700">
            <a:solidFill>
              <a:srgbClr val="0F6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60546" y="1280160"/>
            <a:ext cx="3582509" cy="4846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AND LICENSES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SysML v2 Language, Textual Notation (Release 2026-08): Copyright © 2019–2026 Model Driven Solutions, Inc. Licensed under the Creative Commons Attribution 4.0 International License (CC BY 4.0).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SEBoK v2.14: “This material is used under a Creative Commons Attribution-NonCommercial ShareAlike 3.0 Unported License from The Trustees of the Stevens Institute of Technology.” (SEBoK, “Bkcase Wiki:Copyright”, PDF p.31). Quotations are short and cited; no SEBoK figure or table is reproduced.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OUSD(R&amp;E) Systems Engineering Guidebook: Distribution Statement A. Approved for public release. Distribution is unlimited.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MITRE Systems Engineering Guide: © 2014 by The MITRE Corporation. All rights reserved. Approved for public release; distribution unlimited (Case Numbers 10-4072 and 12-1089). Quoted briefly with attribution.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original drawings for this course; none redraws a figure from the sources.</a:t>
            </a:r>
            <a:endParaRPr lang="en-US" sz="1100" dirty="0"/>
          </a:p>
          <a:p>
            <a:pPr marL="152400" indent="-152400">
              <a:spcBef>
                <a:spcPts val="400"/>
              </a:spcBef>
              <a:buSzPct val="100000"/>
              <a:buChar char="■"/>
            </a:pPr>
            <a:r>
              <a:rPr lang="en-US" sz="1100" dirty="0">
                <a:solidFill>
                  <a:srgbClr val="182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AeroLink Urban Mobility is a fictional teaching case: every number, name and statement about it is a teaching value.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18202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Wright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4, Session 2: Architecture / Information View</dc:title>
  <dc:subject>Systems Thinking and MBSE with SysML v2</dc:subject>
  <dc:creator>SysML Learning Studio (generated)</dc:creator>
  <cp:lastModifiedBy>SysML Learning Studio (generated)</cp:lastModifiedBy>
  <cp:revision>1</cp:revision>
  <dcterms:created xsi:type="dcterms:W3CDTF">2026-10-28T13:15:36Z</dcterms:created>
  <dcterms:modified xsi:type="dcterms:W3CDTF">2026-10-28T13:15:36Z</dcterms:modified>
</cp:coreProperties>
</file>