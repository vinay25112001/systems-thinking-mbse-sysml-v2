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drafts of one branch of the AeroLink charging scenario, shown as the lines that differ: draft A, draft B and draft C, top to bottom. Pairs: which one says what the ConOps says? Checked: PASS.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drafts of one branch</a:t>
            </a:r>
            <a:endParaRPr lang="en-US" sz="3000" dirty="0"/>
          </a:p>
        </p:txBody>
      </p:sp>
      <p:pic>
        <p:nvPicPr>
          <p:cNvPr id="4" name="Image 0" descr="Listing (course file sysml/lectures/week10/warmup_three_branches.sysml, checked: PASS): then fork; / then queueForCharger; / then connectCharger; / then decide; / if chargersOccupied then queueForCharger; / if chargerFree then connectCharger; / then merge waitForCharger; / then decide; / if chargersOccupied then queueForCharger; / else connectCharger; / action queueForCharger; / then waitForCharger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355" y="1280160"/>
            <a:ext cx="5717858" cy="44112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ConOps: if both hub chargers are occupied, queue the aircraft; otherwise connect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A, draft B, draft C (top to bottom)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says what the ConOps says?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the other two?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sl.38; R72 sl.40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exactly one branch, and every case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A: a fork starts both: the aircraft queues and is connected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B: two guards that can both hold, or both fail; no else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C: right. Queue, or connect; the queue loops back to the merge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31008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31008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 the checker.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AeroLink function and its operational mode: FN-005 Fly passenger trip, “to fly”, beside the state inFlight, “in flight”.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p.589; R20b p.594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or operational mode?</a:t>
            </a:r>
            <a:endParaRPr lang="en-US" sz="3000" dirty="0"/>
          </a:p>
        </p:txBody>
      </p:sp>
      <p:pic>
        <p:nvPicPr>
          <p:cNvPr id="4" name="Image 0" descr="A title: two views of one behavior. Left, a card: FN-005, Fly passenger trip, labeled below function: “to fly”. Right, a strong card: state inFlight, labeled below mode: “in flight”. A two-way arrow joins th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83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of modes: a chain of modes, joined by transitions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transition is triggered by an event; an action can run within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(“to fly”) and its mode (“in flight”) are two views of one behavior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a state definition on the AeroLink aircraft: the start and the initial state, two states and a transition between them.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sl.48; R82 p.145;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definitions and the initial state</a:t>
            </a:r>
            <a:endParaRPr lang="en-US" sz="3000" dirty="0"/>
          </a:p>
        </p:txBody>
      </p:sp>
      <p:pic>
        <p:nvPicPr>
          <p:cNvPr id="4" name="Image 0" descr="A large frame titled state def AircraftOperatingStates. Inside, a black dot with an arrow to a box onPad, labeled first start then onPad. A highlighted arrow labeled transition runs from onPad to a box charging, labeled state. Below: one state active at a time after entr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640586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640586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64058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 (SYSML V2.1 BETA 2)</a:t>
            </a:r>
            <a:endParaRPr lang="en-US" sz="10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action definition … that defines the conditions under which other actions can execute”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· OMG SysML v2.1 Beta 2, Part 1 (Release 2026-07), "7.17 Actions", p.145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93689" y="3085338"/>
            <a:ext cx="4349366" cy="2174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state machine; exhibited by a system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states, joined by transitions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state: first start then the state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entry, exactly one substate is active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AeroLink transition in its five parts, in the order the textual notation requires; the effect is optional and absent here.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sl.48–49; R73 sl.53;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 trigger, guard, effect, target</a:t>
            </a:r>
            <a:endParaRPr lang="en-US" sz="3000" dirty="0"/>
          </a:p>
        </p:txBody>
      </p:sp>
      <p:pic>
        <p:nvPicPr>
          <p:cNvPr id="4" name="Image 0" descr="Five boxes stacked top to bottom, each with code and a label: first dispatchReady, source; accept DispatchRelease, trigger; if not noGoFaultOpen, guard (highlighted); do …, effect (dashed: optional); then inFlight, targe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source, accept the trigger, if the guard, do the effect, then the target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must be true for the transition to fire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runs when it fires, before the target is entered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Shorthand: accept … then … after a state takes that state as source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AeroLink states that run functions: one on entry, one while the aircraft is in the state.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sl.52; R82 p.145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Entry, do and exit actions</a:t>
            </a:r>
            <a:endParaRPr lang="en-US" sz="3000" dirty="0"/>
          </a:p>
        </p:txBody>
      </p:sp>
      <p:pic>
        <p:nvPicPr>
          <p:cNvPr id="4" name="Image 0" descr="Two strong cards side by side: outOfService, with the line entry FN-008; charging, with the line do FN-006. Below, three lines: entry: on entry; do: while in the state; exit: on leaving (optional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performed on entry to the state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performed while in the state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performed on leaving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references a function defined elsewhere, or defines an action in place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aircraft with two concurrent regions, operational and health, and a transition between them, struck through.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sl.51;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states and the one-active-substate rule</a:t>
            </a:r>
            <a:endParaRPr lang="en-US" sz="3000" dirty="0"/>
          </a:p>
        </p:txBody>
      </p:sp>
      <p:pic>
        <p:nvPicPr>
          <p:cNvPr id="4" name="Image 0" descr="A frame titled aircraftStates: parallel, split by a dashed line into two regions: operational, with boxes onPad and inFlight; health, with boxes fit and degraded. A dashed arrow from inFlight to degraded crosses the line and is struck through with a cross; below: no transition between regio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the substates run concurrently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transitions between concurrent substates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parallel: exactly one substate active after entry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two conditions at once? Two regions, not one tangled machine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FN-005 Fly passenger trip in AeroLink model v0.3, reached by four links: a scenario step subsets it, LOG-001 performs it, the state inFlight does it, and the part definition Aircraft exhibits the states.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sl.56; R72 sl.41; R73 sl.52;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exhibit, and the four links from behavior to structure</a:t>
            </a:r>
            <a:endParaRPr lang="en-US" sz="3000" dirty="0"/>
          </a:p>
        </p:txBody>
      </p:sp>
      <p:pic>
        <p:nvPicPr>
          <p:cNvPr id="4" name="Image 0" descr="A strong card in the center, FN-005. Four cards around it: top left, step takeOffAndCruise, with an arrow labeled subsets; top right, logical part LOG-001, with an arrow labeled perform; bottom left, state inFlight, with an arrow labeled do; bottom right, part def Aircraft, with an arrow labeled exhibit pointing to the state car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(course convention): this step is an occurrence of the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perform: this logical part is the performer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performed while in this state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exhibit: this part exhibits these states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aircraft’s operating states in AeroLink model v0.3: five states, eight transitions and one guard (doc lines omitted on the slide).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sl.48; R73 sl.52–53; R82 p.145–146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III: the aircraft’s operating states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state def AircraftOperatingStates { / attribute noGoFaultOpen : Boolean; / first start then onPad; / state onPad { doc /* On a vertiport pad after landing; … */ } / state charging { doc /* Connected … */ do Logical::'FN-006'; } / state dispatchReady { doc /* Charged to the dispatch … */ } / state inFlight { do Logical::'FN-005'; } / state outOfService { doc /* Withheld … */ entry Logical::'FN-008'; } / transition onPadToCharging first onPad accept ChargerConnected then charging; / transition chargingToDispatchReady first charging accept DispatchThresholdReached then dispatchReady; / transition dispatchReadyToInFlight first dispatchReady accept DispatchRelease if not noGoFaultOpen then inFlight; / transition inFlightToOnPad first inFlight accept LandedOnPad then onPad; / transition chargingToOutOfService first charging accept CellOverTemperature then outOfService; / transition dispatchReadyToOutOfService first dispatchReady accept NoGoFaultReported then outOfService; / transition onPadToOutOfService first onPad accept NoGoFaultReported then outOfService; / transition outOfServiceToOnPad first outOfService accept ReturnedToService then onPad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1037"/>
            <a:ext cx="6379289" cy="3746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499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states, 8 transitions, 1 guard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transition traced to a ConOps step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writes “no dispatch with an open no-go fault”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Exhibited by the aircraft part definition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293689" y="3944366"/>
            <a:ext cx="4349366" cy="1274064"/>
          </a:xfrm>
          <a:prstGeom prst="roundRect">
            <a:avLst>
              <a:gd name="adj" fmla="val 4306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944366"/>
            <a:ext cx="4075046" cy="1274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PAIRS, 1 MIN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aircraft becomes fit to fly while it is out of service. Where does the model send it?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 listings to judge before the reveal: predict PASS or FAIL, and say whether each says what it means.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checker: three state definitions</a:t>
            </a:r>
            <a:endParaRPr lang="en-US" sz="3000" dirty="0"/>
          </a:p>
        </p:txBody>
      </p:sp>
      <p:pic>
        <p:nvPicPr>
          <p:cNvPr id="4" name="Image 0" descr="Three panels stacked, numbered 1 to 3, each showing code. Panel 1: first start then closed; / first start then open;. Panel 2: state aircraftStates : AircraftStates parallel { / state operational { / transition faultInFlight first inFlight accept FaultReported then aircraftStates.health.degraded; / state health {. Panel 3: first start then idle; / accept StartPump then running; / accept StopPump then idle; / state maintenance;. Under them: each: PASS or FAIL? and does it say what it means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7872"/>
            <a:ext cx="11094415" cy="42557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p.146; R82 p.150; R73 sl.51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all three pass; all three are yours to check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what it means?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two initial states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no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caught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transition across regions, inside a region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no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caught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unreachable state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no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not caught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SCN-001 Passenger Ride Request as a use case in AeroLink model v0.3: subject, actor and objective (the doc is shortened on the slide).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R116 p.177; R76 sl.100–101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subject, actors, objective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use case &lt;'SCN-001'&gt; 'Passenger Ride Request' { / doc /* A passenger requests a ride and receives a confirmed … */ / subject enterprise : Context::'ENT-001'; / actor passengers : Stakeholders::'STK-001'; / objective { doc /* Success: Confirmed booking with an … *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80849"/>
            <a:ext cx="6379289" cy="1447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780032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780032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780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DEFINITION (SYSML V2.1 BETA 2)</a:t>
            </a:r>
            <a:endParaRPr lang="en-US" sz="1200" dirty="0"/>
          </a:p>
          <a:p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“specifies the required behavior of its subject relative to one or more external actors”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R116 · OMG SysML v2.1 Beta 2, Part 1 (Release 2026-07), "7.25 Use Cases", p.177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93689" y="3224784"/>
            <a:ext cx="4349366" cy="2029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 observable result of value to the actors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roles of external entities, typed by part definitions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is declared first, before any actor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containing AeroLink use case that includes Aircraft Charging and then the Passenger Transport Mission, with the subject declared first and the actors bound.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R116 p.177; R76 sl.101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include, and what is not supported</a:t>
            </a:r>
            <a:endParaRPr lang="en-US" sz="3000" dirty="0"/>
          </a:p>
        </p:txBody>
      </p:sp>
      <p:pic>
        <p:nvPicPr>
          <p:cNvPr id="4" name="Image 0" descr="Listing (course file sysml/lectures/week10/turnaround_include.sysml, checked: PASS): use case 'operate turnaround cycle' { / subject enterprise : AeroLinkEnterprise; / actor passenger : Passengers; / actor operator : VertiportOperators; / objective { doc /* An arrived aircraft charged and … */ } / first start; / then include use case charging : 'Aircraft Charging' { / subject enterprise; / actor :&gt;&gt; operator = 'operate turnaround cycle'::operator; / } / then include use case mission : 'Passenger Transport Mission' { / subject enterprise; / actor :&gt;&gt; passenger = 'operate turnaround cycle'::passenger; / actor :&gt;&gt; operator = 'operate turnaround cycle'::operator; / } / then done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5407"/>
            <a:ext cx="6379289" cy="2658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performs a use case defined elsewhere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subject; actors bound explicitly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is not supported yet: use a guarded branch or a separate use case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AeroLink scenarios as use cases in model v0.3: the actors modeled as parts, and the roles named in the doc only.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sl.100; R116 p.177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IV: five scenarios as use cases</a:t>
            </a:r>
            <a:endParaRPr lang="en-US" sz="3000" dirty="0"/>
          </a:p>
        </p:txBody>
      </p:sp>
      <p:pic>
        <p:nvPicPr>
          <p:cNvPr id="4" name="Image 0" descr="A table with columns use case, actors, doc only. SCN-001: 1; 1. SCN-002: 4; 0. SCN-003: 2; 1. SCN-004: 2; 1. SCN-005: 4; 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enterprise is the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actors typed by Week 8 stakeholder or context definitions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inside the enterprise stay in the doc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scenario, SCN-002, carries its flow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cross-check: for each transition of the operating states, the SCN-002 steps whose function the target state performs.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sl.48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the flow and the states</a:t>
            </a:r>
            <a:endParaRPr lang="en-US" sz="3000" dirty="0"/>
          </a:p>
        </p:txBody>
      </p:sp>
      <p:pic>
        <p:nvPicPr>
          <p:cNvPr id="4" name="Image 0" descr="A table with two columns, transition (from → to) and SCN-002 steps doing its function. onPad → charging: none: check by hand. charging → dispatchReady: none: check by hand. dispatchReady → inFlight: takeOffAndCruise, approachAndLand. inFlight → onPad: none: check by hand. charging → outOfService: none: check by hand. dispatchReady → outOfService: none: check by hand. onPad → outOfService: none: check by hand. outOfService → onPad: none: check by han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7" y="1280160"/>
            <a:ext cx="11075481" cy="424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sl.38; R72 sl.40; R73 sl.51; R82 p.146; R72 sl.41; R73 sl.56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behavior models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for a choice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decide, guards, else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gap, no else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every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Rejoins where it should 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done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across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within a region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initial states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first start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Function, no performer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in a 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nobody exhibits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 in the 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review checklist (course convention): the eight checks your team records in the lab, each met or a finding.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sl.35–38;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review checklist</a:t>
            </a:r>
            <a:endParaRPr lang="en-US" sz="3000" dirty="0"/>
          </a:p>
        </p:txBody>
      </p:sp>
      <p:pic>
        <p:nvPicPr>
          <p:cNvPr id="4" name="Image 0" descr="A card with 8 lines, each with an empty checkbox: every step and alternate has a node; alternates end or rejoin as written; every branch guarded, else last; flows: producer to later consumer; functions: items and a performer; states reachable, triggers named; flow and states agree; requirements allocat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eight checks against the ConOps and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met, or a finding with a note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gives evidence; the judgment is yours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gets a disposition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mapping for Week 10, short form: each Phase I element of the Week 2 and Week 4 package and the model element it becomes.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package to model v0.3</a:t>
            </a:r>
            <a:endParaRPr lang="en-US" sz="3000" dirty="0"/>
          </a:p>
        </p:txBody>
      </p:sp>
      <p:pic>
        <p:nvPicPr>
          <p:cNvPr id="4" name="Image 0" descr="A two-column table, Phase I and model v0.3: CAP, action def; INFO, item def; FN, action, in and out items; LOG, part def and part; FN on LOG, perform; REQ on FN, allocate; to a CAP, #derivedFrom; SCN, use case (one with a flow); modes, state def, exhib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mapping is generated from your exports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decide: each function’s items, one scenario’s steps and guards, the states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keeps every ID; new ones continue after the highest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from Weeks 8 and 9 is 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11 does with the logical architecture and behavior modeled this week.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sl.106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Week 11, physical parts and interfaces</a:t>
            </a:r>
            <a:endParaRPr lang="en-US" sz="3000" dirty="0"/>
          </a:p>
        </p:txBody>
      </p:sp>
      <p:pic>
        <p:nvPicPr>
          <p:cNvPr id="4" name="Image 0" descr="Four bars stacked top to bottom, joined by arrows: logical parts → physical parts; items → ports and interfaces; send and accept → connections; first satisfy claim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parts allocated to physical parts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carried on ports and interfaces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accept over real connections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function and item ID stable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L10 deliverables: three files, one upload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L10: model v0.3 of your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11, Session 1, on the LMS; your own enterprise, never AeroLink</a:t>
            </a:r>
            <a:endParaRPr lang="en-US" sz="1600" dirty="0"/>
          </a:p>
        </p:txBody>
      </p:sp>
      <p:pic>
        <p:nvPicPr>
          <p:cNvPr id="5" name="Image 0" descr="Four bars stacked top to bottom: team-NN-model-v03.sysml; team-NN-behavior-review.md; team-NN-checker-log.txt; one upload, before Week 1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team-NN-model-v03.sysml, team-NN-behavior-review.md, team-NN-checker-log.txt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checker errors; every warning explained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feedback before Week 11, Session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class: import, choose the scenario, map each step and alternate, preview the flow in the lab tool.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map one scenario in the lab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minutes, in teams, in the Week 10 lab tool</a:t>
            </a:r>
            <a:endParaRPr lang="en-US" sz="1600" dirty="0"/>
          </a:p>
        </p:txBody>
      </p:sp>
      <p:pic>
        <p:nvPicPr>
          <p:cNvPr id="5" name="Image 0" descr="Four bars stacked top to bottom, joined by arrows: 2 min · import, choose the scenario; 6 min · each step: name, function; 3 min · each alternate: a guard; 1 min · preview the flow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Week 9 model and your Week 2 and Week 4 exports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scenario with the most alternates (team of three: any with one)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step: a short name and its function (or none)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alternate: a guard that says its condition; preview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team: the scenario, one decision, one item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the scenario and why it was chosen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one decision; read its guards and else aloud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one item flow, from which step to which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fix to make before day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L10, with the lead role for each task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Q10 and the applied exercise open today. Log your hours.</a:t>
            </a:r>
            <a:endParaRPr lang="en-US" sz="1600" dirty="0"/>
          </a:p>
        </p:txBody>
      </p:sp>
      <p:pic>
        <p:nvPicPr>
          <p:cNvPr id="5" name="Image 0" descr="A plan of days 1 to 7, one bar per task across the days it takes: checkpoint fix, day 1; functions and items, days 1 to 2; performers, allocations, day 2; scenario flow, days 2 to 3; operating states, days 3 to 4; use cases, day 4; checker runs, day 5; review and audit, day 6; upload, day 7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3063"/>
            <a:ext cx="11094415" cy="41824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· SEBoK v2.14 (2026), “Logical Architecture”, p.587–592, 594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· Seidewitz, Intro to the SysML v2 Language: Textual Notation (Release 2026-08), “Action Definition”, sl.30–38, 40–41, 45–46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R73 · Seidewitz, Intro to the SysML v2 Language: Textual Notation (Release 2026-08), “State Definitions”, sl.48–49, 51–53, 56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· Seidewitz, Intro to the SysML v2 Language: Textual Notation (Release 2026-08), “Use Case Definition”, sl.100–101, 106–107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· OMG SysML v2.1 Beta 2, Part 1 (Release 2026-07), “7.17 Actions”, p.117–118, 134–136, 145–146, 150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R116 · OMG SysML v2.1 Beta 2, Part 1 (Release 2026-07), “7.25 Use Cases”, p.177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10, Session 2: Logical / Behavioral Modeling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2026-10-29T01:56:45Z</dcterms:created>
  <dcterms:modified xsi:type="dcterms:W3CDTF">2026-10-29T01:56:45Z</dcterms:modified>
</cp:coreProperties>
</file>